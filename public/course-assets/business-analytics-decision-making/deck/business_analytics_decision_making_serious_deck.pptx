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3991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Business Analytics for Decision-Making. This course is built as a serious short professional training, not a basic introduction to charts. The goal is to help you read business performance, diagnose what changed, and make a practical recommendation that a manager or business owner can act on.
Throughout the course, we use one connected case study: GlowCare Beauty &amp; Retail. That matters because real analytics is rarely one chart in isolation. A business issue usually involves revenue, cost, customer behavior, operations, and risk all at the same time. By the end, you should be able to look at a dashboard or performance table and ask better questions: what changed, why might it have changed, what else moved with it, and what action is most defensible?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value of analytics is not the chart itself. A chart is only useful if it improves judgment. In this course, you will repeatedly move through four questions: what happened, why might it have happened, what matters most, and what should we do next? This is how analytics becomes a practical management skill.
A beginner often stops too early. For example, if revenue drops, they may immediately say, “we need more marketing.” But a serious analyst checks whether costs also changed, whether average order value fell, whether customers complained more, whether stockouts increased, and whether repeat customers came back less often. That wider view prevents expensive wrong decisions.
Learner check: Think of a recent business or work decision. Was it made using only one visible number, or did the team look for the underlying causes?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analytics is not only a tool, a spreadsheet, or a dashboard. It is a way of thinking that connects numbers to decisions. A sales report becomes useful when it answers a question like: which channel is growing profitably, where are customers dropping off, or which operational problem is hurting repeat business?
This slide shows a simple path. Data begins as records and facts. Analysis organizes those facts so they can be compared. Insight explains the business meaning. A decision turns that meaning into action. The most important step is often the last one. Many teams collect data and even build dashboards, but still fail to make better decisions because they never convert the analysis into a clear recommendation.
Learner check: When you see a chart at work, ask: what decision could this support? If the answer is unclear, the analysis is not yet complete.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words are often mixed together, so this slide separates them. Data is the raw evidence: individual orders, complaints, customer records, or delivery records. A metric is a measurement made from that data. A KPI is a metric that is important enough to guide management attention. An insight is the meaning that appears when you compare numbers in context. An action is what the business does because of the insight.
The distinction matters because teams often overload dashboards with metrics and call them all KPIs. That creates noise. For GlowCare, revenue is important, but profit margin and repeat customer rate may be stronger KPIs because they reveal quality of growth. If revenue rises while margin falls and complaints increase, the business is not necessarily healthier.
Learner check: Choose one number you track in your work. Is it raw data, a metric, a KPI, an insight, or an 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serious analytics process follows a cycle. First, define the business question. If you do not know the decision, you will not know which data matters. Second, measure the right metrics. Third, compare them over time, across categories, or against targets. Fourth, diagnose what may be causing the movement. Finally, choose an action and monitor whether it improves the result.
This cycle is important because beginners often begin with whatever chart is easiest to create. That can be dangerous. A colorful chart may look professional while answering the wrong question. In GlowCare’s case, the central question is not simply “did revenue grow?” It is whether growth is healthy and what caused May to perform badly.
Learner check: Before opening a dashboard, write one decision you need to make. Then ask which three metrics would help you make that decision.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GlowCare is the case study business used throughout the deck. It sells beauty products and services through multiple revenue streams and channels. That structure makes the analytics realistic: a revenue change may come from channel mix, product mix, customer behavior, service quality, pricing, or operational reliability.
The management questions are practical. Why did revenue grow overall? Why did May perform badly? Was June’s recovery actually healthy? Which channels and services are driving performance? Are complaints and operations damaging repeat sales? What should management do next?
This is how analytics works in real businesses. The answer is rarely found in one number. A manager needs to understand the relationship between customer demand, operational execution, cost, margin, and retention.
Learner check: Which part of GlowCare would you analyze first: revenue stream, channel, customer repeat behavior, or operations? Why?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case into a decision agenda. Instead of asking for “analytics,” GlowCare management needs answers to specific questions. Notice how the questions are connected. Revenue growth could be healthy or unhealthy depending on profit, margin, and customer experience. A recovery after a bad month could be temporary if the root causes remain unresolved. A strong channel could still be risky if it depends on discounts or causes operational strain.
The highlighted question is May because it becomes the central teaching moment. May looks like a warning sign: revenue dips, cost rises, profit falls, complaints increase, and repeat customer rate drops. A weak analysis would blame one thing too quickly. A serious analysis examines multiple signals and builds a reasoned explanation.
Learner check: Which question would matter most to a founder trying to protect cash flow? Which would matter most to a marketing manager?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starting point for GlowCare’s performance analysis. A beginner should not try to memorize every number. Instead, use a simple reading method. First, read across a row to understand one month. For example, May has revenue of $10,800, cost of $5,900, profit of $4,900, gross margin of 45.4%, 292 orders, average order value of $37, 31 complaints, and repeat customer rate of 29.8%. Second, read down a column to see a trend. Revenue generally rises from January to June, but May breaks the pattern.
The most important skill is connecting related metrics. Revenue fell in May, but cost increased. That combination hurts profit more than a revenue dip alone. Complaints also increased and repeat customer rate fell. That suggests the issue may involve customer experience or operations, not only marketing.
Learner check: Identify three May numbers that worry you most and explain why.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data is detailed. It contains individual orders, dates, channels, amounts, customers, products, and operational records. Summarized data groups those records into useful management views. For example, instead of reading 340 June orders one by one, a manager may first review total June revenue, order count, average order value, margin, and complaints.
Neither view is automatically better. Summaries help you see the pattern, but raw data helps you investigate the cause. If May average order value dropped, the summary tells us there is a problem. The raw data can help reveal whether customers bought smaller baskets, discounts increased, high-value items were unavailable, or certain channels underperformed.
A common beginner mistake is to rely only on summaries. Summaries are useful, but they can hide important details. A second mistake is to drown in raw data without first defining the question. Serious analytics uses both.
Learner check: What raw data would you request to investigate May’s lower average order value?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core business performance metrics. Revenue is often the headline number, but it is incomplete. Costs show what the business spent to generate that revenue. Profit shows what remains. Gross margin percentage gives a quality view: it tells us what portion of each revenue dollar remains after cost. Orders and average order value help separate two different growth patterns: more customers buying, or customers spending more per order.
For GlowCare, May is a useful example. Revenue fell from April, but cost rose. That means profit dropped sharply. Average order value also fell, which means customers were spending less per order. When margin drops at the same time as complaints rise, management should not simply celebrate demand or panic about marketing. The issue may be operational, pricing, product availability, service quality, or channel mix.
Learner check: If revenue goes up but profit goes down, which two metrics should you check next?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manager dashboard should not be a data warehouse on one slide. It should show the small set of signals that help a manager understand performance quickly. Good dashboard design includes financial outcomes, customer indicators, and operational drivers. It also includes comparisons. A number without context is weak. $12,600 revenue means more when we know it is up from May, and 24 complaints means more when we know complaints fell from 31.
The dashboard shown here is intentionally balanced. Revenue, profit, and orders show commercial performance. Average order value shows spending quality. Complaints and repeat customer rate show customer experience and loyalty. If the dashboard only showed revenue and orders, it might hide margin pressure or customer problems.
The key caution: dashboards are entry points, not final explanations. They should make you ask better follow-up questions.
Learner check: Which KPI card would you click first if you wanted to understand whether June’s recovery is healthy?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shows June performance. At first glance, June looks strong: revenue is $12,600, profit is $6,400, orders are 340, average order value is $44, complaints fell to 24, and repeat customer rate recovered to 36.8%. Compared with May, almost every headline metric improved.
What this tells us: June is a real recovery from May across revenue, profit, order volume, AOV, complaints, and repeat behavior. The business appears to have regained momentum.
What this does not prove: It does not prove that all root causes were fixed. Complaints are lower than May but still higher than April’s 19. Gross margin is 50.8%, better than May’s 45.4%, but still below April’s 53.5%. A dashboard cannot tell us whether improvement came from operational fixes, seasonal demand, more promotions, or product mix.
What to ask next: Did stockouts and late deliveries improve in June? Did margin recover across all categories or only some? Are repeat customers returning because service improved, or because of a temporary campaign?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line chart compares revenue, cost, and profit over six months. Revenue rises from $8,500 in January to $12,600 in June, but the path is not smooth. May drops from April’s $11,400 to $10,800. Cost rises steadily from $4,200 in January to $6,200 in June. Profit generally improves, but falls sharply in May from $6,100 to $4,900 before rising to $6,400 in June.
What this tells us: GlowCare is growing overall, but May is a clear performance interruption. The combination of lower revenue and higher cost explains why profit fell more sharply than revenue alone.
What this does not prove: This chart does not prove what caused the May decline. It shows the financial result, not the operational reason. We cannot yet say whether the issue was marketing, stockouts, delivery delays, discounting, customer complaints, or product mix.
What to ask next: Which cost categories rose in May? Did customer experience worsen? Did lower AOV or channel mix reduce margin? Did operational issues increase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important, but it is not the final measure of business health. If a company sells more but spends too much to generate those sales, the business may become weaker. Profit and margin help us judge the quality of revenue.
GlowCare’s May numbers show why this matters. April revenue was $11,400 and profit was $6,100. In May, revenue fell to $10,800, but cost rose to $5,900. That pushed profit down to $4,900 and margin down to 45.4%. This is more serious than a simple revenue dip. The business sold less and kept less from each dollar of sales.
June improves, but even then, margin is 50.8%, still below April’s 53.5%. That means the business should not only celebrate June revenue. It should ask whether costs, product mix, or operational problems are still limiting margin.
Learner check: Which is healthier: $12,000 revenue with 55% margin, or $15,000 revenue with 35% margin? What else would you need to know?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combo chart compares revenue bars with gross margin percentage. Revenue generally increases, reaching $12,600 in June. But the margin line tells a more nuanced story. April has revenue of $11,400 and the highest margin at 53.5%. May has lower revenue and a much weaker margin at 45.4%. June has the highest revenue, but margin is only 50.8%, better than May but still below April.
What this tells us: Growth quality changed. May was not only a lower-revenue month; it was a lower-quality sales month. June recovered revenue and margin partially, but not fully to the April margin standard.
What this does not prove: The chart does not prove whether margin dropped because of discounts, higher delivery costs, stockouts, lower-priced products, overtime, waste, or service issues.
What to ask next: Did May have more low-margin sales? Did operational issues increase cost? Were customers buying smaller baskets? Did complaints lead to refunds, rework, or cancelled orders?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Variance analysis compares one period against another and quantifies the difference. Instead of saying “May was bad,” we identify exactly how it was bad. Revenue fell by $600. Cost increased by $600. Profit fell by $1,200. Gross margin dropped by 8.1 percentage points. Average order value fell by $8. Complaints increased by 12, and repeat customer rate fell by 7.9 percentage points.
This is much stronger than a vague statement. It shows that May’s problem was multi-dimensional. Lower revenue alone would be concerning, but the more serious issue is the combination of lower revenue, higher cost, customer complaints, and weaker repeat behavior. That combination suggests a potential operational or customer experience problem, not just lower demand.
A beginner mistake is to notice only the largest visible number. Serious variance analysis asks: which changes moved together, and which ones could be connected?
Learner check: Which May variance is most financially damaging? Which one is most concerning for future sales?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May deserves attention. A single negative metric can sometimes be noise. But several related metrics moving in the wrong direction at the same time create a stronger warning signal. Revenue fell, costs rose, profit fell, margin dropped, average order value declined, complaints rose, repeat customer rate fell, and stockouts increased.
The important lesson is pattern recognition. A beginner may react to the revenue drop by saying “run more ads.” But more ads may bring more customers into a broken experience if stockouts, late deliveries, and complaint resolution problems are already rising. That could worsen the problem.
A serious analyst asks whether financial outcomes are connected to operational and customer outcomes. The May pattern suggests they may be. It does not prove the cause yet, but it tells us where to look next.
Learner check: If you were GlowCare’s manager, would you first increase advertising or investigate operations? Defend your choice using at least two metrics.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format helps a manager quickly see where performance changed. Here, every highlighted change is negative. Revenue fell, cost increased, profit fell, margin dropped, average order value dropped, complaints rose, repeat customer rate fell, and stockouts increased.
What this tells us: May was not a one-metric issue. It was a broad performance deterioration across financial, customer, and operational measures. This pattern is more serious than a simple revenue dip.
What this does not prove: The heatmap does not prove causality. It shows that multiple things worsened during the same period. Stockouts might contribute to complaints and lower repeat behavior, but the heatmap alone does not prove that relationship.
What to ask next: Which operational issues changed most sharply in May? Were stockouts concentrated in high-value categories? Did complaint types relate to delivery delays, unavailable products, or service quality?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waterfall chart explains movement from one result to another. Here, it bridges April profit to May profit. April profit was $6,100. The revenue drop from April to May reduced profit by $600. The cost increase reduced profit by another $600. That creates the $1,200 decline, ending at May profit of $4,900.
What this tells us: May profit fell because GlowCare experienced a double hit. It sold less and spent more. This is why the profit decline is larger than the revenue decline alone.
What this does not prove: The waterfall explains the financial bridge, but it does not reveal the root cause of the revenue drop or the cost increase. It does not tell us whether the cost increase came from delivery issues, overtime, refunds, supplier costs, promotions, or operational inefficiency.
What to ask next: Which cost categories rose in May? Were the higher costs related to late deliveries, stockouts, cancellations, or complaint resolution? Did lower average order value contribute to the revenue dip?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bar chart shows June revenue by sales channel. Walk-in revenue is the largest at $4,400, followed closely by online at $4,100. Social media produces $3,000, and referrals generate $1,100. This view is useful because total revenue alone does not show how the business earns money. Channel contribution helps management decide where to invest marketing, staffing, service improvement, or fulfillment capacity.
What this tells us: Walk-in and online are the strongest June revenue channels. Social media is meaningful but smaller. Referrals are modest and stable.
What this does not prove: The chart does not prove profitability by channel. Online orders may have delivery costs. Social media sales may require ad spend. Walk-in sales may require staffing and store operations. Referral sales may be lower volume but higher trust.
What to ask next: Which channels have the best margin? Which channels have the most complaints or cancellations? Are online and social media orders causing delivery pressure?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analysis should not stop at ranking revenue. A serious business review also asks what risk comes with each channel. Walk-in is large, but it depends on staffing and service capacity. Online is nearly as large, but it depends on reliable stock and delivery. Social media can grow quickly, but ad spend and traffic quality matter. Referrals are smaller, but they may reflect loyalty and trust.
This slide introduces a practical management habit: every opportunity has a constraint. If GlowCare sees online revenue growing but stockouts and late deliveries worsening, the correct move may not be to push more online traffic immediately. The business may need to stabilize fulfillment first.
A beginner often assumes the highest revenue channel deserves the most investment. A more serious analyst asks: which channel is profitable, reliable, scalable, and aligned with customer experience?
Learner check: Which GlowCare channel would you investigate for operational risk first, and why?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stacked bar chart shows revenue mix by product and service category over six months. Skincare is consistently the largest category, growing from $2,500 in January to $3,800 in June. Hair products, nail services, and facial services also grow. Delivery orders rise from $1,000 to $1,600 by June.
What this tells us: June growth is broad, not limited to one category. Delivery orders are growing, which may be positive for reach but could also increase operational complexity. May’s softness appears in several categories rather than only one, which suggests the problem may be broader than a single product line.
What this does not prove: The chart does not show margin by category. Delivery orders may generate revenue but add delivery cost. Services may have staffing constraints. Skincare may have higher or lower margins depending on supplier cost and promotions.
What to ask next: Which categories have the strongest margin? Did May stockouts affect skincare or hair products? Did delivery growth contribute to late deliveries or complaints?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mix analysis asks what the revenue is made of. This is critical because not all revenue behaves the same. A $1,000 increase from high-margin skincare may be more profitable than a $1,000 increase from costly delivery orders. A rise in services may require skilled staff and appointment capacity. Delivery growth may increase convenience but also late delivery risk.
GlowCare’s May average order value dropped from $45 to $37. That could happen because customers bought fewer items, lower-priced items, discounted items, or because high-value products were out of stock. Product mix does not automatically answer the question, but it tells management where to investigate.
The key lesson is that revenue composition matters. Analytics should not only say “sales increased” or “sales decreased.” It should ask which parts of the business changed and whether those changes improved profit, customer loyalty, or operational stability.
Learner check: If delivery orders grow quickly but complaints also rise, what two metrics would you check next?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funnel shows June customer movement from website visits to completed orders. There are 3,600 website visits, 2,100 product page views, 720 cart additions, 430 checkout starts, and 340 completed orders. Funnel analysis is useful because it shows where potential demand drops off before revenue is created.
What this tells us: GlowCare converts 340 completed orders from 3,600 visits. The biggest relative drop appears between product page views and cart additions: 2,100 views become 720 carts. That may indicate pricing, product availability, weak product descriptions, shipping concerns, or customers not finding the right items.
What this does not prove: The funnel does not tell us why customers dropped off. It does not show customer intent, product availability, page speed, delivery fees, or payment issues.
What to ask next: Are high-demand products in stock? Are delivery costs shown before checkout? Which products have high views but low cart additions? Do abandoned carts mention stock or delivery concerns?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 rates help us understand efficiency. A count tells us how many people reached a stage. A conversion rate tells us what share moved forward. In June, 58.3% of visitors viewed product pages, 34.3% of product viewers added items to cart, 59.7% of carts became checkout starts, and 79.1% of checkout starts became completed orders.
What this tells us: The product-page-to-cart stage deserves attention because only 34.3% of product viewers add items to cart. That is where a large share of potential demand may be lost.
What this does not prove: It does not prove the exact reason. The issue could be pricing, product information, stock availability, images, delivery expectations, trust, or customer intent.
What to ask next: Which product pages have high views but low cart additions? Are out-of-stock products still visible? Are customers surprised by delivery fees or pickup options? Are product bundles or service add-ons clear?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view separates new customers from returning customers. New customer count grows from 145 in January to 215 in June. Returning customers grow from 45 in January to 115 in April, drop to 87 in May, then recover to 125 in June. Repeat customer rate follows a similar pattern: it rises to 37.7% in April, falls to 29.8% in May, and recovers to 36.8% in June.
What this tells us: May did not only affect immediate financial performance. It also appears to have weakened customer return behavior. That matters because returning customers often cost less to serve, buy with more trust, and create more predictable revenue.
What this does not prove: The chart does not prove why fewer customers returned. It may be due to complaints, stockouts, delivery delays, lower perceived value, pricing, or external factors.
What to ask next: Did customers who complained in April or May return less often? Were returning customers affected by stockouts of favorite products? Did delivery delays discourage repeat purchases?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relationship chart compares complaints and repeat customer rate. Each point is one month. May stands out because complaints increased to 31 while repeat customer rate fell to 29.8%. April is much healthier: complaints were 19 and repeat rate was 37.7%. June improves with 24 complaints and a repeat rate of 36.8%.
What this tells us: There is a plausible relationship between complaints and repeat customer behavior. When complaints are lower, repeat rate appears stronger. When complaints rise sharply in May, repeat behavior weakens.
What this does not prove: This does not prove complaints caused the repeat-rate decline. Other factors may be involved, such as stockouts, delivery delays, pricing, product availability, or seasonality. The chart shows association, not causation.
What to ask next: What were the complaint categories? Did customers with unresolved complaints return less often? Were complaints connected to late deliveries or unavailable products? Were high-value repeat customers affected?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trend chart shows operational issues over time: late deliveries, stockouts, and cancelled orders. The pattern is important. In April, late deliveries were 9, stockouts were 5, and cancelled orders were 8. In May, they jump to 21 late deliveries, 16 stockouts, and 19 cancelled orders. That is the same month where profit dropped, complaints rose, average order value fell, and repeat customer rate declined.
What this tells us: Operational issues are a strong candidate explanation for the May performance problem. Stockouts can reduce order value and frustrate customers. Late deliveries can increase complaints. Cancelled orders can hurt revenue and trust.
What this does not prove: The chart still does not prove every financial issue was caused by operations. It does not show complaint categories, exact customer-level behavior, or cost breakdowns.
What to ask next: Which products were out of stock? Were stockouts concentrated in high-value skincare items? Did late deliveries trigger complaints and refunds? Did cancelled orders come from online or social channels?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May symptoms into a possible system view. Stockouts rose from 5 to 16. Late deliveries rose from 9 to 21. Complaints rose from 19 to 31. Average order value fell from $45 to $37. Repeat customer rate fell from 37.7% to 29.8%. Profit fell from $6,100 to $4,900.
The diagram is not claiming perfect proof. It is showing a plausible chain of business impact. If popular products are unavailable, customers may buy fewer items or cancel orders. If deliveries are late, complaints may increase. If complaints are not resolved quickly, customers may hesitate to return. Those customer effects can then reduce revenue quality and profit.
This is the difference between shallow analytics and serious analytics. Shallow analytics points at a number. Serious analytics builds a defensible explanation that can be tested.
Learner check: Which link in this chain would you test first with more detailed data?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root cause diagram organizes the May problem into four possible cause areas: revenue quality, cost pressure, customer experience, and operational reliability. Revenue quality worsened because average order value dropped from $45 to $37. Cost pressure worsened because cost rose from $5,300 to $5,900. Customer experience worsened because complaints increased from 19 to 31. Operational reliability worsened because stockouts increased from 5 to 16 and late deliveries from 9 to 21.
What this tells us: The May problem is probably not only a marketing issue. A stronger hypothesis is operational strain damaging customer experience and sales quality while increasing cost. That hypothesis fits multiple metrics.
What this does not prove: We still need more detailed data to prove causality. We need complaint categories, stockout details, cost breakdown, delivery records, and possibly customer-level repeat behavior.
What to ask next: What were customers complaining about? Which items were out of stock? Did stockouts affect high-value skincare products? Did late deliveries lead to refunds or cancelled orders?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teaches evidence discipline. One of the biggest mistakes in business analytics is overclaiming. The data tells us that May revenue fell, costs rose, profit and margin deteriorated, complaints increased, operational issues worsened, and repeat customer rate fell. Those are supported observations.
But the data does not yet prove that marketing caused the decline, that June fully fixed the root problem, or that every complaint was caused by stockouts and late deliveries. It also does not prove that customers permanently left or that the business should immediately increase ad spend.
This distinction is vital in serious business communication. A manager needs confidence, but not false certainty. Strong recommendations often use language like: “The evidence suggests,” “The leading hypothesis is,” “We should validate by checking,” and “The safest first action is.” This keeps the analysis honest while still making it useful.
Learner check: Rewrite this weak claim: “Stockouts caused May’s profit drop.” Make it more evidence-based and professional.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analytics mistakes often come from interpretation, not tools. The first mistake is judging by revenue alone. Revenue is visible and exciting, but it can hide cost pressure, poor margin, or operational damage. The second mistake is confusing correlation with proof. If complaints and repeat rate move together, that is a lead, not final proof. The third mistake is ignoring operations. Many customer problems begin with stock, delivery, staffing, or process reliability.
The fourth mistake is using charts without comparison. A single number is weak unless it is compared to a prior period, a target, or a benchmark. The fifth mistake is choosing action before diagnosis. If operations are broken, more advertising may bring more customers into a poor experience and increase complaints.
Learner check: Which of these mistakes have you seen in a workplace or business discussion? What decision did it affect?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shows only revenue. It is not false, but it is incomplete. A viewer might see May as a minor dip and June as a simple recovery. That misses the deeper issue. The right chart adds profit context, making May’s deterioration much clearer.
What this tells us: Chart design affects business interpretation. A chart can be technically accurate and still lead people toward a weak conclusion if it hides important context.
What this does not prove: A better chart still does not prove root cause. It only gives a more complete view of the performance pattern.
What to ask next: What context would make the chart decision-ready? In this case, margin, complaints, operational issues, and repeat behavior all help.
A serious analyst chooses chart formats based on the decision. If the decision is about growth quality, revenue alone is not enough. If the decision is about customer experience, complaints and repeat behavior must appear somewhere in the analysis.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observation is a fact. For example, May profit fell from $6,100 to $4,900. That is useful, but not enough. A pattern connects facts: cost rose, complaints rose, stockouts rose, late deliveries rose, average order value fell, and repeat customer rate fell. An insight explains the business meaning: operational strain likely reduced sales quality and customer trust while raising cost.
This distinction is central to business analytics. Many reports stop at observations. They list what changed but do not explain why it matters. A useful insight helps a decision-maker understand the issue and choose a response.
The insight should still be honest. Use language like “likely” or “the evidence suggests” when you have strong supporting signals but not full proof. That gives management direction without pretending the analysis is more certain than it is.
Learner check: Turn this observation into an insight: “Complaints rose from 19 to 31 in May.”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analytics recommendation is not just advice. It is an evidence-backed action. This framework gives learners a repeatable structure: observation, insight, recommendation, and metric to monitor. The recommendation sentence helps make the logic explicit: “Because this evidence shows this problem, I recommend this action so that we achieve this outcome, measured by this metric.”
For GlowCare, a weak recommendation would be: “We should improve operations.” A stronger recommendation would be: “Because May stockouts, late deliveries, complaints, and repeat-rate decline moved together while profit fell, I recommend prioritizing stock availability and delivery reliability before increasing ad spend, so that the business protects repeat customers and margin. Success should be measured by stockouts below 8, late deliveries below 10, complaints below 20, gross margin above 52%, and repeat rate above 37%.”
Learner check: Use the sentence structure to write one recommendation for GlowCare.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matrix compares four possible actions using six criteria: revenue impact, profit impact, speed, customer experience impact, cost control, and risk level. Increasing social media ads may produce revenue, but it scores poorly on profit, customer experience, cost control, and risk because the underlying operational issues may still be unresolved. Improving complaint response is valuable and scores 21. Bundling skincare with facial services also scores 21 because it may lift average order value.
The strongest option is fixing stockouts and delivery reliability, with a total score of 26. This recommendation is not chosen because it sounds operationally neat. It is chosen because the May evidence points to stockouts, late deliveries, cancellations, complaints, lower repeat rate, lower AOV, and weaker margin.
What this tells us: The best first action should address the root problem, not merely chase more demand.
What this does not prove: The scores are a structured judgment, not mathematical truth. Leaders should review assumptions and adjust weights if strategy changes.
What to ask next: Which operational fix can be implemented within 30 days, and which KPI target will prove it worked?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executive-level output of the analysis. The recommendation is to prioritize stock availability and delivery reliability before increasing customer acquisition spend. The evidence is clear: in May, stockouts rose from 5 to 16, late deliveries rose from 9 to 21, complaints rose from 19 to 31, repeat customer rate fell from 37.7% to 29.8%, and profit dropped from $6,100 to $4,900.
The business risk is that more advertising could bring more customers into an unstable experience. That may produce short-term revenue but increase complaints, cancellations, cost, and lost repeat customers.
The proposed 30-day action is practical: set reorder alerts, prioritize high-value products, audit delivery partners, and create a 24-hour complaint response rule. Success should be measured with clear targets: stockouts under 8, late deliveries under 10, complaints under 20, margin above 52%, and repeat rate above 37%.
Learner check: What part of this recommendation makes it stronger than simply saying “fix operations”?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practice slide asks the learner to apply the course method. The learner should compare April and May, identify the strongest warning signs, connect financial, customer, and operational data, then choose a recommended first action with a success metric.
A strong answer should notice that May is not only a revenue issue. Revenue fell by $600, but cost rose by $600, causing profit to fall by $1,200. Margin fell sharply from 53.5% to 45.4%. Average order value fell from $45 to $37. Complaints rose from 19 to 31. Repeat customer rate fell from 37.7% to 29.8%. Stockouts and late deliveries increased sharply.
The expected conclusion is that operational reliability is likely a priority root-cause area. The recommended first action should focus on stockouts, delivery reliability, and complaint response before scaling demand through more advertising.
Learner check: Write a three-sentence recommendation using evidence from at least four metrics.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 quiz is designed to test application rather than memorization. A learner should be able to reason through the questions using the GlowCare case. If revenue increases but margin falls, the learner should check cost, product mix, discounting, or operational cost drivers. If complaints rise and repeat rate falls, the learner should ask what customers complained about and whether those customers returned.
The key is not whether the learner remembers a definition. The key is whether they can interpret a business signal and choose the next useful question. This is what makes the training practical. Managers and analysts are rarely paid just to describe charts; they are expected to diagnose, prioritize, and recommend.
A full answer key is included in the notes/source document for this course, including 12 application-focused questions with explanations.
Learner check: Choose one question and answer it using a metric from the case, not opinion alone.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closes with five major takeaways. First, start with a decision question. Second, read related metrics together. Third, compare periods to quantify change. Fourth, separate evidence from assumptions. Fifth, recommend action with success metrics.
In the GlowCare case, these habits led to a clear conclusion. May was not just a sales dip. It was a combined financial, customer, and operational warning. The strongest first action was not simply to increase marketing. It was to fix stockouts, delivery reliability, and complaint response so that future growth would be healthier.
The learner’s next step is to practice with tools and deeper topics. Excel or Google Sheets can help build calculations and summaries. Dashboard design can help present information clearly. Customer analytics, finance for managers, SQL, and BI tools can deepen the skill path.
Learner check: What is one dashboard or report you can review this week using the method from this course?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IFUNZE_MASTER">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solidFill>
            <a:prstDash val="solid"/>
          </a:ln>
        </p:spPr>
      </p:sp>
      <p:sp>
        <p:nvSpPr>
          <p:cNvPr id="3" name="Shape 1"/>
          <p:cNvSpPr/>
          <p:nvPr/>
        </p:nvSpPr>
        <p:spPr>
          <a:xfrm>
            <a:off x="502920" y="6446520"/>
            <a:ext cx="11201400" cy="0"/>
          </a:xfrm>
          <a:prstGeom prst="line">
            <a:avLst/>
          </a:prstGeom>
          <a:noFill/>
          <a:ln w="7620">
            <a:solidFill>
              <a:srgbClr val="E1D7C7"/>
            </a:solidFill>
            <a:prstDash val="solid"/>
          </a:ln>
        </p:spPr>
      </p:sp>
      <p:sp>
        <p:nvSpPr>
          <p:cNvPr id="4" name="Text 2"/>
          <p:cNvSpPr/>
          <p:nvPr/>
        </p:nvSpPr>
        <p:spPr>
          <a:xfrm>
            <a:off x="566928" y="6510528"/>
            <a:ext cx="5029200" cy="201168"/>
          </a:xfrm>
          <a:prstGeom prst="rect">
            <a:avLst/>
          </a:prstGeom>
          <a:noFill/>
          <a:ln/>
        </p:spPr>
        <p:txBody>
          <a:bodyPr wrap="square" rtlCol="0" anchor="ctr"/>
          <a:lstStyle/>
          <a:p>
            <a:pPr marL="0" indent="0">
              <a:buNone/>
            </a:pPr>
            <a:r>
              <a:rPr lang="en-US" sz="720" dirty="0">
                <a:solidFill>
                  <a:srgbClr val="6B6258"/>
                </a:solidFill>
                <a:latin typeface="Aptos" pitchFamily="34" charset="0"/>
                <a:ea typeface="Aptos" pitchFamily="34" charset="-122"/>
                <a:cs typeface="Aptos" pitchFamily="34" charset="-120"/>
              </a:rPr>
              <a:t>Jifunze.ai  |  Business Analytics Short Course</a:t>
            </a:r>
            <a:endParaRPr lang="en-US" sz="72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TURNING DATA INTO ACTIONABLE BUSINESS INSIGHT</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Business Analytics for Decision-Making</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1</a:t>
            </a:r>
            <a:endParaRPr lang="en-US" sz="800" dirty="0"/>
          </a:p>
        </p:txBody>
      </p:sp>
      <p:sp>
        <p:nvSpPr>
          <p:cNvPr id="5" name="Shape 3"/>
          <p:cNvSpPr/>
          <p:nvPr/>
        </p:nvSpPr>
        <p:spPr>
          <a:xfrm>
            <a:off x="0" y="0"/>
            <a:ext cx="12188952" cy="6858000"/>
          </a:xfrm>
          <a:prstGeom prst="rect">
            <a:avLst/>
          </a:prstGeom>
          <a:solidFill>
            <a:srgbClr val="102A43"/>
          </a:solidFill>
          <a:ln w="12700">
            <a:solidFill>
              <a:srgbClr val="102A43"/>
            </a:solidFill>
            <a:prstDash val="solid"/>
          </a:ln>
        </p:spPr>
      </p:sp>
      <p:sp>
        <p:nvSpPr>
          <p:cNvPr id="6" name="Shape 4"/>
          <p:cNvSpPr/>
          <p:nvPr/>
        </p:nvSpPr>
        <p:spPr>
          <a:xfrm>
            <a:off x="7315200" y="-548640"/>
            <a:ext cx="5303520" cy="5303520"/>
          </a:xfrm>
          <a:prstGeom prst="arc">
            <a:avLst/>
          </a:prstGeom>
          <a:solidFill>
            <a:srgbClr val="123D5A">
              <a:alpha val="90000"/>
            </a:srgbClr>
          </a:solidFill>
          <a:ln w="12700">
            <a:solidFill>
              <a:srgbClr val="123D5A"/>
            </a:solidFill>
            <a:prstDash val="solid"/>
          </a:ln>
        </p:spPr>
      </p:sp>
      <p:sp>
        <p:nvSpPr>
          <p:cNvPr id="7" name="Text 5"/>
          <p:cNvSpPr/>
          <p:nvPr/>
        </p:nvSpPr>
        <p:spPr>
          <a:xfrm>
            <a:off x="731520" y="685800"/>
            <a:ext cx="3840480" cy="228600"/>
          </a:xfrm>
          <a:prstGeom prst="rect">
            <a:avLst/>
          </a:prstGeom>
          <a:noFill/>
          <a:ln/>
        </p:spPr>
        <p:txBody>
          <a:bodyPr wrap="square" lIns="0" tIns="0" rIns="0" bIns="0" rtlCol="0" anchor="ctr"/>
          <a:lstStyle/>
          <a:p>
            <a:pPr marL="0" indent="0">
              <a:buNone/>
            </a:pPr>
            <a:r>
              <a:rPr lang="en-US" sz="950" b="1" dirty="0">
                <a:solidFill>
                  <a:srgbClr val="D6B25E"/>
                </a:solidFill>
              </a:rPr>
              <a:t>BUSINESS ANALYTICS SHORT COURSE</a:t>
            </a:r>
            <a:endParaRPr lang="en-US" sz="950" dirty="0"/>
          </a:p>
        </p:txBody>
      </p:sp>
      <p:sp>
        <p:nvSpPr>
          <p:cNvPr id="8" name="Text 6"/>
          <p:cNvSpPr/>
          <p:nvPr/>
        </p:nvSpPr>
        <p:spPr>
          <a:xfrm>
            <a:off x="713232" y="1234440"/>
            <a:ext cx="6492240" cy="1508760"/>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Business Analytics</a:t>
            </a:r>
            <a:endParaRPr lang="en-US" sz="3400" dirty="0"/>
          </a:p>
          <a:p>
            <a:pPr marL="0" indent="0">
              <a:buNone/>
            </a:pPr>
            <a:r>
              <a:rPr lang="en-US" sz="3400" b="1" dirty="0">
                <a:solidFill>
                  <a:srgbClr val="FFFFFF"/>
                </a:solidFill>
                <a:latin typeface="Aptos Display" pitchFamily="34" charset="0"/>
                <a:ea typeface="Aptos Display" pitchFamily="34" charset="-122"/>
                <a:cs typeface="Aptos Display" pitchFamily="34" charset="-120"/>
              </a:rPr>
              <a:t>for Decision-Making</a:t>
            </a:r>
            <a:endParaRPr lang="en-US" sz="3400" dirty="0"/>
          </a:p>
        </p:txBody>
      </p:sp>
      <p:sp>
        <p:nvSpPr>
          <p:cNvPr id="9" name="Text 7"/>
          <p:cNvSpPr/>
          <p:nvPr/>
        </p:nvSpPr>
        <p:spPr>
          <a:xfrm>
            <a:off x="749808" y="2971800"/>
            <a:ext cx="5852160" cy="347472"/>
          </a:xfrm>
          <a:prstGeom prst="rect">
            <a:avLst/>
          </a:prstGeom>
          <a:noFill/>
          <a:ln/>
        </p:spPr>
        <p:txBody>
          <a:bodyPr wrap="square" lIns="0" tIns="0" rIns="0" bIns="0" rtlCol="0" anchor="ctr"/>
          <a:lstStyle/>
          <a:p>
            <a:pPr marL="0" indent="0">
              <a:buNone/>
            </a:pPr>
            <a:r>
              <a:rPr lang="en-US" sz="1800" dirty="0">
                <a:solidFill>
                  <a:srgbClr val="F4E8D7"/>
                </a:solidFill>
              </a:rPr>
              <a:t>Turning data into actionable business insight</a:t>
            </a:r>
            <a:endParaRPr lang="en-US" sz="1800" dirty="0"/>
          </a:p>
        </p:txBody>
      </p:sp>
      <p:sp>
        <p:nvSpPr>
          <p:cNvPr id="10" name="Shape 8"/>
          <p:cNvSpPr/>
          <p:nvPr/>
        </p:nvSpPr>
        <p:spPr>
          <a:xfrm>
            <a:off x="777240" y="3794760"/>
            <a:ext cx="4800600" cy="1005840"/>
          </a:xfrm>
          <a:prstGeom prst="roundRect">
            <a:avLst>
              <a:gd name="adj" fmla="val 7273"/>
            </a:avLst>
          </a:prstGeom>
          <a:solidFill>
            <a:srgbClr val="153B57"/>
          </a:solidFill>
          <a:ln w="8890">
            <a:solidFill>
              <a:srgbClr val="2D5A78"/>
            </a:solidFill>
            <a:prstDash val="solid"/>
          </a:ln>
        </p:spPr>
      </p:sp>
      <p:sp>
        <p:nvSpPr>
          <p:cNvPr id="11" name="Text 9"/>
          <p:cNvSpPr/>
          <p:nvPr/>
        </p:nvSpPr>
        <p:spPr>
          <a:xfrm>
            <a:off x="1005840" y="4069080"/>
            <a:ext cx="4389120" cy="274320"/>
          </a:xfrm>
          <a:prstGeom prst="rect">
            <a:avLst/>
          </a:prstGeom>
          <a:noFill/>
          <a:ln/>
        </p:spPr>
        <p:txBody>
          <a:bodyPr wrap="square" lIns="0" tIns="0" rIns="0" bIns="0" rtlCol="0" anchor="ctr"/>
          <a:lstStyle/>
          <a:p>
            <a:pPr marL="0" indent="0">
              <a:buNone/>
            </a:pPr>
            <a:r>
              <a:rPr lang="en-US" sz="1200" dirty="0">
                <a:solidFill>
                  <a:srgbClr val="FFFFFF"/>
                </a:solidFill>
              </a:rPr>
              <a:t>45–60 minutes  •  Beginner to early-intermediate  •  Self-paced</a:t>
            </a:r>
            <a:endParaRPr lang="en-US" sz="1200" dirty="0"/>
          </a:p>
        </p:txBody>
      </p:sp>
      <p:sp>
        <p:nvSpPr>
          <p:cNvPr id="12" name="Shape 10"/>
          <p:cNvSpPr/>
          <p:nvPr/>
        </p:nvSpPr>
        <p:spPr>
          <a:xfrm>
            <a:off x="7315200" y="4663440"/>
            <a:ext cx="3840480" cy="0"/>
          </a:xfrm>
          <a:prstGeom prst="line">
            <a:avLst/>
          </a:prstGeom>
          <a:noFill/>
          <a:ln w="10160">
            <a:solidFill>
              <a:srgbClr val="A8A29E"/>
            </a:solidFill>
            <a:prstDash val="solid"/>
          </a:ln>
        </p:spPr>
      </p:sp>
      <p:sp>
        <p:nvSpPr>
          <p:cNvPr id="13" name="Shape 11"/>
          <p:cNvSpPr/>
          <p:nvPr/>
        </p:nvSpPr>
        <p:spPr>
          <a:xfrm>
            <a:off x="7315200" y="3063240"/>
            <a:ext cx="0" cy="1600200"/>
          </a:xfrm>
          <a:prstGeom prst="line">
            <a:avLst/>
          </a:prstGeom>
          <a:noFill/>
          <a:ln w="10160">
            <a:solidFill>
              <a:srgbClr val="A8A29E"/>
            </a:solidFill>
            <a:prstDash val="solid"/>
          </a:ln>
        </p:spPr>
      </p:sp>
      <p:sp>
        <p:nvSpPr>
          <p:cNvPr id="14" name="Shape 12"/>
          <p:cNvSpPr/>
          <p:nvPr/>
        </p:nvSpPr>
        <p:spPr>
          <a:xfrm>
            <a:off x="7461504" y="3680460"/>
            <a:ext cx="469392" cy="982980"/>
          </a:xfrm>
          <a:prstGeom prst="rect">
            <a:avLst/>
          </a:prstGeom>
          <a:solidFill>
            <a:srgbClr val="D6B25E"/>
          </a:solidFill>
          <a:ln w="12700">
            <a:solidFill>
              <a:srgbClr val="D6B25E">
                <a:alpha val="0"/>
              </a:srgbClr>
            </a:solidFill>
            <a:prstDash val="solid"/>
          </a:ln>
        </p:spPr>
      </p:sp>
      <p:sp>
        <p:nvSpPr>
          <p:cNvPr id="15" name="Text 13"/>
          <p:cNvSpPr/>
          <p:nvPr/>
        </p:nvSpPr>
        <p:spPr>
          <a:xfrm>
            <a:off x="7370064" y="3470148"/>
            <a:ext cx="652272" cy="164592"/>
          </a:xfrm>
          <a:prstGeom prst="rect">
            <a:avLst/>
          </a:prstGeom>
          <a:noFill/>
          <a:ln/>
        </p:spPr>
        <p:txBody>
          <a:bodyPr wrap="square" lIns="0" tIns="0" rIns="0" bIns="0" rtlCol="0" anchor="ctr"/>
          <a:lstStyle/>
          <a:p>
            <a:pPr marL="0" indent="0" algn="ctr">
              <a:buNone/>
            </a:pPr>
            <a:r>
              <a:rPr lang="en-US" sz="700" b="1" dirty="0">
                <a:solidFill>
                  <a:srgbClr val="243B53"/>
                </a:solidFill>
              </a:rPr>
              <a:t>$4,300</a:t>
            </a:r>
            <a:endParaRPr lang="en-US" sz="700" dirty="0"/>
          </a:p>
        </p:txBody>
      </p:sp>
      <p:sp>
        <p:nvSpPr>
          <p:cNvPr id="16" name="Text 14"/>
          <p:cNvSpPr/>
          <p:nvPr/>
        </p:nvSpPr>
        <p:spPr>
          <a:xfrm>
            <a:off x="7351776" y="4736592"/>
            <a:ext cx="6888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Jan</a:t>
            </a:r>
            <a:endParaRPr lang="en-US" sz="700" dirty="0"/>
          </a:p>
        </p:txBody>
      </p:sp>
      <p:sp>
        <p:nvSpPr>
          <p:cNvPr id="17" name="Shape 15"/>
          <p:cNvSpPr/>
          <p:nvPr/>
        </p:nvSpPr>
        <p:spPr>
          <a:xfrm>
            <a:off x="8077200" y="3611880"/>
            <a:ext cx="469392" cy="1051560"/>
          </a:xfrm>
          <a:prstGeom prst="rect">
            <a:avLst/>
          </a:prstGeom>
          <a:solidFill>
            <a:srgbClr val="D6B25E"/>
          </a:solidFill>
          <a:ln w="12700">
            <a:solidFill>
              <a:srgbClr val="D6B25E">
                <a:alpha val="0"/>
              </a:srgbClr>
            </a:solidFill>
            <a:prstDash val="solid"/>
          </a:ln>
        </p:spPr>
      </p:sp>
      <p:sp>
        <p:nvSpPr>
          <p:cNvPr id="18" name="Text 16"/>
          <p:cNvSpPr/>
          <p:nvPr/>
        </p:nvSpPr>
        <p:spPr>
          <a:xfrm>
            <a:off x="7985760" y="3401568"/>
            <a:ext cx="652272" cy="164592"/>
          </a:xfrm>
          <a:prstGeom prst="rect">
            <a:avLst/>
          </a:prstGeom>
          <a:noFill/>
          <a:ln/>
        </p:spPr>
        <p:txBody>
          <a:bodyPr wrap="square" lIns="0" tIns="0" rIns="0" bIns="0" rtlCol="0" anchor="ctr"/>
          <a:lstStyle/>
          <a:p>
            <a:pPr marL="0" indent="0" algn="ctr">
              <a:buNone/>
            </a:pPr>
            <a:r>
              <a:rPr lang="en-US" sz="700" b="1" dirty="0">
                <a:solidFill>
                  <a:srgbClr val="243B53"/>
                </a:solidFill>
              </a:rPr>
              <a:t>$4,600</a:t>
            </a:r>
            <a:endParaRPr lang="en-US" sz="700" dirty="0"/>
          </a:p>
        </p:txBody>
      </p:sp>
      <p:sp>
        <p:nvSpPr>
          <p:cNvPr id="19" name="Text 17"/>
          <p:cNvSpPr/>
          <p:nvPr/>
        </p:nvSpPr>
        <p:spPr>
          <a:xfrm>
            <a:off x="7967472" y="4736592"/>
            <a:ext cx="6888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Feb</a:t>
            </a:r>
            <a:endParaRPr lang="en-US" sz="700" dirty="0"/>
          </a:p>
        </p:txBody>
      </p:sp>
      <p:sp>
        <p:nvSpPr>
          <p:cNvPr id="20" name="Shape 18"/>
          <p:cNvSpPr/>
          <p:nvPr/>
        </p:nvSpPr>
        <p:spPr>
          <a:xfrm>
            <a:off x="8692896" y="3520440"/>
            <a:ext cx="469392" cy="1143000"/>
          </a:xfrm>
          <a:prstGeom prst="rect">
            <a:avLst/>
          </a:prstGeom>
          <a:solidFill>
            <a:srgbClr val="D6B25E"/>
          </a:solidFill>
          <a:ln w="12700">
            <a:solidFill>
              <a:srgbClr val="D6B25E">
                <a:alpha val="0"/>
              </a:srgbClr>
            </a:solidFill>
            <a:prstDash val="solid"/>
          </a:ln>
        </p:spPr>
      </p:sp>
      <p:sp>
        <p:nvSpPr>
          <p:cNvPr id="21" name="Text 19"/>
          <p:cNvSpPr/>
          <p:nvPr/>
        </p:nvSpPr>
        <p:spPr>
          <a:xfrm>
            <a:off x="8601456" y="3310128"/>
            <a:ext cx="652272" cy="164592"/>
          </a:xfrm>
          <a:prstGeom prst="rect">
            <a:avLst/>
          </a:prstGeom>
          <a:noFill/>
          <a:ln/>
        </p:spPr>
        <p:txBody>
          <a:bodyPr wrap="square" lIns="0" tIns="0" rIns="0" bIns="0" rtlCol="0" anchor="ctr"/>
          <a:lstStyle/>
          <a:p>
            <a:pPr marL="0" indent="0" algn="ctr">
              <a:buNone/>
            </a:pPr>
            <a:r>
              <a:rPr lang="en-US" sz="700" b="1" dirty="0">
                <a:solidFill>
                  <a:srgbClr val="243B53"/>
                </a:solidFill>
              </a:rPr>
              <a:t>$5,000</a:t>
            </a:r>
            <a:endParaRPr lang="en-US" sz="700" dirty="0"/>
          </a:p>
        </p:txBody>
      </p:sp>
      <p:sp>
        <p:nvSpPr>
          <p:cNvPr id="22" name="Text 20"/>
          <p:cNvSpPr/>
          <p:nvPr/>
        </p:nvSpPr>
        <p:spPr>
          <a:xfrm>
            <a:off x="8583168" y="4736592"/>
            <a:ext cx="6888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Mar</a:t>
            </a:r>
            <a:endParaRPr lang="en-US" sz="700" dirty="0"/>
          </a:p>
        </p:txBody>
      </p:sp>
      <p:sp>
        <p:nvSpPr>
          <p:cNvPr id="23" name="Shape 21"/>
          <p:cNvSpPr/>
          <p:nvPr/>
        </p:nvSpPr>
        <p:spPr>
          <a:xfrm>
            <a:off x="9308592" y="3268980"/>
            <a:ext cx="469392" cy="1394460"/>
          </a:xfrm>
          <a:prstGeom prst="rect">
            <a:avLst/>
          </a:prstGeom>
          <a:solidFill>
            <a:srgbClr val="2BA6A8"/>
          </a:solidFill>
          <a:ln w="12700">
            <a:solidFill>
              <a:srgbClr val="2BA6A8">
                <a:alpha val="0"/>
              </a:srgbClr>
            </a:solidFill>
            <a:prstDash val="solid"/>
          </a:ln>
        </p:spPr>
      </p:sp>
      <p:sp>
        <p:nvSpPr>
          <p:cNvPr id="24" name="Text 22"/>
          <p:cNvSpPr/>
          <p:nvPr/>
        </p:nvSpPr>
        <p:spPr>
          <a:xfrm>
            <a:off x="9217152" y="3058668"/>
            <a:ext cx="652272" cy="164592"/>
          </a:xfrm>
          <a:prstGeom prst="rect">
            <a:avLst/>
          </a:prstGeom>
          <a:noFill/>
          <a:ln/>
        </p:spPr>
        <p:txBody>
          <a:bodyPr wrap="square" lIns="0" tIns="0" rIns="0" bIns="0" rtlCol="0" anchor="ctr"/>
          <a:lstStyle/>
          <a:p>
            <a:pPr marL="0" indent="0" algn="ctr">
              <a:buNone/>
            </a:pPr>
            <a:r>
              <a:rPr lang="en-US" sz="700" b="1" dirty="0">
                <a:solidFill>
                  <a:srgbClr val="243B53"/>
                </a:solidFill>
              </a:rPr>
              <a:t>$6,100</a:t>
            </a:r>
            <a:endParaRPr lang="en-US" sz="700" dirty="0"/>
          </a:p>
        </p:txBody>
      </p:sp>
      <p:sp>
        <p:nvSpPr>
          <p:cNvPr id="25" name="Text 23"/>
          <p:cNvSpPr/>
          <p:nvPr/>
        </p:nvSpPr>
        <p:spPr>
          <a:xfrm>
            <a:off x="9198864" y="4736592"/>
            <a:ext cx="6888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Apr</a:t>
            </a:r>
            <a:endParaRPr lang="en-US" sz="700" dirty="0"/>
          </a:p>
        </p:txBody>
      </p:sp>
      <p:sp>
        <p:nvSpPr>
          <p:cNvPr id="26" name="Shape 24"/>
          <p:cNvSpPr/>
          <p:nvPr/>
        </p:nvSpPr>
        <p:spPr>
          <a:xfrm>
            <a:off x="9924288" y="3543300"/>
            <a:ext cx="469392" cy="1120140"/>
          </a:xfrm>
          <a:prstGeom prst="rect">
            <a:avLst/>
          </a:prstGeom>
          <a:solidFill>
            <a:srgbClr val="B91C1C"/>
          </a:solidFill>
          <a:ln w="12700">
            <a:solidFill>
              <a:srgbClr val="B91C1C">
                <a:alpha val="0"/>
              </a:srgbClr>
            </a:solidFill>
            <a:prstDash val="solid"/>
          </a:ln>
        </p:spPr>
      </p:sp>
      <p:sp>
        <p:nvSpPr>
          <p:cNvPr id="27" name="Text 25"/>
          <p:cNvSpPr/>
          <p:nvPr/>
        </p:nvSpPr>
        <p:spPr>
          <a:xfrm>
            <a:off x="9832848" y="3332988"/>
            <a:ext cx="652272" cy="164592"/>
          </a:xfrm>
          <a:prstGeom prst="rect">
            <a:avLst/>
          </a:prstGeom>
          <a:noFill/>
          <a:ln/>
        </p:spPr>
        <p:txBody>
          <a:bodyPr wrap="square" lIns="0" tIns="0" rIns="0" bIns="0" rtlCol="0" anchor="ctr"/>
          <a:lstStyle/>
          <a:p>
            <a:pPr marL="0" indent="0" algn="ctr">
              <a:buNone/>
            </a:pPr>
            <a:r>
              <a:rPr lang="en-US" sz="700" b="1" dirty="0">
                <a:solidFill>
                  <a:srgbClr val="243B53"/>
                </a:solidFill>
              </a:rPr>
              <a:t>$4,900</a:t>
            </a:r>
            <a:endParaRPr lang="en-US" sz="700" dirty="0"/>
          </a:p>
        </p:txBody>
      </p:sp>
      <p:sp>
        <p:nvSpPr>
          <p:cNvPr id="28" name="Text 26"/>
          <p:cNvSpPr/>
          <p:nvPr/>
        </p:nvSpPr>
        <p:spPr>
          <a:xfrm>
            <a:off x="9814560" y="4736592"/>
            <a:ext cx="6888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May</a:t>
            </a:r>
            <a:endParaRPr lang="en-US" sz="700" dirty="0"/>
          </a:p>
        </p:txBody>
      </p:sp>
      <p:sp>
        <p:nvSpPr>
          <p:cNvPr id="29" name="Shape 27"/>
          <p:cNvSpPr/>
          <p:nvPr/>
        </p:nvSpPr>
        <p:spPr>
          <a:xfrm>
            <a:off x="10539984" y="3200400"/>
            <a:ext cx="469392" cy="1463040"/>
          </a:xfrm>
          <a:prstGeom prst="rect">
            <a:avLst/>
          </a:prstGeom>
          <a:solidFill>
            <a:srgbClr val="2E7D32"/>
          </a:solidFill>
          <a:ln w="12700">
            <a:solidFill>
              <a:srgbClr val="2E7D32">
                <a:alpha val="0"/>
              </a:srgbClr>
            </a:solidFill>
            <a:prstDash val="solid"/>
          </a:ln>
        </p:spPr>
      </p:sp>
      <p:sp>
        <p:nvSpPr>
          <p:cNvPr id="30" name="Text 28"/>
          <p:cNvSpPr/>
          <p:nvPr/>
        </p:nvSpPr>
        <p:spPr>
          <a:xfrm>
            <a:off x="10448544" y="2990088"/>
            <a:ext cx="652272" cy="164592"/>
          </a:xfrm>
          <a:prstGeom prst="rect">
            <a:avLst/>
          </a:prstGeom>
          <a:noFill/>
          <a:ln/>
        </p:spPr>
        <p:txBody>
          <a:bodyPr wrap="square" lIns="0" tIns="0" rIns="0" bIns="0" rtlCol="0" anchor="ctr"/>
          <a:lstStyle/>
          <a:p>
            <a:pPr marL="0" indent="0" algn="ctr">
              <a:buNone/>
            </a:pPr>
            <a:r>
              <a:rPr lang="en-US" sz="700" b="1" dirty="0">
                <a:solidFill>
                  <a:srgbClr val="243B53"/>
                </a:solidFill>
              </a:rPr>
              <a:t>$6,400</a:t>
            </a:r>
            <a:endParaRPr lang="en-US" sz="700" dirty="0"/>
          </a:p>
        </p:txBody>
      </p:sp>
      <p:sp>
        <p:nvSpPr>
          <p:cNvPr id="31" name="Text 29"/>
          <p:cNvSpPr/>
          <p:nvPr/>
        </p:nvSpPr>
        <p:spPr>
          <a:xfrm>
            <a:off x="10430256" y="4736592"/>
            <a:ext cx="6888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Jun</a:t>
            </a:r>
            <a:endParaRPr lang="en-US" sz="700" dirty="0"/>
          </a:p>
        </p:txBody>
      </p:sp>
      <p:sp>
        <p:nvSpPr>
          <p:cNvPr id="32" name="Text 30"/>
          <p:cNvSpPr/>
          <p:nvPr/>
        </p:nvSpPr>
        <p:spPr>
          <a:xfrm>
            <a:off x="7315200" y="4983480"/>
            <a:ext cx="4023360" cy="274320"/>
          </a:xfrm>
          <a:prstGeom prst="rect">
            <a:avLst/>
          </a:prstGeom>
          <a:noFill/>
          <a:ln/>
        </p:spPr>
        <p:txBody>
          <a:bodyPr wrap="square" lIns="0" tIns="0" rIns="0" bIns="0" rtlCol="0" anchor="ctr"/>
          <a:lstStyle/>
          <a:p>
            <a:pPr marL="0" indent="0">
              <a:buNone/>
            </a:pPr>
            <a:r>
              <a:rPr lang="en-US" sz="1400" b="1" dirty="0">
                <a:solidFill>
                  <a:srgbClr val="FFFFFF"/>
                </a:solidFill>
              </a:rPr>
              <a:t>Case study: GlowCare Beauty &amp; Retail</a:t>
            </a:r>
            <a:endParaRPr lang="en-US" sz="1400" dirty="0"/>
          </a:p>
        </p:txBody>
      </p:sp>
      <p:sp>
        <p:nvSpPr>
          <p:cNvPr id="33"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WHAT THIS TRAINING HELPS YOU DO</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Course promise and business value</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1</a:t>
            </a:r>
            <a:endParaRPr lang="en-US" sz="800" dirty="0"/>
          </a:p>
        </p:txBody>
      </p:sp>
      <p:sp>
        <p:nvSpPr>
          <p:cNvPr id="5" name="Text 3"/>
          <p:cNvSpPr/>
          <p:nvPr/>
        </p:nvSpPr>
        <p:spPr>
          <a:xfrm>
            <a:off x="731520" y="1417320"/>
            <a:ext cx="4572000" cy="2560320"/>
          </a:xfrm>
          <a:prstGeom prst="rect">
            <a:avLst/>
          </a:prstGeom>
          <a:noFill/>
          <a:ln/>
        </p:spPr>
        <p:txBody>
          <a:bodyPr wrap="square" lIns="635" tIns="635" rIns="635" bIns="635" rtlCol="0" anchor="ctr">
            <a:normAutofit/>
          </a:bodyPr>
          <a:lstStyle/>
          <a:p>
            <a:pPr marL="152400" indent="-152400">
              <a:buSzPct val="100000"/>
              <a:buChar char="•"/>
            </a:pPr>
            <a:r>
              <a:rPr lang="en-US" sz="1500" dirty="0">
                <a:solidFill>
                  <a:srgbClr val="243B53"/>
                </a:solidFill>
              </a:rPr>
              <a:t>Read business performance without being overwhelmed</a:t>
            </a:r>
            <a:endParaRPr lang="en-US" sz="1500" dirty="0"/>
          </a:p>
          <a:p>
            <a:pPr marL="152400" indent="-152400">
              <a:buSzPct val="100000"/>
              <a:buChar char="•"/>
            </a:pPr>
            <a:r>
              <a:rPr lang="en-US" sz="1500" dirty="0">
                <a:solidFill>
                  <a:srgbClr val="243B53"/>
                </a:solidFill>
              </a:rPr>
              <a:t>Separate a metric from a KPI and an insight</a:t>
            </a:r>
            <a:endParaRPr lang="en-US" sz="1500" dirty="0"/>
          </a:p>
          <a:p>
            <a:pPr marL="152400" indent="-152400">
              <a:buSzPct val="100000"/>
              <a:buChar char="•"/>
            </a:pPr>
            <a:r>
              <a:rPr lang="en-US" sz="1500" dirty="0">
                <a:solidFill>
                  <a:srgbClr val="243B53"/>
                </a:solidFill>
              </a:rPr>
              <a:t>Diagnose a performance drop using multiple signals</a:t>
            </a:r>
            <a:endParaRPr lang="en-US" sz="1500" dirty="0"/>
          </a:p>
          <a:p>
            <a:pPr marL="152400" indent="-152400">
              <a:buSzPct val="100000"/>
              <a:buChar char="•"/>
            </a:pPr>
            <a:r>
              <a:rPr lang="en-US" sz="1500" dirty="0">
                <a:solidFill>
                  <a:srgbClr val="243B53"/>
                </a:solidFill>
              </a:rPr>
              <a:t>Turn analysis into a recommendation with trade-offs</a:t>
            </a:r>
            <a:endParaRPr lang="en-US" sz="1500" dirty="0"/>
          </a:p>
        </p:txBody>
      </p:sp>
      <p:sp>
        <p:nvSpPr>
          <p:cNvPr id="6" name="Shape 4"/>
          <p:cNvSpPr/>
          <p:nvPr/>
        </p:nvSpPr>
        <p:spPr>
          <a:xfrm>
            <a:off x="5943600" y="1234440"/>
            <a:ext cx="5303520" cy="3886200"/>
          </a:xfrm>
          <a:prstGeom prst="roundRect">
            <a:avLst>
              <a:gd name="adj" fmla="val 1882"/>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7" name="Shape 5"/>
          <p:cNvSpPr/>
          <p:nvPr/>
        </p:nvSpPr>
        <p:spPr>
          <a:xfrm>
            <a:off x="6355080" y="2286000"/>
            <a:ext cx="1051560" cy="731520"/>
          </a:xfrm>
          <a:prstGeom prst="chevron">
            <a:avLst/>
          </a:prstGeom>
          <a:solidFill>
            <a:srgbClr val="087E8B"/>
          </a:solidFill>
          <a:ln w="12700">
            <a:solidFill>
              <a:srgbClr val="FFFFFF"/>
            </a:solidFill>
            <a:prstDash val="solid"/>
          </a:ln>
        </p:spPr>
      </p:sp>
      <p:sp>
        <p:nvSpPr>
          <p:cNvPr id="8" name="Text 6"/>
          <p:cNvSpPr/>
          <p:nvPr/>
        </p:nvSpPr>
        <p:spPr>
          <a:xfrm>
            <a:off x="6400800" y="2487168"/>
            <a:ext cx="914400" cy="201168"/>
          </a:xfrm>
          <a:prstGeom prst="rect">
            <a:avLst/>
          </a:prstGeom>
          <a:noFill/>
          <a:ln/>
        </p:spPr>
        <p:txBody>
          <a:bodyPr wrap="square" lIns="0" tIns="0" rIns="0" bIns="0" rtlCol="0" anchor="ctr">
            <a:normAutofit/>
          </a:bodyPr>
          <a:lstStyle/>
          <a:p>
            <a:pPr marL="0" indent="0" algn="ctr">
              <a:buNone/>
            </a:pPr>
            <a:r>
              <a:rPr lang="en-US" sz="780" b="1" dirty="0">
                <a:solidFill>
                  <a:srgbClr val="FFFFFF"/>
                </a:solidFill>
              </a:rPr>
              <a:t>What happened?</a:t>
            </a:r>
            <a:endParaRPr lang="en-US" sz="780" dirty="0"/>
          </a:p>
        </p:txBody>
      </p:sp>
      <p:sp>
        <p:nvSpPr>
          <p:cNvPr id="9" name="Shape 7"/>
          <p:cNvSpPr/>
          <p:nvPr/>
        </p:nvSpPr>
        <p:spPr>
          <a:xfrm>
            <a:off x="7589520" y="2286000"/>
            <a:ext cx="1051560" cy="731520"/>
          </a:xfrm>
          <a:prstGeom prst="chevron">
            <a:avLst/>
          </a:prstGeom>
          <a:solidFill>
            <a:srgbClr val="B8860B"/>
          </a:solidFill>
          <a:ln w="12700">
            <a:solidFill>
              <a:srgbClr val="FFFFFF"/>
            </a:solidFill>
            <a:prstDash val="solid"/>
          </a:ln>
        </p:spPr>
      </p:sp>
      <p:sp>
        <p:nvSpPr>
          <p:cNvPr id="10" name="Text 8"/>
          <p:cNvSpPr/>
          <p:nvPr/>
        </p:nvSpPr>
        <p:spPr>
          <a:xfrm>
            <a:off x="7635240" y="2487168"/>
            <a:ext cx="914400" cy="201168"/>
          </a:xfrm>
          <a:prstGeom prst="rect">
            <a:avLst/>
          </a:prstGeom>
          <a:noFill/>
          <a:ln/>
        </p:spPr>
        <p:txBody>
          <a:bodyPr wrap="square" lIns="0" tIns="0" rIns="0" bIns="0" rtlCol="0" anchor="ctr">
            <a:normAutofit/>
          </a:bodyPr>
          <a:lstStyle/>
          <a:p>
            <a:pPr marL="0" indent="0" algn="ctr">
              <a:buNone/>
            </a:pPr>
            <a:r>
              <a:rPr lang="en-US" sz="780" b="1" dirty="0">
                <a:solidFill>
                  <a:srgbClr val="FFFFFF"/>
                </a:solidFill>
              </a:rPr>
              <a:t>Why might it have happened?</a:t>
            </a:r>
            <a:endParaRPr lang="en-US" sz="780" dirty="0"/>
          </a:p>
        </p:txBody>
      </p:sp>
      <p:sp>
        <p:nvSpPr>
          <p:cNvPr id="11" name="Shape 9"/>
          <p:cNvSpPr/>
          <p:nvPr/>
        </p:nvSpPr>
        <p:spPr>
          <a:xfrm>
            <a:off x="8823960" y="2286000"/>
            <a:ext cx="1051560" cy="731520"/>
          </a:xfrm>
          <a:prstGeom prst="chevron">
            <a:avLst/>
          </a:prstGeom>
          <a:solidFill>
            <a:srgbClr val="D97706"/>
          </a:solidFill>
          <a:ln w="12700">
            <a:solidFill>
              <a:srgbClr val="FFFFFF"/>
            </a:solidFill>
            <a:prstDash val="solid"/>
          </a:ln>
        </p:spPr>
      </p:sp>
      <p:sp>
        <p:nvSpPr>
          <p:cNvPr id="12" name="Text 10"/>
          <p:cNvSpPr/>
          <p:nvPr/>
        </p:nvSpPr>
        <p:spPr>
          <a:xfrm>
            <a:off x="8869680" y="2487168"/>
            <a:ext cx="914400" cy="201168"/>
          </a:xfrm>
          <a:prstGeom prst="rect">
            <a:avLst/>
          </a:prstGeom>
          <a:noFill/>
          <a:ln/>
        </p:spPr>
        <p:txBody>
          <a:bodyPr wrap="square" lIns="0" tIns="0" rIns="0" bIns="0" rtlCol="0" anchor="ctr">
            <a:normAutofit/>
          </a:bodyPr>
          <a:lstStyle/>
          <a:p>
            <a:pPr marL="0" indent="0" algn="ctr">
              <a:buNone/>
            </a:pPr>
            <a:r>
              <a:rPr lang="en-US" sz="780" b="1" dirty="0">
                <a:solidFill>
                  <a:srgbClr val="FFFFFF"/>
                </a:solidFill>
              </a:rPr>
              <a:t>What matters most?</a:t>
            </a:r>
            <a:endParaRPr lang="en-US" sz="780" dirty="0"/>
          </a:p>
        </p:txBody>
      </p:sp>
      <p:sp>
        <p:nvSpPr>
          <p:cNvPr id="13" name="Shape 11"/>
          <p:cNvSpPr/>
          <p:nvPr/>
        </p:nvSpPr>
        <p:spPr>
          <a:xfrm>
            <a:off x="10058400" y="2286000"/>
            <a:ext cx="1051560" cy="731520"/>
          </a:xfrm>
          <a:prstGeom prst="chevron">
            <a:avLst/>
          </a:prstGeom>
          <a:solidFill>
            <a:srgbClr val="2E7D32"/>
          </a:solidFill>
          <a:ln w="12700">
            <a:solidFill>
              <a:srgbClr val="FFFFFF"/>
            </a:solidFill>
            <a:prstDash val="solid"/>
          </a:ln>
        </p:spPr>
      </p:sp>
      <p:sp>
        <p:nvSpPr>
          <p:cNvPr id="14" name="Text 12"/>
          <p:cNvSpPr/>
          <p:nvPr/>
        </p:nvSpPr>
        <p:spPr>
          <a:xfrm>
            <a:off x="10104120" y="2487168"/>
            <a:ext cx="914400" cy="201168"/>
          </a:xfrm>
          <a:prstGeom prst="rect">
            <a:avLst/>
          </a:prstGeom>
          <a:noFill/>
          <a:ln/>
        </p:spPr>
        <p:txBody>
          <a:bodyPr wrap="square" lIns="0" tIns="0" rIns="0" bIns="0" rtlCol="0" anchor="ctr">
            <a:normAutofit/>
          </a:bodyPr>
          <a:lstStyle/>
          <a:p>
            <a:pPr marL="0" indent="0" algn="ctr">
              <a:buNone/>
            </a:pPr>
            <a:r>
              <a:rPr lang="en-US" sz="780" b="1" dirty="0">
                <a:solidFill>
                  <a:srgbClr val="FFFFFF"/>
                </a:solidFill>
              </a:rPr>
              <a:t>What should we do next?</a:t>
            </a:r>
            <a:endParaRPr lang="en-US" sz="780" dirty="0"/>
          </a:p>
        </p:txBody>
      </p:sp>
      <p:sp>
        <p:nvSpPr>
          <p:cNvPr id="15" name="Text 13"/>
          <p:cNvSpPr/>
          <p:nvPr/>
        </p:nvSpPr>
        <p:spPr>
          <a:xfrm>
            <a:off x="6355080" y="3794760"/>
            <a:ext cx="4526280" cy="621792"/>
          </a:xfrm>
          <a:prstGeom prst="rect">
            <a:avLst/>
          </a:prstGeom>
          <a:noFill/>
          <a:ln/>
        </p:spPr>
        <p:txBody>
          <a:bodyPr wrap="square" lIns="635" tIns="635" rIns="635" bIns="635" rtlCol="0" anchor="ctr">
            <a:normAutofit/>
          </a:bodyPr>
          <a:lstStyle/>
          <a:p>
            <a:pPr marL="0" indent="0" algn="ctr">
              <a:buNone/>
            </a:pPr>
            <a:r>
              <a:rPr lang="en-US" sz="1500" b="1" dirty="0">
                <a:solidFill>
                  <a:srgbClr val="102A43"/>
                </a:solidFill>
              </a:rPr>
              <a:t>The course output is not “I saw a chart.”</a:t>
            </a:r>
            <a:endParaRPr lang="en-US" sz="1500" dirty="0"/>
          </a:p>
          <a:p>
            <a:pPr marL="0" indent="0" algn="ctr">
              <a:buNone/>
            </a:pPr>
            <a:r>
              <a:rPr lang="en-US" sz="1500" b="1" dirty="0">
                <a:solidFill>
                  <a:srgbClr val="102A43"/>
                </a:solidFill>
              </a:rPr>
              <a:t>The output is a decision-ready business recommendation.</a:t>
            </a:r>
            <a:endParaRPr lang="en-US" sz="1500" dirty="0"/>
          </a:p>
        </p:txBody>
      </p:sp>
      <p:sp>
        <p:nvSpPr>
          <p:cNvPr id="16" name="Shape 14"/>
          <p:cNvSpPr/>
          <p:nvPr/>
        </p:nvSpPr>
        <p:spPr>
          <a:xfrm>
            <a:off x="6080760" y="5257800"/>
            <a:ext cx="4937760" cy="640080"/>
          </a:xfrm>
          <a:prstGeom prst="roundRect">
            <a:avLst>
              <a:gd name="adj" fmla="val 7143"/>
            </a:avLst>
          </a:prstGeom>
          <a:solidFill>
            <a:srgbClr val="F6E7C1"/>
          </a:solidFill>
          <a:ln w="8890">
            <a:solidFill>
              <a:srgbClr val="E3C56F"/>
            </a:solidFill>
            <a:prstDash val="solid"/>
          </a:ln>
        </p:spPr>
      </p:sp>
      <p:sp>
        <p:nvSpPr>
          <p:cNvPr id="17" name="Text 15"/>
          <p:cNvSpPr/>
          <p:nvPr/>
        </p:nvSpPr>
        <p:spPr>
          <a:xfrm>
            <a:off x="6245352" y="5330952"/>
            <a:ext cx="46085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18" name="Text 16"/>
          <p:cNvSpPr/>
          <p:nvPr/>
        </p:nvSpPr>
        <p:spPr>
          <a:xfrm>
            <a:off x="6245352" y="5522976"/>
            <a:ext cx="46085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Analytics creates value when it changes the quality of a business decision — not when it simply produces more numbers.</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FOUNDATION</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What business analytics means in plain English</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1</a:t>
            </a:r>
            <a:endParaRPr lang="en-US" sz="800" dirty="0"/>
          </a:p>
        </p:txBody>
      </p:sp>
      <p:sp>
        <p:nvSpPr>
          <p:cNvPr id="5" name="Text 3"/>
          <p:cNvSpPr/>
          <p:nvPr/>
        </p:nvSpPr>
        <p:spPr>
          <a:xfrm>
            <a:off x="685800" y="1325880"/>
            <a:ext cx="4754880" cy="2743200"/>
          </a:xfrm>
          <a:prstGeom prst="rect">
            <a:avLst/>
          </a:prstGeom>
          <a:noFill/>
          <a:ln/>
        </p:spPr>
        <p:txBody>
          <a:bodyPr wrap="square" lIns="635" tIns="635" rIns="635" bIns="635" rtlCol="0" anchor="ctr">
            <a:normAutofit/>
          </a:bodyPr>
          <a:lstStyle/>
          <a:p>
            <a:pPr marL="152400" indent="-152400">
              <a:buSzPct val="100000"/>
              <a:buChar char="•"/>
            </a:pPr>
            <a:r>
              <a:rPr lang="en-US" sz="1500" dirty="0">
                <a:solidFill>
                  <a:srgbClr val="243B53"/>
                </a:solidFill>
              </a:rPr>
              <a:t>Business analytics is the disciplined use of data to improve decisions</a:t>
            </a:r>
            <a:endParaRPr lang="en-US" sz="1500" dirty="0"/>
          </a:p>
          <a:p>
            <a:pPr marL="152400" indent="-152400">
              <a:buSzPct val="100000"/>
              <a:buChar char="•"/>
            </a:pPr>
            <a:r>
              <a:rPr lang="en-US" sz="1500" dirty="0">
                <a:solidFill>
                  <a:srgbClr val="243B53"/>
                </a:solidFill>
              </a:rPr>
              <a:t>It connects performance numbers to business questions</a:t>
            </a:r>
            <a:endParaRPr lang="en-US" sz="1500" dirty="0"/>
          </a:p>
          <a:p>
            <a:pPr marL="152400" indent="-152400">
              <a:buSzPct val="100000"/>
              <a:buChar char="•"/>
            </a:pPr>
            <a:r>
              <a:rPr lang="en-US" sz="1500" dirty="0">
                <a:solidFill>
                  <a:srgbClr val="243B53"/>
                </a:solidFill>
              </a:rPr>
              <a:t>It looks for patterns, trade-offs, risks, and action choices</a:t>
            </a:r>
            <a:endParaRPr lang="en-US" sz="1500" dirty="0"/>
          </a:p>
          <a:p>
            <a:pPr marL="152400" indent="-152400">
              <a:buSzPct val="100000"/>
              <a:buChar char="•"/>
            </a:pPr>
            <a:r>
              <a:rPr lang="en-US" sz="1500" dirty="0">
                <a:solidFill>
                  <a:srgbClr val="243B53"/>
                </a:solidFill>
              </a:rPr>
              <a:t>It asks “so what?” after every chart</a:t>
            </a:r>
            <a:endParaRPr lang="en-US" sz="1500" dirty="0"/>
          </a:p>
        </p:txBody>
      </p:sp>
      <p:sp>
        <p:nvSpPr>
          <p:cNvPr id="6" name="Shape 4"/>
          <p:cNvSpPr/>
          <p:nvPr/>
        </p:nvSpPr>
        <p:spPr>
          <a:xfrm>
            <a:off x="5897880" y="1234440"/>
            <a:ext cx="5303520" cy="3474720"/>
          </a:xfrm>
          <a:prstGeom prst="roundRect">
            <a:avLst>
              <a:gd name="adj" fmla="val 2105"/>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7" name="Shape 5"/>
          <p:cNvSpPr/>
          <p:nvPr/>
        </p:nvSpPr>
        <p:spPr>
          <a:xfrm>
            <a:off x="6217920" y="2057400"/>
            <a:ext cx="1005840" cy="685800"/>
          </a:xfrm>
          <a:prstGeom prst="roundRect">
            <a:avLst>
              <a:gd name="adj" fmla="val 8000"/>
            </a:avLst>
          </a:prstGeom>
          <a:solidFill>
            <a:srgbClr val="E7EEF7"/>
          </a:solidFill>
          <a:ln w="12700">
            <a:solidFill>
              <a:srgbClr val="2F5D8C"/>
            </a:solidFill>
            <a:prstDash val="solid"/>
          </a:ln>
        </p:spPr>
      </p:sp>
      <p:sp>
        <p:nvSpPr>
          <p:cNvPr id="8" name="Text 6"/>
          <p:cNvSpPr/>
          <p:nvPr/>
        </p:nvSpPr>
        <p:spPr>
          <a:xfrm>
            <a:off x="6263640" y="2176272"/>
            <a:ext cx="914400" cy="182880"/>
          </a:xfrm>
          <a:prstGeom prst="rect">
            <a:avLst/>
          </a:prstGeom>
          <a:noFill/>
          <a:ln/>
        </p:spPr>
        <p:txBody>
          <a:bodyPr wrap="square" lIns="0" tIns="0" rIns="0" bIns="0" rtlCol="0" anchor="ctr"/>
          <a:lstStyle/>
          <a:p>
            <a:pPr marL="0" indent="0" algn="ctr">
              <a:buNone/>
            </a:pPr>
            <a:r>
              <a:rPr lang="en-US" sz="1000" b="1" dirty="0">
                <a:solidFill>
                  <a:srgbClr val="102A43"/>
                </a:solidFill>
              </a:rPr>
              <a:t>Data</a:t>
            </a:r>
            <a:endParaRPr lang="en-US" sz="1000" dirty="0"/>
          </a:p>
        </p:txBody>
      </p:sp>
      <p:sp>
        <p:nvSpPr>
          <p:cNvPr id="9" name="Text 7"/>
          <p:cNvSpPr/>
          <p:nvPr/>
        </p:nvSpPr>
        <p:spPr>
          <a:xfrm>
            <a:off x="6272784" y="2395728"/>
            <a:ext cx="896112" cy="201168"/>
          </a:xfrm>
          <a:prstGeom prst="rect">
            <a:avLst/>
          </a:prstGeom>
          <a:noFill/>
          <a:ln/>
        </p:spPr>
        <p:txBody>
          <a:bodyPr wrap="square" lIns="0" tIns="0" rIns="0" bIns="0" rtlCol="0" anchor="ctr">
            <a:normAutofit/>
          </a:bodyPr>
          <a:lstStyle/>
          <a:p>
            <a:pPr marL="0" indent="0" algn="ctr">
              <a:buNone/>
            </a:pPr>
            <a:r>
              <a:rPr lang="en-US" sz="660" dirty="0">
                <a:solidFill>
                  <a:srgbClr val="243B53"/>
                </a:solidFill>
              </a:rPr>
              <a:t>Records and facts</a:t>
            </a:r>
            <a:endParaRPr lang="en-US" sz="660" dirty="0"/>
          </a:p>
        </p:txBody>
      </p:sp>
      <p:sp>
        <p:nvSpPr>
          <p:cNvPr id="10" name="Shape 8"/>
          <p:cNvSpPr/>
          <p:nvPr/>
        </p:nvSpPr>
        <p:spPr>
          <a:xfrm>
            <a:off x="7205472" y="2212848"/>
            <a:ext cx="320040" cy="292608"/>
          </a:xfrm>
          <a:prstGeom prst="rightArrow">
            <a:avLst/>
          </a:prstGeom>
          <a:solidFill>
            <a:srgbClr val="D7C9B6"/>
          </a:solidFill>
          <a:ln w="12700">
            <a:solidFill>
              <a:srgbClr val="D7C9B6"/>
            </a:solidFill>
            <a:prstDash val="solid"/>
          </a:ln>
        </p:spPr>
      </p:sp>
      <p:sp>
        <p:nvSpPr>
          <p:cNvPr id="11" name="Shape 9"/>
          <p:cNvSpPr/>
          <p:nvPr/>
        </p:nvSpPr>
        <p:spPr>
          <a:xfrm>
            <a:off x="7452360" y="2057400"/>
            <a:ext cx="1005840" cy="685800"/>
          </a:xfrm>
          <a:prstGeom prst="roundRect">
            <a:avLst>
              <a:gd name="adj" fmla="val 8000"/>
            </a:avLst>
          </a:prstGeom>
          <a:solidFill>
            <a:srgbClr val="DFF3F5"/>
          </a:solidFill>
          <a:ln w="12700">
            <a:solidFill>
              <a:srgbClr val="087E8B"/>
            </a:solidFill>
            <a:prstDash val="solid"/>
          </a:ln>
        </p:spPr>
      </p:sp>
      <p:sp>
        <p:nvSpPr>
          <p:cNvPr id="12" name="Text 10"/>
          <p:cNvSpPr/>
          <p:nvPr/>
        </p:nvSpPr>
        <p:spPr>
          <a:xfrm>
            <a:off x="7498080" y="2176272"/>
            <a:ext cx="914400" cy="182880"/>
          </a:xfrm>
          <a:prstGeom prst="rect">
            <a:avLst/>
          </a:prstGeom>
          <a:noFill/>
          <a:ln/>
        </p:spPr>
        <p:txBody>
          <a:bodyPr wrap="square" lIns="0" tIns="0" rIns="0" bIns="0" rtlCol="0" anchor="ctr"/>
          <a:lstStyle/>
          <a:p>
            <a:pPr marL="0" indent="0" algn="ctr">
              <a:buNone/>
            </a:pPr>
            <a:r>
              <a:rPr lang="en-US" sz="1000" b="1" dirty="0">
                <a:solidFill>
                  <a:srgbClr val="102A43"/>
                </a:solidFill>
              </a:rPr>
              <a:t>Analysis</a:t>
            </a:r>
            <a:endParaRPr lang="en-US" sz="1000" dirty="0"/>
          </a:p>
        </p:txBody>
      </p:sp>
      <p:sp>
        <p:nvSpPr>
          <p:cNvPr id="13" name="Text 11"/>
          <p:cNvSpPr/>
          <p:nvPr/>
        </p:nvSpPr>
        <p:spPr>
          <a:xfrm>
            <a:off x="7507224" y="2395728"/>
            <a:ext cx="896112" cy="201168"/>
          </a:xfrm>
          <a:prstGeom prst="rect">
            <a:avLst/>
          </a:prstGeom>
          <a:noFill/>
          <a:ln/>
        </p:spPr>
        <p:txBody>
          <a:bodyPr wrap="square" lIns="0" tIns="0" rIns="0" bIns="0" rtlCol="0" anchor="ctr">
            <a:normAutofit/>
          </a:bodyPr>
          <a:lstStyle/>
          <a:p>
            <a:pPr marL="0" indent="0" algn="ctr">
              <a:buNone/>
            </a:pPr>
            <a:r>
              <a:rPr lang="en-US" sz="660" dirty="0">
                <a:solidFill>
                  <a:srgbClr val="243B53"/>
                </a:solidFill>
              </a:rPr>
              <a:t>Structure and compare</a:t>
            </a:r>
            <a:endParaRPr lang="en-US" sz="660" dirty="0"/>
          </a:p>
        </p:txBody>
      </p:sp>
      <p:sp>
        <p:nvSpPr>
          <p:cNvPr id="14" name="Shape 12"/>
          <p:cNvSpPr/>
          <p:nvPr/>
        </p:nvSpPr>
        <p:spPr>
          <a:xfrm>
            <a:off x="8439912" y="2212848"/>
            <a:ext cx="320040" cy="292608"/>
          </a:xfrm>
          <a:prstGeom prst="rightArrow">
            <a:avLst/>
          </a:prstGeom>
          <a:solidFill>
            <a:srgbClr val="D7C9B6"/>
          </a:solidFill>
          <a:ln w="12700">
            <a:solidFill>
              <a:srgbClr val="D7C9B6"/>
            </a:solidFill>
            <a:prstDash val="solid"/>
          </a:ln>
        </p:spPr>
      </p:sp>
      <p:sp>
        <p:nvSpPr>
          <p:cNvPr id="15" name="Shape 13"/>
          <p:cNvSpPr/>
          <p:nvPr/>
        </p:nvSpPr>
        <p:spPr>
          <a:xfrm>
            <a:off x="8686800" y="2057400"/>
            <a:ext cx="1005840" cy="685800"/>
          </a:xfrm>
          <a:prstGeom prst="roundRect">
            <a:avLst>
              <a:gd name="adj" fmla="val 8000"/>
            </a:avLst>
          </a:prstGeom>
          <a:solidFill>
            <a:srgbClr val="F6E7C1"/>
          </a:solidFill>
          <a:ln w="12700">
            <a:solidFill>
              <a:srgbClr val="B8860B"/>
            </a:solidFill>
            <a:prstDash val="solid"/>
          </a:ln>
        </p:spPr>
      </p:sp>
      <p:sp>
        <p:nvSpPr>
          <p:cNvPr id="16" name="Text 14"/>
          <p:cNvSpPr/>
          <p:nvPr/>
        </p:nvSpPr>
        <p:spPr>
          <a:xfrm>
            <a:off x="8732520" y="2176272"/>
            <a:ext cx="914400" cy="182880"/>
          </a:xfrm>
          <a:prstGeom prst="rect">
            <a:avLst/>
          </a:prstGeom>
          <a:noFill/>
          <a:ln/>
        </p:spPr>
        <p:txBody>
          <a:bodyPr wrap="square" lIns="0" tIns="0" rIns="0" bIns="0" rtlCol="0" anchor="ctr"/>
          <a:lstStyle/>
          <a:p>
            <a:pPr marL="0" indent="0" algn="ctr">
              <a:buNone/>
            </a:pPr>
            <a:r>
              <a:rPr lang="en-US" sz="1000" b="1" dirty="0">
                <a:solidFill>
                  <a:srgbClr val="102A43"/>
                </a:solidFill>
              </a:rPr>
              <a:t>Insight</a:t>
            </a:r>
            <a:endParaRPr lang="en-US" sz="1000" dirty="0"/>
          </a:p>
        </p:txBody>
      </p:sp>
      <p:sp>
        <p:nvSpPr>
          <p:cNvPr id="17" name="Text 15"/>
          <p:cNvSpPr/>
          <p:nvPr/>
        </p:nvSpPr>
        <p:spPr>
          <a:xfrm>
            <a:off x="8741664" y="2395728"/>
            <a:ext cx="896112" cy="201168"/>
          </a:xfrm>
          <a:prstGeom prst="rect">
            <a:avLst/>
          </a:prstGeom>
          <a:noFill/>
          <a:ln/>
        </p:spPr>
        <p:txBody>
          <a:bodyPr wrap="square" lIns="0" tIns="0" rIns="0" bIns="0" rtlCol="0" anchor="ctr">
            <a:normAutofit/>
          </a:bodyPr>
          <a:lstStyle/>
          <a:p>
            <a:pPr marL="0" indent="0" algn="ctr">
              <a:buNone/>
            </a:pPr>
            <a:r>
              <a:rPr lang="en-US" sz="660" dirty="0">
                <a:solidFill>
                  <a:srgbClr val="243B53"/>
                </a:solidFill>
              </a:rPr>
              <a:t>Business meaning</a:t>
            </a:r>
            <a:endParaRPr lang="en-US" sz="660" dirty="0"/>
          </a:p>
        </p:txBody>
      </p:sp>
      <p:sp>
        <p:nvSpPr>
          <p:cNvPr id="18" name="Shape 16"/>
          <p:cNvSpPr/>
          <p:nvPr/>
        </p:nvSpPr>
        <p:spPr>
          <a:xfrm>
            <a:off x="9674352" y="2212848"/>
            <a:ext cx="320040" cy="292608"/>
          </a:xfrm>
          <a:prstGeom prst="rightArrow">
            <a:avLst/>
          </a:prstGeom>
          <a:solidFill>
            <a:srgbClr val="D7C9B6"/>
          </a:solidFill>
          <a:ln w="12700">
            <a:solidFill>
              <a:srgbClr val="D7C9B6"/>
            </a:solidFill>
            <a:prstDash val="solid"/>
          </a:ln>
        </p:spPr>
      </p:sp>
      <p:sp>
        <p:nvSpPr>
          <p:cNvPr id="19" name="Shape 17"/>
          <p:cNvSpPr/>
          <p:nvPr/>
        </p:nvSpPr>
        <p:spPr>
          <a:xfrm>
            <a:off x="9921240" y="2057400"/>
            <a:ext cx="1005840" cy="685800"/>
          </a:xfrm>
          <a:prstGeom prst="roundRect">
            <a:avLst>
              <a:gd name="adj" fmla="val 8000"/>
            </a:avLst>
          </a:prstGeom>
          <a:solidFill>
            <a:srgbClr val="E6F4EA"/>
          </a:solidFill>
          <a:ln w="12700">
            <a:solidFill>
              <a:srgbClr val="2E7D32"/>
            </a:solidFill>
            <a:prstDash val="solid"/>
          </a:ln>
        </p:spPr>
      </p:sp>
      <p:sp>
        <p:nvSpPr>
          <p:cNvPr id="20" name="Text 18"/>
          <p:cNvSpPr/>
          <p:nvPr/>
        </p:nvSpPr>
        <p:spPr>
          <a:xfrm>
            <a:off x="9966960" y="2176272"/>
            <a:ext cx="914400" cy="182880"/>
          </a:xfrm>
          <a:prstGeom prst="rect">
            <a:avLst/>
          </a:prstGeom>
          <a:noFill/>
          <a:ln/>
        </p:spPr>
        <p:txBody>
          <a:bodyPr wrap="square" lIns="0" tIns="0" rIns="0" bIns="0" rtlCol="0" anchor="ctr"/>
          <a:lstStyle/>
          <a:p>
            <a:pPr marL="0" indent="0" algn="ctr">
              <a:buNone/>
            </a:pPr>
            <a:r>
              <a:rPr lang="en-US" sz="1000" b="1" dirty="0">
                <a:solidFill>
                  <a:srgbClr val="102A43"/>
                </a:solidFill>
              </a:rPr>
              <a:t>Decision</a:t>
            </a:r>
            <a:endParaRPr lang="en-US" sz="1000" dirty="0"/>
          </a:p>
        </p:txBody>
      </p:sp>
      <p:sp>
        <p:nvSpPr>
          <p:cNvPr id="21" name="Text 19"/>
          <p:cNvSpPr/>
          <p:nvPr/>
        </p:nvSpPr>
        <p:spPr>
          <a:xfrm>
            <a:off x="9976104" y="2395728"/>
            <a:ext cx="896112" cy="201168"/>
          </a:xfrm>
          <a:prstGeom prst="rect">
            <a:avLst/>
          </a:prstGeom>
          <a:noFill/>
          <a:ln/>
        </p:spPr>
        <p:txBody>
          <a:bodyPr wrap="square" lIns="0" tIns="0" rIns="0" bIns="0" rtlCol="0" anchor="ctr">
            <a:normAutofit/>
          </a:bodyPr>
          <a:lstStyle/>
          <a:p>
            <a:pPr marL="0" indent="0" algn="ctr">
              <a:buNone/>
            </a:pPr>
            <a:r>
              <a:rPr lang="en-US" sz="660" dirty="0">
                <a:solidFill>
                  <a:srgbClr val="243B53"/>
                </a:solidFill>
              </a:rPr>
              <a:t>Action and trade-off</a:t>
            </a:r>
            <a:endParaRPr lang="en-US" sz="660" dirty="0"/>
          </a:p>
        </p:txBody>
      </p:sp>
      <p:sp>
        <p:nvSpPr>
          <p:cNvPr id="22" name="Shape 20"/>
          <p:cNvSpPr/>
          <p:nvPr/>
        </p:nvSpPr>
        <p:spPr>
          <a:xfrm>
            <a:off x="6080760" y="5257800"/>
            <a:ext cx="4937760" cy="640080"/>
          </a:xfrm>
          <a:prstGeom prst="roundRect">
            <a:avLst>
              <a:gd name="adj" fmla="val 7143"/>
            </a:avLst>
          </a:prstGeom>
          <a:solidFill>
            <a:srgbClr val="F6E7C1"/>
          </a:solidFill>
          <a:ln w="8890">
            <a:solidFill>
              <a:srgbClr val="E3C56F"/>
            </a:solidFill>
            <a:prstDash val="solid"/>
          </a:ln>
        </p:spPr>
      </p:sp>
      <p:sp>
        <p:nvSpPr>
          <p:cNvPr id="23" name="Text 21"/>
          <p:cNvSpPr/>
          <p:nvPr/>
        </p:nvSpPr>
        <p:spPr>
          <a:xfrm>
            <a:off x="6245352" y="5330952"/>
            <a:ext cx="46085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4" name="Text 22"/>
          <p:cNvSpPr/>
          <p:nvPr/>
        </p:nvSpPr>
        <p:spPr>
          <a:xfrm>
            <a:off x="6245352" y="5522976"/>
            <a:ext cx="46085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The strongest analytics work is not “more data.” It is clearer thinking about what the data means for the business.</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THE ANALYTICS LANGUAGE THAT MATTERS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Data vs metric vs KPI vs insight vs action</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1</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1234440"/>
          <a:ext cx="10789920" cy="3429000"/>
        </p:xfrm>
        <a:graphic>
          <a:graphicData uri="http://schemas.openxmlformats.org/drawingml/2006/table">
            <a:tbl>
              <a:tblPr/>
              <a:tblGrid>
                <a:gridCol w="3596640">
                  <a:extLst>
                    <a:ext uri="{9D8B030D-6E8A-4147-A177-3AD203B41FA5}">
                      <a16:colId xmlns:a16="http://schemas.microsoft.com/office/drawing/2014/main" val="20000"/>
                    </a:ext>
                  </a:extLst>
                </a:gridCol>
                <a:gridCol w="3596640">
                  <a:extLst>
                    <a:ext uri="{9D8B030D-6E8A-4147-A177-3AD203B41FA5}">
                      <a16:colId xmlns:a16="http://schemas.microsoft.com/office/drawing/2014/main" val="20001"/>
                    </a:ext>
                  </a:extLst>
                </a:gridCol>
                <a:gridCol w="3596640">
                  <a:extLst>
                    <a:ext uri="{9D8B030D-6E8A-4147-A177-3AD203B41FA5}">
                      <a16:colId xmlns:a16="http://schemas.microsoft.com/office/drawing/2014/main" val="20002"/>
                    </a:ext>
                  </a:extLst>
                </a:gridCol>
              </a:tblGrid>
              <a:tr h="571500">
                <a:tc>
                  <a:txBody>
                    <a:bodyPr/>
                    <a:lstStyle/>
                    <a:p>
                      <a:pPr marL="0" indent="0">
                        <a:buNone/>
                      </a:pPr>
                      <a:r>
                        <a:rPr lang="en-US" sz="950" b="1" dirty="0">
                          <a:solidFill>
                            <a:srgbClr val="FFFFFF"/>
                          </a:solidFill>
                          <a:latin typeface="Aptos" pitchFamily="34" charset="0"/>
                          <a:ea typeface="Aptos" pitchFamily="34" charset="-122"/>
                          <a:cs typeface="Aptos" pitchFamily="34" charset="-120"/>
                        </a:rPr>
                        <a:t>Term</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50" b="1" dirty="0">
                          <a:solidFill>
                            <a:srgbClr val="FFFFFF"/>
                          </a:solidFill>
                          <a:latin typeface="Aptos" pitchFamily="34" charset="0"/>
                          <a:ea typeface="Aptos" pitchFamily="34" charset="-122"/>
                          <a:cs typeface="Aptos" pitchFamily="34" charset="-120"/>
                        </a:rPr>
                        <a:t>Plain-English meaning</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50" b="1" dirty="0">
                          <a:solidFill>
                            <a:srgbClr val="FFFFFF"/>
                          </a:solidFill>
                          <a:latin typeface="Aptos" pitchFamily="34" charset="0"/>
                          <a:ea typeface="Aptos" pitchFamily="34" charset="-122"/>
                          <a:cs typeface="Aptos" pitchFamily="34" charset="-120"/>
                        </a:rPr>
                        <a:t>GlowCare example</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571500">
                <a:tc>
                  <a:txBody>
                    <a:bodyPr/>
                    <a:lstStyle/>
                    <a:p>
                      <a:pPr marL="0" indent="0">
                        <a:buNone/>
                      </a:pPr>
                      <a:r>
                        <a:rPr lang="en-US" sz="950" dirty="0">
                          <a:solidFill>
                            <a:srgbClr val="243B53"/>
                          </a:solidFill>
                          <a:latin typeface="Aptos" pitchFamily="34" charset="0"/>
                          <a:ea typeface="Aptos" pitchFamily="34" charset="-122"/>
                          <a:cs typeface="Aptos" pitchFamily="34" charset="-120"/>
                        </a:rPr>
                        <a:t>Data</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A raw fact or record</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Order #1042 = $44 on June 18</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buNone/>
                      </a:pPr>
                      <a:r>
                        <a:rPr lang="en-US" sz="950" dirty="0">
                          <a:solidFill>
                            <a:srgbClr val="243B53"/>
                          </a:solidFill>
                          <a:latin typeface="Aptos" pitchFamily="34" charset="0"/>
                          <a:ea typeface="Aptos" pitchFamily="34" charset="-122"/>
                          <a:cs typeface="Aptos" pitchFamily="34" charset="-120"/>
                        </a:rPr>
                        <a:t>Metric</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A measured number</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June revenue = $12,600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1500">
                <a:tc>
                  <a:txBody>
                    <a:bodyPr/>
                    <a:lstStyle/>
                    <a:p>
                      <a:pPr marL="0" indent="0">
                        <a:buNone/>
                      </a:pPr>
                      <a:r>
                        <a:rPr lang="en-US" sz="950" dirty="0">
                          <a:solidFill>
                            <a:srgbClr val="243B53"/>
                          </a:solidFill>
                          <a:latin typeface="Aptos" pitchFamily="34" charset="0"/>
                          <a:ea typeface="Aptos" pitchFamily="34" charset="-122"/>
                          <a:cs typeface="Aptos" pitchFamily="34" charset="-120"/>
                        </a:rPr>
                        <a:t>KPI</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A priority metric tied to a goal</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Gross margin = 50.8%</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buNone/>
                      </a:pPr>
                      <a:r>
                        <a:rPr lang="en-US" sz="950" dirty="0">
                          <a:solidFill>
                            <a:srgbClr val="243B53"/>
                          </a:solidFill>
                          <a:latin typeface="Aptos" pitchFamily="34" charset="0"/>
                          <a:ea typeface="Aptos" pitchFamily="34" charset="-122"/>
                          <a:cs typeface="Aptos" pitchFamily="34" charset="-120"/>
                        </a:rPr>
                        <a:t>Insight</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Meaning after comparison</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May profit fell because cost and service issues worsened</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1500">
                <a:tc>
                  <a:txBody>
                    <a:bodyPr/>
                    <a:lstStyle/>
                    <a:p>
                      <a:pPr marL="0" indent="0">
                        <a:buNone/>
                      </a:pPr>
                      <a:r>
                        <a:rPr lang="en-US" sz="950" dirty="0">
                          <a:solidFill>
                            <a:srgbClr val="243B53"/>
                          </a:solidFill>
                          <a:latin typeface="Aptos" pitchFamily="34" charset="0"/>
                          <a:ea typeface="Aptos" pitchFamily="34" charset="-122"/>
                          <a:cs typeface="Aptos" pitchFamily="34" charset="-120"/>
                        </a:rPr>
                        <a:t>Action</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Decision based on insight</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Fix stockouts and delivery reliability before adding ad spend</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822960" y="5166360"/>
            <a:ext cx="10424160" cy="621792"/>
          </a:xfrm>
          <a:prstGeom prst="roundRect">
            <a:avLst>
              <a:gd name="adj" fmla="val 7353"/>
            </a:avLst>
          </a:prstGeom>
          <a:solidFill>
            <a:srgbClr val="F6E7C1"/>
          </a:solidFill>
          <a:ln w="8890">
            <a:solidFill>
              <a:srgbClr val="E3C56F"/>
            </a:solidFill>
            <a:prstDash val="solid"/>
          </a:ln>
        </p:spPr>
      </p:sp>
      <p:sp>
        <p:nvSpPr>
          <p:cNvPr id="7" name="Text 4"/>
          <p:cNvSpPr/>
          <p:nvPr/>
        </p:nvSpPr>
        <p:spPr>
          <a:xfrm>
            <a:off x="987552" y="523951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8" name="Text 5"/>
          <p:cNvSpPr/>
          <p:nvPr/>
        </p:nvSpPr>
        <p:spPr>
          <a:xfrm>
            <a:off x="987552" y="5431536"/>
            <a:ext cx="10094976" cy="310896"/>
          </a:xfrm>
          <a:prstGeom prst="rect">
            <a:avLst/>
          </a:prstGeom>
          <a:noFill/>
          <a:ln/>
        </p:spPr>
        <p:txBody>
          <a:bodyPr wrap="square" lIns="0" tIns="0" rIns="0" bIns="0" rtlCol="0" anchor="ctr">
            <a:normAutofit/>
          </a:bodyPr>
          <a:lstStyle/>
          <a:p>
            <a:pPr marL="0" indent="0">
              <a:buNone/>
            </a:pPr>
            <a:r>
              <a:rPr lang="en-US" sz="1050" dirty="0">
                <a:solidFill>
                  <a:srgbClr val="243B53"/>
                </a:solidFill>
              </a:rPr>
              <a:t>A KPI is not just an important-looking number. It must connect directly to a decision or goal.</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A REPEATABLE METHOD</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The business analytics thinking cycle</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1</a:t>
            </a:r>
            <a:endParaRPr lang="en-US" sz="800" dirty="0"/>
          </a:p>
        </p:txBody>
      </p:sp>
      <p:sp>
        <p:nvSpPr>
          <p:cNvPr id="5" name="Shape 3"/>
          <p:cNvSpPr/>
          <p:nvPr/>
        </p:nvSpPr>
        <p:spPr>
          <a:xfrm>
            <a:off x="731520" y="1234440"/>
            <a:ext cx="4709160" cy="4389120"/>
          </a:xfrm>
          <a:prstGeom prst="roundRect">
            <a:avLst>
              <a:gd name="adj" fmla="val 1667"/>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Text 4"/>
          <p:cNvSpPr/>
          <p:nvPr/>
        </p:nvSpPr>
        <p:spPr>
          <a:xfrm>
            <a:off x="960120" y="1554480"/>
            <a:ext cx="4251960" cy="3291840"/>
          </a:xfrm>
          <a:prstGeom prst="rect">
            <a:avLst/>
          </a:prstGeom>
          <a:noFill/>
          <a:ln/>
        </p:spPr>
        <p:txBody>
          <a:bodyPr wrap="square" lIns="635" tIns="635" rIns="635" bIns="635" rtlCol="0" anchor="ctr">
            <a:normAutofit/>
          </a:bodyPr>
          <a:lstStyle/>
          <a:p>
            <a:pPr marL="152400" indent="-152400">
              <a:buSzPct val="100000"/>
              <a:buChar char="•"/>
            </a:pPr>
            <a:r>
              <a:rPr lang="en-US" sz="1350" dirty="0">
                <a:solidFill>
                  <a:srgbClr val="243B53"/>
                </a:solidFill>
              </a:rPr>
              <a:t>Start with the decision, not the chart</a:t>
            </a:r>
            <a:endParaRPr lang="en-US" sz="1350" dirty="0"/>
          </a:p>
          <a:p>
            <a:pPr marL="152400" indent="-152400">
              <a:buSzPct val="100000"/>
              <a:buChar char="•"/>
            </a:pPr>
            <a:r>
              <a:rPr lang="en-US" sz="1350" dirty="0">
                <a:solidFill>
                  <a:srgbClr val="243B53"/>
                </a:solidFill>
              </a:rPr>
              <a:t>Define the metric and comparison period</a:t>
            </a:r>
            <a:endParaRPr lang="en-US" sz="1350" dirty="0"/>
          </a:p>
          <a:p>
            <a:pPr marL="152400" indent="-152400">
              <a:buSzPct val="100000"/>
              <a:buChar char="•"/>
            </a:pPr>
            <a:r>
              <a:rPr lang="en-US" sz="1350" dirty="0">
                <a:solidFill>
                  <a:srgbClr val="243B53"/>
                </a:solidFill>
              </a:rPr>
              <a:t>Look for movement: trend, variance, outlier</a:t>
            </a:r>
            <a:endParaRPr lang="en-US" sz="1350" dirty="0"/>
          </a:p>
          <a:p>
            <a:pPr marL="152400" indent="-152400">
              <a:buSzPct val="100000"/>
              <a:buChar char="•"/>
            </a:pPr>
            <a:r>
              <a:rPr lang="en-US" sz="1350" dirty="0">
                <a:solidFill>
                  <a:srgbClr val="243B53"/>
                </a:solidFill>
              </a:rPr>
              <a:t>Ask what else changed at the same time</a:t>
            </a:r>
            <a:endParaRPr lang="en-US" sz="1350" dirty="0"/>
          </a:p>
          <a:p>
            <a:pPr marL="152400" indent="-152400">
              <a:buSzPct val="100000"/>
              <a:buChar char="•"/>
            </a:pPr>
            <a:r>
              <a:rPr lang="en-US" sz="1350" dirty="0">
                <a:solidFill>
                  <a:srgbClr val="243B53"/>
                </a:solidFill>
              </a:rPr>
              <a:t>Recommend action with risk and trade-offs</a:t>
            </a:r>
            <a:endParaRPr lang="en-US" sz="1350" dirty="0"/>
          </a:p>
        </p:txBody>
      </p:sp>
      <p:sp>
        <p:nvSpPr>
          <p:cNvPr id="7" name="Shape 5"/>
          <p:cNvSpPr/>
          <p:nvPr/>
        </p:nvSpPr>
        <p:spPr>
          <a:xfrm>
            <a:off x="7790688" y="1481328"/>
            <a:ext cx="877824" cy="512064"/>
          </a:xfrm>
          <a:prstGeom prst="ellipse">
            <a:avLst/>
          </a:prstGeom>
          <a:solidFill>
            <a:srgbClr val="087E8B"/>
          </a:solidFill>
          <a:ln w="12700">
            <a:solidFill>
              <a:srgbClr val="FFFFFF"/>
            </a:solidFill>
            <a:prstDash val="solid"/>
          </a:ln>
        </p:spPr>
      </p:sp>
      <p:sp>
        <p:nvSpPr>
          <p:cNvPr id="8" name="Text 6"/>
          <p:cNvSpPr/>
          <p:nvPr/>
        </p:nvSpPr>
        <p:spPr>
          <a:xfrm>
            <a:off x="7845552" y="1645920"/>
            <a:ext cx="768096" cy="164592"/>
          </a:xfrm>
          <a:prstGeom prst="rect">
            <a:avLst/>
          </a:prstGeom>
          <a:noFill/>
          <a:ln/>
        </p:spPr>
        <p:txBody>
          <a:bodyPr wrap="square" lIns="0" tIns="0" rIns="0" bIns="0" rtlCol="0" anchor="ctr"/>
          <a:lstStyle/>
          <a:p>
            <a:pPr marL="0" indent="0" algn="ctr">
              <a:buNone/>
            </a:pPr>
            <a:r>
              <a:rPr lang="en-US" sz="850" b="1" dirty="0">
                <a:solidFill>
                  <a:srgbClr val="FFFFFF"/>
                </a:solidFill>
              </a:rPr>
              <a:t>Question</a:t>
            </a:r>
            <a:endParaRPr lang="en-US" sz="850" dirty="0"/>
          </a:p>
        </p:txBody>
      </p:sp>
      <p:sp>
        <p:nvSpPr>
          <p:cNvPr id="9" name="Shape 7"/>
          <p:cNvSpPr/>
          <p:nvPr/>
        </p:nvSpPr>
        <p:spPr>
          <a:xfrm>
            <a:off x="9225604" y="2523856"/>
            <a:ext cx="877824" cy="512064"/>
          </a:xfrm>
          <a:prstGeom prst="ellipse">
            <a:avLst/>
          </a:prstGeom>
          <a:solidFill>
            <a:srgbClr val="B8860B"/>
          </a:solidFill>
          <a:ln w="12700">
            <a:solidFill>
              <a:srgbClr val="FFFFFF"/>
            </a:solidFill>
            <a:prstDash val="solid"/>
          </a:ln>
        </p:spPr>
      </p:sp>
      <p:sp>
        <p:nvSpPr>
          <p:cNvPr id="10" name="Text 8"/>
          <p:cNvSpPr/>
          <p:nvPr/>
        </p:nvSpPr>
        <p:spPr>
          <a:xfrm>
            <a:off x="9280468" y="2688448"/>
            <a:ext cx="768096" cy="164592"/>
          </a:xfrm>
          <a:prstGeom prst="rect">
            <a:avLst/>
          </a:prstGeom>
          <a:noFill/>
          <a:ln/>
        </p:spPr>
        <p:txBody>
          <a:bodyPr wrap="square" lIns="0" tIns="0" rIns="0" bIns="0" rtlCol="0" anchor="ctr"/>
          <a:lstStyle/>
          <a:p>
            <a:pPr marL="0" indent="0" algn="ctr">
              <a:buNone/>
            </a:pPr>
            <a:r>
              <a:rPr lang="en-US" sz="850" b="1" dirty="0">
                <a:solidFill>
                  <a:srgbClr val="FFFFFF"/>
                </a:solidFill>
              </a:rPr>
              <a:t>Measure</a:t>
            </a:r>
            <a:endParaRPr lang="en-US" sz="850" dirty="0"/>
          </a:p>
        </p:txBody>
      </p:sp>
      <p:sp>
        <p:nvSpPr>
          <p:cNvPr id="11" name="Shape 9"/>
          <p:cNvSpPr/>
          <p:nvPr/>
        </p:nvSpPr>
        <p:spPr>
          <a:xfrm>
            <a:off x="8677515" y="4210700"/>
            <a:ext cx="877824" cy="512064"/>
          </a:xfrm>
          <a:prstGeom prst="ellipse">
            <a:avLst/>
          </a:prstGeom>
          <a:solidFill>
            <a:srgbClr val="D97706"/>
          </a:solidFill>
          <a:ln w="12700">
            <a:solidFill>
              <a:srgbClr val="FFFFFF"/>
            </a:solidFill>
            <a:prstDash val="solid"/>
          </a:ln>
        </p:spPr>
      </p:sp>
      <p:sp>
        <p:nvSpPr>
          <p:cNvPr id="12" name="Text 10"/>
          <p:cNvSpPr/>
          <p:nvPr/>
        </p:nvSpPr>
        <p:spPr>
          <a:xfrm>
            <a:off x="8732379" y="4375292"/>
            <a:ext cx="768096" cy="164592"/>
          </a:xfrm>
          <a:prstGeom prst="rect">
            <a:avLst/>
          </a:prstGeom>
          <a:noFill/>
          <a:ln/>
        </p:spPr>
        <p:txBody>
          <a:bodyPr wrap="square" lIns="0" tIns="0" rIns="0" bIns="0" rtlCol="0" anchor="ctr"/>
          <a:lstStyle/>
          <a:p>
            <a:pPr marL="0" indent="0" algn="ctr">
              <a:buNone/>
            </a:pPr>
            <a:r>
              <a:rPr lang="en-US" sz="850" b="1" dirty="0">
                <a:solidFill>
                  <a:srgbClr val="FFFFFF"/>
                </a:solidFill>
              </a:rPr>
              <a:t>Compare</a:t>
            </a:r>
            <a:endParaRPr lang="en-US" sz="850" dirty="0"/>
          </a:p>
        </p:txBody>
      </p:sp>
      <p:sp>
        <p:nvSpPr>
          <p:cNvPr id="13" name="Shape 11"/>
          <p:cNvSpPr/>
          <p:nvPr/>
        </p:nvSpPr>
        <p:spPr>
          <a:xfrm>
            <a:off x="6903861" y="4210700"/>
            <a:ext cx="877824" cy="512064"/>
          </a:xfrm>
          <a:prstGeom prst="ellipse">
            <a:avLst/>
          </a:prstGeom>
          <a:solidFill>
            <a:srgbClr val="2F5D8C"/>
          </a:solidFill>
          <a:ln w="12700">
            <a:solidFill>
              <a:srgbClr val="FFFFFF"/>
            </a:solidFill>
            <a:prstDash val="solid"/>
          </a:ln>
        </p:spPr>
      </p:sp>
      <p:sp>
        <p:nvSpPr>
          <p:cNvPr id="14" name="Text 12"/>
          <p:cNvSpPr/>
          <p:nvPr/>
        </p:nvSpPr>
        <p:spPr>
          <a:xfrm>
            <a:off x="6958725" y="4375292"/>
            <a:ext cx="768096" cy="164592"/>
          </a:xfrm>
          <a:prstGeom prst="rect">
            <a:avLst/>
          </a:prstGeom>
          <a:noFill/>
          <a:ln/>
        </p:spPr>
        <p:txBody>
          <a:bodyPr wrap="square" lIns="0" tIns="0" rIns="0" bIns="0" rtlCol="0" anchor="ctr"/>
          <a:lstStyle/>
          <a:p>
            <a:pPr marL="0" indent="0" algn="ctr">
              <a:buNone/>
            </a:pPr>
            <a:r>
              <a:rPr lang="en-US" sz="850" b="1" dirty="0">
                <a:solidFill>
                  <a:srgbClr val="FFFFFF"/>
                </a:solidFill>
              </a:rPr>
              <a:t>Diagnose</a:t>
            </a:r>
            <a:endParaRPr lang="en-US" sz="850" dirty="0"/>
          </a:p>
        </p:txBody>
      </p:sp>
      <p:sp>
        <p:nvSpPr>
          <p:cNvPr id="15" name="Shape 13"/>
          <p:cNvSpPr/>
          <p:nvPr/>
        </p:nvSpPr>
        <p:spPr>
          <a:xfrm>
            <a:off x="6355772" y="2523856"/>
            <a:ext cx="877824" cy="512064"/>
          </a:xfrm>
          <a:prstGeom prst="ellipse">
            <a:avLst/>
          </a:prstGeom>
          <a:solidFill>
            <a:srgbClr val="2E7D32"/>
          </a:solidFill>
          <a:ln w="12700">
            <a:solidFill>
              <a:srgbClr val="FFFFFF"/>
            </a:solidFill>
            <a:prstDash val="solid"/>
          </a:ln>
        </p:spPr>
      </p:sp>
      <p:sp>
        <p:nvSpPr>
          <p:cNvPr id="16" name="Text 14"/>
          <p:cNvSpPr/>
          <p:nvPr/>
        </p:nvSpPr>
        <p:spPr>
          <a:xfrm>
            <a:off x="6410636" y="2688448"/>
            <a:ext cx="768096" cy="164592"/>
          </a:xfrm>
          <a:prstGeom prst="rect">
            <a:avLst/>
          </a:prstGeom>
          <a:noFill/>
          <a:ln/>
        </p:spPr>
        <p:txBody>
          <a:bodyPr wrap="square" lIns="0" tIns="0" rIns="0" bIns="0" rtlCol="0" anchor="ctr"/>
          <a:lstStyle/>
          <a:p>
            <a:pPr marL="0" indent="0" algn="ctr">
              <a:buNone/>
            </a:pPr>
            <a:r>
              <a:rPr lang="en-US" sz="850" b="1" dirty="0">
                <a:solidFill>
                  <a:srgbClr val="FFFFFF"/>
                </a:solidFill>
              </a:rPr>
              <a:t>Act</a:t>
            </a:r>
            <a:endParaRPr lang="en-US" sz="850" dirty="0"/>
          </a:p>
        </p:txBody>
      </p:sp>
      <p:sp>
        <p:nvSpPr>
          <p:cNvPr id="17" name="Shape 15"/>
          <p:cNvSpPr/>
          <p:nvPr/>
        </p:nvSpPr>
        <p:spPr>
          <a:xfrm>
            <a:off x="6446520" y="1600200"/>
            <a:ext cx="3566160" cy="3566160"/>
          </a:xfrm>
          <a:prstGeom prst="arc">
            <a:avLst/>
          </a:prstGeom>
          <a:noFill/>
          <a:ln w="27940">
            <a:solidFill>
              <a:srgbClr val="B8A789"/>
            </a:solidFill>
            <a:prstDash val="solid"/>
            <a:headEnd type="none"/>
            <a:tailEnd type="triangle"/>
          </a:ln>
        </p:spPr>
      </p:sp>
      <p:sp>
        <p:nvSpPr>
          <p:cNvPr id="18" name="Shape 16"/>
          <p:cNvSpPr/>
          <p:nvPr/>
        </p:nvSpPr>
        <p:spPr>
          <a:xfrm>
            <a:off x="6080760" y="5257800"/>
            <a:ext cx="4937760" cy="640080"/>
          </a:xfrm>
          <a:prstGeom prst="roundRect">
            <a:avLst>
              <a:gd name="adj" fmla="val 7143"/>
            </a:avLst>
          </a:prstGeom>
          <a:solidFill>
            <a:srgbClr val="F6E7C1"/>
          </a:solidFill>
          <a:ln w="8890">
            <a:solidFill>
              <a:srgbClr val="E3C56F"/>
            </a:solidFill>
            <a:prstDash val="solid"/>
          </a:ln>
        </p:spPr>
      </p:sp>
      <p:sp>
        <p:nvSpPr>
          <p:cNvPr id="19" name="Text 17"/>
          <p:cNvSpPr/>
          <p:nvPr/>
        </p:nvSpPr>
        <p:spPr>
          <a:xfrm>
            <a:off x="6245352" y="5330952"/>
            <a:ext cx="46085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0" name="Text 18"/>
          <p:cNvSpPr/>
          <p:nvPr/>
        </p:nvSpPr>
        <p:spPr>
          <a:xfrm>
            <a:off x="6245352" y="5522976"/>
            <a:ext cx="46085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The method prevents “chart hopping.” You move from question to evidence to decision in a disciplined loop.</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CASE STUDY CONTEXT</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Meet GlowCare Beauty &amp; Retail</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1</a:t>
            </a:r>
            <a:endParaRPr lang="en-US" sz="800" dirty="0"/>
          </a:p>
        </p:txBody>
      </p:sp>
      <p:sp>
        <p:nvSpPr>
          <p:cNvPr id="5" name="Text 3"/>
          <p:cNvSpPr/>
          <p:nvPr/>
        </p:nvSpPr>
        <p:spPr>
          <a:xfrm>
            <a:off x="685800" y="1325880"/>
            <a:ext cx="4937760" cy="2880360"/>
          </a:xfrm>
          <a:prstGeom prst="rect">
            <a:avLst/>
          </a:prstGeom>
          <a:noFill/>
          <a:ln/>
        </p:spPr>
        <p:txBody>
          <a:bodyPr wrap="square" lIns="635" tIns="635" rIns="635" bIns="635" rtlCol="0" anchor="ctr">
            <a:normAutofit/>
          </a:bodyPr>
          <a:lstStyle/>
          <a:p>
            <a:pPr marL="152400" indent="-152400">
              <a:buSzPct val="100000"/>
              <a:buChar char="•"/>
            </a:pPr>
            <a:r>
              <a:rPr lang="en-US" sz="1480" dirty="0">
                <a:solidFill>
                  <a:srgbClr val="243B53"/>
                </a:solidFill>
              </a:rPr>
              <a:t>Small beauty retail and services company</a:t>
            </a:r>
            <a:endParaRPr lang="en-US" sz="1480" dirty="0"/>
          </a:p>
          <a:p>
            <a:pPr marL="152400" indent="-152400">
              <a:buSzPct val="100000"/>
              <a:buChar char="•"/>
            </a:pPr>
            <a:r>
              <a:rPr lang="en-US" sz="1480" dirty="0">
                <a:solidFill>
                  <a:srgbClr val="243B53"/>
                </a:solidFill>
              </a:rPr>
              <a:t>Revenue streams: skincare, hair products, nails, facials, delivery orders</a:t>
            </a:r>
            <a:endParaRPr lang="en-US" sz="1480" dirty="0"/>
          </a:p>
          <a:p>
            <a:pPr marL="152400" indent="-152400">
              <a:buSzPct val="100000"/>
              <a:buChar char="•"/>
            </a:pPr>
            <a:r>
              <a:rPr lang="en-US" sz="1480" dirty="0">
                <a:solidFill>
                  <a:srgbClr val="243B53"/>
                </a:solidFill>
              </a:rPr>
              <a:t>Channels: walk-in, online store, social media, referrals</a:t>
            </a:r>
            <a:endParaRPr lang="en-US" sz="1480" dirty="0"/>
          </a:p>
          <a:p>
            <a:pPr marL="152400" indent="-152400">
              <a:buSzPct val="100000"/>
              <a:buChar char="•"/>
            </a:pPr>
            <a:r>
              <a:rPr lang="en-US" sz="1480" dirty="0">
                <a:solidFill>
                  <a:srgbClr val="243B53"/>
                </a:solidFill>
              </a:rPr>
              <a:t>Management wants to explain May’s decline and June’s recovery</a:t>
            </a:r>
            <a:endParaRPr lang="en-US" sz="1480" dirty="0"/>
          </a:p>
        </p:txBody>
      </p:sp>
      <p:sp>
        <p:nvSpPr>
          <p:cNvPr id="6" name="Shape 4"/>
          <p:cNvSpPr/>
          <p:nvPr/>
        </p:nvSpPr>
        <p:spPr>
          <a:xfrm>
            <a:off x="5989320" y="1234440"/>
            <a:ext cx="5120640" cy="3840480"/>
          </a:xfrm>
          <a:prstGeom prst="roundRect">
            <a:avLst>
              <a:gd name="adj" fmla="val 1905"/>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7" name="Shape 5"/>
          <p:cNvSpPr/>
          <p:nvPr/>
        </p:nvSpPr>
        <p:spPr>
          <a:xfrm>
            <a:off x="6400800" y="4069080"/>
            <a:ext cx="4160520" cy="0"/>
          </a:xfrm>
          <a:prstGeom prst="line">
            <a:avLst/>
          </a:prstGeom>
          <a:noFill/>
          <a:ln w="10160">
            <a:solidFill>
              <a:srgbClr val="A8A29E"/>
            </a:solidFill>
            <a:prstDash val="solid"/>
          </a:ln>
        </p:spPr>
      </p:sp>
      <p:sp>
        <p:nvSpPr>
          <p:cNvPr id="8" name="Shape 6"/>
          <p:cNvSpPr/>
          <p:nvPr/>
        </p:nvSpPr>
        <p:spPr>
          <a:xfrm>
            <a:off x="6400800" y="1920240"/>
            <a:ext cx="0" cy="2148840"/>
          </a:xfrm>
          <a:prstGeom prst="line">
            <a:avLst/>
          </a:prstGeom>
          <a:noFill/>
          <a:ln w="10160">
            <a:solidFill>
              <a:srgbClr val="A8A29E"/>
            </a:solidFill>
            <a:prstDash val="solid"/>
          </a:ln>
        </p:spPr>
      </p:sp>
      <p:sp>
        <p:nvSpPr>
          <p:cNvPr id="9" name="Text 7"/>
          <p:cNvSpPr/>
          <p:nvPr/>
        </p:nvSpPr>
        <p:spPr>
          <a:xfrm>
            <a:off x="6446520" y="1691640"/>
            <a:ext cx="4160520" cy="182880"/>
          </a:xfrm>
          <a:prstGeom prst="rect">
            <a:avLst/>
          </a:prstGeom>
          <a:noFill/>
          <a:ln/>
        </p:spPr>
        <p:txBody>
          <a:bodyPr wrap="square" lIns="0" tIns="0" rIns="0" bIns="0" rtlCol="0" anchor="ctr"/>
          <a:lstStyle/>
          <a:p>
            <a:pPr marL="0" indent="0">
              <a:buNone/>
            </a:pPr>
            <a:r>
              <a:rPr lang="en-US" sz="700" dirty="0">
                <a:solidFill>
                  <a:srgbClr val="627D98"/>
                </a:solidFill>
              </a:rPr>
              <a:t>June revenue by stream</a:t>
            </a:r>
            <a:endParaRPr lang="en-US" sz="700" dirty="0"/>
          </a:p>
        </p:txBody>
      </p:sp>
      <p:sp>
        <p:nvSpPr>
          <p:cNvPr id="10" name="Shape 8"/>
          <p:cNvSpPr/>
          <p:nvPr/>
        </p:nvSpPr>
        <p:spPr>
          <a:xfrm>
            <a:off x="6547104" y="2170105"/>
            <a:ext cx="656539" cy="1898975"/>
          </a:xfrm>
          <a:prstGeom prst="rect">
            <a:avLst/>
          </a:prstGeom>
          <a:solidFill>
            <a:srgbClr val="087E8B"/>
          </a:solidFill>
          <a:ln w="12700">
            <a:solidFill>
              <a:srgbClr val="087E8B">
                <a:alpha val="0"/>
              </a:srgbClr>
            </a:solidFill>
            <a:prstDash val="solid"/>
          </a:ln>
        </p:spPr>
      </p:sp>
      <p:sp>
        <p:nvSpPr>
          <p:cNvPr id="11" name="Text 9"/>
          <p:cNvSpPr/>
          <p:nvPr/>
        </p:nvSpPr>
        <p:spPr>
          <a:xfrm>
            <a:off x="6455664" y="1959793"/>
            <a:ext cx="839419" cy="164592"/>
          </a:xfrm>
          <a:prstGeom prst="rect">
            <a:avLst/>
          </a:prstGeom>
          <a:noFill/>
          <a:ln/>
        </p:spPr>
        <p:txBody>
          <a:bodyPr wrap="square" lIns="0" tIns="0" rIns="0" bIns="0" rtlCol="0" anchor="ctr"/>
          <a:lstStyle/>
          <a:p>
            <a:pPr marL="0" indent="0" algn="ctr">
              <a:buNone/>
            </a:pPr>
            <a:r>
              <a:rPr lang="en-US" sz="700" b="1" dirty="0">
                <a:solidFill>
                  <a:srgbClr val="243B53"/>
                </a:solidFill>
              </a:rPr>
              <a:t>$3,800</a:t>
            </a:r>
            <a:endParaRPr lang="en-US" sz="700" dirty="0"/>
          </a:p>
        </p:txBody>
      </p:sp>
      <p:sp>
        <p:nvSpPr>
          <p:cNvPr id="12" name="Text 10"/>
          <p:cNvSpPr/>
          <p:nvPr/>
        </p:nvSpPr>
        <p:spPr>
          <a:xfrm>
            <a:off x="6437376" y="4142232"/>
            <a:ext cx="875995"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Skincare</a:t>
            </a:r>
            <a:endParaRPr lang="en-US" sz="700" dirty="0"/>
          </a:p>
        </p:txBody>
      </p:sp>
      <p:sp>
        <p:nvSpPr>
          <p:cNvPr id="13" name="Shape 11"/>
          <p:cNvSpPr/>
          <p:nvPr/>
        </p:nvSpPr>
        <p:spPr>
          <a:xfrm>
            <a:off x="7349947" y="2869727"/>
            <a:ext cx="656539" cy="1199353"/>
          </a:xfrm>
          <a:prstGeom prst="rect">
            <a:avLst/>
          </a:prstGeom>
          <a:solidFill>
            <a:srgbClr val="B8860B"/>
          </a:solidFill>
          <a:ln w="12700">
            <a:solidFill>
              <a:srgbClr val="B8860B">
                <a:alpha val="0"/>
              </a:srgbClr>
            </a:solidFill>
            <a:prstDash val="solid"/>
          </a:ln>
        </p:spPr>
      </p:sp>
      <p:sp>
        <p:nvSpPr>
          <p:cNvPr id="14" name="Text 12"/>
          <p:cNvSpPr/>
          <p:nvPr/>
        </p:nvSpPr>
        <p:spPr>
          <a:xfrm>
            <a:off x="7258507" y="2659415"/>
            <a:ext cx="839419" cy="164592"/>
          </a:xfrm>
          <a:prstGeom prst="rect">
            <a:avLst/>
          </a:prstGeom>
          <a:noFill/>
          <a:ln/>
        </p:spPr>
        <p:txBody>
          <a:bodyPr wrap="square" lIns="0" tIns="0" rIns="0" bIns="0" rtlCol="0" anchor="ctr"/>
          <a:lstStyle/>
          <a:p>
            <a:pPr marL="0" indent="0" algn="ctr">
              <a:buNone/>
            </a:pPr>
            <a:r>
              <a:rPr lang="en-US" sz="700" b="1" dirty="0">
                <a:solidFill>
                  <a:srgbClr val="243B53"/>
                </a:solidFill>
              </a:rPr>
              <a:t>$2,400</a:t>
            </a:r>
            <a:endParaRPr lang="en-US" sz="700" dirty="0"/>
          </a:p>
        </p:txBody>
      </p:sp>
      <p:sp>
        <p:nvSpPr>
          <p:cNvPr id="15" name="Text 13"/>
          <p:cNvSpPr/>
          <p:nvPr/>
        </p:nvSpPr>
        <p:spPr>
          <a:xfrm>
            <a:off x="7240219" y="4142232"/>
            <a:ext cx="875995"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Hair</a:t>
            </a:r>
            <a:endParaRPr lang="en-US" sz="700" dirty="0"/>
          </a:p>
        </p:txBody>
      </p:sp>
      <p:sp>
        <p:nvSpPr>
          <p:cNvPr id="16" name="Shape 14"/>
          <p:cNvSpPr/>
          <p:nvPr/>
        </p:nvSpPr>
        <p:spPr>
          <a:xfrm>
            <a:off x="8152790" y="2819754"/>
            <a:ext cx="656539" cy="1249326"/>
          </a:xfrm>
          <a:prstGeom prst="rect">
            <a:avLst/>
          </a:prstGeom>
          <a:solidFill>
            <a:srgbClr val="2F5D8C"/>
          </a:solidFill>
          <a:ln w="12700">
            <a:solidFill>
              <a:srgbClr val="2F5D8C">
                <a:alpha val="0"/>
              </a:srgbClr>
            </a:solidFill>
            <a:prstDash val="solid"/>
          </a:ln>
        </p:spPr>
      </p:sp>
      <p:sp>
        <p:nvSpPr>
          <p:cNvPr id="17" name="Text 15"/>
          <p:cNvSpPr/>
          <p:nvPr/>
        </p:nvSpPr>
        <p:spPr>
          <a:xfrm>
            <a:off x="8061350" y="2609442"/>
            <a:ext cx="839419" cy="164592"/>
          </a:xfrm>
          <a:prstGeom prst="rect">
            <a:avLst/>
          </a:prstGeom>
          <a:noFill/>
          <a:ln/>
        </p:spPr>
        <p:txBody>
          <a:bodyPr wrap="square" lIns="0" tIns="0" rIns="0" bIns="0" rtlCol="0" anchor="ctr"/>
          <a:lstStyle/>
          <a:p>
            <a:pPr marL="0" indent="0" algn="ctr">
              <a:buNone/>
            </a:pPr>
            <a:r>
              <a:rPr lang="en-US" sz="700" b="1" dirty="0">
                <a:solidFill>
                  <a:srgbClr val="243B53"/>
                </a:solidFill>
              </a:rPr>
              <a:t>$2,500</a:t>
            </a:r>
            <a:endParaRPr lang="en-US" sz="700" dirty="0"/>
          </a:p>
        </p:txBody>
      </p:sp>
      <p:sp>
        <p:nvSpPr>
          <p:cNvPr id="18" name="Text 16"/>
          <p:cNvSpPr/>
          <p:nvPr/>
        </p:nvSpPr>
        <p:spPr>
          <a:xfrm>
            <a:off x="8043062" y="4142232"/>
            <a:ext cx="875995"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Nails</a:t>
            </a:r>
            <a:endParaRPr lang="en-US" sz="700" dirty="0"/>
          </a:p>
        </p:txBody>
      </p:sp>
      <p:sp>
        <p:nvSpPr>
          <p:cNvPr id="19" name="Shape 17"/>
          <p:cNvSpPr/>
          <p:nvPr/>
        </p:nvSpPr>
        <p:spPr>
          <a:xfrm>
            <a:off x="8955634" y="2919700"/>
            <a:ext cx="656539" cy="1149380"/>
          </a:xfrm>
          <a:prstGeom prst="rect">
            <a:avLst/>
          </a:prstGeom>
          <a:solidFill>
            <a:srgbClr val="D97706"/>
          </a:solidFill>
          <a:ln w="12700">
            <a:solidFill>
              <a:srgbClr val="D97706">
                <a:alpha val="0"/>
              </a:srgbClr>
            </a:solidFill>
            <a:prstDash val="solid"/>
          </a:ln>
        </p:spPr>
      </p:sp>
      <p:sp>
        <p:nvSpPr>
          <p:cNvPr id="20" name="Text 18"/>
          <p:cNvSpPr/>
          <p:nvPr/>
        </p:nvSpPr>
        <p:spPr>
          <a:xfrm>
            <a:off x="8864194" y="2709388"/>
            <a:ext cx="839419" cy="164592"/>
          </a:xfrm>
          <a:prstGeom prst="rect">
            <a:avLst/>
          </a:prstGeom>
          <a:noFill/>
          <a:ln/>
        </p:spPr>
        <p:txBody>
          <a:bodyPr wrap="square" lIns="0" tIns="0" rIns="0" bIns="0" rtlCol="0" anchor="ctr"/>
          <a:lstStyle/>
          <a:p>
            <a:pPr marL="0" indent="0" algn="ctr">
              <a:buNone/>
            </a:pPr>
            <a:r>
              <a:rPr lang="en-US" sz="700" b="1" dirty="0">
                <a:solidFill>
                  <a:srgbClr val="243B53"/>
                </a:solidFill>
              </a:rPr>
              <a:t>$2,300</a:t>
            </a:r>
            <a:endParaRPr lang="en-US" sz="700" dirty="0"/>
          </a:p>
        </p:txBody>
      </p:sp>
      <p:sp>
        <p:nvSpPr>
          <p:cNvPr id="21" name="Text 19"/>
          <p:cNvSpPr/>
          <p:nvPr/>
        </p:nvSpPr>
        <p:spPr>
          <a:xfrm>
            <a:off x="8845906" y="4142232"/>
            <a:ext cx="875995"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Facials</a:t>
            </a:r>
            <a:endParaRPr lang="en-US" sz="700" dirty="0"/>
          </a:p>
        </p:txBody>
      </p:sp>
      <p:sp>
        <p:nvSpPr>
          <p:cNvPr id="22" name="Shape 20"/>
          <p:cNvSpPr/>
          <p:nvPr/>
        </p:nvSpPr>
        <p:spPr>
          <a:xfrm>
            <a:off x="9758477" y="3269512"/>
            <a:ext cx="656539" cy="799568"/>
          </a:xfrm>
          <a:prstGeom prst="rect">
            <a:avLst/>
          </a:prstGeom>
          <a:solidFill>
            <a:srgbClr val="2E7D32"/>
          </a:solidFill>
          <a:ln w="12700">
            <a:solidFill>
              <a:srgbClr val="2E7D32">
                <a:alpha val="0"/>
              </a:srgbClr>
            </a:solidFill>
            <a:prstDash val="solid"/>
          </a:ln>
        </p:spPr>
      </p:sp>
      <p:sp>
        <p:nvSpPr>
          <p:cNvPr id="23" name="Text 21"/>
          <p:cNvSpPr/>
          <p:nvPr/>
        </p:nvSpPr>
        <p:spPr>
          <a:xfrm>
            <a:off x="9667037" y="3059200"/>
            <a:ext cx="839419" cy="164592"/>
          </a:xfrm>
          <a:prstGeom prst="rect">
            <a:avLst/>
          </a:prstGeom>
          <a:noFill/>
          <a:ln/>
        </p:spPr>
        <p:txBody>
          <a:bodyPr wrap="square" lIns="0" tIns="0" rIns="0" bIns="0" rtlCol="0" anchor="ctr"/>
          <a:lstStyle/>
          <a:p>
            <a:pPr marL="0" indent="0" algn="ctr">
              <a:buNone/>
            </a:pPr>
            <a:r>
              <a:rPr lang="en-US" sz="700" b="1" dirty="0">
                <a:solidFill>
                  <a:srgbClr val="243B53"/>
                </a:solidFill>
              </a:rPr>
              <a:t>$1,600</a:t>
            </a:r>
            <a:endParaRPr lang="en-US" sz="700" dirty="0"/>
          </a:p>
        </p:txBody>
      </p:sp>
      <p:sp>
        <p:nvSpPr>
          <p:cNvPr id="24" name="Text 22"/>
          <p:cNvSpPr/>
          <p:nvPr/>
        </p:nvSpPr>
        <p:spPr>
          <a:xfrm>
            <a:off x="9648749" y="4142232"/>
            <a:ext cx="875995"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Delivery</a:t>
            </a:r>
            <a:endParaRPr lang="en-US" sz="700" dirty="0"/>
          </a:p>
        </p:txBody>
      </p:sp>
      <p:sp>
        <p:nvSpPr>
          <p:cNvPr id="25" name="Shape 23"/>
          <p:cNvSpPr/>
          <p:nvPr/>
        </p:nvSpPr>
        <p:spPr>
          <a:xfrm>
            <a:off x="6080760" y="5257800"/>
            <a:ext cx="4937760" cy="640080"/>
          </a:xfrm>
          <a:prstGeom prst="roundRect">
            <a:avLst>
              <a:gd name="adj" fmla="val 7143"/>
            </a:avLst>
          </a:prstGeom>
          <a:solidFill>
            <a:srgbClr val="F6E7C1"/>
          </a:solidFill>
          <a:ln w="8890">
            <a:solidFill>
              <a:srgbClr val="E3C56F"/>
            </a:solidFill>
            <a:prstDash val="solid"/>
          </a:ln>
        </p:spPr>
      </p:sp>
      <p:sp>
        <p:nvSpPr>
          <p:cNvPr id="26" name="Text 24"/>
          <p:cNvSpPr/>
          <p:nvPr/>
        </p:nvSpPr>
        <p:spPr>
          <a:xfrm>
            <a:off x="6245352" y="5330952"/>
            <a:ext cx="46085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7" name="Text 25"/>
          <p:cNvSpPr/>
          <p:nvPr/>
        </p:nvSpPr>
        <p:spPr>
          <a:xfrm>
            <a:off x="6245352" y="5522976"/>
            <a:ext cx="46085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Using one connected case study makes the course realistic: business performance is a system, not isolated charts.</a:t>
            </a:r>
            <a:endParaRPr lang="en-US" sz="1050" dirty="0"/>
          </a:p>
        </p:txBody>
      </p:sp>
      <p:sp>
        <p:nvSpPr>
          <p:cNvPr id="28" name="Text 26"/>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29"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DECISION AGENDA</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The business questions we are trying to answer</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1</a:t>
            </a:r>
            <a:endParaRPr lang="en-US" sz="800" dirty="0"/>
          </a:p>
        </p:txBody>
      </p:sp>
      <p:sp>
        <p:nvSpPr>
          <p:cNvPr id="5" name="Shape 3"/>
          <p:cNvSpPr/>
          <p:nvPr/>
        </p:nvSpPr>
        <p:spPr>
          <a:xfrm>
            <a:off x="822960" y="1234440"/>
            <a:ext cx="4846320" cy="804672"/>
          </a:xfrm>
          <a:prstGeom prst="roundRect">
            <a:avLst>
              <a:gd name="adj" fmla="val 9091"/>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Text 4"/>
          <p:cNvSpPr/>
          <p:nvPr/>
        </p:nvSpPr>
        <p:spPr>
          <a:xfrm>
            <a:off x="987552" y="1417320"/>
            <a:ext cx="320040" cy="228600"/>
          </a:xfrm>
          <a:prstGeom prst="rect">
            <a:avLst/>
          </a:prstGeom>
          <a:noFill/>
          <a:ln/>
        </p:spPr>
        <p:txBody>
          <a:bodyPr wrap="square" lIns="0" tIns="0" rIns="0" bIns="0" rtlCol="0" anchor="ctr"/>
          <a:lstStyle/>
          <a:p>
            <a:pPr marL="0" indent="0">
              <a:buNone/>
            </a:pPr>
            <a:r>
              <a:rPr lang="en-US" sz="1300" b="1" dirty="0">
                <a:solidFill>
                  <a:srgbClr val="087E8B"/>
                </a:solidFill>
              </a:rPr>
              <a:t>1</a:t>
            </a:r>
            <a:endParaRPr lang="en-US" sz="1300" dirty="0"/>
          </a:p>
        </p:txBody>
      </p:sp>
      <p:sp>
        <p:nvSpPr>
          <p:cNvPr id="7" name="Text 5"/>
          <p:cNvSpPr/>
          <p:nvPr/>
        </p:nvSpPr>
        <p:spPr>
          <a:xfrm>
            <a:off x="1389888" y="1389888"/>
            <a:ext cx="4069080" cy="347472"/>
          </a:xfrm>
          <a:prstGeom prst="rect">
            <a:avLst/>
          </a:prstGeom>
          <a:noFill/>
          <a:ln/>
        </p:spPr>
        <p:txBody>
          <a:bodyPr wrap="square" lIns="0" tIns="0" rIns="0" bIns="0" rtlCol="0" anchor="ctr">
            <a:normAutofit/>
          </a:bodyPr>
          <a:lstStyle/>
          <a:p>
            <a:pPr marL="0" indent="0">
              <a:buNone/>
            </a:pPr>
            <a:r>
              <a:rPr lang="en-US" sz="1200" dirty="0">
                <a:solidFill>
                  <a:srgbClr val="243B53"/>
                </a:solidFill>
              </a:rPr>
              <a:t>Is revenue growth healthy, or is profit being squeezed?</a:t>
            </a:r>
            <a:endParaRPr lang="en-US" sz="1200" dirty="0"/>
          </a:p>
        </p:txBody>
      </p:sp>
      <p:sp>
        <p:nvSpPr>
          <p:cNvPr id="8" name="Shape 6"/>
          <p:cNvSpPr/>
          <p:nvPr/>
        </p:nvSpPr>
        <p:spPr>
          <a:xfrm>
            <a:off x="822960" y="2468880"/>
            <a:ext cx="4846320" cy="804672"/>
          </a:xfrm>
          <a:prstGeom prst="roundRect">
            <a:avLst>
              <a:gd name="adj" fmla="val 9091"/>
            </a:avLst>
          </a:prstGeom>
          <a:solidFill>
            <a:srgbClr val="FDE2E1"/>
          </a:solidFill>
          <a:ln w="8890">
            <a:solidFill>
              <a:srgbClr val="E28B84"/>
            </a:solidFill>
            <a:prstDash val="solid"/>
          </a:ln>
          <a:effectLst>
            <a:outerShdw blurRad="12700" dist="50800" dir="2700000" algn="bl" rotWithShape="0">
              <a:srgbClr val="000000">
                <a:alpha val="12000"/>
              </a:srgbClr>
            </a:outerShdw>
          </a:effectLst>
        </p:spPr>
      </p:sp>
      <p:sp>
        <p:nvSpPr>
          <p:cNvPr id="9" name="Text 7"/>
          <p:cNvSpPr/>
          <p:nvPr/>
        </p:nvSpPr>
        <p:spPr>
          <a:xfrm>
            <a:off x="987552" y="2651760"/>
            <a:ext cx="320040" cy="228600"/>
          </a:xfrm>
          <a:prstGeom prst="rect">
            <a:avLst/>
          </a:prstGeom>
          <a:noFill/>
          <a:ln/>
        </p:spPr>
        <p:txBody>
          <a:bodyPr wrap="square" lIns="0" tIns="0" rIns="0" bIns="0" rtlCol="0" anchor="ctr"/>
          <a:lstStyle/>
          <a:p>
            <a:pPr marL="0" indent="0">
              <a:buNone/>
            </a:pPr>
            <a:r>
              <a:rPr lang="en-US" sz="1300" b="1" dirty="0">
                <a:solidFill>
                  <a:srgbClr val="B91C1C"/>
                </a:solidFill>
              </a:rPr>
              <a:t>2</a:t>
            </a:r>
            <a:endParaRPr lang="en-US" sz="1300" dirty="0"/>
          </a:p>
        </p:txBody>
      </p:sp>
      <p:sp>
        <p:nvSpPr>
          <p:cNvPr id="10" name="Text 8"/>
          <p:cNvSpPr/>
          <p:nvPr/>
        </p:nvSpPr>
        <p:spPr>
          <a:xfrm>
            <a:off x="1389888" y="2624328"/>
            <a:ext cx="4069080" cy="347472"/>
          </a:xfrm>
          <a:prstGeom prst="rect">
            <a:avLst/>
          </a:prstGeom>
          <a:noFill/>
          <a:ln/>
        </p:spPr>
        <p:txBody>
          <a:bodyPr wrap="square" lIns="0" tIns="0" rIns="0" bIns="0" rtlCol="0" anchor="ctr">
            <a:normAutofit/>
          </a:bodyPr>
          <a:lstStyle/>
          <a:p>
            <a:pPr marL="0" indent="0">
              <a:buNone/>
            </a:pPr>
            <a:r>
              <a:rPr lang="en-US" sz="1200" dirty="0">
                <a:solidFill>
                  <a:srgbClr val="243B53"/>
                </a:solidFill>
              </a:rPr>
              <a:t>What exactly went wrong in May?</a:t>
            </a:r>
            <a:endParaRPr lang="en-US" sz="1200" dirty="0"/>
          </a:p>
        </p:txBody>
      </p:sp>
      <p:sp>
        <p:nvSpPr>
          <p:cNvPr id="11" name="Shape 9"/>
          <p:cNvSpPr/>
          <p:nvPr/>
        </p:nvSpPr>
        <p:spPr>
          <a:xfrm>
            <a:off x="822960" y="3703320"/>
            <a:ext cx="4846320" cy="804672"/>
          </a:xfrm>
          <a:prstGeom prst="roundRect">
            <a:avLst>
              <a:gd name="adj" fmla="val 9091"/>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12" name="Text 10"/>
          <p:cNvSpPr/>
          <p:nvPr/>
        </p:nvSpPr>
        <p:spPr>
          <a:xfrm>
            <a:off x="987552" y="3886200"/>
            <a:ext cx="320040" cy="228600"/>
          </a:xfrm>
          <a:prstGeom prst="rect">
            <a:avLst/>
          </a:prstGeom>
          <a:noFill/>
          <a:ln/>
        </p:spPr>
        <p:txBody>
          <a:bodyPr wrap="square" lIns="0" tIns="0" rIns="0" bIns="0" rtlCol="0" anchor="ctr"/>
          <a:lstStyle/>
          <a:p>
            <a:pPr marL="0" indent="0">
              <a:buNone/>
            </a:pPr>
            <a:r>
              <a:rPr lang="en-US" sz="1300" b="1" dirty="0">
                <a:solidFill>
                  <a:srgbClr val="087E8B"/>
                </a:solidFill>
              </a:rPr>
              <a:t>3</a:t>
            </a:r>
            <a:endParaRPr lang="en-US" sz="1300" dirty="0"/>
          </a:p>
        </p:txBody>
      </p:sp>
      <p:sp>
        <p:nvSpPr>
          <p:cNvPr id="13" name="Text 11"/>
          <p:cNvSpPr/>
          <p:nvPr/>
        </p:nvSpPr>
        <p:spPr>
          <a:xfrm>
            <a:off x="1389888" y="3858768"/>
            <a:ext cx="4069080" cy="347472"/>
          </a:xfrm>
          <a:prstGeom prst="rect">
            <a:avLst/>
          </a:prstGeom>
          <a:noFill/>
          <a:ln/>
        </p:spPr>
        <p:txBody>
          <a:bodyPr wrap="square" lIns="0" tIns="0" rIns="0" bIns="0" rtlCol="0" anchor="ctr">
            <a:normAutofit/>
          </a:bodyPr>
          <a:lstStyle/>
          <a:p>
            <a:pPr marL="0" indent="0">
              <a:buNone/>
            </a:pPr>
            <a:r>
              <a:rPr lang="en-US" sz="1200" dirty="0">
                <a:solidFill>
                  <a:srgbClr val="243B53"/>
                </a:solidFill>
              </a:rPr>
              <a:t>Did June recover because the business improved, or only because demand rose?</a:t>
            </a:r>
            <a:endParaRPr lang="en-US" sz="1200" dirty="0"/>
          </a:p>
        </p:txBody>
      </p:sp>
      <p:sp>
        <p:nvSpPr>
          <p:cNvPr id="14" name="Shape 12"/>
          <p:cNvSpPr/>
          <p:nvPr/>
        </p:nvSpPr>
        <p:spPr>
          <a:xfrm>
            <a:off x="6217920" y="1234440"/>
            <a:ext cx="4846320" cy="804672"/>
          </a:xfrm>
          <a:prstGeom prst="roundRect">
            <a:avLst>
              <a:gd name="adj" fmla="val 9091"/>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15" name="Text 13"/>
          <p:cNvSpPr/>
          <p:nvPr/>
        </p:nvSpPr>
        <p:spPr>
          <a:xfrm>
            <a:off x="6382512" y="1417320"/>
            <a:ext cx="320040" cy="228600"/>
          </a:xfrm>
          <a:prstGeom prst="rect">
            <a:avLst/>
          </a:prstGeom>
          <a:noFill/>
          <a:ln/>
        </p:spPr>
        <p:txBody>
          <a:bodyPr wrap="square" lIns="0" tIns="0" rIns="0" bIns="0" rtlCol="0" anchor="ctr"/>
          <a:lstStyle/>
          <a:p>
            <a:pPr marL="0" indent="0">
              <a:buNone/>
            </a:pPr>
            <a:r>
              <a:rPr lang="en-US" sz="1300" b="1" dirty="0">
                <a:solidFill>
                  <a:srgbClr val="087E8B"/>
                </a:solidFill>
              </a:rPr>
              <a:t>4</a:t>
            </a:r>
            <a:endParaRPr lang="en-US" sz="1300" dirty="0"/>
          </a:p>
        </p:txBody>
      </p:sp>
      <p:sp>
        <p:nvSpPr>
          <p:cNvPr id="16" name="Text 14"/>
          <p:cNvSpPr/>
          <p:nvPr/>
        </p:nvSpPr>
        <p:spPr>
          <a:xfrm>
            <a:off x="6784848" y="1389888"/>
            <a:ext cx="4069080" cy="347472"/>
          </a:xfrm>
          <a:prstGeom prst="rect">
            <a:avLst/>
          </a:prstGeom>
          <a:noFill/>
          <a:ln/>
        </p:spPr>
        <p:txBody>
          <a:bodyPr wrap="square" lIns="0" tIns="0" rIns="0" bIns="0" rtlCol="0" anchor="ctr">
            <a:normAutofit/>
          </a:bodyPr>
          <a:lstStyle/>
          <a:p>
            <a:pPr marL="0" indent="0">
              <a:buNone/>
            </a:pPr>
            <a:r>
              <a:rPr lang="en-US" sz="1200" dirty="0">
                <a:solidFill>
                  <a:srgbClr val="243B53"/>
                </a:solidFill>
              </a:rPr>
              <a:t>Which channels and product/service lines deserve attention?</a:t>
            </a:r>
            <a:endParaRPr lang="en-US" sz="1200" dirty="0"/>
          </a:p>
        </p:txBody>
      </p:sp>
      <p:sp>
        <p:nvSpPr>
          <p:cNvPr id="17" name="Shape 15"/>
          <p:cNvSpPr/>
          <p:nvPr/>
        </p:nvSpPr>
        <p:spPr>
          <a:xfrm>
            <a:off x="6217920" y="2468880"/>
            <a:ext cx="4846320" cy="804672"/>
          </a:xfrm>
          <a:prstGeom prst="roundRect">
            <a:avLst>
              <a:gd name="adj" fmla="val 9091"/>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18" name="Text 16"/>
          <p:cNvSpPr/>
          <p:nvPr/>
        </p:nvSpPr>
        <p:spPr>
          <a:xfrm>
            <a:off x="6382512" y="2651760"/>
            <a:ext cx="320040" cy="228600"/>
          </a:xfrm>
          <a:prstGeom prst="rect">
            <a:avLst/>
          </a:prstGeom>
          <a:noFill/>
          <a:ln/>
        </p:spPr>
        <p:txBody>
          <a:bodyPr wrap="square" lIns="0" tIns="0" rIns="0" bIns="0" rtlCol="0" anchor="ctr"/>
          <a:lstStyle/>
          <a:p>
            <a:pPr marL="0" indent="0">
              <a:buNone/>
            </a:pPr>
            <a:r>
              <a:rPr lang="en-US" sz="1300" b="1" dirty="0">
                <a:solidFill>
                  <a:srgbClr val="087E8B"/>
                </a:solidFill>
              </a:rPr>
              <a:t>5</a:t>
            </a:r>
            <a:endParaRPr lang="en-US" sz="1300" dirty="0"/>
          </a:p>
        </p:txBody>
      </p:sp>
      <p:sp>
        <p:nvSpPr>
          <p:cNvPr id="19" name="Text 17"/>
          <p:cNvSpPr/>
          <p:nvPr/>
        </p:nvSpPr>
        <p:spPr>
          <a:xfrm>
            <a:off x="6784848" y="2624328"/>
            <a:ext cx="4069080" cy="347472"/>
          </a:xfrm>
          <a:prstGeom prst="rect">
            <a:avLst/>
          </a:prstGeom>
          <a:noFill/>
          <a:ln/>
        </p:spPr>
        <p:txBody>
          <a:bodyPr wrap="square" lIns="0" tIns="0" rIns="0" bIns="0" rtlCol="0" anchor="ctr">
            <a:normAutofit/>
          </a:bodyPr>
          <a:lstStyle/>
          <a:p>
            <a:pPr marL="0" indent="0">
              <a:buNone/>
            </a:pPr>
            <a:r>
              <a:rPr lang="en-US" sz="1200" dirty="0">
                <a:solidFill>
                  <a:srgbClr val="243B53"/>
                </a:solidFill>
              </a:rPr>
              <a:t>Are operational issues damaging customer loyalty?</a:t>
            </a:r>
            <a:endParaRPr lang="en-US" sz="1200" dirty="0"/>
          </a:p>
        </p:txBody>
      </p:sp>
      <p:sp>
        <p:nvSpPr>
          <p:cNvPr id="20" name="Shape 18"/>
          <p:cNvSpPr/>
          <p:nvPr/>
        </p:nvSpPr>
        <p:spPr>
          <a:xfrm>
            <a:off x="6217920" y="3703320"/>
            <a:ext cx="4846320" cy="804672"/>
          </a:xfrm>
          <a:prstGeom prst="roundRect">
            <a:avLst>
              <a:gd name="adj" fmla="val 9091"/>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21" name="Text 19"/>
          <p:cNvSpPr/>
          <p:nvPr/>
        </p:nvSpPr>
        <p:spPr>
          <a:xfrm>
            <a:off x="6382512" y="3886200"/>
            <a:ext cx="320040" cy="228600"/>
          </a:xfrm>
          <a:prstGeom prst="rect">
            <a:avLst/>
          </a:prstGeom>
          <a:noFill/>
          <a:ln/>
        </p:spPr>
        <p:txBody>
          <a:bodyPr wrap="square" lIns="0" tIns="0" rIns="0" bIns="0" rtlCol="0" anchor="ctr"/>
          <a:lstStyle/>
          <a:p>
            <a:pPr marL="0" indent="0">
              <a:buNone/>
            </a:pPr>
            <a:r>
              <a:rPr lang="en-US" sz="1300" b="1" dirty="0">
                <a:solidFill>
                  <a:srgbClr val="087E8B"/>
                </a:solidFill>
              </a:rPr>
              <a:t>6</a:t>
            </a:r>
            <a:endParaRPr lang="en-US" sz="1300" dirty="0"/>
          </a:p>
        </p:txBody>
      </p:sp>
      <p:sp>
        <p:nvSpPr>
          <p:cNvPr id="22" name="Text 20"/>
          <p:cNvSpPr/>
          <p:nvPr/>
        </p:nvSpPr>
        <p:spPr>
          <a:xfrm>
            <a:off x="6784848" y="3858768"/>
            <a:ext cx="4069080" cy="347472"/>
          </a:xfrm>
          <a:prstGeom prst="rect">
            <a:avLst/>
          </a:prstGeom>
          <a:noFill/>
          <a:ln/>
        </p:spPr>
        <p:txBody>
          <a:bodyPr wrap="square" lIns="0" tIns="0" rIns="0" bIns="0" rtlCol="0" anchor="ctr">
            <a:normAutofit/>
          </a:bodyPr>
          <a:lstStyle/>
          <a:p>
            <a:pPr marL="0" indent="0">
              <a:buNone/>
            </a:pPr>
            <a:r>
              <a:rPr lang="en-US" sz="1200" dirty="0">
                <a:solidFill>
                  <a:srgbClr val="243B53"/>
                </a:solidFill>
              </a:rPr>
              <a:t>What action should management take next?</a:t>
            </a:r>
            <a:endParaRPr lang="en-US" sz="1200" dirty="0"/>
          </a:p>
        </p:txBody>
      </p:sp>
      <p:sp>
        <p:nvSpPr>
          <p:cNvPr id="23" name="Shape 21"/>
          <p:cNvSpPr/>
          <p:nvPr/>
        </p:nvSpPr>
        <p:spPr>
          <a:xfrm>
            <a:off x="822960" y="5257800"/>
            <a:ext cx="10424160" cy="640080"/>
          </a:xfrm>
          <a:prstGeom prst="roundRect">
            <a:avLst>
              <a:gd name="adj" fmla="val 7143"/>
            </a:avLst>
          </a:prstGeom>
          <a:solidFill>
            <a:srgbClr val="F6E7C1"/>
          </a:solidFill>
          <a:ln w="8890">
            <a:solidFill>
              <a:srgbClr val="E3C56F"/>
            </a:solidFill>
            <a:prstDash val="solid"/>
          </a:ln>
        </p:spPr>
      </p:sp>
      <p:sp>
        <p:nvSpPr>
          <p:cNvPr id="24" name="Text 22"/>
          <p:cNvSpPr/>
          <p:nvPr/>
        </p:nvSpPr>
        <p:spPr>
          <a:xfrm>
            <a:off x="987552" y="533095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5" name="Text 23"/>
          <p:cNvSpPr/>
          <p:nvPr/>
        </p:nvSpPr>
        <p:spPr>
          <a:xfrm>
            <a:off x="987552" y="5522976"/>
            <a:ext cx="100949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Good analytics begins with decision questions. The dataset is useful only because it helps answer these questions.</a:t>
            </a:r>
            <a:endParaRPr lang="en-US" sz="1050" dirty="0"/>
          </a:p>
        </p:txBody>
      </p:sp>
      <p:sp>
        <p:nvSpPr>
          <p:cNvPr id="26"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PERFORMANCE TABLE ORIENTATION</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Reading the core business dataset</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2</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2834643"/>
        </p:xfrm>
        <a:graphic>
          <a:graphicData uri="http://schemas.openxmlformats.org/drawingml/2006/table">
            <a:tbl>
              <a:tblPr/>
              <a:tblGrid>
                <a:gridCol w="1239520">
                  <a:extLst>
                    <a:ext uri="{9D8B030D-6E8A-4147-A177-3AD203B41FA5}">
                      <a16:colId xmlns:a16="http://schemas.microsoft.com/office/drawing/2014/main" val="20000"/>
                    </a:ext>
                  </a:extLst>
                </a:gridCol>
                <a:gridCol w="1239520">
                  <a:extLst>
                    <a:ext uri="{9D8B030D-6E8A-4147-A177-3AD203B41FA5}">
                      <a16:colId xmlns:a16="http://schemas.microsoft.com/office/drawing/2014/main" val="20001"/>
                    </a:ext>
                  </a:extLst>
                </a:gridCol>
                <a:gridCol w="1239520">
                  <a:extLst>
                    <a:ext uri="{9D8B030D-6E8A-4147-A177-3AD203B41FA5}">
                      <a16:colId xmlns:a16="http://schemas.microsoft.com/office/drawing/2014/main" val="20002"/>
                    </a:ext>
                  </a:extLst>
                </a:gridCol>
                <a:gridCol w="1239520">
                  <a:extLst>
                    <a:ext uri="{9D8B030D-6E8A-4147-A177-3AD203B41FA5}">
                      <a16:colId xmlns:a16="http://schemas.microsoft.com/office/drawing/2014/main" val="20003"/>
                    </a:ext>
                  </a:extLst>
                </a:gridCol>
                <a:gridCol w="1239520">
                  <a:extLst>
                    <a:ext uri="{9D8B030D-6E8A-4147-A177-3AD203B41FA5}">
                      <a16:colId xmlns:a16="http://schemas.microsoft.com/office/drawing/2014/main" val="20004"/>
                    </a:ext>
                  </a:extLst>
                </a:gridCol>
                <a:gridCol w="1239520">
                  <a:extLst>
                    <a:ext uri="{9D8B030D-6E8A-4147-A177-3AD203B41FA5}">
                      <a16:colId xmlns:a16="http://schemas.microsoft.com/office/drawing/2014/main" val="20005"/>
                    </a:ext>
                  </a:extLst>
                </a:gridCol>
                <a:gridCol w="1239520">
                  <a:extLst>
                    <a:ext uri="{9D8B030D-6E8A-4147-A177-3AD203B41FA5}">
                      <a16:colId xmlns:a16="http://schemas.microsoft.com/office/drawing/2014/main" val="20006"/>
                    </a:ext>
                  </a:extLst>
                </a:gridCol>
                <a:gridCol w="1239520">
                  <a:extLst>
                    <a:ext uri="{9D8B030D-6E8A-4147-A177-3AD203B41FA5}">
                      <a16:colId xmlns:a16="http://schemas.microsoft.com/office/drawing/2014/main" val="20007"/>
                    </a:ext>
                  </a:extLst>
                </a:gridCol>
                <a:gridCol w="1239520">
                  <a:extLst>
                    <a:ext uri="{9D8B030D-6E8A-4147-A177-3AD203B41FA5}">
                      <a16:colId xmlns:a16="http://schemas.microsoft.com/office/drawing/2014/main" val="20008"/>
                    </a:ext>
                  </a:extLst>
                </a:gridCol>
              </a:tblGrid>
              <a:tr h="404949">
                <a:tc>
                  <a:txBody>
                    <a:bodyPr/>
                    <a:lstStyle/>
                    <a:p>
                      <a:pPr marL="0" indent="0">
                        <a:buNone/>
                      </a:pPr>
                      <a:r>
                        <a:rPr lang="en-US" sz="820" b="1" dirty="0">
                          <a:solidFill>
                            <a:srgbClr val="FFFFFF"/>
                          </a:solidFill>
                          <a:latin typeface="Aptos" pitchFamily="34" charset="0"/>
                          <a:ea typeface="Aptos" pitchFamily="34" charset="-122"/>
                          <a:cs typeface="Aptos" pitchFamily="34" charset="-120"/>
                        </a:rPr>
                        <a:t>Month</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Revenue</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Cost</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Profit</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Margin</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Orders</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AOV</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Complaints</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Repeat Rate</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404949">
                <a:tc>
                  <a:txBody>
                    <a:bodyPr/>
                    <a:lstStyle/>
                    <a:p>
                      <a:pPr marL="0" indent="0">
                        <a:buNone/>
                      </a:pPr>
                      <a:r>
                        <a:rPr lang="en-US" sz="820" dirty="0">
                          <a:solidFill>
                            <a:srgbClr val="243B53"/>
                          </a:solidFill>
                          <a:latin typeface="Aptos" pitchFamily="34" charset="0"/>
                          <a:ea typeface="Aptos" pitchFamily="34" charset="-122"/>
                          <a:cs typeface="Aptos" pitchFamily="34" charset="-120"/>
                        </a:rPr>
                        <a:t>Jan</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$8,500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$4,200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$4,300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50.6%</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190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32</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42</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23.7%</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4949">
                <a:tc>
                  <a:txBody>
                    <a:bodyPr/>
                    <a:lstStyle/>
                    <a:p>
                      <a:pPr marL="0" indent="0">
                        <a:buNone/>
                      </a:pPr>
                      <a:r>
                        <a:rPr lang="en-US" sz="820" dirty="0">
                          <a:solidFill>
                            <a:srgbClr val="243B53"/>
                          </a:solidFill>
                          <a:latin typeface="Aptos" pitchFamily="34" charset="0"/>
                          <a:ea typeface="Aptos" pitchFamily="34" charset="-122"/>
                          <a:cs typeface="Aptos" pitchFamily="34" charset="-120"/>
                        </a:rPr>
                        <a:t>Feb</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$9,200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$4,600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$4,600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225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28.9%</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4949">
                <a:tc>
                  <a:txBody>
                    <a:bodyPr/>
                    <a:lstStyle/>
                    <a:p>
                      <a:pPr marL="0" indent="0">
                        <a:buNone/>
                      </a:pPr>
                      <a:r>
                        <a:rPr lang="en-US" sz="820" dirty="0">
                          <a:solidFill>
                            <a:srgbClr val="243B53"/>
                          </a:solidFill>
                          <a:latin typeface="Aptos" pitchFamily="34" charset="0"/>
                          <a:ea typeface="Aptos" pitchFamily="34" charset="-122"/>
                          <a:cs typeface="Aptos" pitchFamily="34" charset="-120"/>
                        </a:rPr>
                        <a:t>Mar</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$10,100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$5,100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$5,000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49.5%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260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41</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32.7%</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4949">
                <a:tc>
                  <a:txBody>
                    <a:bodyPr/>
                    <a:lstStyle/>
                    <a:p>
                      <a:pPr marL="0" indent="0">
                        <a:buNone/>
                      </a:pPr>
                      <a:r>
                        <a:rPr lang="en-US" sz="820" dirty="0">
                          <a:solidFill>
                            <a:srgbClr val="243B53"/>
                          </a:solidFill>
                          <a:latin typeface="Aptos" pitchFamily="34" charset="0"/>
                          <a:ea typeface="Aptos" pitchFamily="34" charset="-122"/>
                          <a:cs typeface="Aptos" pitchFamily="34" charset="-120"/>
                        </a:rPr>
                        <a:t>Apr</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$11,400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$5,300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$6,100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53.5%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305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19</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37.7%</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4949">
                <a:tc>
                  <a:txBody>
                    <a:bodyPr/>
                    <a:lstStyle/>
                    <a:p>
                      <a:pPr marL="0" indent="0">
                        <a:buNone/>
                      </a:pPr>
                      <a:r>
                        <a:rPr lang="en-US" sz="820" dirty="0">
                          <a:solidFill>
                            <a:srgbClr val="243B53"/>
                          </a:solidFill>
                          <a:latin typeface="Aptos" pitchFamily="34" charset="0"/>
                          <a:ea typeface="Aptos" pitchFamily="34" charset="-122"/>
                          <a:cs typeface="Aptos" pitchFamily="34" charset="-120"/>
                        </a:rPr>
                        <a:t>May</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$10,800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$5,900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$4,900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45.4%</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292</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37</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31</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29.8%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4949">
                <a:tc>
                  <a:txBody>
                    <a:bodyPr/>
                    <a:lstStyle/>
                    <a:p>
                      <a:pPr marL="0" indent="0">
                        <a:buNone/>
                      </a:pPr>
                      <a:r>
                        <a:rPr lang="en-US" sz="820" dirty="0">
                          <a:solidFill>
                            <a:srgbClr val="243B53"/>
                          </a:solidFill>
                          <a:latin typeface="Aptos" pitchFamily="34" charset="0"/>
                          <a:ea typeface="Aptos" pitchFamily="34" charset="-122"/>
                          <a:cs typeface="Aptos" pitchFamily="34" charset="-120"/>
                        </a:rPr>
                        <a:t>Jun</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$12,600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$6,200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$6,400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50.8%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340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44</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24</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36.8%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749808" y="4343400"/>
            <a:ext cx="5074920" cy="1188720"/>
          </a:xfrm>
          <a:prstGeom prst="rect">
            <a:avLst/>
          </a:prstGeom>
          <a:noFill/>
          <a:ln/>
        </p:spPr>
        <p:txBody>
          <a:bodyPr wrap="square" lIns="635" tIns="635" rIns="635" bIns="635" rtlCol="0" anchor="ctr">
            <a:normAutofit/>
          </a:bodyPr>
          <a:lstStyle/>
          <a:p>
            <a:pPr marL="152400" indent="-152400">
              <a:buSzPct val="100000"/>
              <a:buChar char="•"/>
            </a:pPr>
            <a:r>
              <a:rPr lang="en-US" sz="1170" dirty="0">
                <a:solidFill>
                  <a:srgbClr val="243B53"/>
                </a:solidFill>
              </a:rPr>
              <a:t>Read across a row to understand one month</a:t>
            </a:r>
            <a:endParaRPr lang="en-US" sz="1170" dirty="0"/>
          </a:p>
          <a:p>
            <a:pPr marL="152400" indent="-152400">
              <a:buSzPct val="100000"/>
              <a:buChar char="•"/>
            </a:pPr>
            <a:r>
              <a:rPr lang="en-US" sz="1170" dirty="0">
                <a:solidFill>
                  <a:srgbClr val="243B53"/>
                </a:solidFill>
              </a:rPr>
              <a:t>Read down a column to understand a metric over time</a:t>
            </a:r>
            <a:endParaRPr lang="en-US" sz="1170" dirty="0"/>
          </a:p>
          <a:p>
            <a:pPr marL="152400" indent="-152400">
              <a:buSzPct val="100000"/>
              <a:buChar char="•"/>
            </a:pPr>
            <a:r>
              <a:rPr lang="en-US" sz="1170" dirty="0">
                <a:solidFill>
                  <a:srgbClr val="243B53"/>
                </a:solidFill>
              </a:rPr>
              <a:t>Compare related metrics together: revenue + cost + profit + margin</a:t>
            </a:r>
            <a:endParaRPr lang="en-US" sz="1170" dirty="0"/>
          </a:p>
          <a:p>
            <a:pPr marL="152400" indent="-152400">
              <a:buSzPct val="100000"/>
              <a:buChar char="•"/>
            </a:pPr>
            <a:r>
              <a:rPr lang="en-US" sz="1170" dirty="0">
                <a:solidFill>
                  <a:srgbClr val="243B53"/>
                </a:solidFill>
              </a:rPr>
              <a:t>Do not judge the business from revenue alone</a:t>
            </a:r>
            <a:endParaRPr lang="en-US" sz="1170" dirty="0"/>
          </a:p>
        </p:txBody>
      </p:sp>
      <p:sp>
        <p:nvSpPr>
          <p:cNvPr id="7" name="Shape 4"/>
          <p:cNvSpPr/>
          <p:nvPr/>
        </p:nvSpPr>
        <p:spPr>
          <a:xfrm>
            <a:off x="6126480" y="4434840"/>
            <a:ext cx="5212080" cy="1005840"/>
          </a:xfrm>
          <a:prstGeom prst="roundRect">
            <a:avLst>
              <a:gd name="adj" fmla="val 4545"/>
            </a:avLst>
          </a:prstGeom>
          <a:solidFill>
            <a:srgbClr val="F6E7C1"/>
          </a:solidFill>
          <a:ln w="8890">
            <a:solidFill>
              <a:srgbClr val="E3C56F"/>
            </a:solidFill>
            <a:prstDash val="solid"/>
          </a:ln>
        </p:spPr>
      </p:sp>
      <p:sp>
        <p:nvSpPr>
          <p:cNvPr id="8" name="Text 5"/>
          <p:cNvSpPr/>
          <p:nvPr/>
        </p:nvSpPr>
        <p:spPr>
          <a:xfrm>
            <a:off x="6291072" y="4507992"/>
            <a:ext cx="488289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5" name="Text 6"/>
          <p:cNvSpPr/>
          <p:nvPr/>
        </p:nvSpPr>
        <p:spPr>
          <a:xfrm>
            <a:off x="6291072" y="4700016"/>
            <a:ext cx="4882896" cy="694944"/>
          </a:xfrm>
          <a:prstGeom prst="rect">
            <a:avLst/>
          </a:prstGeom>
          <a:noFill/>
          <a:ln/>
        </p:spPr>
        <p:txBody>
          <a:bodyPr wrap="square" lIns="0" tIns="0" rIns="0" bIns="0" rtlCol="0" anchor="ctr">
            <a:normAutofit/>
          </a:bodyPr>
          <a:lstStyle/>
          <a:p>
            <a:pPr marL="0" indent="0">
              <a:buNone/>
            </a:pPr>
            <a:r>
              <a:rPr lang="en-US" sz="1050" dirty="0">
                <a:solidFill>
                  <a:srgbClr val="243B53"/>
                </a:solidFill>
              </a:rPr>
              <a:t>The table shows growth overall, but May is a cross-metric warning: lower revenue, higher cost, lower margin, more complaints, weaker repeat behavior.</a:t>
            </a:r>
            <a:endParaRPr lang="en-US" sz="1050" dirty="0"/>
          </a:p>
        </p:txBody>
      </p:sp>
      <p:sp>
        <p:nvSpPr>
          <p:cNvPr id="10" name="Text 7"/>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HOW DETAIL BECOMES MANAGEMENT VIEW</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Raw data vs summarized data</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2</a:t>
            </a:r>
            <a:endParaRPr lang="en-US" sz="800" dirty="0"/>
          </a:p>
        </p:txBody>
      </p:sp>
      <p:sp>
        <p:nvSpPr>
          <p:cNvPr id="5" name="Shape 3"/>
          <p:cNvSpPr/>
          <p:nvPr/>
        </p:nvSpPr>
        <p:spPr>
          <a:xfrm>
            <a:off x="731520" y="1325880"/>
            <a:ext cx="4800600" cy="3429000"/>
          </a:xfrm>
          <a:prstGeom prst="roundRect">
            <a:avLst>
              <a:gd name="adj" fmla="val 2133"/>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60120" y="1645920"/>
          <a:ext cx="4343400" cy="2057400"/>
        </p:xfrm>
        <a:graphic>
          <a:graphicData uri="http://schemas.openxmlformats.org/drawingml/2006/table">
            <a:tbl>
              <a:tblPr/>
              <a:tblGrid>
                <a:gridCol w="1085850">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tblGrid>
              <a:tr h="342900">
                <a:tc>
                  <a:txBody>
                    <a:bodyPr/>
                    <a:lstStyle/>
                    <a:p>
                      <a:pPr marL="0" indent="0">
                        <a:buNone/>
                      </a:pPr>
                      <a:r>
                        <a:rPr lang="en-US" sz="820" b="1" dirty="0">
                          <a:solidFill>
                            <a:srgbClr val="FFFFFF"/>
                          </a:solidFill>
                          <a:latin typeface="Aptos" pitchFamily="34" charset="0"/>
                          <a:ea typeface="Aptos" pitchFamily="34" charset="-122"/>
                          <a:cs typeface="Aptos" pitchFamily="34" charset="-120"/>
                        </a:rPr>
                        <a:t>Order ID</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Date</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Channel</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20" b="1" dirty="0">
                          <a:solidFill>
                            <a:srgbClr val="FFFFFF"/>
                          </a:solidFill>
                          <a:latin typeface="Aptos" pitchFamily="34" charset="0"/>
                          <a:ea typeface="Aptos" pitchFamily="34" charset="-122"/>
                          <a:cs typeface="Aptos" pitchFamily="34" charset="-120"/>
                        </a:rPr>
                        <a:t>Amount</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342900">
                <a:tc>
                  <a:txBody>
                    <a:bodyPr/>
                    <a:lstStyle/>
                    <a:p>
                      <a:pPr marL="0" indent="0">
                        <a:buNone/>
                      </a:pPr>
                      <a:r>
                        <a:rPr lang="en-US" sz="820" dirty="0">
                          <a:solidFill>
                            <a:srgbClr val="243B53"/>
                          </a:solidFill>
                          <a:latin typeface="Aptos" pitchFamily="34" charset="0"/>
                          <a:ea typeface="Aptos" pitchFamily="34" charset="-122"/>
                          <a:cs typeface="Aptos" pitchFamily="34" charset="-120"/>
                        </a:rPr>
                        <a:t>1042</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Jun 18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Online</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$44</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buNone/>
                      </a:pPr>
                      <a:r>
                        <a:rPr lang="en-US" sz="820" dirty="0">
                          <a:solidFill>
                            <a:srgbClr val="243B53"/>
                          </a:solidFill>
                          <a:latin typeface="Aptos" pitchFamily="34" charset="0"/>
                          <a:ea typeface="Aptos" pitchFamily="34" charset="-122"/>
                          <a:cs typeface="Aptos" pitchFamily="34" charset="-120"/>
                        </a:rPr>
                        <a:t>1043</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Jun 18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Walk-in</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$78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buNone/>
                      </a:pPr>
                      <a:r>
                        <a:rPr lang="en-US" sz="820" dirty="0">
                          <a:solidFill>
                            <a:srgbClr val="243B53"/>
                          </a:solidFill>
                          <a:latin typeface="Aptos" pitchFamily="34" charset="0"/>
                          <a:ea typeface="Aptos" pitchFamily="34" charset="-122"/>
                          <a:cs typeface="Aptos" pitchFamily="34" charset="-120"/>
                        </a:rPr>
                        <a:t>1044</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Jun 19</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Social</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$32</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2900">
                <a:tc>
                  <a:txBody>
                    <a:bodyPr/>
                    <a:lstStyle/>
                    <a:p>
                      <a:pPr marL="0" indent="0">
                        <a:buNone/>
                      </a:pPr>
                      <a:r>
                        <a:rPr lang="en-US" sz="820" dirty="0">
                          <a:solidFill>
                            <a:srgbClr val="243B53"/>
                          </a:solidFill>
                          <a:latin typeface="Aptos" pitchFamily="34" charset="0"/>
                          <a:ea typeface="Aptos" pitchFamily="34" charset="-122"/>
                          <a:cs typeface="Aptos" pitchFamily="34" charset="-120"/>
                        </a:rPr>
                        <a:t>1045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Jun 19</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Online</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$125</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00">
                <a:tc>
                  <a:txBody>
                    <a:bodyPr/>
                    <a:lstStyle/>
                    <a:p>
                      <a:pPr marL="0" indent="0">
                        <a:buNone/>
                      </a:pPr>
                      <a:r>
                        <a:rPr lang="en-US" sz="820" dirty="0">
                          <a:solidFill>
                            <a:srgbClr val="243B53"/>
                          </a:solidFill>
                          <a:latin typeface="Aptos" pitchFamily="34" charset="0"/>
                          <a:ea typeface="Aptos" pitchFamily="34" charset="-122"/>
                          <a:cs typeface="Aptos" pitchFamily="34" charset="-120"/>
                        </a:rPr>
                        <a:t>1046</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Jun 20</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Referral</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20" dirty="0">
                          <a:solidFill>
                            <a:srgbClr val="243B53"/>
                          </a:solidFill>
                          <a:latin typeface="Aptos" pitchFamily="34" charset="0"/>
                          <a:ea typeface="Aptos" pitchFamily="34" charset="-122"/>
                          <a:cs typeface="Aptos" pitchFamily="34" charset="-120"/>
                        </a:rPr>
                        <a:t>$58</a:t>
                      </a:r>
                      <a:endParaRPr lang="en-US" sz="8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6400800" y="1325880"/>
            <a:ext cx="4480560" cy="3429000"/>
          </a:xfrm>
          <a:prstGeom prst="roundRect">
            <a:avLst>
              <a:gd name="adj" fmla="val 2133"/>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720840" y="1828800"/>
          <a:ext cx="3886200" cy="1481328"/>
        </p:xfrm>
        <a:graphic>
          <a:graphicData uri="http://schemas.openxmlformats.org/drawingml/2006/table">
            <a:tbl>
              <a:tblPr/>
              <a:tblGrid>
                <a:gridCol w="971550">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tblGrid>
              <a:tr h="370332">
                <a:tc>
                  <a:txBody>
                    <a:bodyPr/>
                    <a:lstStyle/>
                    <a:p>
                      <a:pPr marL="0" indent="0">
                        <a:buNone/>
                      </a:pPr>
                      <a:r>
                        <a:rPr lang="en-US" sz="920" b="1" dirty="0">
                          <a:solidFill>
                            <a:srgbClr val="FFFFFF"/>
                          </a:solidFill>
                          <a:latin typeface="Aptos" pitchFamily="34" charset="0"/>
                          <a:ea typeface="Aptos" pitchFamily="34" charset="-122"/>
                          <a:cs typeface="Aptos" pitchFamily="34" charset="-120"/>
                        </a:rPr>
                        <a:t>Month</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087E8B"/>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Orders</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087E8B"/>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Revenue</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087E8B"/>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AOV</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087E8B"/>
                    </a:solidFill>
                  </a:tcPr>
                </a:tc>
                <a:extLst>
                  <a:ext uri="{0D108BD9-81ED-4DB2-BD59-A6C34878D82A}">
                    <a16:rowId xmlns:a16="http://schemas.microsoft.com/office/drawing/2014/main" val="10000"/>
                  </a:ext>
                </a:extLst>
              </a:tr>
              <a:tr h="370332">
                <a:tc>
                  <a:txBody>
                    <a:bodyPr/>
                    <a:lstStyle/>
                    <a:p>
                      <a:pPr marL="0" indent="0">
                        <a:buNone/>
                      </a:pPr>
                      <a:r>
                        <a:rPr lang="en-US" sz="920" dirty="0">
                          <a:solidFill>
                            <a:srgbClr val="243B53"/>
                          </a:solidFill>
                          <a:latin typeface="Aptos" pitchFamily="34" charset="0"/>
                          <a:ea typeface="Aptos" pitchFamily="34" charset="-122"/>
                          <a:cs typeface="Aptos" pitchFamily="34" charset="-120"/>
                        </a:rPr>
                        <a:t>Apr</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305</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$11,400</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$45</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0332">
                <a:tc>
                  <a:txBody>
                    <a:bodyPr/>
                    <a:lstStyle/>
                    <a:p>
                      <a:pPr marL="0" indent="0">
                        <a:buNone/>
                      </a:pPr>
                      <a:r>
                        <a:rPr lang="en-US" sz="920" dirty="0">
                          <a:solidFill>
                            <a:srgbClr val="243B53"/>
                          </a:solidFill>
                          <a:latin typeface="Aptos" pitchFamily="34" charset="0"/>
                          <a:ea typeface="Aptos" pitchFamily="34" charset="-122"/>
                          <a:cs typeface="Aptos" pitchFamily="34" charset="-120"/>
                        </a:rPr>
                        <a:t>May</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292</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$10,800</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$37</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0332">
                <a:tc>
                  <a:txBody>
                    <a:bodyPr/>
                    <a:lstStyle/>
                    <a:p>
                      <a:pPr marL="0" indent="0">
                        <a:buNone/>
                      </a:pPr>
                      <a:r>
                        <a:rPr lang="en-US" sz="920" dirty="0">
                          <a:solidFill>
                            <a:srgbClr val="243B53"/>
                          </a:solidFill>
                          <a:latin typeface="Aptos" pitchFamily="34" charset="0"/>
                          <a:ea typeface="Aptos" pitchFamily="34" charset="-122"/>
                          <a:cs typeface="Aptos" pitchFamily="34" charset="-120"/>
                        </a:rPr>
                        <a:t>Jun</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340</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$12,600</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20" dirty="0">
                          <a:solidFill>
                            <a:srgbClr val="243B53"/>
                          </a:solidFill>
                          <a:latin typeface="Aptos" pitchFamily="34" charset="0"/>
                          <a:ea typeface="Aptos" pitchFamily="34" charset="-122"/>
                          <a:cs typeface="Aptos" pitchFamily="34" charset="-120"/>
                        </a:rPr>
                        <a:t>$44</a:t>
                      </a:r>
                      <a:endParaRPr lang="en-US" sz="92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5"/>
          <p:cNvSpPr/>
          <p:nvPr/>
        </p:nvSpPr>
        <p:spPr>
          <a:xfrm>
            <a:off x="5577840" y="2487168"/>
            <a:ext cx="713232" cy="411480"/>
          </a:xfrm>
          <a:prstGeom prst="rightArrow">
            <a:avLst/>
          </a:prstGeom>
          <a:solidFill>
            <a:srgbClr val="B8860B"/>
          </a:solidFill>
          <a:ln w="12700">
            <a:solidFill>
              <a:srgbClr val="B8860B"/>
            </a:solidFill>
            <a:prstDash val="solid"/>
          </a:ln>
        </p:spPr>
      </p:sp>
      <p:sp>
        <p:nvSpPr>
          <p:cNvPr id="6" name="Shape 6"/>
          <p:cNvSpPr/>
          <p:nvPr/>
        </p:nvSpPr>
        <p:spPr>
          <a:xfrm>
            <a:off x="822960" y="5257800"/>
            <a:ext cx="10424160" cy="640080"/>
          </a:xfrm>
          <a:prstGeom prst="roundRect">
            <a:avLst>
              <a:gd name="adj" fmla="val 7143"/>
            </a:avLst>
          </a:prstGeom>
          <a:solidFill>
            <a:srgbClr val="F6E7C1"/>
          </a:solidFill>
          <a:ln w="8890">
            <a:solidFill>
              <a:srgbClr val="E3C56F"/>
            </a:solidFill>
            <a:prstDash val="solid"/>
          </a:ln>
        </p:spPr>
      </p:sp>
      <p:sp>
        <p:nvSpPr>
          <p:cNvPr id="11" name="Text 7"/>
          <p:cNvSpPr/>
          <p:nvPr/>
        </p:nvSpPr>
        <p:spPr>
          <a:xfrm>
            <a:off x="987552" y="533095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12" name="Text 8"/>
          <p:cNvSpPr/>
          <p:nvPr/>
        </p:nvSpPr>
        <p:spPr>
          <a:xfrm>
            <a:off x="987552" y="5522976"/>
            <a:ext cx="100949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Raw data explains the transaction-level detail; summarized data helps managers see patterns and make decisions faster.</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PERFORMANCE VOCABULARY</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Metrics that matter: revenue, cost, profit, margin, orders, AOV</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2</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3566157"/>
        </p:xfrm>
        <a:graphic>
          <a:graphicData uri="http://schemas.openxmlformats.org/drawingml/2006/table">
            <a:tbl>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509451">
                <a:tc>
                  <a:txBody>
                    <a:bodyPr/>
                    <a:lstStyle/>
                    <a:p>
                      <a:pPr marL="0" indent="0">
                        <a:buNone/>
                      </a:pPr>
                      <a:r>
                        <a:rPr lang="en-US" sz="940" b="1" dirty="0">
                          <a:solidFill>
                            <a:srgbClr val="FFFFFF"/>
                          </a:solidFill>
                          <a:latin typeface="Aptos" pitchFamily="34" charset="0"/>
                          <a:ea typeface="Aptos" pitchFamily="34" charset="-122"/>
                          <a:cs typeface="Aptos" pitchFamily="34" charset="-120"/>
                        </a:rPr>
                        <a:t>Metric</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40" b="1" dirty="0">
                          <a:solidFill>
                            <a:srgbClr val="FFFFFF"/>
                          </a:solidFill>
                          <a:latin typeface="Aptos" pitchFamily="34" charset="0"/>
                          <a:ea typeface="Aptos" pitchFamily="34" charset="-122"/>
                          <a:cs typeface="Aptos" pitchFamily="34" charset="-120"/>
                        </a:rPr>
                        <a:t>What it answers</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40" b="1" dirty="0">
                          <a:solidFill>
                            <a:srgbClr val="FFFFFF"/>
                          </a:solidFill>
                          <a:latin typeface="Aptos" pitchFamily="34" charset="0"/>
                          <a:ea typeface="Aptos" pitchFamily="34" charset="-122"/>
                          <a:cs typeface="Aptos" pitchFamily="34" charset="-120"/>
                        </a:rPr>
                        <a:t>Why it matters</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509451">
                <a:tc>
                  <a:txBody>
                    <a:bodyPr/>
                    <a:lstStyle/>
                    <a:p>
                      <a:pPr marL="0" indent="0">
                        <a:buNone/>
                      </a:pPr>
                      <a:r>
                        <a:rPr lang="en-US" sz="940" dirty="0">
                          <a:solidFill>
                            <a:srgbClr val="243B53"/>
                          </a:solidFill>
                          <a:latin typeface="Aptos" pitchFamily="34" charset="0"/>
                          <a:ea typeface="Aptos" pitchFamily="34" charset="-122"/>
                          <a:cs typeface="Aptos" pitchFamily="34" charset="-120"/>
                        </a:rPr>
                        <a:t>Revenue</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How much money came in?</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Shows demand, but not business health alone</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buNone/>
                      </a:pPr>
                      <a:r>
                        <a:rPr lang="en-US" sz="940" dirty="0">
                          <a:solidFill>
                            <a:srgbClr val="243B53"/>
                          </a:solidFill>
                          <a:latin typeface="Aptos" pitchFamily="34" charset="0"/>
                          <a:ea typeface="Aptos" pitchFamily="34" charset="-122"/>
                          <a:cs typeface="Aptos" pitchFamily="34" charset="-120"/>
                        </a:rPr>
                        <a:t>Cost</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How much did it take to operate/sell?</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Rising cost can erase revenue gains</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9451">
                <a:tc>
                  <a:txBody>
                    <a:bodyPr/>
                    <a:lstStyle/>
                    <a:p>
                      <a:pPr marL="0" indent="0">
                        <a:buNone/>
                      </a:pPr>
                      <a:r>
                        <a:rPr lang="en-US" sz="940" dirty="0">
                          <a:solidFill>
                            <a:srgbClr val="243B53"/>
                          </a:solidFill>
                          <a:latin typeface="Aptos" pitchFamily="34" charset="0"/>
                          <a:ea typeface="Aptos" pitchFamily="34" charset="-122"/>
                          <a:cs typeface="Aptos" pitchFamily="34" charset="-120"/>
                        </a:rPr>
                        <a:t>Profit</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What remains after cost?</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Shows financial result</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buNone/>
                      </a:pPr>
                      <a:r>
                        <a:rPr lang="en-US" sz="940" dirty="0">
                          <a:solidFill>
                            <a:srgbClr val="243B53"/>
                          </a:solidFill>
                          <a:latin typeface="Aptos" pitchFamily="34" charset="0"/>
                          <a:ea typeface="Aptos" pitchFamily="34" charset="-122"/>
                          <a:cs typeface="Aptos" pitchFamily="34" charset="-120"/>
                        </a:rPr>
                        <a:t>Gross Margin %</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What share of revenue is profit?</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Shows quality of sales</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9451">
                <a:tc>
                  <a:txBody>
                    <a:bodyPr/>
                    <a:lstStyle/>
                    <a:p>
                      <a:pPr marL="0" indent="0">
                        <a:buNone/>
                      </a:pPr>
                      <a:r>
                        <a:rPr lang="en-US" sz="940" dirty="0">
                          <a:solidFill>
                            <a:srgbClr val="243B53"/>
                          </a:solidFill>
                          <a:latin typeface="Aptos" pitchFamily="34" charset="0"/>
                          <a:ea typeface="Aptos" pitchFamily="34" charset="-122"/>
                          <a:cs typeface="Aptos" pitchFamily="34" charset="-120"/>
                        </a:rPr>
                        <a:t>Orders</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How many purchases happened?</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Separates volume from order size</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buNone/>
                      </a:pPr>
                      <a:r>
                        <a:rPr lang="en-US" sz="940" dirty="0">
                          <a:solidFill>
                            <a:srgbClr val="243B53"/>
                          </a:solidFill>
                          <a:latin typeface="Aptos" pitchFamily="34" charset="0"/>
                          <a:ea typeface="Aptos" pitchFamily="34" charset="-122"/>
                          <a:cs typeface="Aptos" pitchFamily="34" charset="-120"/>
                        </a:rPr>
                        <a:t>AOV</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How much is each order worth on average?</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40" dirty="0">
                          <a:solidFill>
                            <a:srgbClr val="243B53"/>
                          </a:solidFill>
                          <a:latin typeface="Aptos" pitchFamily="34" charset="0"/>
                          <a:ea typeface="Aptos" pitchFamily="34" charset="-122"/>
                          <a:cs typeface="Aptos" pitchFamily="34" charset="-120"/>
                        </a:rPr>
                        <a:t>Shows basket size and buying quality</a:t>
                      </a:r>
                      <a:endParaRPr lang="en-US" sz="94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822960" y="5257800"/>
            <a:ext cx="10424160" cy="658368"/>
          </a:xfrm>
          <a:prstGeom prst="roundRect">
            <a:avLst>
              <a:gd name="adj" fmla="val 6944"/>
            </a:avLst>
          </a:prstGeom>
          <a:solidFill>
            <a:srgbClr val="F6E7C1"/>
          </a:solidFill>
          <a:ln w="8890">
            <a:solidFill>
              <a:srgbClr val="E3C56F"/>
            </a:solidFill>
            <a:prstDash val="solid"/>
          </a:ln>
        </p:spPr>
      </p:sp>
      <p:sp>
        <p:nvSpPr>
          <p:cNvPr id="7" name="Text 4"/>
          <p:cNvSpPr/>
          <p:nvPr/>
        </p:nvSpPr>
        <p:spPr>
          <a:xfrm>
            <a:off x="987552" y="533095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8" name="Text 5"/>
          <p:cNvSpPr/>
          <p:nvPr/>
        </p:nvSpPr>
        <p:spPr>
          <a:xfrm>
            <a:off x="987552" y="5522976"/>
            <a:ext cx="10094976" cy="347472"/>
          </a:xfrm>
          <a:prstGeom prst="rect">
            <a:avLst/>
          </a:prstGeom>
          <a:noFill/>
          <a:ln/>
        </p:spPr>
        <p:txBody>
          <a:bodyPr wrap="square" lIns="0" tIns="0" rIns="0" bIns="0" rtlCol="0" anchor="ctr">
            <a:normAutofit/>
          </a:bodyPr>
          <a:lstStyle/>
          <a:p>
            <a:pPr marL="0" indent="0">
              <a:buNone/>
            </a:pPr>
            <a:r>
              <a:rPr lang="en-US" sz="1050" dirty="0">
                <a:solidFill>
                  <a:srgbClr val="243B53"/>
                </a:solidFill>
              </a:rPr>
              <a:t>A serious review reads these together. Revenue growth with falling margin can be a warning, not a win.</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DASHBOARD AS DECISION COCKPIT</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KPI dashboard design for managers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2</a:t>
            </a:r>
            <a:endParaRPr lang="en-US" sz="800" dirty="0"/>
          </a:p>
        </p:txBody>
      </p:sp>
      <p:sp>
        <p:nvSpPr>
          <p:cNvPr id="5" name="Text 3"/>
          <p:cNvSpPr/>
          <p:nvPr/>
        </p:nvSpPr>
        <p:spPr>
          <a:xfrm>
            <a:off x="685800" y="1325880"/>
            <a:ext cx="4892040" cy="2560320"/>
          </a:xfrm>
          <a:prstGeom prst="rect">
            <a:avLst/>
          </a:prstGeom>
          <a:noFill/>
          <a:ln/>
        </p:spPr>
        <p:txBody>
          <a:bodyPr wrap="square" lIns="635" tIns="635" rIns="635" bIns="635" rtlCol="0" anchor="ctr">
            <a:normAutofit/>
          </a:bodyPr>
          <a:lstStyle/>
          <a:p>
            <a:pPr marL="152400" indent="-152400">
              <a:buSzPct val="100000"/>
              <a:buChar char="•"/>
            </a:pPr>
            <a:r>
              <a:rPr lang="en-US" sz="1420" dirty="0">
                <a:solidFill>
                  <a:srgbClr val="243B53"/>
                </a:solidFill>
              </a:rPr>
              <a:t>A dashboard should show priority signals, not every available number</a:t>
            </a:r>
            <a:endParaRPr lang="en-US" sz="1420" dirty="0"/>
          </a:p>
          <a:p>
            <a:pPr marL="152400" indent="-152400">
              <a:buSzPct val="100000"/>
              <a:buChar char="•"/>
            </a:pPr>
            <a:r>
              <a:rPr lang="en-US" sz="1420" dirty="0">
                <a:solidFill>
                  <a:srgbClr val="243B53"/>
                </a:solidFill>
              </a:rPr>
              <a:t>Each KPI should have a comparison: prior month, target, or same period last year</a:t>
            </a:r>
            <a:endParaRPr lang="en-US" sz="1420" dirty="0"/>
          </a:p>
          <a:p>
            <a:pPr marL="152400" indent="-152400">
              <a:buSzPct val="100000"/>
              <a:buChar char="•"/>
            </a:pPr>
            <a:r>
              <a:rPr lang="en-US" sz="1420" dirty="0">
                <a:solidFill>
                  <a:srgbClr val="243B53"/>
                </a:solidFill>
              </a:rPr>
              <a:t>Good dashboards combine financial, customer, and operational signals</a:t>
            </a:r>
            <a:endParaRPr lang="en-US" sz="1420" dirty="0"/>
          </a:p>
          <a:p>
            <a:pPr marL="152400" indent="-152400">
              <a:buSzPct val="100000"/>
              <a:buChar char="•"/>
            </a:pPr>
            <a:r>
              <a:rPr lang="en-US" sz="1420" dirty="0">
                <a:solidFill>
                  <a:srgbClr val="243B53"/>
                </a:solidFill>
              </a:rPr>
              <a:t>A dashboard should trigger questions, not replace analysis</a:t>
            </a:r>
            <a:endParaRPr lang="en-US" sz="1420" dirty="0"/>
          </a:p>
        </p:txBody>
      </p:sp>
      <p:sp>
        <p:nvSpPr>
          <p:cNvPr id="6" name="Shape 4"/>
          <p:cNvSpPr/>
          <p:nvPr/>
        </p:nvSpPr>
        <p:spPr>
          <a:xfrm>
            <a:off x="6035040" y="1234440"/>
            <a:ext cx="5074920" cy="3611880"/>
          </a:xfrm>
          <a:prstGeom prst="roundRect">
            <a:avLst>
              <a:gd name="adj" fmla="val 2025"/>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7" name="Shape 5"/>
          <p:cNvSpPr/>
          <p:nvPr/>
        </p:nvSpPr>
        <p:spPr>
          <a:xfrm>
            <a:off x="6309360" y="1600200"/>
            <a:ext cx="1417320" cy="822960"/>
          </a:xfrm>
          <a:prstGeom prst="roundRect">
            <a:avLst>
              <a:gd name="adj" fmla="val 888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8" name="Text 6"/>
          <p:cNvSpPr/>
          <p:nvPr/>
        </p:nvSpPr>
        <p:spPr>
          <a:xfrm>
            <a:off x="6419088" y="1709928"/>
            <a:ext cx="1197864" cy="182880"/>
          </a:xfrm>
          <a:prstGeom prst="rect">
            <a:avLst/>
          </a:prstGeom>
          <a:noFill/>
          <a:ln/>
        </p:spPr>
        <p:txBody>
          <a:bodyPr wrap="square" lIns="0" tIns="0" rIns="0" bIns="0" rtlCol="0" anchor="ctr"/>
          <a:lstStyle/>
          <a:p>
            <a:pPr marL="0" indent="0">
              <a:buNone/>
            </a:pPr>
            <a:r>
              <a:rPr lang="en-US" sz="780" b="1" dirty="0">
                <a:solidFill>
                  <a:srgbClr val="627D98"/>
                </a:solidFill>
              </a:rPr>
              <a:t>Revenue</a:t>
            </a:r>
            <a:endParaRPr lang="en-US" sz="780" dirty="0"/>
          </a:p>
        </p:txBody>
      </p:sp>
      <p:sp>
        <p:nvSpPr>
          <p:cNvPr id="9" name="Text 7"/>
          <p:cNvSpPr/>
          <p:nvPr/>
        </p:nvSpPr>
        <p:spPr>
          <a:xfrm>
            <a:off x="6419088" y="1947672"/>
            <a:ext cx="119786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$12.6k</a:t>
            </a:r>
            <a:endParaRPr lang="en-US" sz="1900" dirty="0"/>
          </a:p>
        </p:txBody>
      </p:sp>
      <p:sp>
        <p:nvSpPr>
          <p:cNvPr id="10" name="Text 8"/>
          <p:cNvSpPr/>
          <p:nvPr/>
        </p:nvSpPr>
        <p:spPr>
          <a:xfrm>
            <a:off x="6419088" y="2395728"/>
            <a:ext cx="1197864" cy="164592"/>
          </a:xfrm>
          <a:prstGeom prst="rect">
            <a:avLst/>
          </a:prstGeom>
          <a:noFill/>
          <a:ln/>
        </p:spPr>
        <p:txBody>
          <a:bodyPr wrap="square" lIns="0" tIns="0" rIns="0" bIns="0" rtlCol="0" anchor="ctr"/>
          <a:lstStyle/>
          <a:p>
            <a:pPr marL="0" indent="0">
              <a:buNone/>
            </a:pPr>
            <a:r>
              <a:rPr lang="en-US" sz="750" b="1" dirty="0">
                <a:solidFill>
                  <a:srgbClr val="2E7D32"/>
                </a:solidFill>
              </a:rPr>
              <a:t>▲ vs May</a:t>
            </a:r>
            <a:endParaRPr lang="en-US" sz="750" dirty="0"/>
          </a:p>
        </p:txBody>
      </p:sp>
      <p:sp>
        <p:nvSpPr>
          <p:cNvPr id="11" name="Shape 9"/>
          <p:cNvSpPr/>
          <p:nvPr/>
        </p:nvSpPr>
        <p:spPr>
          <a:xfrm>
            <a:off x="7909560" y="1600200"/>
            <a:ext cx="1417320" cy="822960"/>
          </a:xfrm>
          <a:prstGeom prst="roundRect">
            <a:avLst>
              <a:gd name="adj" fmla="val 888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12" name="Text 10"/>
          <p:cNvSpPr/>
          <p:nvPr/>
        </p:nvSpPr>
        <p:spPr>
          <a:xfrm>
            <a:off x="8019288" y="1709928"/>
            <a:ext cx="1197864" cy="182880"/>
          </a:xfrm>
          <a:prstGeom prst="rect">
            <a:avLst/>
          </a:prstGeom>
          <a:noFill/>
          <a:ln/>
        </p:spPr>
        <p:txBody>
          <a:bodyPr wrap="square" lIns="0" tIns="0" rIns="0" bIns="0" rtlCol="0" anchor="ctr"/>
          <a:lstStyle/>
          <a:p>
            <a:pPr marL="0" indent="0">
              <a:buNone/>
            </a:pPr>
            <a:r>
              <a:rPr lang="en-US" sz="780" b="1" dirty="0">
                <a:solidFill>
                  <a:srgbClr val="627D98"/>
                </a:solidFill>
              </a:rPr>
              <a:t>Profit</a:t>
            </a:r>
            <a:endParaRPr lang="en-US" sz="780" dirty="0"/>
          </a:p>
        </p:txBody>
      </p:sp>
      <p:sp>
        <p:nvSpPr>
          <p:cNvPr id="13" name="Text 11"/>
          <p:cNvSpPr/>
          <p:nvPr/>
        </p:nvSpPr>
        <p:spPr>
          <a:xfrm>
            <a:off x="8019288" y="1947672"/>
            <a:ext cx="119786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$6.4k</a:t>
            </a:r>
            <a:endParaRPr lang="en-US" sz="1900" dirty="0"/>
          </a:p>
        </p:txBody>
      </p:sp>
      <p:sp>
        <p:nvSpPr>
          <p:cNvPr id="14" name="Text 12"/>
          <p:cNvSpPr/>
          <p:nvPr/>
        </p:nvSpPr>
        <p:spPr>
          <a:xfrm>
            <a:off x="8019288" y="2395728"/>
            <a:ext cx="1197864" cy="164592"/>
          </a:xfrm>
          <a:prstGeom prst="rect">
            <a:avLst/>
          </a:prstGeom>
          <a:noFill/>
          <a:ln/>
        </p:spPr>
        <p:txBody>
          <a:bodyPr wrap="square" lIns="0" tIns="0" rIns="0" bIns="0" rtlCol="0" anchor="ctr"/>
          <a:lstStyle/>
          <a:p>
            <a:pPr marL="0" indent="0">
              <a:buNone/>
            </a:pPr>
            <a:r>
              <a:rPr lang="en-US" sz="750" b="1" dirty="0">
                <a:solidFill>
                  <a:srgbClr val="2E7D32"/>
                </a:solidFill>
              </a:rPr>
              <a:t>▲ vs May</a:t>
            </a:r>
            <a:endParaRPr lang="en-US" sz="750" dirty="0"/>
          </a:p>
        </p:txBody>
      </p:sp>
      <p:sp>
        <p:nvSpPr>
          <p:cNvPr id="15" name="Shape 13"/>
          <p:cNvSpPr/>
          <p:nvPr/>
        </p:nvSpPr>
        <p:spPr>
          <a:xfrm>
            <a:off x="9509760" y="1600200"/>
            <a:ext cx="1417320" cy="822960"/>
          </a:xfrm>
          <a:prstGeom prst="roundRect">
            <a:avLst>
              <a:gd name="adj" fmla="val 888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16" name="Text 14"/>
          <p:cNvSpPr/>
          <p:nvPr/>
        </p:nvSpPr>
        <p:spPr>
          <a:xfrm>
            <a:off x="9619488" y="1709928"/>
            <a:ext cx="1197864" cy="182880"/>
          </a:xfrm>
          <a:prstGeom prst="rect">
            <a:avLst/>
          </a:prstGeom>
          <a:noFill/>
          <a:ln/>
        </p:spPr>
        <p:txBody>
          <a:bodyPr wrap="square" lIns="0" tIns="0" rIns="0" bIns="0" rtlCol="0" anchor="ctr"/>
          <a:lstStyle/>
          <a:p>
            <a:pPr marL="0" indent="0">
              <a:buNone/>
            </a:pPr>
            <a:r>
              <a:rPr lang="en-US" sz="780" b="1" dirty="0">
                <a:solidFill>
                  <a:srgbClr val="627D98"/>
                </a:solidFill>
              </a:rPr>
              <a:t>Orders</a:t>
            </a:r>
            <a:endParaRPr lang="en-US" sz="780" dirty="0"/>
          </a:p>
        </p:txBody>
      </p:sp>
      <p:sp>
        <p:nvSpPr>
          <p:cNvPr id="17" name="Text 15"/>
          <p:cNvSpPr/>
          <p:nvPr/>
        </p:nvSpPr>
        <p:spPr>
          <a:xfrm>
            <a:off x="9619488" y="1947672"/>
            <a:ext cx="119786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340</a:t>
            </a:r>
            <a:endParaRPr lang="en-US" sz="1900" dirty="0"/>
          </a:p>
        </p:txBody>
      </p:sp>
      <p:sp>
        <p:nvSpPr>
          <p:cNvPr id="18" name="Text 16"/>
          <p:cNvSpPr/>
          <p:nvPr/>
        </p:nvSpPr>
        <p:spPr>
          <a:xfrm>
            <a:off x="9619488" y="2395728"/>
            <a:ext cx="1197864" cy="164592"/>
          </a:xfrm>
          <a:prstGeom prst="rect">
            <a:avLst/>
          </a:prstGeom>
          <a:noFill/>
          <a:ln/>
        </p:spPr>
        <p:txBody>
          <a:bodyPr wrap="square" lIns="0" tIns="0" rIns="0" bIns="0" rtlCol="0" anchor="ctr"/>
          <a:lstStyle/>
          <a:p>
            <a:pPr marL="0" indent="0">
              <a:buNone/>
            </a:pPr>
            <a:r>
              <a:rPr lang="en-US" sz="750" b="1" dirty="0">
                <a:solidFill>
                  <a:srgbClr val="2E7D32"/>
                </a:solidFill>
              </a:rPr>
              <a:t>▲ vs May</a:t>
            </a:r>
            <a:endParaRPr lang="en-US" sz="750" dirty="0"/>
          </a:p>
        </p:txBody>
      </p:sp>
      <p:sp>
        <p:nvSpPr>
          <p:cNvPr id="19" name="Shape 17"/>
          <p:cNvSpPr/>
          <p:nvPr/>
        </p:nvSpPr>
        <p:spPr>
          <a:xfrm>
            <a:off x="6309360" y="2788920"/>
            <a:ext cx="1417320" cy="822960"/>
          </a:xfrm>
          <a:prstGeom prst="roundRect">
            <a:avLst>
              <a:gd name="adj" fmla="val 888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20" name="Text 18"/>
          <p:cNvSpPr/>
          <p:nvPr/>
        </p:nvSpPr>
        <p:spPr>
          <a:xfrm>
            <a:off x="6419088" y="2898648"/>
            <a:ext cx="1197864" cy="182880"/>
          </a:xfrm>
          <a:prstGeom prst="rect">
            <a:avLst/>
          </a:prstGeom>
          <a:noFill/>
          <a:ln/>
        </p:spPr>
        <p:txBody>
          <a:bodyPr wrap="square" lIns="0" tIns="0" rIns="0" bIns="0" rtlCol="0" anchor="ctr"/>
          <a:lstStyle/>
          <a:p>
            <a:pPr marL="0" indent="0">
              <a:buNone/>
            </a:pPr>
            <a:r>
              <a:rPr lang="en-US" sz="780" b="1" dirty="0">
                <a:solidFill>
                  <a:srgbClr val="627D98"/>
                </a:solidFill>
              </a:rPr>
              <a:t>AOV</a:t>
            </a:r>
            <a:endParaRPr lang="en-US" sz="780" dirty="0"/>
          </a:p>
        </p:txBody>
      </p:sp>
      <p:sp>
        <p:nvSpPr>
          <p:cNvPr id="21" name="Text 19"/>
          <p:cNvSpPr/>
          <p:nvPr/>
        </p:nvSpPr>
        <p:spPr>
          <a:xfrm>
            <a:off x="6419088" y="3136392"/>
            <a:ext cx="119786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$44</a:t>
            </a:r>
            <a:endParaRPr lang="en-US" sz="1900" dirty="0"/>
          </a:p>
        </p:txBody>
      </p:sp>
      <p:sp>
        <p:nvSpPr>
          <p:cNvPr id="22" name="Text 20"/>
          <p:cNvSpPr/>
          <p:nvPr/>
        </p:nvSpPr>
        <p:spPr>
          <a:xfrm>
            <a:off x="6419088" y="3584448"/>
            <a:ext cx="1197864" cy="164592"/>
          </a:xfrm>
          <a:prstGeom prst="rect">
            <a:avLst/>
          </a:prstGeom>
          <a:noFill/>
          <a:ln/>
        </p:spPr>
        <p:txBody>
          <a:bodyPr wrap="square" lIns="0" tIns="0" rIns="0" bIns="0" rtlCol="0" anchor="ctr"/>
          <a:lstStyle/>
          <a:p>
            <a:pPr marL="0" indent="0">
              <a:buNone/>
            </a:pPr>
            <a:r>
              <a:rPr lang="en-US" sz="750" b="1" dirty="0">
                <a:solidFill>
                  <a:srgbClr val="2E7D32"/>
                </a:solidFill>
              </a:rPr>
              <a:t>▲ vs May</a:t>
            </a:r>
            <a:endParaRPr lang="en-US" sz="750" dirty="0"/>
          </a:p>
        </p:txBody>
      </p:sp>
      <p:sp>
        <p:nvSpPr>
          <p:cNvPr id="23" name="Shape 21"/>
          <p:cNvSpPr/>
          <p:nvPr/>
        </p:nvSpPr>
        <p:spPr>
          <a:xfrm>
            <a:off x="7909560" y="2788920"/>
            <a:ext cx="1417320" cy="822960"/>
          </a:xfrm>
          <a:prstGeom prst="roundRect">
            <a:avLst>
              <a:gd name="adj" fmla="val 888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24" name="Text 22"/>
          <p:cNvSpPr/>
          <p:nvPr/>
        </p:nvSpPr>
        <p:spPr>
          <a:xfrm>
            <a:off x="8019288" y="2898648"/>
            <a:ext cx="1197864" cy="182880"/>
          </a:xfrm>
          <a:prstGeom prst="rect">
            <a:avLst/>
          </a:prstGeom>
          <a:noFill/>
          <a:ln/>
        </p:spPr>
        <p:txBody>
          <a:bodyPr wrap="square" lIns="0" tIns="0" rIns="0" bIns="0" rtlCol="0" anchor="ctr"/>
          <a:lstStyle/>
          <a:p>
            <a:pPr marL="0" indent="0">
              <a:buNone/>
            </a:pPr>
            <a:r>
              <a:rPr lang="en-US" sz="780" b="1" dirty="0">
                <a:solidFill>
                  <a:srgbClr val="627D98"/>
                </a:solidFill>
              </a:rPr>
              <a:t>Complaints</a:t>
            </a:r>
            <a:endParaRPr lang="en-US" sz="780" dirty="0"/>
          </a:p>
        </p:txBody>
      </p:sp>
      <p:sp>
        <p:nvSpPr>
          <p:cNvPr id="25" name="Text 23"/>
          <p:cNvSpPr/>
          <p:nvPr/>
        </p:nvSpPr>
        <p:spPr>
          <a:xfrm>
            <a:off x="8019288" y="3136392"/>
            <a:ext cx="119786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24</a:t>
            </a:r>
            <a:endParaRPr lang="en-US" sz="1900" dirty="0"/>
          </a:p>
        </p:txBody>
      </p:sp>
      <p:sp>
        <p:nvSpPr>
          <p:cNvPr id="26" name="Text 24"/>
          <p:cNvSpPr/>
          <p:nvPr/>
        </p:nvSpPr>
        <p:spPr>
          <a:xfrm>
            <a:off x="8019288" y="3584448"/>
            <a:ext cx="1197864" cy="164592"/>
          </a:xfrm>
          <a:prstGeom prst="rect">
            <a:avLst/>
          </a:prstGeom>
          <a:noFill/>
          <a:ln/>
        </p:spPr>
        <p:txBody>
          <a:bodyPr wrap="square" lIns="0" tIns="0" rIns="0" bIns="0" rtlCol="0" anchor="ctr"/>
          <a:lstStyle/>
          <a:p>
            <a:pPr marL="0" indent="0">
              <a:buNone/>
            </a:pPr>
            <a:r>
              <a:rPr lang="en-US" sz="750" b="1" dirty="0">
                <a:solidFill>
                  <a:srgbClr val="2E7D32"/>
                </a:solidFill>
              </a:rPr>
              <a:t>▲ down</a:t>
            </a:r>
            <a:endParaRPr lang="en-US" sz="750" dirty="0"/>
          </a:p>
        </p:txBody>
      </p:sp>
      <p:sp>
        <p:nvSpPr>
          <p:cNvPr id="27" name="Shape 25"/>
          <p:cNvSpPr/>
          <p:nvPr/>
        </p:nvSpPr>
        <p:spPr>
          <a:xfrm>
            <a:off x="9509760" y="2788920"/>
            <a:ext cx="1417320" cy="822960"/>
          </a:xfrm>
          <a:prstGeom prst="roundRect">
            <a:avLst>
              <a:gd name="adj" fmla="val 888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28" name="Text 26"/>
          <p:cNvSpPr/>
          <p:nvPr/>
        </p:nvSpPr>
        <p:spPr>
          <a:xfrm>
            <a:off x="9619488" y="2898648"/>
            <a:ext cx="1197864" cy="182880"/>
          </a:xfrm>
          <a:prstGeom prst="rect">
            <a:avLst/>
          </a:prstGeom>
          <a:noFill/>
          <a:ln/>
        </p:spPr>
        <p:txBody>
          <a:bodyPr wrap="square" lIns="0" tIns="0" rIns="0" bIns="0" rtlCol="0" anchor="ctr"/>
          <a:lstStyle/>
          <a:p>
            <a:pPr marL="0" indent="0">
              <a:buNone/>
            </a:pPr>
            <a:r>
              <a:rPr lang="en-US" sz="780" b="1" dirty="0">
                <a:solidFill>
                  <a:srgbClr val="627D98"/>
                </a:solidFill>
              </a:rPr>
              <a:t>Repeat</a:t>
            </a:r>
            <a:endParaRPr lang="en-US" sz="780" dirty="0"/>
          </a:p>
        </p:txBody>
      </p:sp>
      <p:sp>
        <p:nvSpPr>
          <p:cNvPr id="29" name="Text 27"/>
          <p:cNvSpPr/>
          <p:nvPr/>
        </p:nvSpPr>
        <p:spPr>
          <a:xfrm>
            <a:off x="9619488" y="3136392"/>
            <a:ext cx="119786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36.8%</a:t>
            </a:r>
            <a:endParaRPr lang="en-US" sz="1900" dirty="0"/>
          </a:p>
        </p:txBody>
      </p:sp>
      <p:sp>
        <p:nvSpPr>
          <p:cNvPr id="30" name="Text 28"/>
          <p:cNvSpPr/>
          <p:nvPr/>
        </p:nvSpPr>
        <p:spPr>
          <a:xfrm>
            <a:off x="9619488" y="3584448"/>
            <a:ext cx="1197864" cy="164592"/>
          </a:xfrm>
          <a:prstGeom prst="rect">
            <a:avLst/>
          </a:prstGeom>
          <a:noFill/>
          <a:ln/>
        </p:spPr>
        <p:txBody>
          <a:bodyPr wrap="square" lIns="0" tIns="0" rIns="0" bIns="0" rtlCol="0" anchor="ctr"/>
          <a:lstStyle/>
          <a:p>
            <a:pPr marL="0" indent="0">
              <a:buNone/>
            </a:pPr>
            <a:r>
              <a:rPr lang="en-US" sz="750" b="1" dirty="0">
                <a:solidFill>
                  <a:srgbClr val="2E7D32"/>
                </a:solidFill>
              </a:rPr>
              <a:t>▲ vs May</a:t>
            </a:r>
            <a:endParaRPr lang="en-US" sz="750" dirty="0"/>
          </a:p>
        </p:txBody>
      </p:sp>
      <p:sp>
        <p:nvSpPr>
          <p:cNvPr id="31" name="Shape 29"/>
          <p:cNvSpPr/>
          <p:nvPr/>
        </p:nvSpPr>
        <p:spPr>
          <a:xfrm>
            <a:off x="6080760" y="5257800"/>
            <a:ext cx="4937760" cy="713232"/>
          </a:xfrm>
          <a:prstGeom prst="roundRect">
            <a:avLst>
              <a:gd name="adj" fmla="val 6410"/>
            </a:avLst>
          </a:prstGeom>
          <a:solidFill>
            <a:srgbClr val="F6E7C1"/>
          </a:solidFill>
          <a:ln w="8890">
            <a:solidFill>
              <a:srgbClr val="E3C56F"/>
            </a:solidFill>
            <a:prstDash val="solid"/>
          </a:ln>
        </p:spPr>
      </p:sp>
      <p:sp>
        <p:nvSpPr>
          <p:cNvPr id="32" name="Text 30"/>
          <p:cNvSpPr/>
          <p:nvPr/>
        </p:nvSpPr>
        <p:spPr>
          <a:xfrm>
            <a:off x="6245352" y="5330952"/>
            <a:ext cx="46085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33" name="Text 31"/>
          <p:cNvSpPr/>
          <p:nvPr/>
        </p:nvSpPr>
        <p:spPr>
          <a:xfrm>
            <a:off x="6245352" y="5522976"/>
            <a:ext cx="460857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A useful dashboard balances outcomes and drivers: profit tells you result; complaints, AOV, and repeat rate help explain quality of performance.</a:t>
            </a:r>
            <a:endParaRPr lang="en-US" sz="1050" dirty="0"/>
          </a:p>
        </p:txBody>
      </p:sp>
      <p:sp>
        <p:nvSpPr>
          <p:cNvPr id="34"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DASHBOARD INTERPRETATION</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June KPI dashboard: what looks good and what needs caution</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2</a:t>
            </a:r>
            <a:endParaRPr lang="en-US" sz="800" dirty="0"/>
          </a:p>
        </p:txBody>
      </p:sp>
      <p:sp>
        <p:nvSpPr>
          <p:cNvPr id="5" name="Shape 3"/>
          <p:cNvSpPr/>
          <p:nvPr/>
        </p:nvSpPr>
        <p:spPr>
          <a:xfrm>
            <a:off x="685800" y="1143000"/>
            <a:ext cx="10835640" cy="4160520"/>
          </a:xfrm>
          <a:prstGeom prst="roundRect">
            <a:avLst>
              <a:gd name="adj" fmla="val 1758"/>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05840" y="1463040"/>
            <a:ext cx="1600200" cy="960120"/>
          </a:xfrm>
          <a:prstGeom prst="roundRect">
            <a:avLst>
              <a:gd name="adj" fmla="val 761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7" name="Text 5"/>
          <p:cNvSpPr/>
          <p:nvPr/>
        </p:nvSpPr>
        <p:spPr>
          <a:xfrm>
            <a:off x="1115568" y="1572768"/>
            <a:ext cx="1380744" cy="182880"/>
          </a:xfrm>
          <a:prstGeom prst="rect">
            <a:avLst/>
          </a:prstGeom>
          <a:noFill/>
          <a:ln/>
        </p:spPr>
        <p:txBody>
          <a:bodyPr wrap="square" lIns="0" tIns="0" rIns="0" bIns="0" rtlCol="0" anchor="ctr"/>
          <a:lstStyle/>
          <a:p>
            <a:pPr marL="0" indent="0">
              <a:buNone/>
            </a:pPr>
            <a:r>
              <a:rPr lang="en-US" sz="780" b="1" dirty="0">
                <a:solidFill>
                  <a:srgbClr val="627D98"/>
                </a:solidFill>
              </a:rPr>
              <a:t>Revenue</a:t>
            </a:r>
            <a:endParaRPr lang="en-US" sz="780" dirty="0"/>
          </a:p>
        </p:txBody>
      </p:sp>
      <p:sp>
        <p:nvSpPr>
          <p:cNvPr id="8" name="Text 6"/>
          <p:cNvSpPr/>
          <p:nvPr/>
        </p:nvSpPr>
        <p:spPr>
          <a:xfrm>
            <a:off x="1115568" y="1810512"/>
            <a:ext cx="138074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$12,600</a:t>
            </a:r>
            <a:endParaRPr lang="en-US" sz="1900" dirty="0"/>
          </a:p>
        </p:txBody>
      </p:sp>
      <p:sp>
        <p:nvSpPr>
          <p:cNvPr id="9" name="Text 7"/>
          <p:cNvSpPr/>
          <p:nvPr/>
        </p:nvSpPr>
        <p:spPr>
          <a:xfrm>
            <a:off x="1115568" y="2258568"/>
            <a:ext cx="1380744" cy="164592"/>
          </a:xfrm>
          <a:prstGeom prst="rect">
            <a:avLst/>
          </a:prstGeom>
          <a:noFill/>
          <a:ln/>
        </p:spPr>
        <p:txBody>
          <a:bodyPr wrap="square" lIns="0" tIns="0" rIns="0" bIns="0" rtlCol="0" anchor="ctr"/>
          <a:lstStyle/>
          <a:p>
            <a:pPr marL="0" indent="0">
              <a:buNone/>
            </a:pPr>
            <a:r>
              <a:rPr lang="en-US" sz="750" b="1" dirty="0">
                <a:solidFill>
                  <a:srgbClr val="2E7D32"/>
                </a:solidFill>
              </a:rPr>
              <a:t>▲ up from $10,800</a:t>
            </a:r>
            <a:endParaRPr lang="en-US" sz="750" dirty="0"/>
          </a:p>
        </p:txBody>
      </p:sp>
      <p:sp>
        <p:nvSpPr>
          <p:cNvPr id="10" name="Shape 8"/>
          <p:cNvSpPr/>
          <p:nvPr/>
        </p:nvSpPr>
        <p:spPr>
          <a:xfrm>
            <a:off x="2788920" y="1463040"/>
            <a:ext cx="1600200" cy="960120"/>
          </a:xfrm>
          <a:prstGeom prst="roundRect">
            <a:avLst>
              <a:gd name="adj" fmla="val 761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11" name="Text 9"/>
          <p:cNvSpPr/>
          <p:nvPr/>
        </p:nvSpPr>
        <p:spPr>
          <a:xfrm>
            <a:off x="2898648" y="1572768"/>
            <a:ext cx="1380744" cy="182880"/>
          </a:xfrm>
          <a:prstGeom prst="rect">
            <a:avLst/>
          </a:prstGeom>
          <a:noFill/>
          <a:ln/>
        </p:spPr>
        <p:txBody>
          <a:bodyPr wrap="square" lIns="0" tIns="0" rIns="0" bIns="0" rtlCol="0" anchor="ctr"/>
          <a:lstStyle/>
          <a:p>
            <a:pPr marL="0" indent="0">
              <a:buNone/>
            </a:pPr>
            <a:r>
              <a:rPr lang="en-US" sz="780" b="1" dirty="0">
                <a:solidFill>
                  <a:srgbClr val="627D98"/>
                </a:solidFill>
              </a:rPr>
              <a:t>Profit</a:t>
            </a:r>
            <a:endParaRPr lang="en-US" sz="780" dirty="0"/>
          </a:p>
        </p:txBody>
      </p:sp>
      <p:sp>
        <p:nvSpPr>
          <p:cNvPr id="12" name="Text 10"/>
          <p:cNvSpPr/>
          <p:nvPr/>
        </p:nvSpPr>
        <p:spPr>
          <a:xfrm>
            <a:off x="2898648" y="1810512"/>
            <a:ext cx="138074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$6,400</a:t>
            </a:r>
            <a:endParaRPr lang="en-US" sz="1900" dirty="0"/>
          </a:p>
        </p:txBody>
      </p:sp>
      <p:sp>
        <p:nvSpPr>
          <p:cNvPr id="13" name="Text 11"/>
          <p:cNvSpPr/>
          <p:nvPr/>
        </p:nvSpPr>
        <p:spPr>
          <a:xfrm>
            <a:off x="2898648" y="2258568"/>
            <a:ext cx="1380744" cy="164592"/>
          </a:xfrm>
          <a:prstGeom prst="rect">
            <a:avLst/>
          </a:prstGeom>
          <a:noFill/>
          <a:ln/>
        </p:spPr>
        <p:txBody>
          <a:bodyPr wrap="square" lIns="0" tIns="0" rIns="0" bIns="0" rtlCol="0" anchor="ctr"/>
          <a:lstStyle/>
          <a:p>
            <a:pPr marL="0" indent="0">
              <a:buNone/>
            </a:pPr>
            <a:r>
              <a:rPr lang="en-US" sz="750" b="1" dirty="0">
                <a:solidFill>
                  <a:srgbClr val="2E7D32"/>
                </a:solidFill>
              </a:rPr>
              <a:t>▲ up from $4,900</a:t>
            </a:r>
            <a:endParaRPr lang="en-US" sz="750" dirty="0"/>
          </a:p>
        </p:txBody>
      </p:sp>
      <p:sp>
        <p:nvSpPr>
          <p:cNvPr id="14" name="Shape 12"/>
          <p:cNvSpPr/>
          <p:nvPr/>
        </p:nvSpPr>
        <p:spPr>
          <a:xfrm>
            <a:off x="4572000" y="1463040"/>
            <a:ext cx="1600200" cy="960120"/>
          </a:xfrm>
          <a:prstGeom prst="roundRect">
            <a:avLst>
              <a:gd name="adj" fmla="val 761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15" name="Text 13"/>
          <p:cNvSpPr/>
          <p:nvPr/>
        </p:nvSpPr>
        <p:spPr>
          <a:xfrm>
            <a:off x="4681728" y="1572768"/>
            <a:ext cx="1380744" cy="182880"/>
          </a:xfrm>
          <a:prstGeom prst="rect">
            <a:avLst/>
          </a:prstGeom>
          <a:noFill/>
          <a:ln/>
        </p:spPr>
        <p:txBody>
          <a:bodyPr wrap="square" lIns="0" tIns="0" rIns="0" bIns="0" rtlCol="0" anchor="ctr"/>
          <a:lstStyle/>
          <a:p>
            <a:pPr marL="0" indent="0">
              <a:buNone/>
            </a:pPr>
            <a:r>
              <a:rPr lang="en-US" sz="780" b="1" dirty="0">
                <a:solidFill>
                  <a:srgbClr val="627D98"/>
                </a:solidFill>
              </a:rPr>
              <a:t>Orders</a:t>
            </a:r>
            <a:endParaRPr lang="en-US" sz="780" dirty="0"/>
          </a:p>
        </p:txBody>
      </p:sp>
      <p:sp>
        <p:nvSpPr>
          <p:cNvPr id="16" name="Text 14"/>
          <p:cNvSpPr/>
          <p:nvPr/>
        </p:nvSpPr>
        <p:spPr>
          <a:xfrm>
            <a:off x="4681728" y="1810512"/>
            <a:ext cx="138074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340</a:t>
            </a:r>
            <a:endParaRPr lang="en-US" sz="1900" dirty="0"/>
          </a:p>
        </p:txBody>
      </p:sp>
      <p:sp>
        <p:nvSpPr>
          <p:cNvPr id="17" name="Text 15"/>
          <p:cNvSpPr/>
          <p:nvPr/>
        </p:nvSpPr>
        <p:spPr>
          <a:xfrm>
            <a:off x="4681728" y="2258568"/>
            <a:ext cx="1380744" cy="164592"/>
          </a:xfrm>
          <a:prstGeom prst="rect">
            <a:avLst/>
          </a:prstGeom>
          <a:noFill/>
          <a:ln/>
        </p:spPr>
        <p:txBody>
          <a:bodyPr wrap="square" lIns="0" tIns="0" rIns="0" bIns="0" rtlCol="0" anchor="ctr"/>
          <a:lstStyle/>
          <a:p>
            <a:pPr marL="0" indent="0">
              <a:buNone/>
            </a:pPr>
            <a:r>
              <a:rPr lang="en-US" sz="750" b="1" dirty="0">
                <a:solidFill>
                  <a:srgbClr val="2E7D32"/>
                </a:solidFill>
              </a:rPr>
              <a:t>▲ up from 292</a:t>
            </a:r>
            <a:endParaRPr lang="en-US" sz="750" dirty="0"/>
          </a:p>
        </p:txBody>
      </p:sp>
      <p:sp>
        <p:nvSpPr>
          <p:cNvPr id="18" name="Shape 16"/>
          <p:cNvSpPr/>
          <p:nvPr/>
        </p:nvSpPr>
        <p:spPr>
          <a:xfrm>
            <a:off x="6355080" y="1463040"/>
            <a:ext cx="1600200" cy="960120"/>
          </a:xfrm>
          <a:prstGeom prst="roundRect">
            <a:avLst>
              <a:gd name="adj" fmla="val 761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19" name="Text 17"/>
          <p:cNvSpPr/>
          <p:nvPr/>
        </p:nvSpPr>
        <p:spPr>
          <a:xfrm>
            <a:off x="6464808" y="1572768"/>
            <a:ext cx="1380744" cy="182880"/>
          </a:xfrm>
          <a:prstGeom prst="rect">
            <a:avLst/>
          </a:prstGeom>
          <a:noFill/>
          <a:ln/>
        </p:spPr>
        <p:txBody>
          <a:bodyPr wrap="square" lIns="0" tIns="0" rIns="0" bIns="0" rtlCol="0" anchor="ctr"/>
          <a:lstStyle/>
          <a:p>
            <a:pPr marL="0" indent="0">
              <a:buNone/>
            </a:pPr>
            <a:r>
              <a:rPr lang="en-US" sz="780" b="1" dirty="0">
                <a:solidFill>
                  <a:srgbClr val="627D98"/>
                </a:solidFill>
              </a:rPr>
              <a:t>AOV</a:t>
            </a:r>
            <a:endParaRPr lang="en-US" sz="780" dirty="0"/>
          </a:p>
        </p:txBody>
      </p:sp>
      <p:sp>
        <p:nvSpPr>
          <p:cNvPr id="20" name="Text 18"/>
          <p:cNvSpPr/>
          <p:nvPr/>
        </p:nvSpPr>
        <p:spPr>
          <a:xfrm>
            <a:off x="6464808" y="1810512"/>
            <a:ext cx="138074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$44</a:t>
            </a:r>
            <a:endParaRPr lang="en-US" sz="1900" dirty="0"/>
          </a:p>
        </p:txBody>
      </p:sp>
      <p:sp>
        <p:nvSpPr>
          <p:cNvPr id="21" name="Text 19"/>
          <p:cNvSpPr/>
          <p:nvPr/>
        </p:nvSpPr>
        <p:spPr>
          <a:xfrm>
            <a:off x="6464808" y="2258568"/>
            <a:ext cx="1380744" cy="164592"/>
          </a:xfrm>
          <a:prstGeom prst="rect">
            <a:avLst/>
          </a:prstGeom>
          <a:noFill/>
          <a:ln/>
        </p:spPr>
        <p:txBody>
          <a:bodyPr wrap="square" lIns="0" tIns="0" rIns="0" bIns="0" rtlCol="0" anchor="ctr"/>
          <a:lstStyle/>
          <a:p>
            <a:pPr marL="0" indent="0">
              <a:buNone/>
            </a:pPr>
            <a:r>
              <a:rPr lang="en-US" sz="750" b="1" dirty="0">
                <a:solidFill>
                  <a:srgbClr val="2E7D32"/>
                </a:solidFill>
              </a:rPr>
              <a:t>▲ up from $37</a:t>
            </a:r>
            <a:endParaRPr lang="en-US" sz="750" dirty="0"/>
          </a:p>
        </p:txBody>
      </p:sp>
      <p:sp>
        <p:nvSpPr>
          <p:cNvPr id="22" name="Shape 20"/>
          <p:cNvSpPr/>
          <p:nvPr/>
        </p:nvSpPr>
        <p:spPr>
          <a:xfrm>
            <a:off x="8138160" y="1463040"/>
            <a:ext cx="1600200" cy="960120"/>
          </a:xfrm>
          <a:prstGeom prst="roundRect">
            <a:avLst>
              <a:gd name="adj" fmla="val 761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23" name="Text 21"/>
          <p:cNvSpPr/>
          <p:nvPr/>
        </p:nvSpPr>
        <p:spPr>
          <a:xfrm>
            <a:off x="8247888" y="1572768"/>
            <a:ext cx="1380744" cy="182880"/>
          </a:xfrm>
          <a:prstGeom prst="rect">
            <a:avLst/>
          </a:prstGeom>
          <a:noFill/>
          <a:ln/>
        </p:spPr>
        <p:txBody>
          <a:bodyPr wrap="square" lIns="0" tIns="0" rIns="0" bIns="0" rtlCol="0" anchor="ctr"/>
          <a:lstStyle/>
          <a:p>
            <a:pPr marL="0" indent="0">
              <a:buNone/>
            </a:pPr>
            <a:r>
              <a:rPr lang="en-US" sz="780" b="1" dirty="0">
                <a:solidFill>
                  <a:srgbClr val="627D98"/>
                </a:solidFill>
              </a:rPr>
              <a:t>Complaints</a:t>
            </a:r>
            <a:endParaRPr lang="en-US" sz="780" dirty="0"/>
          </a:p>
        </p:txBody>
      </p:sp>
      <p:sp>
        <p:nvSpPr>
          <p:cNvPr id="24" name="Text 22"/>
          <p:cNvSpPr/>
          <p:nvPr/>
        </p:nvSpPr>
        <p:spPr>
          <a:xfrm>
            <a:off x="8247888" y="1810512"/>
            <a:ext cx="138074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24</a:t>
            </a:r>
            <a:endParaRPr lang="en-US" sz="1900" dirty="0"/>
          </a:p>
        </p:txBody>
      </p:sp>
      <p:sp>
        <p:nvSpPr>
          <p:cNvPr id="25" name="Text 23"/>
          <p:cNvSpPr/>
          <p:nvPr/>
        </p:nvSpPr>
        <p:spPr>
          <a:xfrm>
            <a:off x="8247888" y="2258568"/>
            <a:ext cx="1380744" cy="164592"/>
          </a:xfrm>
          <a:prstGeom prst="rect">
            <a:avLst/>
          </a:prstGeom>
          <a:noFill/>
          <a:ln/>
        </p:spPr>
        <p:txBody>
          <a:bodyPr wrap="square" lIns="0" tIns="0" rIns="0" bIns="0" rtlCol="0" anchor="ctr"/>
          <a:lstStyle/>
          <a:p>
            <a:pPr marL="0" indent="0">
              <a:buNone/>
            </a:pPr>
            <a:r>
              <a:rPr lang="en-US" sz="750" b="1" dirty="0">
                <a:solidFill>
                  <a:srgbClr val="2E7D32"/>
                </a:solidFill>
              </a:rPr>
              <a:t>▲ down from 31</a:t>
            </a:r>
            <a:endParaRPr lang="en-US" sz="750" dirty="0"/>
          </a:p>
        </p:txBody>
      </p:sp>
      <p:sp>
        <p:nvSpPr>
          <p:cNvPr id="26" name="Shape 24"/>
          <p:cNvSpPr/>
          <p:nvPr/>
        </p:nvSpPr>
        <p:spPr>
          <a:xfrm>
            <a:off x="9921240" y="1463040"/>
            <a:ext cx="1234440" cy="960120"/>
          </a:xfrm>
          <a:prstGeom prst="roundRect">
            <a:avLst>
              <a:gd name="adj" fmla="val 7619"/>
            </a:avLst>
          </a:prstGeom>
          <a:solidFill>
            <a:srgbClr val="FFFFFF"/>
          </a:solidFill>
          <a:ln w="8890">
            <a:solidFill>
              <a:srgbClr val="DDD2C3"/>
            </a:solidFill>
            <a:prstDash val="solid"/>
          </a:ln>
          <a:effectLst>
            <a:outerShdw blurRad="12700" dist="50800" dir="2700000" algn="bl" rotWithShape="0">
              <a:srgbClr val="000000">
                <a:alpha val="12000"/>
              </a:srgbClr>
            </a:outerShdw>
          </a:effectLst>
        </p:spPr>
      </p:sp>
      <p:sp>
        <p:nvSpPr>
          <p:cNvPr id="27" name="Text 25"/>
          <p:cNvSpPr/>
          <p:nvPr/>
        </p:nvSpPr>
        <p:spPr>
          <a:xfrm>
            <a:off x="10030968" y="1572768"/>
            <a:ext cx="1014984" cy="182880"/>
          </a:xfrm>
          <a:prstGeom prst="rect">
            <a:avLst/>
          </a:prstGeom>
          <a:noFill/>
          <a:ln/>
        </p:spPr>
        <p:txBody>
          <a:bodyPr wrap="square" lIns="0" tIns="0" rIns="0" bIns="0" rtlCol="0" anchor="ctr"/>
          <a:lstStyle/>
          <a:p>
            <a:pPr marL="0" indent="0">
              <a:buNone/>
            </a:pPr>
            <a:r>
              <a:rPr lang="en-US" sz="780" b="1" dirty="0">
                <a:solidFill>
                  <a:srgbClr val="627D98"/>
                </a:solidFill>
              </a:rPr>
              <a:t>Repeat</a:t>
            </a:r>
            <a:endParaRPr lang="en-US" sz="780" dirty="0"/>
          </a:p>
        </p:txBody>
      </p:sp>
      <p:sp>
        <p:nvSpPr>
          <p:cNvPr id="28" name="Text 26"/>
          <p:cNvSpPr/>
          <p:nvPr/>
        </p:nvSpPr>
        <p:spPr>
          <a:xfrm>
            <a:off x="10030968" y="1810512"/>
            <a:ext cx="1014984" cy="347472"/>
          </a:xfrm>
          <a:prstGeom prst="rect">
            <a:avLst/>
          </a:prstGeom>
          <a:noFill/>
          <a:ln/>
        </p:spPr>
        <p:txBody>
          <a:bodyPr wrap="square" lIns="0" tIns="0" rIns="0" bIns="0" rtlCol="0" anchor="ctr">
            <a:normAutofit/>
          </a:bodyPr>
          <a:lstStyle/>
          <a:p>
            <a:pPr marL="0" indent="0">
              <a:buNone/>
            </a:pPr>
            <a:r>
              <a:rPr lang="en-US" sz="1900" b="1" dirty="0">
                <a:solidFill>
                  <a:srgbClr val="102A43"/>
                </a:solidFill>
              </a:rPr>
              <a:t>36.8%</a:t>
            </a:r>
            <a:endParaRPr lang="en-US" sz="1900" dirty="0"/>
          </a:p>
        </p:txBody>
      </p:sp>
      <p:sp>
        <p:nvSpPr>
          <p:cNvPr id="29" name="Text 27"/>
          <p:cNvSpPr/>
          <p:nvPr/>
        </p:nvSpPr>
        <p:spPr>
          <a:xfrm>
            <a:off x="10030968" y="2258568"/>
            <a:ext cx="1014984" cy="164592"/>
          </a:xfrm>
          <a:prstGeom prst="rect">
            <a:avLst/>
          </a:prstGeom>
          <a:noFill/>
          <a:ln/>
        </p:spPr>
        <p:txBody>
          <a:bodyPr wrap="square" lIns="0" tIns="0" rIns="0" bIns="0" rtlCol="0" anchor="ctr"/>
          <a:lstStyle/>
          <a:p>
            <a:pPr marL="0" indent="0">
              <a:buNone/>
            </a:pPr>
            <a:r>
              <a:rPr lang="en-US" sz="750" b="1" dirty="0">
                <a:solidFill>
                  <a:srgbClr val="2E7D32"/>
                </a:solidFill>
              </a:rPr>
              <a:t>▲ up from 29.8%</a:t>
            </a:r>
            <a:endParaRPr lang="en-US" sz="750" dirty="0"/>
          </a:p>
        </p:txBody>
      </p:sp>
      <p:sp>
        <p:nvSpPr>
          <p:cNvPr id="30" name="Shape 28"/>
          <p:cNvSpPr/>
          <p:nvPr/>
        </p:nvSpPr>
        <p:spPr>
          <a:xfrm>
            <a:off x="1143000" y="4572000"/>
            <a:ext cx="4389120" cy="0"/>
          </a:xfrm>
          <a:prstGeom prst="line">
            <a:avLst/>
          </a:prstGeom>
          <a:noFill/>
          <a:ln w="10160">
            <a:solidFill>
              <a:srgbClr val="A8A29E"/>
            </a:solidFill>
            <a:prstDash val="solid"/>
          </a:ln>
        </p:spPr>
      </p:sp>
      <p:sp>
        <p:nvSpPr>
          <p:cNvPr id="31" name="Shape 29"/>
          <p:cNvSpPr/>
          <p:nvPr/>
        </p:nvSpPr>
        <p:spPr>
          <a:xfrm>
            <a:off x="1143000" y="3246120"/>
            <a:ext cx="0" cy="1325880"/>
          </a:xfrm>
          <a:prstGeom prst="line">
            <a:avLst/>
          </a:prstGeom>
          <a:noFill/>
          <a:ln w="10160">
            <a:solidFill>
              <a:srgbClr val="A8A29E"/>
            </a:solidFill>
            <a:prstDash val="solid"/>
          </a:ln>
        </p:spPr>
      </p:sp>
      <p:sp>
        <p:nvSpPr>
          <p:cNvPr id="32" name="Text 30"/>
          <p:cNvSpPr/>
          <p:nvPr/>
        </p:nvSpPr>
        <p:spPr>
          <a:xfrm>
            <a:off x="1188720" y="3017520"/>
            <a:ext cx="4389120" cy="182880"/>
          </a:xfrm>
          <a:prstGeom prst="rect">
            <a:avLst/>
          </a:prstGeom>
          <a:noFill/>
          <a:ln/>
        </p:spPr>
        <p:txBody>
          <a:bodyPr wrap="square" lIns="0" tIns="0" rIns="0" bIns="0" rtlCol="0" anchor="ctr"/>
          <a:lstStyle/>
          <a:p>
            <a:pPr marL="0" indent="0">
              <a:buNone/>
            </a:pPr>
            <a:r>
              <a:rPr lang="en-US" sz="700" dirty="0">
                <a:solidFill>
                  <a:srgbClr val="627D98"/>
                </a:solidFill>
              </a:rPr>
              <a:t>Mini trend view</a:t>
            </a:r>
            <a:endParaRPr lang="en-US" sz="700" dirty="0"/>
          </a:p>
        </p:txBody>
      </p:sp>
      <p:sp>
        <p:nvSpPr>
          <p:cNvPr id="33" name="Text 31"/>
          <p:cNvSpPr/>
          <p:nvPr/>
        </p:nvSpPr>
        <p:spPr>
          <a:xfrm>
            <a:off x="1005840" y="464515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Jan</a:t>
            </a:r>
            <a:endParaRPr lang="en-US" sz="700" dirty="0"/>
          </a:p>
        </p:txBody>
      </p:sp>
      <p:sp>
        <p:nvSpPr>
          <p:cNvPr id="34" name="Text 32"/>
          <p:cNvSpPr/>
          <p:nvPr/>
        </p:nvSpPr>
        <p:spPr>
          <a:xfrm>
            <a:off x="1883664" y="464515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Feb</a:t>
            </a:r>
            <a:endParaRPr lang="en-US" sz="700" dirty="0"/>
          </a:p>
        </p:txBody>
      </p:sp>
      <p:sp>
        <p:nvSpPr>
          <p:cNvPr id="35" name="Text 33"/>
          <p:cNvSpPr/>
          <p:nvPr/>
        </p:nvSpPr>
        <p:spPr>
          <a:xfrm>
            <a:off x="2761488" y="464515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Mar</a:t>
            </a:r>
            <a:endParaRPr lang="en-US" sz="700" dirty="0"/>
          </a:p>
        </p:txBody>
      </p:sp>
      <p:sp>
        <p:nvSpPr>
          <p:cNvPr id="36" name="Text 34"/>
          <p:cNvSpPr/>
          <p:nvPr/>
        </p:nvSpPr>
        <p:spPr>
          <a:xfrm>
            <a:off x="3639312" y="464515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Apr</a:t>
            </a:r>
            <a:endParaRPr lang="en-US" sz="700" dirty="0"/>
          </a:p>
        </p:txBody>
      </p:sp>
      <p:sp>
        <p:nvSpPr>
          <p:cNvPr id="37" name="Text 35"/>
          <p:cNvSpPr/>
          <p:nvPr/>
        </p:nvSpPr>
        <p:spPr>
          <a:xfrm>
            <a:off x="4517136" y="464515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May</a:t>
            </a:r>
            <a:endParaRPr lang="en-US" sz="700" dirty="0"/>
          </a:p>
        </p:txBody>
      </p:sp>
      <p:sp>
        <p:nvSpPr>
          <p:cNvPr id="38" name="Text 36"/>
          <p:cNvSpPr/>
          <p:nvPr/>
        </p:nvSpPr>
        <p:spPr>
          <a:xfrm>
            <a:off x="5394960" y="464515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Jun</a:t>
            </a:r>
            <a:endParaRPr lang="en-US" sz="700" dirty="0"/>
          </a:p>
        </p:txBody>
      </p:sp>
      <p:sp>
        <p:nvSpPr>
          <p:cNvPr id="39" name="Shape 37"/>
          <p:cNvSpPr/>
          <p:nvPr/>
        </p:nvSpPr>
        <p:spPr>
          <a:xfrm>
            <a:off x="1143000" y="3737187"/>
            <a:ext cx="877824" cy="0"/>
          </a:xfrm>
          <a:prstGeom prst="line">
            <a:avLst/>
          </a:prstGeom>
          <a:noFill/>
          <a:ln w="25400">
            <a:solidFill>
              <a:srgbClr val="087E8B"/>
            </a:solidFill>
            <a:prstDash val="solid"/>
          </a:ln>
        </p:spPr>
      </p:sp>
      <p:sp>
        <p:nvSpPr>
          <p:cNvPr id="40" name="Shape 38"/>
          <p:cNvSpPr/>
          <p:nvPr/>
        </p:nvSpPr>
        <p:spPr>
          <a:xfrm>
            <a:off x="2020824" y="3668437"/>
            <a:ext cx="877824" cy="0"/>
          </a:xfrm>
          <a:prstGeom prst="line">
            <a:avLst/>
          </a:prstGeom>
          <a:noFill/>
          <a:ln w="25400">
            <a:solidFill>
              <a:srgbClr val="087E8B"/>
            </a:solidFill>
            <a:prstDash val="solid"/>
          </a:ln>
        </p:spPr>
      </p:sp>
      <p:sp>
        <p:nvSpPr>
          <p:cNvPr id="41" name="Shape 39"/>
          <p:cNvSpPr/>
          <p:nvPr/>
        </p:nvSpPr>
        <p:spPr>
          <a:xfrm>
            <a:off x="2898648" y="3580045"/>
            <a:ext cx="877824" cy="0"/>
          </a:xfrm>
          <a:prstGeom prst="line">
            <a:avLst/>
          </a:prstGeom>
          <a:noFill/>
          <a:ln w="25400">
            <a:solidFill>
              <a:srgbClr val="087E8B"/>
            </a:solidFill>
            <a:prstDash val="solid"/>
          </a:ln>
        </p:spPr>
      </p:sp>
      <p:sp>
        <p:nvSpPr>
          <p:cNvPr id="42" name="Shape 40"/>
          <p:cNvSpPr/>
          <p:nvPr/>
        </p:nvSpPr>
        <p:spPr>
          <a:xfrm>
            <a:off x="3776472" y="3452368"/>
            <a:ext cx="877824" cy="58928"/>
          </a:xfrm>
          <a:prstGeom prst="line">
            <a:avLst/>
          </a:prstGeom>
          <a:noFill/>
          <a:ln w="25400">
            <a:solidFill>
              <a:srgbClr val="087E8B"/>
            </a:solidFill>
            <a:prstDash val="solid"/>
          </a:ln>
        </p:spPr>
      </p:sp>
      <p:sp>
        <p:nvSpPr>
          <p:cNvPr id="43" name="Shape 41"/>
          <p:cNvSpPr/>
          <p:nvPr/>
        </p:nvSpPr>
        <p:spPr>
          <a:xfrm>
            <a:off x="4654296" y="3511296"/>
            <a:ext cx="877824" cy="0"/>
          </a:xfrm>
          <a:prstGeom prst="line">
            <a:avLst/>
          </a:prstGeom>
          <a:noFill/>
          <a:ln w="25400">
            <a:solidFill>
              <a:srgbClr val="087E8B"/>
            </a:solidFill>
            <a:prstDash val="solid"/>
          </a:ln>
        </p:spPr>
      </p:sp>
      <p:sp>
        <p:nvSpPr>
          <p:cNvPr id="44" name="Shape 42"/>
          <p:cNvSpPr/>
          <p:nvPr/>
        </p:nvSpPr>
        <p:spPr>
          <a:xfrm>
            <a:off x="1101852" y="3696039"/>
            <a:ext cx="82296" cy="82296"/>
          </a:xfrm>
          <a:prstGeom prst="ellipse">
            <a:avLst/>
          </a:prstGeom>
          <a:solidFill>
            <a:srgbClr val="087E8B"/>
          </a:solidFill>
          <a:ln w="7620">
            <a:solidFill>
              <a:srgbClr val="FFFFFF"/>
            </a:solidFill>
            <a:prstDash val="solid"/>
          </a:ln>
        </p:spPr>
      </p:sp>
      <p:sp>
        <p:nvSpPr>
          <p:cNvPr id="45" name="Shape 43"/>
          <p:cNvSpPr/>
          <p:nvPr/>
        </p:nvSpPr>
        <p:spPr>
          <a:xfrm>
            <a:off x="1979676" y="3627289"/>
            <a:ext cx="82296" cy="82296"/>
          </a:xfrm>
          <a:prstGeom prst="ellipse">
            <a:avLst/>
          </a:prstGeom>
          <a:solidFill>
            <a:srgbClr val="087E8B"/>
          </a:solidFill>
          <a:ln w="7620">
            <a:solidFill>
              <a:srgbClr val="FFFFFF"/>
            </a:solidFill>
            <a:prstDash val="solid"/>
          </a:ln>
        </p:spPr>
      </p:sp>
      <p:sp>
        <p:nvSpPr>
          <p:cNvPr id="46" name="Shape 44"/>
          <p:cNvSpPr/>
          <p:nvPr/>
        </p:nvSpPr>
        <p:spPr>
          <a:xfrm>
            <a:off x="2857500" y="3538897"/>
            <a:ext cx="82296" cy="82296"/>
          </a:xfrm>
          <a:prstGeom prst="ellipse">
            <a:avLst/>
          </a:prstGeom>
          <a:solidFill>
            <a:srgbClr val="087E8B"/>
          </a:solidFill>
          <a:ln w="7620">
            <a:solidFill>
              <a:srgbClr val="FFFFFF"/>
            </a:solidFill>
            <a:prstDash val="solid"/>
          </a:ln>
        </p:spPr>
      </p:sp>
      <p:sp>
        <p:nvSpPr>
          <p:cNvPr id="47" name="Shape 45"/>
          <p:cNvSpPr/>
          <p:nvPr/>
        </p:nvSpPr>
        <p:spPr>
          <a:xfrm>
            <a:off x="3735324" y="3411220"/>
            <a:ext cx="82296" cy="82296"/>
          </a:xfrm>
          <a:prstGeom prst="ellipse">
            <a:avLst/>
          </a:prstGeom>
          <a:solidFill>
            <a:srgbClr val="087E8B"/>
          </a:solidFill>
          <a:ln w="7620">
            <a:solidFill>
              <a:srgbClr val="FFFFFF"/>
            </a:solidFill>
            <a:prstDash val="solid"/>
          </a:ln>
        </p:spPr>
      </p:sp>
      <p:sp>
        <p:nvSpPr>
          <p:cNvPr id="48" name="Shape 46"/>
          <p:cNvSpPr/>
          <p:nvPr/>
        </p:nvSpPr>
        <p:spPr>
          <a:xfrm>
            <a:off x="4613148" y="3470148"/>
            <a:ext cx="82296" cy="82296"/>
          </a:xfrm>
          <a:prstGeom prst="ellipse">
            <a:avLst/>
          </a:prstGeom>
          <a:solidFill>
            <a:srgbClr val="087E8B"/>
          </a:solidFill>
          <a:ln w="7620">
            <a:solidFill>
              <a:srgbClr val="FFFFFF"/>
            </a:solidFill>
            <a:prstDash val="solid"/>
          </a:ln>
        </p:spPr>
      </p:sp>
      <p:sp>
        <p:nvSpPr>
          <p:cNvPr id="49" name="Shape 47"/>
          <p:cNvSpPr/>
          <p:nvPr/>
        </p:nvSpPr>
        <p:spPr>
          <a:xfrm>
            <a:off x="5490972" y="3293364"/>
            <a:ext cx="82296" cy="82296"/>
          </a:xfrm>
          <a:prstGeom prst="ellipse">
            <a:avLst/>
          </a:prstGeom>
          <a:solidFill>
            <a:srgbClr val="087E8B"/>
          </a:solidFill>
          <a:ln w="7620">
            <a:solidFill>
              <a:srgbClr val="FFFFFF"/>
            </a:solidFill>
            <a:prstDash val="solid"/>
          </a:ln>
        </p:spPr>
      </p:sp>
      <p:sp>
        <p:nvSpPr>
          <p:cNvPr id="50" name="Shape 48"/>
          <p:cNvSpPr/>
          <p:nvPr/>
        </p:nvSpPr>
        <p:spPr>
          <a:xfrm>
            <a:off x="1143000" y="4149683"/>
            <a:ext cx="877824" cy="0"/>
          </a:xfrm>
          <a:prstGeom prst="line">
            <a:avLst/>
          </a:prstGeom>
          <a:noFill/>
          <a:ln w="25400">
            <a:solidFill>
              <a:srgbClr val="2E7D32"/>
            </a:solidFill>
            <a:prstDash val="solid"/>
          </a:ln>
        </p:spPr>
      </p:sp>
      <p:sp>
        <p:nvSpPr>
          <p:cNvPr id="51" name="Shape 49"/>
          <p:cNvSpPr/>
          <p:nvPr/>
        </p:nvSpPr>
        <p:spPr>
          <a:xfrm>
            <a:off x="2020824" y="4120219"/>
            <a:ext cx="877824" cy="0"/>
          </a:xfrm>
          <a:prstGeom prst="line">
            <a:avLst/>
          </a:prstGeom>
          <a:noFill/>
          <a:ln w="25400">
            <a:solidFill>
              <a:srgbClr val="2E7D32"/>
            </a:solidFill>
            <a:prstDash val="solid"/>
          </a:ln>
        </p:spPr>
      </p:sp>
      <p:sp>
        <p:nvSpPr>
          <p:cNvPr id="52" name="Shape 50"/>
          <p:cNvSpPr/>
          <p:nvPr/>
        </p:nvSpPr>
        <p:spPr>
          <a:xfrm>
            <a:off x="2898648" y="4080933"/>
            <a:ext cx="877824" cy="0"/>
          </a:xfrm>
          <a:prstGeom prst="line">
            <a:avLst/>
          </a:prstGeom>
          <a:noFill/>
          <a:ln w="25400">
            <a:solidFill>
              <a:srgbClr val="2E7D32"/>
            </a:solidFill>
            <a:prstDash val="solid"/>
          </a:ln>
        </p:spPr>
      </p:sp>
      <p:sp>
        <p:nvSpPr>
          <p:cNvPr id="53" name="Shape 51"/>
          <p:cNvSpPr/>
          <p:nvPr/>
        </p:nvSpPr>
        <p:spPr>
          <a:xfrm>
            <a:off x="3776472" y="3972899"/>
            <a:ext cx="877824" cy="117856"/>
          </a:xfrm>
          <a:prstGeom prst="line">
            <a:avLst/>
          </a:prstGeom>
          <a:noFill/>
          <a:ln w="25400">
            <a:solidFill>
              <a:srgbClr val="2E7D32"/>
            </a:solidFill>
            <a:prstDash val="solid"/>
          </a:ln>
        </p:spPr>
      </p:sp>
      <p:sp>
        <p:nvSpPr>
          <p:cNvPr id="54" name="Shape 52"/>
          <p:cNvSpPr/>
          <p:nvPr/>
        </p:nvSpPr>
        <p:spPr>
          <a:xfrm>
            <a:off x="4654296" y="4090755"/>
            <a:ext cx="877824" cy="0"/>
          </a:xfrm>
          <a:prstGeom prst="line">
            <a:avLst/>
          </a:prstGeom>
          <a:noFill/>
          <a:ln w="25400">
            <a:solidFill>
              <a:srgbClr val="2E7D32"/>
            </a:solidFill>
            <a:prstDash val="solid"/>
          </a:ln>
        </p:spPr>
      </p:sp>
      <p:sp>
        <p:nvSpPr>
          <p:cNvPr id="55" name="Shape 53"/>
          <p:cNvSpPr/>
          <p:nvPr/>
        </p:nvSpPr>
        <p:spPr>
          <a:xfrm>
            <a:off x="1101852" y="4108535"/>
            <a:ext cx="82296" cy="82296"/>
          </a:xfrm>
          <a:prstGeom prst="ellipse">
            <a:avLst/>
          </a:prstGeom>
          <a:solidFill>
            <a:srgbClr val="2E7D32"/>
          </a:solidFill>
          <a:ln w="7620">
            <a:solidFill>
              <a:srgbClr val="FFFFFF"/>
            </a:solidFill>
            <a:prstDash val="solid"/>
          </a:ln>
        </p:spPr>
      </p:sp>
      <p:sp>
        <p:nvSpPr>
          <p:cNvPr id="56" name="Shape 54"/>
          <p:cNvSpPr/>
          <p:nvPr/>
        </p:nvSpPr>
        <p:spPr>
          <a:xfrm>
            <a:off x="1979676" y="4079071"/>
            <a:ext cx="82296" cy="82296"/>
          </a:xfrm>
          <a:prstGeom prst="ellipse">
            <a:avLst/>
          </a:prstGeom>
          <a:solidFill>
            <a:srgbClr val="2E7D32"/>
          </a:solidFill>
          <a:ln w="7620">
            <a:solidFill>
              <a:srgbClr val="FFFFFF"/>
            </a:solidFill>
            <a:prstDash val="solid"/>
          </a:ln>
        </p:spPr>
      </p:sp>
      <p:sp>
        <p:nvSpPr>
          <p:cNvPr id="57" name="Shape 55"/>
          <p:cNvSpPr/>
          <p:nvPr/>
        </p:nvSpPr>
        <p:spPr>
          <a:xfrm>
            <a:off x="2857500" y="4039785"/>
            <a:ext cx="82296" cy="82296"/>
          </a:xfrm>
          <a:prstGeom prst="ellipse">
            <a:avLst/>
          </a:prstGeom>
          <a:solidFill>
            <a:srgbClr val="2E7D32"/>
          </a:solidFill>
          <a:ln w="7620">
            <a:solidFill>
              <a:srgbClr val="FFFFFF"/>
            </a:solidFill>
            <a:prstDash val="solid"/>
          </a:ln>
        </p:spPr>
      </p:sp>
      <p:sp>
        <p:nvSpPr>
          <p:cNvPr id="58" name="Shape 56"/>
          <p:cNvSpPr/>
          <p:nvPr/>
        </p:nvSpPr>
        <p:spPr>
          <a:xfrm>
            <a:off x="3735324" y="3931751"/>
            <a:ext cx="82296" cy="82296"/>
          </a:xfrm>
          <a:prstGeom prst="ellipse">
            <a:avLst/>
          </a:prstGeom>
          <a:solidFill>
            <a:srgbClr val="2E7D32"/>
          </a:solidFill>
          <a:ln w="7620">
            <a:solidFill>
              <a:srgbClr val="FFFFFF"/>
            </a:solidFill>
            <a:prstDash val="solid"/>
          </a:ln>
        </p:spPr>
      </p:sp>
      <p:sp>
        <p:nvSpPr>
          <p:cNvPr id="59" name="Shape 57"/>
          <p:cNvSpPr/>
          <p:nvPr/>
        </p:nvSpPr>
        <p:spPr>
          <a:xfrm>
            <a:off x="4613148" y="4049607"/>
            <a:ext cx="82296" cy="82296"/>
          </a:xfrm>
          <a:prstGeom prst="ellipse">
            <a:avLst/>
          </a:prstGeom>
          <a:solidFill>
            <a:srgbClr val="2E7D32"/>
          </a:solidFill>
          <a:ln w="7620">
            <a:solidFill>
              <a:srgbClr val="FFFFFF"/>
            </a:solidFill>
            <a:prstDash val="solid"/>
          </a:ln>
        </p:spPr>
      </p:sp>
      <p:sp>
        <p:nvSpPr>
          <p:cNvPr id="60" name="Shape 58"/>
          <p:cNvSpPr/>
          <p:nvPr/>
        </p:nvSpPr>
        <p:spPr>
          <a:xfrm>
            <a:off x="5490972" y="3902287"/>
            <a:ext cx="82296" cy="82296"/>
          </a:xfrm>
          <a:prstGeom prst="ellipse">
            <a:avLst/>
          </a:prstGeom>
          <a:solidFill>
            <a:srgbClr val="2E7D32"/>
          </a:solidFill>
          <a:ln w="7620">
            <a:solidFill>
              <a:srgbClr val="FFFFFF"/>
            </a:solidFill>
            <a:prstDash val="solid"/>
          </a:ln>
        </p:spPr>
      </p:sp>
      <p:sp>
        <p:nvSpPr>
          <p:cNvPr id="61" name="Shape 59"/>
          <p:cNvSpPr/>
          <p:nvPr/>
        </p:nvSpPr>
        <p:spPr>
          <a:xfrm>
            <a:off x="1143000" y="3747008"/>
            <a:ext cx="877824" cy="137499"/>
          </a:xfrm>
          <a:prstGeom prst="line">
            <a:avLst/>
          </a:prstGeom>
          <a:noFill/>
          <a:ln w="25400">
            <a:solidFill>
              <a:srgbClr val="B91C1C"/>
            </a:solidFill>
            <a:prstDash val="solid"/>
          </a:ln>
        </p:spPr>
      </p:sp>
      <p:sp>
        <p:nvSpPr>
          <p:cNvPr id="62" name="Shape 60"/>
          <p:cNvSpPr/>
          <p:nvPr/>
        </p:nvSpPr>
        <p:spPr>
          <a:xfrm>
            <a:off x="2020824" y="3884507"/>
            <a:ext cx="877824" cy="137499"/>
          </a:xfrm>
          <a:prstGeom prst="line">
            <a:avLst/>
          </a:prstGeom>
          <a:noFill/>
          <a:ln w="25400">
            <a:solidFill>
              <a:srgbClr val="B91C1C"/>
            </a:solidFill>
            <a:prstDash val="solid"/>
          </a:ln>
        </p:spPr>
      </p:sp>
      <p:sp>
        <p:nvSpPr>
          <p:cNvPr id="63" name="Shape 61"/>
          <p:cNvSpPr/>
          <p:nvPr/>
        </p:nvSpPr>
        <p:spPr>
          <a:xfrm>
            <a:off x="2898648" y="4022005"/>
            <a:ext cx="877824" cy="176784"/>
          </a:xfrm>
          <a:prstGeom prst="line">
            <a:avLst/>
          </a:prstGeom>
          <a:noFill/>
          <a:ln w="25400">
            <a:solidFill>
              <a:srgbClr val="B91C1C"/>
            </a:solidFill>
            <a:prstDash val="solid"/>
          </a:ln>
        </p:spPr>
      </p:sp>
      <p:sp>
        <p:nvSpPr>
          <p:cNvPr id="64" name="Shape 62"/>
          <p:cNvSpPr/>
          <p:nvPr/>
        </p:nvSpPr>
        <p:spPr>
          <a:xfrm>
            <a:off x="3776472" y="4198789"/>
            <a:ext cx="877824" cy="0"/>
          </a:xfrm>
          <a:prstGeom prst="line">
            <a:avLst/>
          </a:prstGeom>
          <a:noFill/>
          <a:ln w="25400">
            <a:solidFill>
              <a:srgbClr val="B91C1C"/>
            </a:solidFill>
            <a:prstDash val="solid"/>
          </a:ln>
        </p:spPr>
      </p:sp>
      <p:sp>
        <p:nvSpPr>
          <p:cNvPr id="65" name="Shape 63"/>
          <p:cNvSpPr/>
          <p:nvPr/>
        </p:nvSpPr>
        <p:spPr>
          <a:xfrm>
            <a:off x="4654296" y="3963077"/>
            <a:ext cx="877824" cy="137499"/>
          </a:xfrm>
          <a:prstGeom prst="line">
            <a:avLst/>
          </a:prstGeom>
          <a:noFill/>
          <a:ln w="25400">
            <a:solidFill>
              <a:srgbClr val="B91C1C"/>
            </a:solidFill>
            <a:prstDash val="solid"/>
          </a:ln>
        </p:spPr>
      </p:sp>
      <p:sp>
        <p:nvSpPr>
          <p:cNvPr id="66" name="Shape 64"/>
          <p:cNvSpPr/>
          <p:nvPr/>
        </p:nvSpPr>
        <p:spPr>
          <a:xfrm>
            <a:off x="1101852" y="3705860"/>
            <a:ext cx="82296" cy="82296"/>
          </a:xfrm>
          <a:prstGeom prst="ellipse">
            <a:avLst/>
          </a:prstGeom>
          <a:solidFill>
            <a:srgbClr val="B91C1C"/>
          </a:solidFill>
          <a:ln w="7620">
            <a:solidFill>
              <a:srgbClr val="FFFFFF"/>
            </a:solidFill>
            <a:prstDash val="solid"/>
          </a:ln>
        </p:spPr>
      </p:sp>
      <p:sp>
        <p:nvSpPr>
          <p:cNvPr id="67" name="Shape 65"/>
          <p:cNvSpPr/>
          <p:nvPr/>
        </p:nvSpPr>
        <p:spPr>
          <a:xfrm>
            <a:off x="1979676" y="3843359"/>
            <a:ext cx="82296" cy="82296"/>
          </a:xfrm>
          <a:prstGeom prst="ellipse">
            <a:avLst/>
          </a:prstGeom>
          <a:solidFill>
            <a:srgbClr val="B91C1C"/>
          </a:solidFill>
          <a:ln w="7620">
            <a:solidFill>
              <a:srgbClr val="FFFFFF"/>
            </a:solidFill>
            <a:prstDash val="solid"/>
          </a:ln>
        </p:spPr>
      </p:sp>
      <p:sp>
        <p:nvSpPr>
          <p:cNvPr id="68" name="Shape 66"/>
          <p:cNvSpPr/>
          <p:nvPr/>
        </p:nvSpPr>
        <p:spPr>
          <a:xfrm>
            <a:off x="2857500" y="3980857"/>
            <a:ext cx="82296" cy="82296"/>
          </a:xfrm>
          <a:prstGeom prst="ellipse">
            <a:avLst/>
          </a:prstGeom>
          <a:solidFill>
            <a:srgbClr val="B91C1C"/>
          </a:solidFill>
          <a:ln w="7620">
            <a:solidFill>
              <a:srgbClr val="FFFFFF"/>
            </a:solidFill>
            <a:prstDash val="solid"/>
          </a:ln>
        </p:spPr>
      </p:sp>
      <p:sp>
        <p:nvSpPr>
          <p:cNvPr id="69" name="Shape 67"/>
          <p:cNvSpPr/>
          <p:nvPr/>
        </p:nvSpPr>
        <p:spPr>
          <a:xfrm>
            <a:off x="3735324" y="4157641"/>
            <a:ext cx="82296" cy="82296"/>
          </a:xfrm>
          <a:prstGeom prst="ellipse">
            <a:avLst/>
          </a:prstGeom>
          <a:solidFill>
            <a:srgbClr val="B91C1C"/>
          </a:solidFill>
          <a:ln w="7620">
            <a:solidFill>
              <a:srgbClr val="FFFFFF"/>
            </a:solidFill>
            <a:prstDash val="solid"/>
          </a:ln>
        </p:spPr>
      </p:sp>
      <p:sp>
        <p:nvSpPr>
          <p:cNvPr id="70" name="Shape 68"/>
          <p:cNvSpPr/>
          <p:nvPr/>
        </p:nvSpPr>
        <p:spPr>
          <a:xfrm>
            <a:off x="4613148" y="3921929"/>
            <a:ext cx="82296" cy="82296"/>
          </a:xfrm>
          <a:prstGeom prst="ellipse">
            <a:avLst/>
          </a:prstGeom>
          <a:solidFill>
            <a:srgbClr val="B91C1C"/>
          </a:solidFill>
          <a:ln w="7620">
            <a:solidFill>
              <a:srgbClr val="FFFFFF"/>
            </a:solidFill>
            <a:prstDash val="solid"/>
          </a:ln>
        </p:spPr>
      </p:sp>
      <p:sp>
        <p:nvSpPr>
          <p:cNvPr id="71" name="Shape 69"/>
          <p:cNvSpPr/>
          <p:nvPr/>
        </p:nvSpPr>
        <p:spPr>
          <a:xfrm>
            <a:off x="5490972" y="4059428"/>
            <a:ext cx="82296" cy="82296"/>
          </a:xfrm>
          <a:prstGeom prst="ellipse">
            <a:avLst/>
          </a:prstGeom>
          <a:solidFill>
            <a:srgbClr val="B91C1C"/>
          </a:solidFill>
          <a:ln w="7620">
            <a:solidFill>
              <a:srgbClr val="FFFFFF"/>
            </a:solidFill>
            <a:prstDash val="solid"/>
          </a:ln>
        </p:spPr>
      </p:sp>
      <p:sp>
        <p:nvSpPr>
          <p:cNvPr id="72" name="Shape 70"/>
          <p:cNvSpPr/>
          <p:nvPr/>
        </p:nvSpPr>
        <p:spPr>
          <a:xfrm>
            <a:off x="1143000" y="2926080"/>
            <a:ext cx="137160" cy="137160"/>
          </a:xfrm>
          <a:prstGeom prst="rect">
            <a:avLst/>
          </a:prstGeom>
          <a:solidFill>
            <a:srgbClr val="087E8B"/>
          </a:solidFill>
          <a:ln w="12700">
            <a:solidFill>
              <a:srgbClr val="087E8B"/>
            </a:solidFill>
            <a:prstDash val="solid"/>
          </a:ln>
        </p:spPr>
      </p:sp>
      <p:sp>
        <p:nvSpPr>
          <p:cNvPr id="73" name="Text 71"/>
          <p:cNvSpPr/>
          <p:nvPr/>
        </p:nvSpPr>
        <p:spPr>
          <a:xfrm>
            <a:off x="1316736" y="2907792"/>
            <a:ext cx="1097280" cy="182880"/>
          </a:xfrm>
          <a:prstGeom prst="rect">
            <a:avLst/>
          </a:prstGeom>
          <a:noFill/>
          <a:ln/>
        </p:spPr>
        <p:txBody>
          <a:bodyPr wrap="square" lIns="0" tIns="0" rIns="0" bIns="0" rtlCol="0" anchor="ctr"/>
          <a:lstStyle/>
          <a:p>
            <a:pPr marL="0" indent="0">
              <a:buNone/>
            </a:pPr>
            <a:r>
              <a:rPr lang="en-US" sz="750" dirty="0">
                <a:solidFill>
                  <a:srgbClr val="243B53"/>
                </a:solidFill>
              </a:rPr>
              <a:t>Revenue</a:t>
            </a:r>
            <a:endParaRPr lang="en-US" sz="750" dirty="0"/>
          </a:p>
        </p:txBody>
      </p:sp>
      <p:sp>
        <p:nvSpPr>
          <p:cNvPr id="74" name="Shape 72"/>
          <p:cNvSpPr/>
          <p:nvPr/>
        </p:nvSpPr>
        <p:spPr>
          <a:xfrm>
            <a:off x="2194560" y="2926080"/>
            <a:ext cx="137160" cy="137160"/>
          </a:xfrm>
          <a:prstGeom prst="rect">
            <a:avLst/>
          </a:prstGeom>
          <a:solidFill>
            <a:srgbClr val="2E7D32"/>
          </a:solidFill>
          <a:ln w="12700">
            <a:solidFill>
              <a:srgbClr val="2E7D32"/>
            </a:solidFill>
            <a:prstDash val="solid"/>
          </a:ln>
        </p:spPr>
      </p:sp>
      <p:sp>
        <p:nvSpPr>
          <p:cNvPr id="75" name="Text 73"/>
          <p:cNvSpPr/>
          <p:nvPr/>
        </p:nvSpPr>
        <p:spPr>
          <a:xfrm>
            <a:off x="2368296" y="2907792"/>
            <a:ext cx="1097280" cy="182880"/>
          </a:xfrm>
          <a:prstGeom prst="rect">
            <a:avLst/>
          </a:prstGeom>
          <a:noFill/>
          <a:ln/>
        </p:spPr>
        <p:txBody>
          <a:bodyPr wrap="square" lIns="0" tIns="0" rIns="0" bIns="0" rtlCol="0" anchor="ctr"/>
          <a:lstStyle/>
          <a:p>
            <a:pPr marL="0" indent="0">
              <a:buNone/>
            </a:pPr>
            <a:r>
              <a:rPr lang="en-US" sz="750" dirty="0">
                <a:solidFill>
                  <a:srgbClr val="243B53"/>
                </a:solidFill>
              </a:rPr>
              <a:t>Profit</a:t>
            </a:r>
            <a:endParaRPr lang="en-US" sz="750" dirty="0"/>
          </a:p>
        </p:txBody>
      </p:sp>
      <p:sp>
        <p:nvSpPr>
          <p:cNvPr id="76" name="Shape 74"/>
          <p:cNvSpPr/>
          <p:nvPr/>
        </p:nvSpPr>
        <p:spPr>
          <a:xfrm>
            <a:off x="3063240" y="2926080"/>
            <a:ext cx="137160" cy="137160"/>
          </a:xfrm>
          <a:prstGeom prst="rect">
            <a:avLst/>
          </a:prstGeom>
          <a:solidFill>
            <a:srgbClr val="B91C1C"/>
          </a:solidFill>
          <a:ln w="12700">
            <a:solidFill>
              <a:srgbClr val="B91C1C"/>
            </a:solidFill>
            <a:prstDash val="solid"/>
          </a:ln>
        </p:spPr>
      </p:sp>
      <p:sp>
        <p:nvSpPr>
          <p:cNvPr id="77" name="Text 75"/>
          <p:cNvSpPr/>
          <p:nvPr/>
        </p:nvSpPr>
        <p:spPr>
          <a:xfrm>
            <a:off x="3236976" y="2907792"/>
            <a:ext cx="1097280" cy="182880"/>
          </a:xfrm>
          <a:prstGeom prst="rect">
            <a:avLst/>
          </a:prstGeom>
          <a:noFill/>
          <a:ln/>
        </p:spPr>
        <p:txBody>
          <a:bodyPr wrap="square" lIns="0" tIns="0" rIns="0" bIns="0" rtlCol="0" anchor="ctr"/>
          <a:lstStyle/>
          <a:p>
            <a:pPr marL="0" indent="0">
              <a:buNone/>
            </a:pPr>
            <a:r>
              <a:rPr lang="en-US" sz="750" dirty="0">
                <a:solidFill>
                  <a:srgbClr val="243B53"/>
                </a:solidFill>
              </a:rPr>
              <a:t>Complaints</a:t>
            </a:r>
            <a:endParaRPr lang="en-US" sz="750" dirty="0"/>
          </a:p>
        </p:txBody>
      </p:sp>
      <p:sp>
        <p:nvSpPr>
          <p:cNvPr id="78" name="Text 76"/>
          <p:cNvSpPr/>
          <p:nvPr/>
        </p:nvSpPr>
        <p:spPr>
          <a:xfrm>
            <a:off x="6126480" y="3246120"/>
            <a:ext cx="4754880" cy="1325880"/>
          </a:xfrm>
          <a:prstGeom prst="rect">
            <a:avLst/>
          </a:prstGeom>
          <a:noFill/>
          <a:ln/>
        </p:spPr>
        <p:txBody>
          <a:bodyPr wrap="square" lIns="635" tIns="635" rIns="635" bIns="635" rtlCol="0" anchor="ctr">
            <a:normAutofit/>
          </a:bodyPr>
          <a:lstStyle/>
          <a:p>
            <a:pPr marL="152400" indent="-152400">
              <a:buSzPct val="100000"/>
              <a:buChar char="•"/>
            </a:pPr>
            <a:r>
              <a:rPr lang="en-US" sz="1150" dirty="0">
                <a:solidFill>
                  <a:srgbClr val="243B53"/>
                </a:solidFill>
              </a:rPr>
              <a:t>Good: revenue, profit, orders, AOV, and repeat rate improved from May</a:t>
            </a:r>
            <a:endParaRPr lang="en-US" sz="1150" dirty="0"/>
          </a:p>
          <a:p>
            <a:pPr marL="152400" indent="-152400">
              <a:buSzPct val="100000"/>
              <a:buChar char="•"/>
            </a:pPr>
            <a:r>
              <a:rPr lang="en-US" sz="1150" dirty="0">
                <a:solidFill>
                  <a:srgbClr val="243B53"/>
                </a:solidFill>
              </a:rPr>
              <a:t>Caution: June complaints are still above April, and margin has not returned to April level</a:t>
            </a:r>
            <a:endParaRPr lang="en-US" sz="1150" dirty="0"/>
          </a:p>
          <a:p>
            <a:pPr marL="152400" indent="-152400">
              <a:buSzPct val="100000"/>
              <a:buChar char="•"/>
            </a:pPr>
            <a:r>
              <a:rPr lang="en-US" sz="1150" dirty="0">
                <a:solidFill>
                  <a:srgbClr val="243B53"/>
                </a:solidFill>
              </a:rPr>
              <a:t>Decision use: check whether recovery came from fixed operations or simply stronger demand</a:t>
            </a:r>
            <a:endParaRPr lang="en-US" sz="1150" dirty="0"/>
          </a:p>
        </p:txBody>
      </p:sp>
      <p:sp>
        <p:nvSpPr>
          <p:cNvPr id="79" name="Shape 77"/>
          <p:cNvSpPr/>
          <p:nvPr/>
        </p:nvSpPr>
        <p:spPr>
          <a:xfrm>
            <a:off x="822960" y="5504688"/>
            <a:ext cx="10424160" cy="566928"/>
          </a:xfrm>
          <a:prstGeom prst="roundRect">
            <a:avLst>
              <a:gd name="adj" fmla="val 8065"/>
            </a:avLst>
          </a:prstGeom>
          <a:solidFill>
            <a:srgbClr val="F6E7C1"/>
          </a:solidFill>
          <a:ln w="8890">
            <a:solidFill>
              <a:srgbClr val="E3C56F"/>
            </a:solidFill>
            <a:prstDash val="solid"/>
          </a:ln>
        </p:spPr>
      </p:sp>
      <p:sp>
        <p:nvSpPr>
          <p:cNvPr id="80" name="Text 78"/>
          <p:cNvSpPr/>
          <p:nvPr/>
        </p:nvSpPr>
        <p:spPr>
          <a:xfrm>
            <a:off x="987552" y="5577840"/>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81" name="Text 79"/>
          <p:cNvSpPr/>
          <p:nvPr/>
        </p:nvSpPr>
        <p:spPr>
          <a:xfrm>
            <a:off x="987552" y="5769864"/>
            <a:ext cx="10094976" cy="256032"/>
          </a:xfrm>
          <a:prstGeom prst="rect">
            <a:avLst/>
          </a:prstGeom>
          <a:noFill/>
          <a:ln/>
        </p:spPr>
        <p:txBody>
          <a:bodyPr wrap="square" lIns="0" tIns="0" rIns="0" bIns="0" rtlCol="0" anchor="ctr">
            <a:normAutofit/>
          </a:bodyPr>
          <a:lstStyle/>
          <a:p>
            <a:pPr marL="0" indent="0">
              <a:buNone/>
            </a:pPr>
            <a:r>
              <a:rPr lang="en-US" sz="1050" dirty="0">
                <a:solidFill>
                  <a:srgbClr val="243B53"/>
                </a:solidFill>
              </a:rPr>
              <a:t>The dashboard suggests recovery, but not full resolution. June improves from May, yet April remains the better benchmark for service quality and margin.</a:t>
            </a:r>
            <a:endParaRPr lang="en-US" sz="1050" dirty="0"/>
          </a:p>
        </p:txBody>
      </p:sp>
      <p:sp>
        <p:nvSpPr>
          <p:cNvPr id="82" name="Text 80"/>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83"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TREND ANALYSIS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Revenue, cost, and profit trend</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3</a:t>
            </a:r>
            <a:endParaRPr lang="en-US" sz="800" dirty="0"/>
          </a:p>
        </p:txBody>
      </p:sp>
      <p:sp>
        <p:nvSpPr>
          <p:cNvPr id="5" name="Shape 3"/>
          <p:cNvSpPr/>
          <p:nvPr/>
        </p:nvSpPr>
        <p:spPr>
          <a:xfrm>
            <a:off x="685800" y="1143000"/>
            <a:ext cx="7315200" cy="4389120"/>
          </a:xfrm>
          <a:prstGeom prst="roundRect">
            <a:avLst>
              <a:gd name="adj" fmla="val 1667"/>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51560" y="4754880"/>
            <a:ext cx="6492240" cy="0"/>
          </a:xfrm>
          <a:prstGeom prst="line">
            <a:avLst/>
          </a:prstGeom>
          <a:noFill/>
          <a:ln w="10160">
            <a:solidFill>
              <a:srgbClr val="A8A29E"/>
            </a:solidFill>
            <a:prstDash val="solid"/>
          </a:ln>
        </p:spPr>
      </p:sp>
      <p:sp>
        <p:nvSpPr>
          <p:cNvPr id="7" name="Shape 5"/>
          <p:cNvSpPr/>
          <p:nvPr/>
        </p:nvSpPr>
        <p:spPr>
          <a:xfrm>
            <a:off x="1051560" y="1920240"/>
            <a:ext cx="0" cy="2834640"/>
          </a:xfrm>
          <a:prstGeom prst="line">
            <a:avLst/>
          </a:prstGeom>
          <a:noFill/>
          <a:ln w="10160">
            <a:solidFill>
              <a:srgbClr val="A8A29E"/>
            </a:solidFill>
            <a:prstDash val="solid"/>
          </a:ln>
        </p:spPr>
      </p:sp>
      <p:sp>
        <p:nvSpPr>
          <p:cNvPr id="8" name="Text 6"/>
          <p:cNvSpPr/>
          <p:nvPr/>
        </p:nvSpPr>
        <p:spPr>
          <a:xfrm>
            <a:off x="1097280" y="1691640"/>
            <a:ext cx="6492240" cy="182880"/>
          </a:xfrm>
          <a:prstGeom prst="rect">
            <a:avLst/>
          </a:prstGeom>
          <a:noFill/>
          <a:ln/>
        </p:spPr>
        <p:txBody>
          <a:bodyPr wrap="square" lIns="0" tIns="0" rIns="0" bIns="0" rtlCol="0" anchor="ctr"/>
          <a:lstStyle/>
          <a:p>
            <a:pPr marL="0" indent="0">
              <a:buNone/>
            </a:pPr>
            <a:r>
              <a:rPr lang="en-US" sz="700" dirty="0">
                <a:solidFill>
                  <a:srgbClr val="627D98"/>
                </a:solidFill>
              </a:rPr>
              <a:t>Dollars ($)</a:t>
            </a:r>
            <a:endParaRPr lang="en-US" sz="700" dirty="0"/>
          </a:p>
        </p:txBody>
      </p:sp>
      <p:sp>
        <p:nvSpPr>
          <p:cNvPr id="9" name="Text 7"/>
          <p:cNvSpPr/>
          <p:nvPr/>
        </p:nvSpPr>
        <p:spPr>
          <a:xfrm>
            <a:off x="914400" y="48280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Jan</a:t>
            </a:r>
            <a:endParaRPr lang="en-US" sz="700" dirty="0"/>
          </a:p>
        </p:txBody>
      </p:sp>
      <p:sp>
        <p:nvSpPr>
          <p:cNvPr id="10" name="Text 8"/>
          <p:cNvSpPr/>
          <p:nvPr/>
        </p:nvSpPr>
        <p:spPr>
          <a:xfrm>
            <a:off x="2212848" y="48280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Feb</a:t>
            </a:r>
            <a:endParaRPr lang="en-US" sz="700" dirty="0"/>
          </a:p>
        </p:txBody>
      </p:sp>
      <p:sp>
        <p:nvSpPr>
          <p:cNvPr id="11" name="Text 9"/>
          <p:cNvSpPr/>
          <p:nvPr/>
        </p:nvSpPr>
        <p:spPr>
          <a:xfrm>
            <a:off x="3511296" y="48280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Mar</a:t>
            </a:r>
            <a:endParaRPr lang="en-US" sz="700" dirty="0"/>
          </a:p>
        </p:txBody>
      </p:sp>
      <p:sp>
        <p:nvSpPr>
          <p:cNvPr id="12" name="Text 10"/>
          <p:cNvSpPr/>
          <p:nvPr/>
        </p:nvSpPr>
        <p:spPr>
          <a:xfrm>
            <a:off x="4809744" y="48280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Apr</a:t>
            </a:r>
            <a:endParaRPr lang="en-US" sz="700" dirty="0"/>
          </a:p>
        </p:txBody>
      </p:sp>
      <p:sp>
        <p:nvSpPr>
          <p:cNvPr id="13" name="Text 11"/>
          <p:cNvSpPr/>
          <p:nvPr/>
        </p:nvSpPr>
        <p:spPr>
          <a:xfrm>
            <a:off x="6108192" y="48280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May</a:t>
            </a:r>
            <a:endParaRPr lang="en-US" sz="700" dirty="0"/>
          </a:p>
        </p:txBody>
      </p:sp>
      <p:sp>
        <p:nvSpPr>
          <p:cNvPr id="14" name="Text 12"/>
          <p:cNvSpPr/>
          <p:nvPr/>
        </p:nvSpPr>
        <p:spPr>
          <a:xfrm>
            <a:off x="7406640" y="48280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Jun</a:t>
            </a:r>
            <a:endParaRPr lang="en-US" sz="700" dirty="0"/>
          </a:p>
        </p:txBody>
      </p:sp>
      <p:sp>
        <p:nvSpPr>
          <p:cNvPr id="15" name="Shape 13"/>
          <p:cNvSpPr/>
          <p:nvPr/>
        </p:nvSpPr>
        <p:spPr>
          <a:xfrm>
            <a:off x="1051560" y="2970107"/>
            <a:ext cx="1298448" cy="0"/>
          </a:xfrm>
          <a:prstGeom prst="line">
            <a:avLst/>
          </a:prstGeom>
          <a:noFill/>
          <a:ln w="25400">
            <a:solidFill>
              <a:srgbClr val="087E8B"/>
            </a:solidFill>
            <a:prstDash val="solid"/>
          </a:ln>
        </p:spPr>
      </p:sp>
      <p:sp>
        <p:nvSpPr>
          <p:cNvPr id="16" name="Shape 14"/>
          <p:cNvSpPr/>
          <p:nvPr/>
        </p:nvSpPr>
        <p:spPr>
          <a:xfrm>
            <a:off x="2350008" y="2823125"/>
            <a:ext cx="1298448" cy="0"/>
          </a:xfrm>
          <a:prstGeom prst="line">
            <a:avLst/>
          </a:prstGeom>
          <a:noFill/>
          <a:ln w="25400">
            <a:solidFill>
              <a:srgbClr val="087E8B"/>
            </a:solidFill>
            <a:prstDash val="solid"/>
          </a:ln>
        </p:spPr>
      </p:sp>
      <p:sp>
        <p:nvSpPr>
          <p:cNvPr id="17" name="Shape 15"/>
          <p:cNvSpPr/>
          <p:nvPr/>
        </p:nvSpPr>
        <p:spPr>
          <a:xfrm>
            <a:off x="3648456" y="2634149"/>
            <a:ext cx="1298448" cy="0"/>
          </a:xfrm>
          <a:prstGeom prst="line">
            <a:avLst/>
          </a:prstGeom>
          <a:noFill/>
          <a:ln w="25400">
            <a:solidFill>
              <a:srgbClr val="087E8B"/>
            </a:solidFill>
            <a:prstDash val="solid"/>
          </a:ln>
        </p:spPr>
      </p:sp>
      <p:sp>
        <p:nvSpPr>
          <p:cNvPr id="18" name="Shape 16"/>
          <p:cNvSpPr/>
          <p:nvPr/>
        </p:nvSpPr>
        <p:spPr>
          <a:xfrm>
            <a:off x="4946904" y="2361184"/>
            <a:ext cx="1298448" cy="125984"/>
          </a:xfrm>
          <a:prstGeom prst="line">
            <a:avLst/>
          </a:prstGeom>
          <a:noFill/>
          <a:ln w="25400">
            <a:solidFill>
              <a:srgbClr val="087E8B"/>
            </a:solidFill>
            <a:prstDash val="solid"/>
          </a:ln>
        </p:spPr>
      </p:sp>
      <p:sp>
        <p:nvSpPr>
          <p:cNvPr id="19" name="Shape 17"/>
          <p:cNvSpPr/>
          <p:nvPr/>
        </p:nvSpPr>
        <p:spPr>
          <a:xfrm>
            <a:off x="6245352" y="2487168"/>
            <a:ext cx="1298448" cy="0"/>
          </a:xfrm>
          <a:prstGeom prst="line">
            <a:avLst/>
          </a:prstGeom>
          <a:noFill/>
          <a:ln w="25400">
            <a:solidFill>
              <a:srgbClr val="087E8B"/>
            </a:solidFill>
            <a:prstDash val="solid"/>
          </a:ln>
        </p:spPr>
      </p:sp>
      <p:sp>
        <p:nvSpPr>
          <p:cNvPr id="20" name="Shape 18"/>
          <p:cNvSpPr/>
          <p:nvPr/>
        </p:nvSpPr>
        <p:spPr>
          <a:xfrm>
            <a:off x="1010412" y="2928959"/>
            <a:ext cx="82296" cy="82296"/>
          </a:xfrm>
          <a:prstGeom prst="ellipse">
            <a:avLst/>
          </a:prstGeom>
          <a:solidFill>
            <a:srgbClr val="087E8B"/>
          </a:solidFill>
          <a:ln w="7620">
            <a:solidFill>
              <a:srgbClr val="FFFFFF"/>
            </a:solidFill>
            <a:prstDash val="solid"/>
          </a:ln>
        </p:spPr>
      </p:sp>
      <p:sp>
        <p:nvSpPr>
          <p:cNvPr id="21" name="Shape 19"/>
          <p:cNvSpPr/>
          <p:nvPr/>
        </p:nvSpPr>
        <p:spPr>
          <a:xfrm>
            <a:off x="2308860" y="2781977"/>
            <a:ext cx="82296" cy="82296"/>
          </a:xfrm>
          <a:prstGeom prst="ellipse">
            <a:avLst/>
          </a:prstGeom>
          <a:solidFill>
            <a:srgbClr val="087E8B"/>
          </a:solidFill>
          <a:ln w="7620">
            <a:solidFill>
              <a:srgbClr val="FFFFFF"/>
            </a:solidFill>
            <a:prstDash val="solid"/>
          </a:ln>
        </p:spPr>
      </p:sp>
      <p:sp>
        <p:nvSpPr>
          <p:cNvPr id="22" name="Shape 20"/>
          <p:cNvSpPr/>
          <p:nvPr/>
        </p:nvSpPr>
        <p:spPr>
          <a:xfrm>
            <a:off x="3607308" y="2593001"/>
            <a:ext cx="82296" cy="82296"/>
          </a:xfrm>
          <a:prstGeom prst="ellipse">
            <a:avLst/>
          </a:prstGeom>
          <a:solidFill>
            <a:srgbClr val="087E8B"/>
          </a:solidFill>
          <a:ln w="7620">
            <a:solidFill>
              <a:srgbClr val="FFFFFF"/>
            </a:solidFill>
            <a:prstDash val="solid"/>
          </a:ln>
        </p:spPr>
      </p:sp>
      <p:sp>
        <p:nvSpPr>
          <p:cNvPr id="23" name="Shape 21"/>
          <p:cNvSpPr/>
          <p:nvPr/>
        </p:nvSpPr>
        <p:spPr>
          <a:xfrm>
            <a:off x="4905756" y="2320036"/>
            <a:ext cx="82296" cy="82296"/>
          </a:xfrm>
          <a:prstGeom prst="ellipse">
            <a:avLst/>
          </a:prstGeom>
          <a:solidFill>
            <a:srgbClr val="087E8B"/>
          </a:solidFill>
          <a:ln w="7620">
            <a:solidFill>
              <a:srgbClr val="FFFFFF"/>
            </a:solidFill>
            <a:prstDash val="solid"/>
          </a:ln>
        </p:spPr>
      </p:sp>
      <p:sp>
        <p:nvSpPr>
          <p:cNvPr id="24" name="Text 22"/>
          <p:cNvSpPr/>
          <p:nvPr/>
        </p:nvSpPr>
        <p:spPr>
          <a:xfrm>
            <a:off x="4581144" y="2105152"/>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087E8B"/>
                </a:solidFill>
              </a:rPr>
              <a:t>Revenue: $11,400</a:t>
            </a:r>
            <a:endParaRPr lang="en-US" sz="680" dirty="0"/>
          </a:p>
        </p:txBody>
      </p:sp>
      <p:sp>
        <p:nvSpPr>
          <p:cNvPr id="25" name="Shape 23"/>
          <p:cNvSpPr/>
          <p:nvPr/>
        </p:nvSpPr>
        <p:spPr>
          <a:xfrm>
            <a:off x="6204204" y="2446020"/>
            <a:ext cx="82296" cy="82296"/>
          </a:xfrm>
          <a:prstGeom prst="ellipse">
            <a:avLst/>
          </a:prstGeom>
          <a:solidFill>
            <a:srgbClr val="087E8B"/>
          </a:solidFill>
          <a:ln w="7620">
            <a:solidFill>
              <a:srgbClr val="FFFFFF"/>
            </a:solidFill>
            <a:prstDash val="solid"/>
          </a:ln>
        </p:spPr>
      </p:sp>
      <p:sp>
        <p:nvSpPr>
          <p:cNvPr id="26" name="Text 24"/>
          <p:cNvSpPr/>
          <p:nvPr/>
        </p:nvSpPr>
        <p:spPr>
          <a:xfrm>
            <a:off x="5879592" y="2231136"/>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087E8B"/>
                </a:solidFill>
              </a:rPr>
              <a:t>Revenue: $10,800</a:t>
            </a:r>
            <a:endParaRPr lang="en-US" sz="680" dirty="0"/>
          </a:p>
        </p:txBody>
      </p:sp>
      <p:sp>
        <p:nvSpPr>
          <p:cNvPr id="27" name="Shape 25"/>
          <p:cNvSpPr/>
          <p:nvPr/>
        </p:nvSpPr>
        <p:spPr>
          <a:xfrm>
            <a:off x="7502652" y="2068068"/>
            <a:ext cx="82296" cy="82296"/>
          </a:xfrm>
          <a:prstGeom prst="ellipse">
            <a:avLst/>
          </a:prstGeom>
          <a:solidFill>
            <a:srgbClr val="087E8B"/>
          </a:solidFill>
          <a:ln w="7620">
            <a:solidFill>
              <a:srgbClr val="FFFFFF"/>
            </a:solidFill>
            <a:prstDash val="solid"/>
          </a:ln>
        </p:spPr>
      </p:sp>
      <p:sp>
        <p:nvSpPr>
          <p:cNvPr id="28" name="Text 26"/>
          <p:cNvSpPr/>
          <p:nvPr/>
        </p:nvSpPr>
        <p:spPr>
          <a:xfrm>
            <a:off x="7178040" y="1853184"/>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087E8B"/>
                </a:solidFill>
              </a:rPr>
              <a:t>Revenue: $12,600</a:t>
            </a:r>
            <a:endParaRPr lang="en-US" sz="680" dirty="0"/>
          </a:p>
        </p:txBody>
      </p:sp>
      <p:sp>
        <p:nvSpPr>
          <p:cNvPr id="29" name="Shape 27"/>
          <p:cNvSpPr/>
          <p:nvPr/>
        </p:nvSpPr>
        <p:spPr>
          <a:xfrm>
            <a:off x="1051560" y="3872992"/>
            <a:ext cx="1298448" cy="0"/>
          </a:xfrm>
          <a:prstGeom prst="line">
            <a:avLst/>
          </a:prstGeom>
          <a:noFill/>
          <a:ln w="25400">
            <a:solidFill>
              <a:srgbClr val="D97706"/>
            </a:solidFill>
            <a:prstDash val="solid"/>
          </a:ln>
        </p:spPr>
      </p:sp>
      <p:sp>
        <p:nvSpPr>
          <p:cNvPr id="30" name="Shape 28"/>
          <p:cNvSpPr/>
          <p:nvPr/>
        </p:nvSpPr>
        <p:spPr>
          <a:xfrm>
            <a:off x="2350008" y="3789003"/>
            <a:ext cx="1298448" cy="0"/>
          </a:xfrm>
          <a:prstGeom prst="line">
            <a:avLst/>
          </a:prstGeom>
          <a:noFill/>
          <a:ln w="25400">
            <a:solidFill>
              <a:srgbClr val="D97706"/>
            </a:solidFill>
            <a:prstDash val="solid"/>
          </a:ln>
        </p:spPr>
      </p:sp>
      <p:sp>
        <p:nvSpPr>
          <p:cNvPr id="31" name="Shape 29"/>
          <p:cNvSpPr/>
          <p:nvPr/>
        </p:nvSpPr>
        <p:spPr>
          <a:xfrm>
            <a:off x="3648456" y="3684016"/>
            <a:ext cx="1298448" cy="0"/>
          </a:xfrm>
          <a:prstGeom prst="line">
            <a:avLst/>
          </a:prstGeom>
          <a:noFill/>
          <a:ln w="25400">
            <a:solidFill>
              <a:srgbClr val="D97706"/>
            </a:solidFill>
            <a:prstDash val="solid"/>
          </a:ln>
        </p:spPr>
      </p:sp>
      <p:sp>
        <p:nvSpPr>
          <p:cNvPr id="32" name="Shape 30"/>
          <p:cNvSpPr/>
          <p:nvPr/>
        </p:nvSpPr>
        <p:spPr>
          <a:xfrm>
            <a:off x="4946904" y="3642021"/>
            <a:ext cx="1298448" cy="0"/>
          </a:xfrm>
          <a:prstGeom prst="line">
            <a:avLst/>
          </a:prstGeom>
          <a:noFill/>
          <a:ln w="25400">
            <a:solidFill>
              <a:srgbClr val="D97706"/>
            </a:solidFill>
            <a:prstDash val="solid"/>
          </a:ln>
        </p:spPr>
      </p:sp>
      <p:sp>
        <p:nvSpPr>
          <p:cNvPr id="33" name="Shape 31"/>
          <p:cNvSpPr/>
          <p:nvPr/>
        </p:nvSpPr>
        <p:spPr>
          <a:xfrm>
            <a:off x="6245352" y="3516037"/>
            <a:ext cx="1298448" cy="0"/>
          </a:xfrm>
          <a:prstGeom prst="line">
            <a:avLst/>
          </a:prstGeom>
          <a:noFill/>
          <a:ln w="25400">
            <a:solidFill>
              <a:srgbClr val="D97706"/>
            </a:solidFill>
            <a:prstDash val="solid"/>
          </a:ln>
        </p:spPr>
      </p:sp>
      <p:sp>
        <p:nvSpPr>
          <p:cNvPr id="34" name="Shape 32"/>
          <p:cNvSpPr/>
          <p:nvPr/>
        </p:nvSpPr>
        <p:spPr>
          <a:xfrm>
            <a:off x="1010412" y="3831844"/>
            <a:ext cx="82296" cy="82296"/>
          </a:xfrm>
          <a:prstGeom prst="ellipse">
            <a:avLst/>
          </a:prstGeom>
          <a:solidFill>
            <a:srgbClr val="D97706"/>
          </a:solidFill>
          <a:ln w="7620">
            <a:solidFill>
              <a:srgbClr val="FFFFFF"/>
            </a:solidFill>
            <a:prstDash val="solid"/>
          </a:ln>
        </p:spPr>
      </p:sp>
      <p:sp>
        <p:nvSpPr>
          <p:cNvPr id="35" name="Shape 33"/>
          <p:cNvSpPr/>
          <p:nvPr/>
        </p:nvSpPr>
        <p:spPr>
          <a:xfrm>
            <a:off x="2308860" y="3747855"/>
            <a:ext cx="82296" cy="82296"/>
          </a:xfrm>
          <a:prstGeom prst="ellipse">
            <a:avLst/>
          </a:prstGeom>
          <a:solidFill>
            <a:srgbClr val="D97706"/>
          </a:solidFill>
          <a:ln w="7620">
            <a:solidFill>
              <a:srgbClr val="FFFFFF"/>
            </a:solidFill>
            <a:prstDash val="solid"/>
          </a:ln>
        </p:spPr>
      </p:sp>
      <p:sp>
        <p:nvSpPr>
          <p:cNvPr id="36" name="Shape 34"/>
          <p:cNvSpPr/>
          <p:nvPr/>
        </p:nvSpPr>
        <p:spPr>
          <a:xfrm>
            <a:off x="3607308" y="3642868"/>
            <a:ext cx="82296" cy="82296"/>
          </a:xfrm>
          <a:prstGeom prst="ellipse">
            <a:avLst/>
          </a:prstGeom>
          <a:solidFill>
            <a:srgbClr val="D97706"/>
          </a:solidFill>
          <a:ln w="7620">
            <a:solidFill>
              <a:srgbClr val="FFFFFF"/>
            </a:solidFill>
            <a:prstDash val="solid"/>
          </a:ln>
        </p:spPr>
      </p:sp>
      <p:sp>
        <p:nvSpPr>
          <p:cNvPr id="37" name="Shape 35"/>
          <p:cNvSpPr/>
          <p:nvPr/>
        </p:nvSpPr>
        <p:spPr>
          <a:xfrm>
            <a:off x="4905756" y="3600873"/>
            <a:ext cx="82296" cy="82296"/>
          </a:xfrm>
          <a:prstGeom prst="ellipse">
            <a:avLst/>
          </a:prstGeom>
          <a:solidFill>
            <a:srgbClr val="D97706"/>
          </a:solidFill>
          <a:ln w="7620">
            <a:solidFill>
              <a:srgbClr val="FFFFFF"/>
            </a:solidFill>
            <a:prstDash val="solid"/>
          </a:ln>
        </p:spPr>
      </p:sp>
      <p:sp>
        <p:nvSpPr>
          <p:cNvPr id="38" name="Text 36"/>
          <p:cNvSpPr/>
          <p:nvPr/>
        </p:nvSpPr>
        <p:spPr>
          <a:xfrm>
            <a:off x="4581144" y="3385989"/>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D97706"/>
                </a:solidFill>
              </a:rPr>
              <a:t>Cost: $5,300</a:t>
            </a:r>
            <a:endParaRPr lang="en-US" sz="680" dirty="0"/>
          </a:p>
        </p:txBody>
      </p:sp>
      <p:sp>
        <p:nvSpPr>
          <p:cNvPr id="39" name="Shape 37"/>
          <p:cNvSpPr/>
          <p:nvPr/>
        </p:nvSpPr>
        <p:spPr>
          <a:xfrm>
            <a:off x="6204204" y="3474889"/>
            <a:ext cx="82296" cy="82296"/>
          </a:xfrm>
          <a:prstGeom prst="ellipse">
            <a:avLst/>
          </a:prstGeom>
          <a:solidFill>
            <a:srgbClr val="D97706"/>
          </a:solidFill>
          <a:ln w="7620">
            <a:solidFill>
              <a:srgbClr val="FFFFFF"/>
            </a:solidFill>
            <a:prstDash val="solid"/>
          </a:ln>
        </p:spPr>
      </p:sp>
      <p:sp>
        <p:nvSpPr>
          <p:cNvPr id="40" name="Text 38"/>
          <p:cNvSpPr/>
          <p:nvPr/>
        </p:nvSpPr>
        <p:spPr>
          <a:xfrm>
            <a:off x="5879592" y="3260005"/>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D97706"/>
                </a:solidFill>
              </a:rPr>
              <a:t>Cost: $5,900</a:t>
            </a:r>
            <a:endParaRPr lang="en-US" sz="680" dirty="0"/>
          </a:p>
        </p:txBody>
      </p:sp>
      <p:sp>
        <p:nvSpPr>
          <p:cNvPr id="41" name="Shape 39"/>
          <p:cNvSpPr/>
          <p:nvPr/>
        </p:nvSpPr>
        <p:spPr>
          <a:xfrm>
            <a:off x="7502652" y="3411897"/>
            <a:ext cx="82296" cy="82296"/>
          </a:xfrm>
          <a:prstGeom prst="ellipse">
            <a:avLst/>
          </a:prstGeom>
          <a:solidFill>
            <a:srgbClr val="D97706"/>
          </a:solidFill>
          <a:ln w="7620">
            <a:solidFill>
              <a:srgbClr val="FFFFFF"/>
            </a:solidFill>
            <a:prstDash val="solid"/>
          </a:ln>
        </p:spPr>
      </p:sp>
      <p:sp>
        <p:nvSpPr>
          <p:cNvPr id="42" name="Text 40"/>
          <p:cNvSpPr/>
          <p:nvPr/>
        </p:nvSpPr>
        <p:spPr>
          <a:xfrm>
            <a:off x="7178040" y="319701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D97706"/>
                </a:solidFill>
              </a:rPr>
              <a:t>Cost: $6,200</a:t>
            </a:r>
            <a:endParaRPr lang="en-US" sz="680" dirty="0"/>
          </a:p>
        </p:txBody>
      </p:sp>
      <p:sp>
        <p:nvSpPr>
          <p:cNvPr id="43" name="Shape 41"/>
          <p:cNvSpPr/>
          <p:nvPr/>
        </p:nvSpPr>
        <p:spPr>
          <a:xfrm>
            <a:off x="1051560" y="3851995"/>
            <a:ext cx="1298448" cy="0"/>
          </a:xfrm>
          <a:prstGeom prst="line">
            <a:avLst/>
          </a:prstGeom>
          <a:noFill/>
          <a:ln w="25400">
            <a:solidFill>
              <a:srgbClr val="2E7D32"/>
            </a:solidFill>
            <a:prstDash val="solid"/>
          </a:ln>
        </p:spPr>
      </p:sp>
      <p:sp>
        <p:nvSpPr>
          <p:cNvPr id="44" name="Shape 42"/>
          <p:cNvSpPr/>
          <p:nvPr/>
        </p:nvSpPr>
        <p:spPr>
          <a:xfrm>
            <a:off x="2350008" y="3789003"/>
            <a:ext cx="1298448" cy="0"/>
          </a:xfrm>
          <a:prstGeom prst="line">
            <a:avLst/>
          </a:prstGeom>
          <a:noFill/>
          <a:ln w="25400">
            <a:solidFill>
              <a:srgbClr val="2E7D32"/>
            </a:solidFill>
            <a:prstDash val="solid"/>
          </a:ln>
        </p:spPr>
      </p:sp>
      <p:sp>
        <p:nvSpPr>
          <p:cNvPr id="45" name="Shape 43"/>
          <p:cNvSpPr/>
          <p:nvPr/>
        </p:nvSpPr>
        <p:spPr>
          <a:xfrm>
            <a:off x="3648456" y="3705013"/>
            <a:ext cx="1298448" cy="0"/>
          </a:xfrm>
          <a:prstGeom prst="line">
            <a:avLst/>
          </a:prstGeom>
          <a:noFill/>
          <a:ln w="25400">
            <a:solidFill>
              <a:srgbClr val="2E7D32"/>
            </a:solidFill>
            <a:prstDash val="solid"/>
          </a:ln>
        </p:spPr>
      </p:sp>
      <p:sp>
        <p:nvSpPr>
          <p:cNvPr id="46" name="Shape 44"/>
          <p:cNvSpPr/>
          <p:nvPr/>
        </p:nvSpPr>
        <p:spPr>
          <a:xfrm>
            <a:off x="4946904" y="3474043"/>
            <a:ext cx="1298448" cy="251968"/>
          </a:xfrm>
          <a:prstGeom prst="line">
            <a:avLst/>
          </a:prstGeom>
          <a:noFill/>
          <a:ln w="25400">
            <a:solidFill>
              <a:srgbClr val="2E7D32"/>
            </a:solidFill>
            <a:prstDash val="solid"/>
          </a:ln>
        </p:spPr>
      </p:sp>
      <p:sp>
        <p:nvSpPr>
          <p:cNvPr id="47" name="Shape 45"/>
          <p:cNvSpPr/>
          <p:nvPr/>
        </p:nvSpPr>
        <p:spPr>
          <a:xfrm>
            <a:off x="6245352" y="3726011"/>
            <a:ext cx="1298448" cy="0"/>
          </a:xfrm>
          <a:prstGeom prst="line">
            <a:avLst/>
          </a:prstGeom>
          <a:noFill/>
          <a:ln w="25400">
            <a:solidFill>
              <a:srgbClr val="2E7D32"/>
            </a:solidFill>
            <a:prstDash val="solid"/>
          </a:ln>
        </p:spPr>
      </p:sp>
      <p:sp>
        <p:nvSpPr>
          <p:cNvPr id="48" name="Shape 46"/>
          <p:cNvSpPr/>
          <p:nvPr/>
        </p:nvSpPr>
        <p:spPr>
          <a:xfrm>
            <a:off x="1010412" y="3810847"/>
            <a:ext cx="82296" cy="82296"/>
          </a:xfrm>
          <a:prstGeom prst="ellipse">
            <a:avLst/>
          </a:prstGeom>
          <a:solidFill>
            <a:srgbClr val="2E7D32"/>
          </a:solidFill>
          <a:ln w="7620">
            <a:solidFill>
              <a:srgbClr val="FFFFFF"/>
            </a:solidFill>
            <a:prstDash val="solid"/>
          </a:ln>
        </p:spPr>
      </p:sp>
      <p:sp>
        <p:nvSpPr>
          <p:cNvPr id="49" name="Shape 47"/>
          <p:cNvSpPr/>
          <p:nvPr/>
        </p:nvSpPr>
        <p:spPr>
          <a:xfrm>
            <a:off x="2308860" y="3747855"/>
            <a:ext cx="82296" cy="82296"/>
          </a:xfrm>
          <a:prstGeom prst="ellipse">
            <a:avLst/>
          </a:prstGeom>
          <a:solidFill>
            <a:srgbClr val="2E7D32"/>
          </a:solidFill>
          <a:ln w="7620">
            <a:solidFill>
              <a:srgbClr val="FFFFFF"/>
            </a:solidFill>
            <a:prstDash val="solid"/>
          </a:ln>
        </p:spPr>
      </p:sp>
      <p:sp>
        <p:nvSpPr>
          <p:cNvPr id="50" name="Shape 48"/>
          <p:cNvSpPr/>
          <p:nvPr/>
        </p:nvSpPr>
        <p:spPr>
          <a:xfrm>
            <a:off x="3607308" y="3663865"/>
            <a:ext cx="82296" cy="82296"/>
          </a:xfrm>
          <a:prstGeom prst="ellipse">
            <a:avLst/>
          </a:prstGeom>
          <a:solidFill>
            <a:srgbClr val="2E7D32"/>
          </a:solidFill>
          <a:ln w="7620">
            <a:solidFill>
              <a:srgbClr val="FFFFFF"/>
            </a:solidFill>
            <a:prstDash val="solid"/>
          </a:ln>
        </p:spPr>
      </p:sp>
      <p:sp>
        <p:nvSpPr>
          <p:cNvPr id="51" name="Shape 49"/>
          <p:cNvSpPr/>
          <p:nvPr/>
        </p:nvSpPr>
        <p:spPr>
          <a:xfrm>
            <a:off x="4905756" y="3432895"/>
            <a:ext cx="82296" cy="82296"/>
          </a:xfrm>
          <a:prstGeom prst="ellipse">
            <a:avLst/>
          </a:prstGeom>
          <a:solidFill>
            <a:srgbClr val="2E7D32"/>
          </a:solidFill>
          <a:ln w="7620">
            <a:solidFill>
              <a:srgbClr val="FFFFFF"/>
            </a:solidFill>
            <a:prstDash val="solid"/>
          </a:ln>
        </p:spPr>
      </p:sp>
      <p:sp>
        <p:nvSpPr>
          <p:cNvPr id="52" name="Text 50"/>
          <p:cNvSpPr/>
          <p:nvPr/>
        </p:nvSpPr>
        <p:spPr>
          <a:xfrm>
            <a:off x="4581144" y="3218011"/>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2E7D32"/>
                </a:solidFill>
              </a:rPr>
              <a:t>Profit: $6,100</a:t>
            </a:r>
            <a:endParaRPr lang="en-US" sz="680" dirty="0"/>
          </a:p>
        </p:txBody>
      </p:sp>
      <p:sp>
        <p:nvSpPr>
          <p:cNvPr id="53" name="Shape 51"/>
          <p:cNvSpPr/>
          <p:nvPr/>
        </p:nvSpPr>
        <p:spPr>
          <a:xfrm>
            <a:off x="6204204" y="3684863"/>
            <a:ext cx="82296" cy="82296"/>
          </a:xfrm>
          <a:prstGeom prst="ellipse">
            <a:avLst/>
          </a:prstGeom>
          <a:solidFill>
            <a:srgbClr val="2E7D32"/>
          </a:solidFill>
          <a:ln w="7620">
            <a:solidFill>
              <a:srgbClr val="FFFFFF"/>
            </a:solidFill>
            <a:prstDash val="solid"/>
          </a:ln>
        </p:spPr>
      </p:sp>
      <p:sp>
        <p:nvSpPr>
          <p:cNvPr id="54" name="Text 52"/>
          <p:cNvSpPr/>
          <p:nvPr/>
        </p:nvSpPr>
        <p:spPr>
          <a:xfrm>
            <a:off x="5879592" y="3469979"/>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2E7D32"/>
                </a:solidFill>
              </a:rPr>
              <a:t>Profit: $4,900</a:t>
            </a:r>
            <a:endParaRPr lang="en-US" sz="680" dirty="0"/>
          </a:p>
        </p:txBody>
      </p:sp>
      <p:sp>
        <p:nvSpPr>
          <p:cNvPr id="55" name="Shape 53"/>
          <p:cNvSpPr/>
          <p:nvPr/>
        </p:nvSpPr>
        <p:spPr>
          <a:xfrm>
            <a:off x="7502652" y="3369903"/>
            <a:ext cx="82296" cy="82296"/>
          </a:xfrm>
          <a:prstGeom prst="ellipse">
            <a:avLst/>
          </a:prstGeom>
          <a:solidFill>
            <a:srgbClr val="2E7D32"/>
          </a:solidFill>
          <a:ln w="7620">
            <a:solidFill>
              <a:srgbClr val="FFFFFF"/>
            </a:solidFill>
            <a:prstDash val="solid"/>
          </a:ln>
        </p:spPr>
      </p:sp>
      <p:sp>
        <p:nvSpPr>
          <p:cNvPr id="56" name="Text 54"/>
          <p:cNvSpPr/>
          <p:nvPr/>
        </p:nvSpPr>
        <p:spPr>
          <a:xfrm>
            <a:off x="7178040" y="3155019"/>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2E7D32"/>
                </a:solidFill>
              </a:rPr>
              <a:t>Profit: $6,400</a:t>
            </a:r>
            <a:endParaRPr lang="en-US" sz="680" dirty="0"/>
          </a:p>
        </p:txBody>
      </p:sp>
      <p:sp>
        <p:nvSpPr>
          <p:cNvPr id="57" name="Shape 55"/>
          <p:cNvSpPr/>
          <p:nvPr/>
        </p:nvSpPr>
        <p:spPr>
          <a:xfrm>
            <a:off x="1051560" y="1600200"/>
            <a:ext cx="137160" cy="137160"/>
          </a:xfrm>
          <a:prstGeom prst="rect">
            <a:avLst/>
          </a:prstGeom>
          <a:solidFill>
            <a:srgbClr val="087E8B"/>
          </a:solidFill>
          <a:ln w="12700">
            <a:solidFill>
              <a:srgbClr val="087E8B"/>
            </a:solidFill>
            <a:prstDash val="solid"/>
          </a:ln>
        </p:spPr>
      </p:sp>
      <p:sp>
        <p:nvSpPr>
          <p:cNvPr id="58" name="Text 56"/>
          <p:cNvSpPr/>
          <p:nvPr/>
        </p:nvSpPr>
        <p:spPr>
          <a:xfrm>
            <a:off x="122529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Revenue</a:t>
            </a:r>
            <a:endParaRPr lang="en-US" sz="750" dirty="0"/>
          </a:p>
        </p:txBody>
      </p:sp>
      <p:sp>
        <p:nvSpPr>
          <p:cNvPr id="59" name="Shape 57"/>
          <p:cNvSpPr/>
          <p:nvPr/>
        </p:nvSpPr>
        <p:spPr>
          <a:xfrm>
            <a:off x="2194560" y="1600200"/>
            <a:ext cx="137160" cy="137160"/>
          </a:xfrm>
          <a:prstGeom prst="rect">
            <a:avLst/>
          </a:prstGeom>
          <a:solidFill>
            <a:srgbClr val="D97706"/>
          </a:solidFill>
          <a:ln w="12700">
            <a:solidFill>
              <a:srgbClr val="D97706"/>
            </a:solidFill>
            <a:prstDash val="solid"/>
          </a:ln>
        </p:spPr>
      </p:sp>
      <p:sp>
        <p:nvSpPr>
          <p:cNvPr id="60" name="Text 58"/>
          <p:cNvSpPr/>
          <p:nvPr/>
        </p:nvSpPr>
        <p:spPr>
          <a:xfrm>
            <a:off x="236829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Cost</a:t>
            </a:r>
            <a:endParaRPr lang="en-US" sz="750" dirty="0"/>
          </a:p>
        </p:txBody>
      </p:sp>
      <p:sp>
        <p:nvSpPr>
          <p:cNvPr id="61" name="Shape 59"/>
          <p:cNvSpPr/>
          <p:nvPr/>
        </p:nvSpPr>
        <p:spPr>
          <a:xfrm>
            <a:off x="3017520" y="1600200"/>
            <a:ext cx="137160" cy="137160"/>
          </a:xfrm>
          <a:prstGeom prst="rect">
            <a:avLst/>
          </a:prstGeom>
          <a:solidFill>
            <a:srgbClr val="2E7D32"/>
          </a:solidFill>
          <a:ln w="12700">
            <a:solidFill>
              <a:srgbClr val="2E7D32"/>
            </a:solidFill>
            <a:prstDash val="solid"/>
          </a:ln>
        </p:spPr>
      </p:sp>
      <p:sp>
        <p:nvSpPr>
          <p:cNvPr id="62" name="Text 60"/>
          <p:cNvSpPr/>
          <p:nvPr/>
        </p:nvSpPr>
        <p:spPr>
          <a:xfrm>
            <a:off x="319125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Profit</a:t>
            </a:r>
            <a:endParaRPr lang="en-US" sz="750" dirty="0"/>
          </a:p>
        </p:txBody>
      </p:sp>
      <p:sp>
        <p:nvSpPr>
          <p:cNvPr id="63" name="Shape 61"/>
          <p:cNvSpPr/>
          <p:nvPr/>
        </p:nvSpPr>
        <p:spPr>
          <a:xfrm>
            <a:off x="8321040" y="1463040"/>
            <a:ext cx="3063240" cy="3520440"/>
          </a:xfrm>
          <a:prstGeom prst="roundRect">
            <a:avLst>
              <a:gd name="adj" fmla="val 2388"/>
            </a:avLst>
          </a:prstGeom>
          <a:solidFill>
            <a:srgbClr val="E7EEF7"/>
          </a:solidFill>
          <a:ln w="8890">
            <a:solidFill>
              <a:srgbClr val="B6CBE5"/>
            </a:solidFill>
            <a:prstDash val="solid"/>
          </a:ln>
        </p:spPr>
      </p:sp>
      <p:sp>
        <p:nvSpPr>
          <p:cNvPr id="64" name="Text 62"/>
          <p:cNvSpPr/>
          <p:nvPr/>
        </p:nvSpPr>
        <p:spPr>
          <a:xfrm>
            <a:off x="8549640" y="1737360"/>
            <a:ext cx="2651760" cy="2651760"/>
          </a:xfrm>
          <a:prstGeom prst="rect">
            <a:avLst/>
          </a:prstGeom>
          <a:noFill/>
          <a:ln/>
        </p:spPr>
        <p:txBody>
          <a:bodyPr wrap="square" lIns="635" tIns="635" rIns="635" bIns="635" rtlCol="0" anchor="ctr">
            <a:normAutofit/>
          </a:bodyPr>
          <a:lstStyle/>
          <a:p>
            <a:pPr marL="152400" indent="-152400">
              <a:buSzPct val="100000"/>
              <a:buChar char="•"/>
            </a:pPr>
            <a:r>
              <a:rPr lang="en-US" sz="1120" dirty="0">
                <a:solidFill>
                  <a:srgbClr val="243B53"/>
                </a:solidFill>
              </a:rPr>
              <a:t>Revenue grows overall from $8.5k to $12.6k</a:t>
            </a:r>
            <a:endParaRPr lang="en-US" sz="1120" dirty="0"/>
          </a:p>
          <a:p>
            <a:pPr marL="152400" indent="-152400">
              <a:buSzPct val="100000"/>
              <a:buChar char="•"/>
            </a:pPr>
            <a:r>
              <a:rPr lang="en-US" sz="1120" dirty="0">
                <a:solidFill>
                  <a:srgbClr val="243B53"/>
                </a:solidFill>
              </a:rPr>
              <a:t>May breaks the upward profit pattern</a:t>
            </a:r>
            <a:endParaRPr lang="en-US" sz="1120" dirty="0"/>
          </a:p>
          <a:p>
            <a:pPr marL="152400" indent="-152400">
              <a:buSzPct val="100000"/>
              <a:buChar char="•"/>
            </a:pPr>
            <a:r>
              <a:rPr lang="en-US" sz="1120" dirty="0">
                <a:solidFill>
                  <a:srgbClr val="243B53"/>
                </a:solidFill>
              </a:rPr>
              <a:t>Cost rises every month, including during May’s revenue dip</a:t>
            </a:r>
            <a:endParaRPr lang="en-US" sz="1120" dirty="0"/>
          </a:p>
          <a:p>
            <a:pPr marL="152400" indent="-152400">
              <a:buSzPct val="100000"/>
              <a:buChar char="•"/>
            </a:pPr>
            <a:r>
              <a:rPr lang="en-US" sz="1120" dirty="0">
                <a:solidFill>
                  <a:srgbClr val="243B53"/>
                </a:solidFill>
              </a:rPr>
              <a:t>June recovery is strong, but cost remains elevated</a:t>
            </a:r>
            <a:endParaRPr lang="en-US" sz="1120" dirty="0"/>
          </a:p>
        </p:txBody>
      </p:sp>
      <p:sp>
        <p:nvSpPr>
          <p:cNvPr id="65" name="Shape 63"/>
          <p:cNvSpPr/>
          <p:nvPr/>
        </p:nvSpPr>
        <p:spPr>
          <a:xfrm>
            <a:off x="8183880" y="5257800"/>
            <a:ext cx="3246120" cy="713232"/>
          </a:xfrm>
          <a:prstGeom prst="roundRect">
            <a:avLst>
              <a:gd name="adj" fmla="val 6410"/>
            </a:avLst>
          </a:prstGeom>
          <a:solidFill>
            <a:srgbClr val="F6E7C1"/>
          </a:solidFill>
          <a:ln w="8890">
            <a:solidFill>
              <a:srgbClr val="E3C56F"/>
            </a:solidFill>
            <a:prstDash val="solid"/>
          </a:ln>
        </p:spPr>
      </p:sp>
      <p:sp>
        <p:nvSpPr>
          <p:cNvPr id="66" name="Text 64"/>
          <p:cNvSpPr/>
          <p:nvPr/>
        </p:nvSpPr>
        <p:spPr>
          <a:xfrm>
            <a:off x="8348472" y="5330952"/>
            <a:ext cx="291693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67" name="Text 65"/>
          <p:cNvSpPr/>
          <p:nvPr/>
        </p:nvSpPr>
        <p:spPr>
          <a:xfrm>
            <a:off x="8348472" y="5522976"/>
            <a:ext cx="291693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Trend analysis shows direction. The key question is not only whether revenue is rising, but whether profit rises with it.</a:t>
            </a:r>
            <a:endParaRPr lang="en-US" sz="1050" dirty="0"/>
          </a:p>
        </p:txBody>
      </p:sp>
      <p:sp>
        <p:nvSpPr>
          <p:cNvPr id="68" name="Text 66"/>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69"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PROFITABILITY LENS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Why profit matters more than revenue alone</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3</a:t>
            </a:r>
            <a:endParaRPr lang="en-US" sz="800" dirty="0"/>
          </a:p>
        </p:txBody>
      </p:sp>
      <p:sp>
        <p:nvSpPr>
          <p:cNvPr id="5" name="Text 3"/>
          <p:cNvSpPr/>
          <p:nvPr/>
        </p:nvSpPr>
        <p:spPr>
          <a:xfrm>
            <a:off x="731520" y="1325880"/>
            <a:ext cx="4754880" cy="2834640"/>
          </a:xfrm>
          <a:prstGeom prst="rect">
            <a:avLst/>
          </a:prstGeom>
          <a:noFill/>
          <a:ln/>
        </p:spPr>
        <p:txBody>
          <a:bodyPr wrap="square" lIns="635" tIns="635" rIns="635" bIns="635" rtlCol="0" anchor="ctr">
            <a:normAutofit/>
          </a:bodyPr>
          <a:lstStyle/>
          <a:p>
            <a:pPr marL="152400" indent="-152400">
              <a:buSzPct val="100000"/>
              <a:buChar char="•"/>
            </a:pPr>
            <a:r>
              <a:rPr lang="en-US" sz="1500" dirty="0">
                <a:solidFill>
                  <a:srgbClr val="243B53"/>
                </a:solidFill>
              </a:rPr>
              <a:t>Revenue answers: how much did we sell?</a:t>
            </a:r>
            <a:endParaRPr lang="en-US" sz="1500" dirty="0"/>
          </a:p>
          <a:p>
            <a:pPr marL="152400" indent="-152400">
              <a:buSzPct val="100000"/>
              <a:buChar char="•"/>
            </a:pPr>
            <a:r>
              <a:rPr lang="en-US" sz="1500" dirty="0">
                <a:solidFill>
                  <a:srgbClr val="243B53"/>
                </a:solidFill>
              </a:rPr>
              <a:t>Profit answers: what did we keep?</a:t>
            </a:r>
            <a:endParaRPr lang="en-US" sz="1500" dirty="0"/>
          </a:p>
          <a:p>
            <a:pPr marL="152400" indent="-152400">
              <a:buSzPct val="100000"/>
              <a:buChar char="•"/>
            </a:pPr>
            <a:r>
              <a:rPr lang="en-US" sz="1500" dirty="0">
                <a:solidFill>
                  <a:srgbClr val="243B53"/>
                </a:solidFill>
              </a:rPr>
              <a:t>Margin answers: how efficient or healthy were the sales?</a:t>
            </a:r>
            <a:endParaRPr lang="en-US" sz="1500" dirty="0"/>
          </a:p>
          <a:p>
            <a:pPr marL="152400" indent="-152400">
              <a:buSzPct val="100000"/>
              <a:buChar char="•"/>
            </a:pPr>
            <a:r>
              <a:rPr lang="en-US" sz="1500" dirty="0">
                <a:solidFill>
                  <a:srgbClr val="243B53"/>
                </a:solidFill>
              </a:rPr>
              <a:t>A business can grow revenue and still become financially weaker</a:t>
            </a:r>
            <a:endParaRPr lang="en-US" sz="1500" dirty="0"/>
          </a:p>
        </p:txBody>
      </p:sp>
      <p:sp>
        <p:nvSpPr>
          <p:cNvPr id="6" name="Shape 4"/>
          <p:cNvSpPr/>
          <p:nvPr/>
        </p:nvSpPr>
        <p:spPr>
          <a:xfrm>
            <a:off x="5989320" y="1234440"/>
            <a:ext cx="4983480" cy="3657600"/>
          </a:xfrm>
          <a:prstGeom prst="roundRect">
            <a:avLst>
              <a:gd name="adj" fmla="val 200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63640" y="1874520"/>
          <a:ext cx="4480560" cy="1508760"/>
        </p:xfrm>
        <a:graphic>
          <a:graphicData uri="http://schemas.openxmlformats.org/drawingml/2006/table">
            <a:tbl>
              <a:tblPr/>
              <a:tblGrid>
                <a:gridCol w="896112">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896112">
                  <a:extLst>
                    <a:ext uri="{9D8B030D-6E8A-4147-A177-3AD203B41FA5}">
                      <a16:colId xmlns:a16="http://schemas.microsoft.com/office/drawing/2014/main" val="20003"/>
                    </a:ext>
                  </a:extLst>
                </a:gridCol>
                <a:gridCol w="896112">
                  <a:extLst>
                    <a:ext uri="{9D8B030D-6E8A-4147-A177-3AD203B41FA5}">
                      <a16:colId xmlns:a16="http://schemas.microsoft.com/office/drawing/2014/main" val="20004"/>
                    </a:ext>
                  </a:extLst>
                </a:gridCol>
              </a:tblGrid>
              <a:tr h="377190">
                <a:tc>
                  <a:txBody>
                    <a:bodyPr/>
                    <a:lstStyle/>
                    <a:p>
                      <a:pPr marL="0" indent="0">
                        <a:buNone/>
                      </a:pPr>
                      <a:r>
                        <a:rPr lang="en-US" sz="950" b="1" dirty="0">
                          <a:solidFill>
                            <a:srgbClr val="FFFFFF"/>
                          </a:solidFill>
                          <a:latin typeface="Aptos" pitchFamily="34" charset="0"/>
                          <a:ea typeface="Aptos" pitchFamily="34" charset="-122"/>
                          <a:cs typeface="Aptos" pitchFamily="34" charset="-120"/>
                        </a:rPr>
                        <a:t>Month</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50" b="1" dirty="0">
                          <a:solidFill>
                            <a:srgbClr val="FFFFFF"/>
                          </a:solidFill>
                          <a:latin typeface="Aptos" pitchFamily="34" charset="0"/>
                          <a:ea typeface="Aptos" pitchFamily="34" charset="-122"/>
                          <a:cs typeface="Aptos" pitchFamily="34" charset="-120"/>
                        </a:rPr>
                        <a:t>Revenue</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50" b="1" dirty="0">
                          <a:solidFill>
                            <a:srgbClr val="FFFFFF"/>
                          </a:solidFill>
                          <a:latin typeface="Aptos" pitchFamily="34" charset="0"/>
                          <a:ea typeface="Aptos" pitchFamily="34" charset="-122"/>
                          <a:cs typeface="Aptos" pitchFamily="34" charset="-120"/>
                        </a:rPr>
                        <a:t>Cost</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50" b="1" dirty="0">
                          <a:solidFill>
                            <a:srgbClr val="FFFFFF"/>
                          </a:solidFill>
                          <a:latin typeface="Aptos" pitchFamily="34" charset="0"/>
                          <a:ea typeface="Aptos" pitchFamily="34" charset="-122"/>
                          <a:cs typeface="Aptos" pitchFamily="34" charset="-120"/>
                        </a:rPr>
                        <a:t>Profit</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50" b="1" dirty="0">
                          <a:solidFill>
                            <a:srgbClr val="FFFFFF"/>
                          </a:solidFill>
                          <a:latin typeface="Aptos" pitchFamily="34" charset="0"/>
                          <a:ea typeface="Aptos" pitchFamily="34" charset="-122"/>
                          <a:cs typeface="Aptos" pitchFamily="34" charset="-120"/>
                        </a:rPr>
                        <a:t>Margin</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377190">
                <a:tc>
                  <a:txBody>
                    <a:bodyPr/>
                    <a:lstStyle/>
                    <a:p>
                      <a:pPr marL="0" indent="0">
                        <a:buNone/>
                      </a:pPr>
                      <a:r>
                        <a:rPr lang="en-US" sz="950" dirty="0">
                          <a:solidFill>
                            <a:srgbClr val="243B53"/>
                          </a:solidFill>
                          <a:latin typeface="Aptos" pitchFamily="34" charset="0"/>
                          <a:ea typeface="Aptos" pitchFamily="34" charset="-122"/>
                          <a:cs typeface="Aptos" pitchFamily="34" charset="-120"/>
                        </a:rPr>
                        <a:t>Apr</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$11,400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$5,300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$6,100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53.5%</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buNone/>
                      </a:pPr>
                      <a:r>
                        <a:rPr lang="en-US" sz="950" dirty="0">
                          <a:solidFill>
                            <a:srgbClr val="243B53"/>
                          </a:solidFill>
                          <a:latin typeface="Aptos" pitchFamily="34" charset="0"/>
                          <a:ea typeface="Aptos" pitchFamily="34" charset="-122"/>
                          <a:cs typeface="Aptos" pitchFamily="34" charset="-120"/>
                        </a:rPr>
                        <a:t>May</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$10,800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$5,900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$4,900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45.4%</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190">
                <a:tc>
                  <a:txBody>
                    <a:bodyPr/>
                    <a:lstStyle/>
                    <a:p>
                      <a:pPr marL="0" indent="0">
                        <a:buNone/>
                      </a:pPr>
                      <a:r>
                        <a:rPr lang="en-US" sz="950" dirty="0">
                          <a:solidFill>
                            <a:srgbClr val="243B53"/>
                          </a:solidFill>
                          <a:latin typeface="Aptos" pitchFamily="34" charset="0"/>
                          <a:ea typeface="Aptos" pitchFamily="34" charset="-122"/>
                          <a:cs typeface="Aptos" pitchFamily="34" charset="-120"/>
                        </a:rPr>
                        <a:t>Jun</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$12,600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$6,200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$6,400</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50" dirty="0">
                          <a:solidFill>
                            <a:srgbClr val="243B53"/>
                          </a:solidFill>
                          <a:latin typeface="Aptos" pitchFamily="34" charset="0"/>
                          <a:ea typeface="Aptos" pitchFamily="34" charset="-122"/>
                          <a:cs typeface="Aptos" pitchFamily="34" charset="-120"/>
                        </a:rPr>
                        <a:t>50.8%</a:t>
                      </a:r>
                      <a:endParaRPr lang="en-US" sz="95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p:nvPr/>
        </p:nvSpPr>
        <p:spPr>
          <a:xfrm>
            <a:off x="6355080" y="3794760"/>
            <a:ext cx="4343400" cy="457200"/>
          </a:xfrm>
          <a:prstGeom prst="rect">
            <a:avLst/>
          </a:prstGeom>
          <a:noFill/>
          <a:ln/>
        </p:spPr>
        <p:txBody>
          <a:bodyPr wrap="square" lIns="254" tIns="254" rIns="254" bIns="254" rtlCol="0" anchor="ctr"/>
          <a:lstStyle/>
          <a:p>
            <a:pPr marL="0" indent="0" algn="ctr">
              <a:buNone/>
            </a:pPr>
            <a:r>
              <a:rPr lang="en-US" sz="1500" b="1" dirty="0">
                <a:solidFill>
                  <a:srgbClr val="B91C1C"/>
                </a:solidFill>
              </a:rPr>
              <a:t>May is not just a sales dip. It is a margin and cost-control warning.</a:t>
            </a:r>
            <a:endParaRPr lang="en-US" sz="1500" dirty="0"/>
          </a:p>
        </p:txBody>
      </p:sp>
      <p:sp>
        <p:nvSpPr>
          <p:cNvPr id="9" name="Shape 6"/>
          <p:cNvSpPr/>
          <p:nvPr/>
        </p:nvSpPr>
        <p:spPr>
          <a:xfrm>
            <a:off x="6080760" y="5257800"/>
            <a:ext cx="4937760" cy="676656"/>
          </a:xfrm>
          <a:prstGeom prst="roundRect">
            <a:avLst>
              <a:gd name="adj" fmla="val 6757"/>
            </a:avLst>
          </a:prstGeom>
          <a:solidFill>
            <a:srgbClr val="F6E7C1"/>
          </a:solidFill>
          <a:ln w="8890">
            <a:solidFill>
              <a:srgbClr val="E3C56F"/>
            </a:solidFill>
            <a:prstDash val="solid"/>
          </a:ln>
        </p:spPr>
      </p:sp>
      <p:sp>
        <p:nvSpPr>
          <p:cNvPr id="10" name="Text 7"/>
          <p:cNvSpPr/>
          <p:nvPr/>
        </p:nvSpPr>
        <p:spPr>
          <a:xfrm>
            <a:off x="6245352" y="5330952"/>
            <a:ext cx="46085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11" name="Text 8"/>
          <p:cNvSpPr/>
          <p:nvPr/>
        </p:nvSpPr>
        <p:spPr>
          <a:xfrm>
            <a:off x="6245352" y="5522976"/>
            <a:ext cx="4608576" cy="365760"/>
          </a:xfrm>
          <a:prstGeom prst="rect">
            <a:avLst/>
          </a:prstGeom>
          <a:noFill/>
          <a:ln/>
        </p:spPr>
        <p:txBody>
          <a:bodyPr wrap="square" lIns="0" tIns="0" rIns="0" bIns="0" rtlCol="0" anchor="ctr">
            <a:normAutofit/>
          </a:bodyPr>
          <a:lstStyle/>
          <a:p>
            <a:pPr marL="0" indent="0">
              <a:buNone/>
            </a:pPr>
            <a:r>
              <a:rPr lang="en-US" sz="1050" dirty="0">
                <a:solidFill>
                  <a:srgbClr val="243B53"/>
                </a:solidFill>
              </a:rPr>
              <a:t>Profit reveals whether the business model is improving, not merely whether sales activity is increasing.</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WHEN GROWTH QUALITY CHANGES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Revenue and margin combo analysis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3</a:t>
            </a:r>
            <a:endParaRPr lang="en-US" sz="800" dirty="0"/>
          </a:p>
        </p:txBody>
      </p:sp>
      <p:sp>
        <p:nvSpPr>
          <p:cNvPr id="5" name="Shape 3"/>
          <p:cNvSpPr/>
          <p:nvPr/>
        </p:nvSpPr>
        <p:spPr>
          <a:xfrm>
            <a:off x="685800" y="1143000"/>
            <a:ext cx="7498080" cy="4389120"/>
          </a:xfrm>
          <a:prstGeom prst="roundRect">
            <a:avLst>
              <a:gd name="adj" fmla="val 1667"/>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97280" y="4617720"/>
            <a:ext cx="6309360" cy="0"/>
          </a:xfrm>
          <a:prstGeom prst="line">
            <a:avLst/>
          </a:prstGeom>
          <a:noFill/>
          <a:ln w="10160">
            <a:solidFill>
              <a:srgbClr val="A8A29E"/>
            </a:solidFill>
            <a:prstDash val="solid"/>
          </a:ln>
        </p:spPr>
      </p:sp>
      <p:sp>
        <p:nvSpPr>
          <p:cNvPr id="7" name="Shape 5"/>
          <p:cNvSpPr/>
          <p:nvPr/>
        </p:nvSpPr>
        <p:spPr>
          <a:xfrm>
            <a:off x="1097280" y="2011680"/>
            <a:ext cx="0" cy="2606040"/>
          </a:xfrm>
          <a:prstGeom prst="line">
            <a:avLst/>
          </a:prstGeom>
          <a:noFill/>
          <a:ln w="10160">
            <a:solidFill>
              <a:srgbClr val="A8A29E"/>
            </a:solidFill>
            <a:prstDash val="solid"/>
          </a:ln>
        </p:spPr>
      </p:sp>
      <p:sp>
        <p:nvSpPr>
          <p:cNvPr id="8" name="Text 6"/>
          <p:cNvSpPr/>
          <p:nvPr/>
        </p:nvSpPr>
        <p:spPr>
          <a:xfrm>
            <a:off x="1143000" y="1783080"/>
            <a:ext cx="6309360" cy="182880"/>
          </a:xfrm>
          <a:prstGeom prst="rect">
            <a:avLst/>
          </a:prstGeom>
          <a:noFill/>
          <a:ln/>
        </p:spPr>
        <p:txBody>
          <a:bodyPr wrap="square" lIns="0" tIns="0" rIns="0" bIns="0" rtlCol="0" anchor="ctr"/>
          <a:lstStyle/>
          <a:p>
            <a:pPr marL="0" indent="0">
              <a:buNone/>
            </a:pPr>
            <a:r>
              <a:rPr lang="en-US" sz="700" dirty="0">
                <a:solidFill>
                  <a:srgbClr val="627D98"/>
                </a:solidFill>
              </a:rPr>
              <a:t>Revenue bars</a:t>
            </a:r>
            <a:endParaRPr lang="en-US" sz="700" dirty="0"/>
          </a:p>
        </p:txBody>
      </p:sp>
      <p:sp>
        <p:nvSpPr>
          <p:cNvPr id="9" name="Shape 7"/>
          <p:cNvSpPr/>
          <p:nvPr/>
        </p:nvSpPr>
        <p:spPr>
          <a:xfrm>
            <a:off x="1243584" y="3035481"/>
            <a:ext cx="880872" cy="1582239"/>
          </a:xfrm>
          <a:prstGeom prst="rect">
            <a:avLst/>
          </a:prstGeom>
          <a:solidFill>
            <a:srgbClr val="087E8B"/>
          </a:solidFill>
          <a:ln w="12700">
            <a:solidFill>
              <a:srgbClr val="087E8B">
                <a:alpha val="0"/>
              </a:srgbClr>
            </a:solidFill>
            <a:prstDash val="solid"/>
          </a:ln>
        </p:spPr>
      </p:sp>
      <p:sp>
        <p:nvSpPr>
          <p:cNvPr id="10" name="Text 8"/>
          <p:cNvSpPr/>
          <p:nvPr/>
        </p:nvSpPr>
        <p:spPr>
          <a:xfrm>
            <a:off x="1152144" y="2825169"/>
            <a:ext cx="1063752" cy="164592"/>
          </a:xfrm>
          <a:prstGeom prst="rect">
            <a:avLst/>
          </a:prstGeom>
          <a:noFill/>
          <a:ln/>
        </p:spPr>
        <p:txBody>
          <a:bodyPr wrap="square" lIns="0" tIns="0" rIns="0" bIns="0" rtlCol="0" anchor="ctr"/>
          <a:lstStyle/>
          <a:p>
            <a:pPr marL="0" indent="0" algn="ctr">
              <a:buNone/>
            </a:pPr>
            <a:r>
              <a:rPr lang="en-US" sz="700" b="1" dirty="0">
                <a:solidFill>
                  <a:srgbClr val="243B53"/>
                </a:solidFill>
              </a:rPr>
              <a:t>$8,500</a:t>
            </a:r>
            <a:endParaRPr lang="en-US" sz="700" dirty="0"/>
          </a:p>
        </p:txBody>
      </p:sp>
      <p:sp>
        <p:nvSpPr>
          <p:cNvPr id="11" name="Text 9"/>
          <p:cNvSpPr/>
          <p:nvPr/>
        </p:nvSpPr>
        <p:spPr>
          <a:xfrm>
            <a:off x="1133856" y="4690872"/>
            <a:ext cx="110032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Jan</a:t>
            </a:r>
            <a:endParaRPr lang="en-US" sz="700" dirty="0"/>
          </a:p>
        </p:txBody>
      </p:sp>
      <p:sp>
        <p:nvSpPr>
          <p:cNvPr id="12" name="Shape 10"/>
          <p:cNvSpPr/>
          <p:nvPr/>
        </p:nvSpPr>
        <p:spPr>
          <a:xfrm>
            <a:off x="2270760" y="2905179"/>
            <a:ext cx="880872" cy="1712541"/>
          </a:xfrm>
          <a:prstGeom prst="rect">
            <a:avLst/>
          </a:prstGeom>
          <a:solidFill>
            <a:srgbClr val="087E8B"/>
          </a:solidFill>
          <a:ln w="12700">
            <a:solidFill>
              <a:srgbClr val="087E8B">
                <a:alpha val="0"/>
              </a:srgbClr>
            </a:solidFill>
            <a:prstDash val="solid"/>
          </a:ln>
        </p:spPr>
      </p:sp>
      <p:sp>
        <p:nvSpPr>
          <p:cNvPr id="13" name="Text 11"/>
          <p:cNvSpPr/>
          <p:nvPr/>
        </p:nvSpPr>
        <p:spPr>
          <a:xfrm>
            <a:off x="2179320" y="2694867"/>
            <a:ext cx="1063752" cy="164592"/>
          </a:xfrm>
          <a:prstGeom prst="rect">
            <a:avLst/>
          </a:prstGeom>
          <a:noFill/>
          <a:ln/>
        </p:spPr>
        <p:txBody>
          <a:bodyPr wrap="square" lIns="0" tIns="0" rIns="0" bIns="0" rtlCol="0" anchor="ctr"/>
          <a:lstStyle/>
          <a:p>
            <a:pPr marL="0" indent="0" algn="ctr">
              <a:buNone/>
            </a:pPr>
            <a:r>
              <a:rPr lang="en-US" sz="700" b="1" dirty="0">
                <a:solidFill>
                  <a:srgbClr val="243B53"/>
                </a:solidFill>
              </a:rPr>
              <a:t>$9,200</a:t>
            </a:r>
            <a:endParaRPr lang="en-US" sz="700" dirty="0"/>
          </a:p>
        </p:txBody>
      </p:sp>
      <p:sp>
        <p:nvSpPr>
          <p:cNvPr id="14" name="Text 12"/>
          <p:cNvSpPr/>
          <p:nvPr/>
        </p:nvSpPr>
        <p:spPr>
          <a:xfrm>
            <a:off x="2161032" y="4690872"/>
            <a:ext cx="110032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Feb</a:t>
            </a:r>
            <a:endParaRPr lang="en-US" sz="700" dirty="0"/>
          </a:p>
        </p:txBody>
      </p:sp>
      <p:sp>
        <p:nvSpPr>
          <p:cNvPr id="15" name="Shape 13"/>
          <p:cNvSpPr/>
          <p:nvPr/>
        </p:nvSpPr>
        <p:spPr>
          <a:xfrm>
            <a:off x="3297936" y="2737648"/>
            <a:ext cx="880872" cy="1880072"/>
          </a:xfrm>
          <a:prstGeom prst="rect">
            <a:avLst/>
          </a:prstGeom>
          <a:solidFill>
            <a:srgbClr val="087E8B"/>
          </a:solidFill>
          <a:ln w="12700">
            <a:solidFill>
              <a:srgbClr val="087E8B">
                <a:alpha val="0"/>
              </a:srgbClr>
            </a:solidFill>
            <a:prstDash val="solid"/>
          </a:ln>
        </p:spPr>
      </p:sp>
      <p:sp>
        <p:nvSpPr>
          <p:cNvPr id="16" name="Text 14"/>
          <p:cNvSpPr/>
          <p:nvPr/>
        </p:nvSpPr>
        <p:spPr>
          <a:xfrm>
            <a:off x="3206496" y="2527336"/>
            <a:ext cx="1063752" cy="164592"/>
          </a:xfrm>
          <a:prstGeom prst="rect">
            <a:avLst/>
          </a:prstGeom>
          <a:noFill/>
          <a:ln/>
        </p:spPr>
        <p:txBody>
          <a:bodyPr wrap="square" lIns="0" tIns="0" rIns="0" bIns="0" rtlCol="0" anchor="ctr"/>
          <a:lstStyle/>
          <a:p>
            <a:pPr marL="0" indent="0" algn="ctr">
              <a:buNone/>
            </a:pPr>
            <a:r>
              <a:rPr lang="en-US" sz="700" b="1" dirty="0">
                <a:solidFill>
                  <a:srgbClr val="243B53"/>
                </a:solidFill>
              </a:rPr>
              <a:t>$10,100</a:t>
            </a:r>
            <a:endParaRPr lang="en-US" sz="700" dirty="0"/>
          </a:p>
        </p:txBody>
      </p:sp>
      <p:sp>
        <p:nvSpPr>
          <p:cNvPr id="17" name="Text 15"/>
          <p:cNvSpPr/>
          <p:nvPr/>
        </p:nvSpPr>
        <p:spPr>
          <a:xfrm>
            <a:off x="3188208" y="4690872"/>
            <a:ext cx="110032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Mar</a:t>
            </a:r>
            <a:endParaRPr lang="en-US" sz="700" dirty="0"/>
          </a:p>
        </p:txBody>
      </p:sp>
      <p:sp>
        <p:nvSpPr>
          <p:cNvPr id="18" name="Shape 16"/>
          <p:cNvSpPr/>
          <p:nvPr/>
        </p:nvSpPr>
        <p:spPr>
          <a:xfrm>
            <a:off x="4325112" y="2495659"/>
            <a:ext cx="880872" cy="2122061"/>
          </a:xfrm>
          <a:prstGeom prst="rect">
            <a:avLst/>
          </a:prstGeom>
          <a:solidFill>
            <a:srgbClr val="087E8B"/>
          </a:solidFill>
          <a:ln w="12700">
            <a:solidFill>
              <a:srgbClr val="087E8B">
                <a:alpha val="0"/>
              </a:srgbClr>
            </a:solidFill>
            <a:prstDash val="solid"/>
          </a:ln>
        </p:spPr>
      </p:sp>
      <p:sp>
        <p:nvSpPr>
          <p:cNvPr id="19" name="Text 17"/>
          <p:cNvSpPr/>
          <p:nvPr/>
        </p:nvSpPr>
        <p:spPr>
          <a:xfrm>
            <a:off x="4233672" y="2285347"/>
            <a:ext cx="1063752" cy="164592"/>
          </a:xfrm>
          <a:prstGeom prst="rect">
            <a:avLst/>
          </a:prstGeom>
          <a:noFill/>
          <a:ln/>
        </p:spPr>
        <p:txBody>
          <a:bodyPr wrap="square" lIns="0" tIns="0" rIns="0" bIns="0" rtlCol="0" anchor="ctr"/>
          <a:lstStyle/>
          <a:p>
            <a:pPr marL="0" indent="0" algn="ctr">
              <a:buNone/>
            </a:pPr>
            <a:r>
              <a:rPr lang="en-US" sz="700" b="1" dirty="0">
                <a:solidFill>
                  <a:srgbClr val="243B53"/>
                </a:solidFill>
              </a:rPr>
              <a:t>$11,400</a:t>
            </a:r>
            <a:endParaRPr lang="en-US" sz="700" dirty="0"/>
          </a:p>
        </p:txBody>
      </p:sp>
      <p:sp>
        <p:nvSpPr>
          <p:cNvPr id="20" name="Text 18"/>
          <p:cNvSpPr/>
          <p:nvPr/>
        </p:nvSpPr>
        <p:spPr>
          <a:xfrm>
            <a:off x="4215384" y="4690872"/>
            <a:ext cx="110032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Apr</a:t>
            </a:r>
            <a:endParaRPr lang="en-US" sz="700" dirty="0"/>
          </a:p>
        </p:txBody>
      </p:sp>
      <p:sp>
        <p:nvSpPr>
          <p:cNvPr id="21" name="Shape 19"/>
          <p:cNvSpPr/>
          <p:nvPr/>
        </p:nvSpPr>
        <p:spPr>
          <a:xfrm>
            <a:off x="5352288" y="2607346"/>
            <a:ext cx="880872" cy="2010374"/>
          </a:xfrm>
          <a:prstGeom prst="rect">
            <a:avLst/>
          </a:prstGeom>
          <a:solidFill>
            <a:srgbClr val="B91C1C"/>
          </a:solidFill>
          <a:ln w="12700">
            <a:solidFill>
              <a:srgbClr val="B91C1C">
                <a:alpha val="0"/>
              </a:srgbClr>
            </a:solidFill>
            <a:prstDash val="solid"/>
          </a:ln>
        </p:spPr>
      </p:sp>
      <p:sp>
        <p:nvSpPr>
          <p:cNvPr id="22" name="Text 20"/>
          <p:cNvSpPr/>
          <p:nvPr/>
        </p:nvSpPr>
        <p:spPr>
          <a:xfrm>
            <a:off x="5260848" y="2397034"/>
            <a:ext cx="1063752" cy="164592"/>
          </a:xfrm>
          <a:prstGeom prst="rect">
            <a:avLst/>
          </a:prstGeom>
          <a:noFill/>
          <a:ln/>
        </p:spPr>
        <p:txBody>
          <a:bodyPr wrap="square" lIns="0" tIns="0" rIns="0" bIns="0" rtlCol="0" anchor="ctr"/>
          <a:lstStyle/>
          <a:p>
            <a:pPr marL="0" indent="0" algn="ctr">
              <a:buNone/>
            </a:pPr>
            <a:r>
              <a:rPr lang="en-US" sz="700" b="1" dirty="0">
                <a:solidFill>
                  <a:srgbClr val="243B53"/>
                </a:solidFill>
              </a:rPr>
              <a:t>$10,800</a:t>
            </a:r>
            <a:endParaRPr lang="en-US" sz="700" dirty="0"/>
          </a:p>
        </p:txBody>
      </p:sp>
      <p:sp>
        <p:nvSpPr>
          <p:cNvPr id="23" name="Text 21"/>
          <p:cNvSpPr/>
          <p:nvPr/>
        </p:nvSpPr>
        <p:spPr>
          <a:xfrm>
            <a:off x="5242560" y="4690872"/>
            <a:ext cx="110032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May</a:t>
            </a:r>
            <a:endParaRPr lang="en-US" sz="700" dirty="0"/>
          </a:p>
        </p:txBody>
      </p:sp>
      <p:sp>
        <p:nvSpPr>
          <p:cNvPr id="24" name="Shape 22"/>
          <p:cNvSpPr/>
          <p:nvPr/>
        </p:nvSpPr>
        <p:spPr>
          <a:xfrm>
            <a:off x="6379464" y="2272284"/>
            <a:ext cx="880872" cy="2345436"/>
          </a:xfrm>
          <a:prstGeom prst="rect">
            <a:avLst/>
          </a:prstGeom>
          <a:solidFill>
            <a:srgbClr val="087E8B"/>
          </a:solidFill>
          <a:ln w="12700">
            <a:solidFill>
              <a:srgbClr val="087E8B">
                <a:alpha val="0"/>
              </a:srgbClr>
            </a:solidFill>
            <a:prstDash val="solid"/>
          </a:ln>
        </p:spPr>
      </p:sp>
      <p:sp>
        <p:nvSpPr>
          <p:cNvPr id="25" name="Text 23"/>
          <p:cNvSpPr/>
          <p:nvPr/>
        </p:nvSpPr>
        <p:spPr>
          <a:xfrm>
            <a:off x="6288024" y="2061972"/>
            <a:ext cx="1063752" cy="164592"/>
          </a:xfrm>
          <a:prstGeom prst="rect">
            <a:avLst/>
          </a:prstGeom>
          <a:noFill/>
          <a:ln/>
        </p:spPr>
        <p:txBody>
          <a:bodyPr wrap="square" lIns="0" tIns="0" rIns="0" bIns="0" rtlCol="0" anchor="ctr"/>
          <a:lstStyle/>
          <a:p>
            <a:pPr marL="0" indent="0" algn="ctr">
              <a:buNone/>
            </a:pPr>
            <a:r>
              <a:rPr lang="en-US" sz="700" b="1" dirty="0">
                <a:solidFill>
                  <a:srgbClr val="243B53"/>
                </a:solidFill>
              </a:rPr>
              <a:t>$12,600</a:t>
            </a:r>
            <a:endParaRPr lang="en-US" sz="700" dirty="0"/>
          </a:p>
        </p:txBody>
      </p:sp>
      <p:sp>
        <p:nvSpPr>
          <p:cNvPr id="26" name="Text 24"/>
          <p:cNvSpPr/>
          <p:nvPr/>
        </p:nvSpPr>
        <p:spPr>
          <a:xfrm>
            <a:off x="6269736" y="4690872"/>
            <a:ext cx="110032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Jun</a:t>
            </a:r>
            <a:endParaRPr lang="en-US" sz="700" dirty="0"/>
          </a:p>
        </p:txBody>
      </p:sp>
      <p:sp>
        <p:nvSpPr>
          <p:cNvPr id="27" name="Shape 25"/>
          <p:cNvSpPr/>
          <p:nvPr/>
        </p:nvSpPr>
        <p:spPr>
          <a:xfrm>
            <a:off x="1097280" y="2891219"/>
            <a:ext cx="1261872" cy="97727"/>
          </a:xfrm>
          <a:prstGeom prst="line">
            <a:avLst/>
          </a:prstGeom>
          <a:noFill/>
          <a:ln w="31750">
            <a:solidFill>
              <a:srgbClr val="B8860B"/>
            </a:solidFill>
            <a:prstDash val="solid"/>
          </a:ln>
        </p:spPr>
      </p:sp>
      <p:sp>
        <p:nvSpPr>
          <p:cNvPr id="28" name="Shape 26"/>
          <p:cNvSpPr/>
          <p:nvPr/>
        </p:nvSpPr>
        <p:spPr>
          <a:xfrm>
            <a:off x="2359152" y="2988945"/>
            <a:ext cx="1261872" cy="81439"/>
          </a:xfrm>
          <a:prstGeom prst="line">
            <a:avLst/>
          </a:prstGeom>
          <a:noFill/>
          <a:ln w="31750">
            <a:solidFill>
              <a:srgbClr val="B8860B"/>
            </a:solidFill>
            <a:prstDash val="solid"/>
          </a:ln>
        </p:spPr>
      </p:sp>
      <p:sp>
        <p:nvSpPr>
          <p:cNvPr id="29" name="Shape 27"/>
          <p:cNvSpPr/>
          <p:nvPr/>
        </p:nvSpPr>
        <p:spPr>
          <a:xfrm>
            <a:off x="3621024" y="3070384"/>
            <a:ext cx="1261872" cy="0"/>
          </a:xfrm>
          <a:prstGeom prst="line">
            <a:avLst/>
          </a:prstGeom>
          <a:noFill/>
          <a:ln w="31750">
            <a:solidFill>
              <a:srgbClr val="B8860B"/>
            </a:solidFill>
            <a:prstDash val="solid"/>
          </a:ln>
        </p:spPr>
      </p:sp>
      <p:sp>
        <p:nvSpPr>
          <p:cNvPr id="30" name="Shape 28"/>
          <p:cNvSpPr/>
          <p:nvPr/>
        </p:nvSpPr>
        <p:spPr>
          <a:xfrm>
            <a:off x="4882896" y="2418874"/>
            <a:ext cx="1261872" cy="1319308"/>
          </a:xfrm>
          <a:prstGeom prst="line">
            <a:avLst/>
          </a:prstGeom>
          <a:noFill/>
          <a:ln w="31750">
            <a:solidFill>
              <a:srgbClr val="B8860B"/>
            </a:solidFill>
            <a:prstDash val="solid"/>
          </a:ln>
        </p:spPr>
      </p:sp>
      <p:sp>
        <p:nvSpPr>
          <p:cNvPr id="31" name="Shape 29"/>
          <p:cNvSpPr/>
          <p:nvPr/>
        </p:nvSpPr>
        <p:spPr>
          <a:xfrm>
            <a:off x="6144768" y="3738182"/>
            <a:ext cx="1261872" cy="0"/>
          </a:xfrm>
          <a:prstGeom prst="line">
            <a:avLst/>
          </a:prstGeom>
          <a:noFill/>
          <a:ln w="31750">
            <a:solidFill>
              <a:srgbClr val="B8860B"/>
            </a:solidFill>
            <a:prstDash val="solid"/>
          </a:ln>
        </p:spPr>
      </p:sp>
      <p:sp>
        <p:nvSpPr>
          <p:cNvPr id="32" name="Shape 30"/>
          <p:cNvSpPr/>
          <p:nvPr/>
        </p:nvSpPr>
        <p:spPr>
          <a:xfrm>
            <a:off x="1051560" y="2845499"/>
            <a:ext cx="91440" cy="91440"/>
          </a:xfrm>
          <a:prstGeom prst="ellipse">
            <a:avLst/>
          </a:prstGeom>
          <a:solidFill>
            <a:srgbClr val="B8860B"/>
          </a:solidFill>
          <a:ln w="6350">
            <a:solidFill>
              <a:srgbClr val="FFFFFF"/>
            </a:solidFill>
            <a:prstDash val="solid"/>
          </a:ln>
        </p:spPr>
      </p:sp>
      <p:sp>
        <p:nvSpPr>
          <p:cNvPr id="33" name="Text 31"/>
          <p:cNvSpPr/>
          <p:nvPr/>
        </p:nvSpPr>
        <p:spPr>
          <a:xfrm>
            <a:off x="896112" y="2635187"/>
            <a:ext cx="402336" cy="164592"/>
          </a:xfrm>
          <a:prstGeom prst="rect">
            <a:avLst/>
          </a:prstGeom>
          <a:noFill/>
          <a:ln/>
        </p:spPr>
        <p:txBody>
          <a:bodyPr wrap="square" lIns="0" tIns="0" rIns="0" bIns="0" rtlCol="0" anchor="ctr"/>
          <a:lstStyle/>
          <a:p>
            <a:pPr marL="0" indent="0" algn="ctr">
              <a:buNone/>
            </a:pPr>
            <a:r>
              <a:rPr lang="en-US" sz="680" dirty="0">
                <a:solidFill>
                  <a:srgbClr val="B8860B"/>
                </a:solidFill>
              </a:rPr>
              <a:t>50.6%</a:t>
            </a:r>
            <a:endParaRPr lang="en-US" sz="680" dirty="0"/>
          </a:p>
        </p:txBody>
      </p:sp>
      <p:sp>
        <p:nvSpPr>
          <p:cNvPr id="34" name="Shape 32"/>
          <p:cNvSpPr/>
          <p:nvPr/>
        </p:nvSpPr>
        <p:spPr>
          <a:xfrm>
            <a:off x="2313432" y="2943225"/>
            <a:ext cx="91440" cy="91440"/>
          </a:xfrm>
          <a:prstGeom prst="ellipse">
            <a:avLst/>
          </a:prstGeom>
          <a:solidFill>
            <a:srgbClr val="B8860B"/>
          </a:solidFill>
          <a:ln w="6350">
            <a:solidFill>
              <a:srgbClr val="FFFFFF"/>
            </a:solidFill>
            <a:prstDash val="solid"/>
          </a:ln>
        </p:spPr>
      </p:sp>
      <p:sp>
        <p:nvSpPr>
          <p:cNvPr id="35" name="Text 33"/>
          <p:cNvSpPr/>
          <p:nvPr/>
        </p:nvSpPr>
        <p:spPr>
          <a:xfrm>
            <a:off x="2157984" y="2732913"/>
            <a:ext cx="402336" cy="164592"/>
          </a:xfrm>
          <a:prstGeom prst="rect">
            <a:avLst/>
          </a:prstGeom>
          <a:noFill/>
          <a:ln/>
        </p:spPr>
        <p:txBody>
          <a:bodyPr wrap="square" lIns="0" tIns="0" rIns="0" bIns="0" rtlCol="0" anchor="ctr"/>
          <a:lstStyle/>
          <a:p>
            <a:pPr marL="0" indent="0" algn="ctr">
              <a:buNone/>
            </a:pPr>
            <a:r>
              <a:rPr lang="en-US" sz="680" dirty="0">
                <a:solidFill>
                  <a:srgbClr val="B8860B"/>
                </a:solidFill>
              </a:rPr>
              <a:t>50.0%</a:t>
            </a:r>
            <a:endParaRPr lang="en-US" sz="680" dirty="0"/>
          </a:p>
        </p:txBody>
      </p:sp>
      <p:sp>
        <p:nvSpPr>
          <p:cNvPr id="36" name="Shape 34"/>
          <p:cNvSpPr/>
          <p:nvPr/>
        </p:nvSpPr>
        <p:spPr>
          <a:xfrm>
            <a:off x="3575304" y="3024664"/>
            <a:ext cx="91440" cy="91440"/>
          </a:xfrm>
          <a:prstGeom prst="ellipse">
            <a:avLst/>
          </a:prstGeom>
          <a:solidFill>
            <a:srgbClr val="B8860B"/>
          </a:solidFill>
          <a:ln w="6350">
            <a:solidFill>
              <a:srgbClr val="FFFFFF"/>
            </a:solidFill>
            <a:prstDash val="solid"/>
          </a:ln>
        </p:spPr>
      </p:sp>
      <p:sp>
        <p:nvSpPr>
          <p:cNvPr id="37" name="Text 35"/>
          <p:cNvSpPr/>
          <p:nvPr/>
        </p:nvSpPr>
        <p:spPr>
          <a:xfrm>
            <a:off x="3419856" y="2814352"/>
            <a:ext cx="402336" cy="164592"/>
          </a:xfrm>
          <a:prstGeom prst="rect">
            <a:avLst/>
          </a:prstGeom>
          <a:noFill/>
          <a:ln/>
        </p:spPr>
        <p:txBody>
          <a:bodyPr wrap="square" lIns="0" tIns="0" rIns="0" bIns="0" rtlCol="0" anchor="ctr"/>
          <a:lstStyle/>
          <a:p>
            <a:pPr marL="0" indent="0" algn="ctr">
              <a:buNone/>
            </a:pPr>
            <a:r>
              <a:rPr lang="en-US" sz="680" dirty="0">
                <a:solidFill>
                  <a:srgbClr val="B8860B"/>
                </a:solidFill>
              </a:rPr>
              <a:t>49.5%</a:t>
            </a:r>
            <a:endParaRPr lang="en-US" sz="680" dirty="0"/>
          </a:p>
        </p:txBody>
      </p:sp>
      <p:sp>
        <p:nvSpPr>
          <p:cNvPr id="38" name="Shape 36"/>
          <p:cNvSpPr/>
          <p:nvPr/>
        </p:nvSpPr>
        <p:spPr>
          <a:xfrm>
            <a:off x="4837176" y="2373154"/>
            <a:ext cx="91440" cy="91440"/>
          </a:xfrm>
          <a:prstGeom prst="ellipse">
            <a:avLst/>
          </a:prstGeom>
          <a:solidFill>
            <a:srgbClr val="B8860B"/>
          </a:solidFill>
          <a:ln w="6350">
            <a:solidFill>
              <a:srgbClr val="FFFFFF"/>
            </a:solidFill>
            <a:prstDash val="solid"/>
          </a:ln>
        </p:spPr>
      </p:sp>
      <p:sp>
        <p:nvSpPr>
          <p:cNvPr id="39" name="Text 37"/>
          <p:cNvSpPr/>
          <p:nvPr/>
        </p:nvSpPr>
        <p:spPr>
          <a:xfrm>
            <a:off x="4681728" y="2162842"/>
            <a:ext cx="402336" cy="164592"/>
          </a:xfrm>
          <a:prstGeom prst="rect">
            <a:avLst/>
          </a:prstGeom>
          <a:noFill/>
          <a:ln/>
        </p:spPr>
        <p:txBody>
          <a:bodyPr wrap="square" lIns="0" tIns="0" rIns="0" bIns="0" rtlCol="0" anchor="ctr"/>
          <a:lstStyle/>
          <a:p>
            <a:pPr marL="0" indent="0" algn="ctr">
              <a:buNone/>
            </a:pPr>
            <a:r>
              <a:rPr lang="en-US" sz="680" dirty="0">
                <a:solidFill>
                  <a:srgbClr val="B8860B"/>
                </a:solidFill>
              </a:rPr>
              <a:t>53.5%</a:t>
            </a:r>
            <a:endParaRPr lang="en-US" sz="680" dirty="0"/>
          </a:p>
        </p:txBody>
      </p:sp>
      <p:sp>
        <p:nvSpPr>
          <p:cNvPr id="40" name="Shape 38"/>
          <p:cNvSpPr/>
          <p:nvPr/>
        </p:nvSpPr>
        <p:spPr>
          <a:xfrm>
            <a:off x="6099048" y="3692462"/>
            <a:ext cx="91440" cy="91440"/>
          </a:xfrm>
          <a:prstGeom prst="ellipse">
            <a:avLst/>
          </a:prstGeom>
          <a:solidFill>
            <a:srgbClr val="B8860B"/>
          </a:solidFill>
          <a:ln w="6350">
            <a:solidFill>
              <a:srgbClr val="FFFFFF"/>
            </a:solidFill>
            <a:prstDash val="solid"/>
          </a:ln>
        </p:spPr>
      </p:sp>
      <p:sp>
        <p:nvSpPr>
          <p:cNvPr id="41" name="Text 39"/>
          <p:cNvSpPr/>
          <p:nvPr/>
        </p:nvSpPr>
        <p:spPr>
          <a:xfrm>
            <a:off x="5943600" y="3482150"/>
            <a:ext cx="402336" cy="164592"/>
          </a:xfrm>
          <a:prstGeom prst="rect">
            <a:avLst/>
          </a:prstGeom>
          <a:noFill/>
          <a:ln/>
        </p:spPr>
        <p:txBody>
          <a:bodyPr wrap="square" lIns="0" tIns="0" rIns="0" bIns="0" rtlCol="0" anchor="ctr"/>
          <a:lstStyle/>
          <a:p>
            <a:pPr marL="0" indent="0" algn="ctr">
              <a:buNone/>
            </a:pPr>
            <a:r>
              <a:rPr lang="en-US" sz="680" dirty="0">
                <a:solidFill>
                  <a:srgbClr val="B8860B"/>
                </a:solidFill>
              </a:rPr>
              <a:t>45.4%</a:t>
            </a:r>
            <a:endParaRPr lang="en-US" sz="680" dirty="0"/>
          </a:p>
        </p:txBody>
      </p:sp>
      <p:sp>
        <p:nvSpPr>
          <p:cNvPr id="42" name="Shape 40"/>
          <p:cNvSpPr/>
          <p:nvPr/>
        </p:nvSpPr>
        <p:spPr>
          <a:xfrm>
            <a:off x="7360920" y="2812923"/>
            <a:ext cx="91440" cy="91440"/>
          </a:xfrm>
          <a:prstGeom prst="ellipse">
            <a:avLst/>
          </a:prstGeom>
          <a:solidFill>
            <a:srgbClr val="B8860B"/>
          </a:solidFill>
          <a:ln w="6350">
            <a:solidFill>
              <a:srgbClr val="FFFFFF"/>
            </a:solidFill>
            <a:prstDash val="solid"/>
          </a:ln>
        </p:spPr>
      </p:sp>
      <p:sp>
        <p:nvSpPr>
          <p:cNvPr id="43" name="Text 41"/>
          <p:cNvSpPr/>
          <p:nvPr/>
        </p:nvSpPr>
        <p:spPr>
          <a:xfrm>
            <a:off x="7205472" y="2602611"/>
            <a:ext cx="402336" cy="164592"/>
          </a:xfrm>
          <a:prstGeom prst="rect">
            <a:avLst/>
          </a:prstGeom>
          <a:noFill/>
          <a:ln/>
        </p:spPr>
        <p:txBody>
          <a:bodyPr wrap="square" lIns="0" tIns="0" rIns="0" bIns="0" rtlCol="0" anchor="ctr"/>
          <a:lstStyle/>
          <a:p>
            <a:pPr marL="0" indent="0" algn="ctr">
              <a:buNone/>
            </a:pPr>
            <a:r>
              <a:rPr lang="en-US" sz="680" dirty="0">
                <a:solidFill>
                  <a:srgbClr val="B8860B"/>
                </a:solidFill>
              </a:rPr>
              <a:t>50.8%</a:t>
            </a:r>
            <a:endParaRPr lang="en-US" sz="680" dirty="0"/>
          </a:p>
        </p:txBody>
      </p:sp>
      <p:sp>
        <p:nvSpPr>
          <p:cNvPr id="44" name="Shape 42"/>
          <p:cNvSpPr/>
          <p:nvPr/>
        </p:nvSpPr>
        <p:spPr>
          <a:xfrm>
            <a:off x="1097280" y="1600200"/>
            <a:ext cx="137160" cy="137160"/>
          </a:xfrm>
          <a:prstGeom prst="rect">
            <a:avLst/>
          </a:prstGeom>
          <a:solidFill>
            <a:srgbClr val="087E8B"/>
          </a:solidFill>
          <a:ln w="12700">
            <a:solidFill>
              <a:srgbClr val="087E8B"/>
            </a:solidFill>
            <a:prstDash val="solid"/>
          </a:ln>
        </p:spPr>
      </p:sp>
      <p:sp>
        <p:nvSpPr>
          <p:cNvPr id="45" name="Text 43"/>
          <p:cNvSpPr/>
          <p:nvPr/>
        </p:nvSpPr>
        <p:spPr>
          <a:xfrm>
            <a:off x="127101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Revenue</a:t>
            </a:r>
            <a:endParaRPr lang="en-US" sz="750" dirty="0"/>
          </a:p>
        </p:txBody>
      </p:sp>
      <p:sp>
        <p:nvSpPr>
          <p:cNvPr id="46" name="Shape 44"/>
          <p:cNvSpPr/>
          <p:nvPr/>
        </p:nvSpPr>
        <p:spPr>
          <a:xfrm>
            <a:off x="2011680" y="1600200"/>
            <a:ext cx="137160" cy="137160"/>
          </a:xfrm>
          <a:prstGeom prst="rect">
            <a:avLst/>
          </a:prstGeom>
          <a:solidFill>
            <a:srgbClr val="B8860B"/>
          </a:solidFill>
          <a:ln w="12700">
            <a:solidFill>
              <a:srgbClr val="B8860B"/>
            </a:solidFill>
            <a:prstDash val="solid"/>
          </a:ln>
        </p:spPr>
      </p:sp>
      <p:sp>
        <p:nvSpPr>
          <p:cNvPr id="47" name="Text 45"/>
          <p:cNvSpPr/>
          <p:nvPr/>
        </p:nvSpPr>
        <p:spPr>
          <a:xfrm>
            <a:off x="218541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Gross margin %</a:t>
            </a:r>
            <a:endParaRPr lang="en-US" sz="750" dirty="0"/>
          </a:p>
        </p:txBody>
      </p:sp>
      <p:sp>
        <p:nvSpPr>
          <p:cNvPr id="48" name="Shape 46"/>
          <p:cNvSpPr/>
          <p:nvPr/>
        </p:nvSpPr>
        <p:spPr>
          <a:xfrm>
            <a:off x="3291840" y="1600200"/>
            <a:ext cx="137160" cy="137160"/>
          </a:xfrm>
          <a:prstGeom prst="rect">
            <a:avLst/>
          </a:prstGeom>
          <a:solidFill>
            <a:srgbClr val="B91C1C"/>
          </a:solidFill>
          <a:ln w="12700">
            <a:solidFill>
              <a:srgbClr val="B91C1C"/>
            </a:solidFill>
            <a:prstDash val="solid"/>
          </a:ln>
        </p:spPr>
      </p:sp>
      <p:sp>
        <p:nvSpPr>
          <p:cNvPr id="49" name="Text 47"/>
          <p:cNvSpPr/>
          <p:nvPr/>
        </p:nvSpPr>
        <p:spPr>
          <a:xfrm>
            <a:off x="346557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May warning</a:t>
            </a:r>
            <a:endParaRPr lang="en-US" sz="750" dirty="0"/>
          </a:p>
        </p:txBody>
      </p:sp>
      <p:sp>
        <p:nvSpPr>
          <p:cNvPr id="50" name="Shape 48"/>
          <p:cNvSpPr/>
          <p:nvPr/>
        </p:nvSpPr>
        <p:spPr>
          <a:xfrm>
            <a:off x="8503920" y="1508760"/>
            <a:ext cx="2697480" cy="3246120"/>
          </a:xfrm>
          <a:prstGeom prst="roundRect">
            <a:avLst>
              <a:gd name="adj" fmla="val 2712"/>
            </a:avLst>
          </a:prstGeom>
          <a:solidFill>
            <a:srgbClr val="F6E7C1"/>
          </a:solidFill>
          <a:ln w="8890">
            <a:solidFill>
              <a:srgbClr val="E3C56F"/>
            </a:solidFill>
            <a:prstDash val="solid"/>
          </a:ln>
        </p:spPr>
      </p:sp>
      <p:sp>
        <p:nvSpPr>
          <p:cNvPr id="51" name="Text 49"/>
          <p:cNvSpPr/>
          <p:nvPr/>
        </p:nvSpPr>
        <p:spPr>
          <a:xfrm>
            <a:off x="8732520" y="1783080"/>
            <a:ext cx="2240280" cy="2286000"/>
          </a:xfrm>
          <a:prstGeom prst="rect">
            <a:avLst/>
          </a:prstGeom>
          <a:noFill/>
          <a:ln/>
        </p:spPr>
        <p:txBody>
          <a:bodyPr wrap="square" lIns="635" tIns="635" rIns="635" bIns="635" rtlCol="0" anchor="ctr">
            <a:normAutofit/>
          </a:bodyPr>
          <a:lstStyle/>
          <a:p>
            <a:pPr marL="152400" indent="-152400">
              <a:buSzPct val="100000"/>
              <a:buChar char="•"/>
            </a:pPr>
            <a:r>
              <a:rPr lang="en-US" sz="1050" dirty="0">
                <a:solidFill>
                  <a:srgbClr val="243B53"/>
                </a:solidFill>
              </a:rPr>
              <a:t>April: strongest margin at 53.5%</a:t>
            </a:r>
            <a:endParaRPr lang="en-US" sz="1050" dirty="0"/>
          </a:p>
          <a:p>
            <a:pPr marL="152400" indent="-152400">
              <a:buSzPct val="100000"/>
              <a:buChar char="•"/>
            </a:pPr>
            <a:r>
              <a:rPr lang="en-US" sz="1050" dirty="0">
                <a:solidFill>
                  <a:srgbClr val="243B53"/>
                </a:solidFill>
              </a:rPr>
              <a:t>May: margin falls to 45.4%</a:t>
            </a:r>
            <a:endParaRPr lang="en-US" sz="1050" dirty="0"/>
          </a:p>
          <a:p>
            <a:pPr marL="152400" indent="-152400">
              <a:buSzPct val="100000"/>
              <a:buChar char="•"/>
            </a:pPr>
            <a:r>
              <a:rPr lang="en-US" sz="1050" dirty="0">
                <a:solidFill>
                  <a:srgbClr val="243B53"/>
                </a:solidFill>
              </a:rPr>
              <a:t>June: revenue peaks, but margin only partly recovers</a:t>
            </a:r>
            <a:endParaRPr lang="en-US" sz="1050" dirty="0"/>
          </a:p>
          <a:p>
            <a:pPr marL="152400" indent="-152400">
              <a:buSzPct val="100000"/>
              <a:buChar char="•"/>
            </a:pPr>
            <a:r>
              <a:rPr lang="en-US" sz="1050" dirty="0">
                <a:solidFill>
                  <a:srgbClr val="243B53"/>
                </a:solidFill>
              </a:rPr>
              <a:t>Management should ask what changed in sales quality or cost</a:t>
            </a:r>
            <a:endParaRPr lang="en-US" sz="1050" dirty="0"/>
          </a:p>
        </p:txBody>
      </p:sp>
      <p:sp>
        <p:nvSpPr>
          <p:cNvPr id="52" name="Shape 50"/>
          <p:cNvSpPr/>
          <p:nvPr/>
        </p:nvSpPr>
        <p:spPr>
          <a:xfrm>
            <a:off x="8138160" y="5257800"/>
            <a:ext cx="3291840" cy="749808"/>
          </a:xfrm>
          <a:prstGeom prst="roundRect">
            <a:avLst>
              <a:gd name="adj" fmla="val 6098"/>
            </a:avLst>
          </a:prstGeom>
          <a:solidFill>
            <a:srgbClr val="F6E7C1"/>
          </a:solidFill>
          <a:ln w="8890">
            <a:solidFill>
              <a:srgbClr val="E3C56F"/>
            </a:solidFill>
            <a:prstDash val="solid"/>
          </a:ln>
        </p:spPr>
      </p:sp>
      <p:sp>
        <p:nvSpPr>
          <p:cNvPr id="53" name="Text 51"/>
          <p:cNvSpPr/>
          <p:nvPr/>
        </p:nvSpPr>
        <p:spPr>
          <a:xfrm>
            <a:off x="8302752" y="5330952"/>
            <a:ext cx="296265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54" name="Text 52"/>
          <p:cNvSpPr/>
          <p:nvPr/>
        </p:nvSpPr>
        <p:spPr>
          <a:xfrm>
            <a:off x="8302752" y="5522976"/>
            <a:ext cx="2962656" cy="438912"/>
          </a:xfrm>
          <a:prstGeom prst="rect">
            <a:avLst/>
          </a:prstGeom>
          <a:noFill/>
          <a:ln/>
        </p:spPr>
        <p:txBody>
          <a:bodyPr wrap="square" lIns="0" tIns="0" rIns="0" bIns="0" rtlCol="0" anchor="ctr">
            <a:normAutofit/>
          </a:bodyPr>
          <a:lstStyle/>
          <a:p>
            <a:pPr marL="0" indent="0">
              <a:buNone/>
            </a:pPr>
            <a:r>
              <a:rPr lang="en-US" sz="1050" dirty="0">
                <a:solidFill>
                  <a:srgbClr val="243B53"/>
                </a:solidFill>
              </a:rPr>
              <a:t>Combo analysis separates growth from quality of growth. June looks strong, but April remains the margin benchmark.</a:t>
            </a:r>
            <a:endParaRPr lang="en-US" sz="1050" dirty="0"/>
          </a:p>
        </p:txBody>
      </p:sp>
      <p:sp>
        <p:nvSpPr>
          <p:cNvPr id="55" name="Text 53"/>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56"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QUANTIFYING CHANGE</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Month-over-month variance analysis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3</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70432"/>
          <a:ext cx="11064240" cy="3840480"/>
        </p:xfrm>
        <a:graphic>
          <a:graphicData uri="http://schemas.openxmlformats.org/drawingml/2006/table">
            <a:tbl>
              <a:tblPr/>
              <a:tblGrid>
                <a:gridCol w="2212848">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gridCol w="2212848">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gridCol w="2212848">
                  <a:extLst>
                    <a:ext uri="{9D8B030D-6E8A-4147-A177-3AD203B41FA5}">
                      <a16:colId xmlns:a16="http://schemas.microsoft.com/office/drawing/2014/main" val="20004"/>
                    </a:ext>
                  </a:extLst>
                </a:gridCol>
              </a:tblGrid>
              <a:tr h="480060">
                <a:tc>
                  <a:txBody>
                    <a:bodyPr/>
                    <a:lstStyle/>
                    <a:p>
                      <a:pPr marL="0" indent="0">
                        <a:buNone/>
                      </a:pPr>
                      <a:r>
                        <a:rPr lang="en-US" sz="870" b="1" dirty="0">
                          <a:solidFill>
                            <a:srgbClr val="FFFFFF"/>
                          </a:solidFill>
                          <a:latin typeface="Aptos" pitchFamily="34" charset="0"/>
                          <a:ea typeface="Aptos" pitchFamily="34" charset="-122"/>
                          <a:cs typeface="Aptos" pitchFamily="34" charset="-120"/>
                        </a:rPr>
                        <a:t>Metric</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Apr</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May</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Change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Signal</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480060">
                <a:tc>
                  <a:txBody>
                    <a:bodyPr/>
                    <a:lstStyle/>
                    <a:p>
                      <a:pPr marL="0" indent="0">
                        <a:buNone/>
                      </a:pPr>
                      <a:r>
                        <a:rPr lang="en-US" sz="870" dirty="0">
                          <a:solidFill>
                            <a:srgbClr val="243B53"/>
                          </a:solidFill>
                          <a:latin typeface="Aptos" pitchFamily="34" charset="0"/>
                          <a:ea typeface="Aptos" pitchFamily="34" charset="-122"/>
                          <a:cs typeface="Aptos" pitchFamily="34" charset="-120"/>
                        </a:rPr>
                        <a:t>Revenue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$11,400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$10,800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-$600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Demand / mix concern</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0060">
                <a:tc>
                  <a:txBody>
                    <a:bodyPr/>
                    <a:lstStyle/>
                    <a:p>
                      <a:pPr marL="0" indent="0">
                        <a:buNone/>
                      </a:pPr>
                      <a:r>
                        <a:rPr lang="en-US" sz="870" dirty="0">
                          <a:solidFill>
                            <a:srgbClr val="243B53"/>
                          </a:solidFill>
                          <a:latin typeface="Aptos" pitchFamily="34" charset="0"/>
                          <a:ea typeface="Aptos" pitchFamily="34" charset="-122"/>
                          <a:cs typeface="Aptos" pitchFamily="34" charset="-120"/>
                        </a:rPr>
                        <a:t>Cost</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$5,300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$5,900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+$600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Cost pressure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0060">
                <a:tc>
                  <a:txBody>
                    <a:bodyPr/>
                    <a:lstStyle/>
                    <a:p>
                      <a:pPr marL="0" indent="0">
                        <a:buNone/>
                      </a:pPr>
                      <a:r>
                        <a:rPr lang="en-US" sz="870" dirty="0">
                          <a:solidFill>
                            <a:srgbClr val="243B53"/>
                          </a:solidFill>
                          <a:latin typeface="Aptos" pitchFamily="34" charset="0"/>
                          <a:ea typeface="Aptos" pitchFamily="34" charset="-122"/>
                          <a:cs typeface="Aptos" pitchFamily="34" charset="-120"/>
                        </a:rPr>
                        <a:t>Profit</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$6,100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$4,900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-$1,200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Financial warning</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0060">
                <a:tc>
                  <a:txBody>
                    <a:bodyPr/>
                    <a:lstStyle/>
                    <a:p>
                      <a:pPr marL="0" indent="0">
                        <a:buNone/>
                      </a:pPr>
                      <a:r>
                        <a:rPr lang="en-US" sz="870" dirty="0">
                          <a:solidFill>
                            <a:srgbClr val="243B53"/>
                          </a:solidFill>
                          <a:latin typeface="Aptos" pitchFamily="34" charset="0"/>
                          <a:ea typeface="Aptos" pitchFamily="34" charset="-122"/>
                          <a:cs typeface="Aptos" pitchFamily="34" charset="-120"/>
                        </a:rPr>
                        <a:t>Gross Margin</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53.5%</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45.4%</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-8.1 pts</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Quality of sales warning</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0060">
                <a:tc>
                  <a:txBody>
                    <a:bodyPr/>
                    <a:lstStyle/>
                    <a:p>
                      <a:pPr marL="0" indent="0">
                        <a:buNone/>
                      </a:pPr>
                      <a:r>
                        <a:rPr lang="en-US" sz="870" dirty="0">
                          <a:solidFill>
                            <a:srgbClr val="243B53"/>
                          </a:solidFill>
                          <a:latin typeface="Aptos" pitchFamily="34" charset="0"/>
                          <a:ea typeface="Aptos" pitchFamily="34" charset="-122"/>
                          <a:cs typeface="Aptos" pitchFamily="34" charset="-120"/>
                        </a:rPr>
                        <a:t>AOV</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$45</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$37</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-$8</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Lower basket size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0060">
                <a:tc>
                  <a:txBody>
                    <a:bodyPr/>
                    <a:lstStyle/>
                    <a:p>
                      <a:pPr marL="0" indent="0">
                        <a:buNone/>
                      </a:pPr>
                      <a:r>
                        <a:rPr lang="en-US" sz="870" dirty="0">
                          <a:solidFill>
                            <a:srgbClr val="243B53"/>
                          </a:solidFill>
                          <a:latin typeface="Aptos" pitchFamily="34" charset="0"/>
                          <a:ea typeface="Aptos" pitchFamily="34" charset="-122"/>
                          <a:cs typeface="Aptos" pitchFamily="34" charset="-120"/>
                        </a:rPr>
                        <a:t>Complaints</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19</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31</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+12</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Customer experience issue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80060">
                <a:tc>
                  <a:txBody>
                    <a:bodyPr/>
                    <a:lstStyle/>
                    <a:p>
                      <a:pPr marL="0" indent="0">
                        <a:buNone/>
                      </a:pPr>
                      <a:r>
                        <a:rPr lang="en-US" sz="870" dirty="0">
                          <a:solidFill>
                            <a:srgbClr val="243B53"/>
                          </a:solidFill>
                          <a:latin typeface="Aptos" pitchFamily="34" charset="0"/>
                          <a:ea typeface="Aptos" pitchFamily="34" charset="-122"/>
                          <a:cs typeface="Aptos" pitchFamily="34" charset="-120"/>
                        </a:rPr>
                        <a:t>Repeat Rate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37.7%</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29.8%</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-7.9 pts</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Retention issue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777240" y="5349240"/>
            <a:ext cx="10607040" cy="594360"/>
          </a:xfrm>
          <a:prstGeom prst="roundRect">
            <a:avLst>
              <a:gd name="adj" fmla="val 7692"/>
            </a:avLst>
          </a:prstGeom>
          <a:solidFill>
            <a:srgbClr val="F6E7C1"/>
          </a:solidFill>
          <a:ln w="8890">
            <a:solidFill>
              <a:srgbClr val="E3C56F"/>
            </a:solidFill>
            <a:prstDash val="solid"/>
          </a:ln>
        </p:spPr>
      </p:sp>
      <p:sp>
        <p:nvSpPr>
          <p:cNvPr id="7" name="Text 4"/>
          <p:cNvSpPr/>
          <p:nvPr/>
        </p:nvSpPr>
        <p:spPr>
          <a:xfrm>
            <a:off x="941832" y="5422392"/>
            <a:ext cx="1027785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8" name="Text 5"/>
          <p:cNvSpPr/>
          <p:nvPr/>
        </p:nvSpPr>
        <p:spPr>
          <a:xfrm>
            <a:off x="941832" y="5614416"/>
            <a:ext cx="10277856" cy="283464"/>
          </a:xfrm>
          <a:prstGeom prst="rect">
            <a:avLst/>
          </a:prstGeom>
          <a:noFill/>
          <a:ln/>
        </p:spPr>
        <p:txBody>
          <a:bodyPr wrap="square" lIns="0" tIns="0" rIns="0" bIns="0" rtlCol="0" anchor="ctr">
            <a:normAutofit/>
          </a:bodyPr>
          <a:lstStyle/>
          <a:p>
            <a:pPr marL="0" indent="0">
              <a:buNone/>
            </a:pPr>
            <a:r>
              <a:rPr lang="en-US" sz="1050" dirty="0">
                <a:solidFill>
                  <a:srgbClr val="243B53"/>
                </a:solidFill>
              </a:rPr>
              <a:t>Variance analysis converts “May was worse” into a quantified diagnosis: lower revenue, higher cost, weaker margin, lower basket size, more complaints, and weaker repeat behavior.</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READING MULTIPLE SIGNALS TOGETHER</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May performance warning signs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3</a:t>
            </a:r>
            <a:endParaRPr lang="en-US" sz="800" dirty="0"/>
          </a:p>
        </p:txBody>
      </p:sp>
      <p:sp>
        <p:nvSpPr>
          <p:cNvPr id="5" name="Shape 3"/>
          <p:cNvSpPr/>
          <p:nvPr/>
        </p:nvSpPr>
        <p:spPr>
          <a:xfrm>
            <a:off x="777240" y="123444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6" name="Text 4"/>
          <p:cNvSpPr/>
          <p:nvPr/>
        </p:nvSpPr>
        <p:spPr>
          <a:xfrm>
            <a:off x="914400" y="134416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Revenue</a:t>
            </a:r>
            <a:endParaRPr lang="en-US" sz="800" dirty="0"/>
          </a:p>
        </p:txBody>
      </p:sp>
      <p:sp>
        <p:nvSpPr>
          <p:cNvPr id="7" name="Text 5"/>
          <p:cNvSpPr/>
          <p:nvPr/>
        </p:nvSpPr>
        <p:spPr>
          <a:xfrm>
            <a:off x="914400" y="157276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-$600</a:t>
            </a:r>
            <a:endParaRPr lang="en-US" sz="1700" dirty="0"/>
          </a:p>
        </p:txBody>
      </p:sp>
      <p:sp>
        <p:nvSpPr>
          <p:cNvPr id="8" name="Text 6"/>
          <p:cNvSpPr/>
          <p:nvPr/>
        </p:nvSpPr>
        <p:spPr>
          <a:xfrm>
            <a:off x="1965960" y="166420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9" name="Shape 7"/>
          <p:cNvSpPr/>
          <p:nvPr/>
        </p:nvSpPr>
        <p:spPr>
          <a:xfrm>
            <a:off x="3566160" y="123444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10" name="Text 8"/>
          <p:cNvSpPr/>
          <p:nvPr/>
        </p:nvSpPr>
        <p:spPr>
          <a:xfrm>
            <a:off x="3703320" y="134416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Cost</a:t>
            </a:r>
            <a:endParaRPr lang="en-US" sz="800" dirty="0"/>
          </a:p>
        </p:txBody>
      </p:sp>
      <p:sp>
        <p:nvSpPr>
          <p:cNvPr id="11" name="Text 9"/>
          <p:cNvSpPr/>
          <p:nvPr/>
        </p:nvSpPr>
        <p:spPr>
          <a:xfrm>
            <a:off x="3703320" y="157276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+$600</a:t>
            </a:r>
            <a:endParaRPr lang="en-US" sz="1700" dirty="0"/>
          </a:p>
        </p:txBody>
      </p:sp>
      <p:sp>
        <p:nvSpPr>
          <p:cNvPr id="12" name="Text 10"/>
          <p:cNvSpPr/>
          <p:nvPr/>
        </p:nvSpPr>
        <p:spPr>
          <a:xfrm>
            <a:off x="4754880" y="166420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13" name="Shape 11"/>
          <p:cNvSpPr/>
          <p:nvPr/>
        </p:nvSpPr>
        <p:spPr>
          <a:xfrm>
            <a:off x="6355080" y="123444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14" name="Text 12"/>
          <p:cNvSpPr/>
          <p:nvPr/>
        </p:nvSpPr>
        <p:spPr>
          <a:xfrm>
            <a:off x="6492240" y="134416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Profit</a:t>
            </a:r>
            <a:endParaRPr lang="en-US" sz="800" dirty="0"/>
          </a:p>
        </p:txBody>
      </p:sp>
      <p:sp>
        <p:nvSpPr>
          <p:cNvPr id="15" name="Text 13"/>
          <p:cNvSpPr/>
          <p:nvPr/>
        </p:nvSpPr>
        <p:spPr>
          <a:xfrm>
            <a:off x="6492240" y="157276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-$1,200</a:t>
            </a:r>
            <a:endParaRPr lang="en-US" sz="1700" dirty="0"/>
          </a:p>
        </p:txBody>
      </p:sp>
      <p:sp>
        <p:nvSpPr>
          <p:cNvPr id="16" name="Text 14"/>
          <p:cNvSpPr/>
          <p:nvPr/>
        </p:nvSpPr>
        <p:spPr>
          <a:xfrm>
            <a:off x="7543800" y="166420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17" name="Shape 15"/>
          <p:cNvSpPr/>
          <p:nvPr/>
        </p:nvSpPr>
        <p:spPr>
          <a:xfrm>
            <a:off x="9144000" y="123444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18" name="Text 16"/>
          <p:cNvSpPr/>
          <p:nvPr/>
        </p:nvSpPr>
        <p:spPr>
          <a:xfrm>
            <a:off x="9281160" y="134416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Margin</a:t>
            </a:r>
            <a:endParaRPr lang="en-US" sz="800" dirty="0"/>
          </a:p>
        </p:txBody>
      </p:sp>
      <p:sp>
        <p:nvSpPr>
          <p:cNvPr id="19" name="Text 17"/>
          <p:cNvSpPr/>
          <p:nvPr/>
        </p:nvSpPr>
        <p:spPr>
          <a:xfrm>
            <a:off x="9281160" y="157276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-8.1 pts</a:t>
            </a:r>
            <a:endParaRPr lang="en-US" sz="1700" dirty="0"/>
          </a:p>
        </p:txBody>
      </p:sp>
      <p:sp>
        <p:nvSpPr>
          <p:cNvPr id="20" name="Text 18"/>
          <p:cNvSpPr/>
          <p:nvPr/>
        </p:nvSpPr>
        <p:spPr>
          <a:xfrm>
            <a:off x="10332720" y="166420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21" name="Shape 19"/>
          <p:cNvSpPr/>
          <p:nvPr/>
        </p:nvSpPr>
        <p:spPr>
          <a:xfrm>
            <a:off x="777240" y="256032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22" name="Text 20"/>
          <p:cNvSpPr/>
          <p:nvPr/>
        </p:nvSpPr>
        <p:spPr>
          <a:xfrm>
            <a:off x="914400" y="267004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AOV</a:t>
            </a:r>
            <a:endParaRPr lang="en-US" sz="800" dirty="0"/>
          </a:p>
        </p:txBody>
      </p:sp>
      <p:sp>
        <p:nvSpPr>
          <p:cNvPr id="23" name="Text 21"/>
          <p:cNvSpPr/>
          <p:nvPr/>
        </p:nvSpPr>
        <p:spPr>
          <a:xfrm>
            <a:off x="914400" y="289864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-$8</a:t>
            </a:r>
            <a:endParaRPr lang="en-US" sz="1700" dirty="0"/>
          </a:p>
        </p:txBody>
      </p:sp>
      <p:sp>
        <p:nvSpPr>
          <p:cNvPr id="24" name="Text 22"/>
          <p:cNvSpPr/>
          <p:nvPr/>
        </p:nvSpPr>
        <p:spPr>
          <a:xfrm>
            <a:off x="1965960" y="299008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25" name="Shape 23"/>
          <p:cNvSpPr/>
          <p:nvPr/>
        </p:nvSpPr>
        <p:spPr>
          <a:xfrm>
            <a:off x="3566160" y="256032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26" name="Text 24"/>
          <p:cNvSpPr/>
          <p:nvPr/>
        </p:nvSpPr>
        <p:spPr>
          <a:xfrm>
            <a:off x="3703320" y="267004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Complaints</a:t>
            </a:r>
            <a:endParaRPr lang="en-US" sz="800" dirty="0"/>
          </a:p>
        </p:txBody>
      </p:sp>
      <p:sp>
        <p:nvSpPr>
          <p:cNvPr id="27" name="Text 25"/>
          <p:cNvSpPr/>
          <p:nvPr/>
        </p:nvSpPr>
        <p:spPr>
          <a:xfrm>
            <a:off x="3703320" y="289864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+12</a:t>
            </a:r>
            <a:endParaRPr lang="en-US" sz="1700" dirty="0"/>
          </a:p>
        </p:txBody>
      </p:sp>
      <p:sp>
        <p:nvSpPr>
          <p:cNvPr id="28" name="Text 26"/>
          <p:cNvSpPr/>
          <p:nvPr/>
        </p:nvSpPr>
        <p:spPr>
          <a:xfrm>
            <a:off x="4754880" y="299008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29" name="Shape 27"/>
          <p:cNvSpPr/>
          <p:nvPr/>
        </p:nvSpPr>
        <p:spPr>
          <a:xfrm>
            <a:off x="6355080" y="256032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30" name="Text 28"/>
          <p:cNvSpPr/>
          <p:nvPr/>
        </p:nvSpPr>
        <p:spPr>
          <a:xfrm>
            <a:off x="6492240" y="267004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Repeat rate</a:t>
            </a:r>
            <a:endParaRPr lang="en-US" sz="800" dirty="0"/>
          </a:p>
        </p:txBody>
      </p:sp>
      <p:sp>
        <p:nvSpPr>
          <p:cNvPr id="31" name="Text 29"/>
          <p:cNvSpPr/>
          <p:nvPr/>
        </p:nvSpPr>
        <p:spPr>
          <a:xfrm>
            <a:off x="6492240" y="289864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-7.9 pts</a:t>
            </a:r>
            <a:endParaRPr lang="en-US" sz="1700" dirty="0"/>
          </a:p>
        </p:txBody>
      </p:sp>
      <p:sp>
        <p:nvSpPr>
          <p:cNvPr id="32" name="Text 30"/>
          <p:cNvSpPr/>
          <p:nvPr/>
        </p:nvSpPr>
        <p:spPr>
          <a:xfrm>
            <a:off x="7543800" y="299008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33" name="Shape 31"/>
          <p:cNvSpPr/>
          <p:nvPr/>
        </p:nvSpPr>
        <p:spPr>
          <a:xfrm>
            <a:off x="9144000" y="2560320"/>
            <a:ext cx="2377440" cy="868680"/>
          </a:xfrm>
          <a:prstGeom prst="roundRect">
            <a:avLst>
              <a:gd name="adj" fmla="val 8421"/>
            </a:avLst>
          </a:prstGeom>
          <a:solidFill>
            <a:srgbClr val="FDE2E1"/>
          </a:solidFill>
          <a:ln w="8890">
            <a:solidFill>
              <a:srgbClr val="EEB5B0"/>
            </a:solidFill>
            <a:prstDash val="solid"/>
          </a:ln>
          <a:effectLst>
            <a:outerShdw blurRad="12700" dist="50800" dir="2700000" algn="bl" rotWithShape="0">
              <a:srgbClr val="000000">
                <a:alpha val="12000"/>
              </a:srgbClr>
            </a:outerShdw>
          </a:effectLst>
        </p:spPr>
      </p:sp>
      <p:sp>
        <p:nvSpPr>
          <p:cNvPr id="34" name="Text 32"/>
          <p:cNvSpPr/>
          <p:nvPr/>
        </p:nvSpPr>
        <p:spPr>
          <a:xfrm>
            <a:off x="9281160" y="2670048"/>
            <a:ext cx="2011680" cy="182880"/>
          </a:xfrm>
          <a:prstGeom prst="rect">
            <a:avLst/>
          </a:prstGeom>
          <a:noFill/>
          <a:ln/>
        </p:spPr>
        <p:txBody>
          <a:bodyPr wrap="square" lIns="0" tIns="0" rIns="0" bIns="0" rtlCol="0" anchor="ctr"/>
          <a:lstStyle/>
          <a:p>
            <a:pPr marL="0" indent="0">
              <a:buNone/>
            </a:pPr>
            <a:r>
              <a:rPr lang="en-US" sz="800" b="1" dirty="0">
                <a:solidFill>
                  <a:srgbClr val="627D98"/>
                </a:solidFill>
              </a:rPr>
              <a:t>Stockouts</a:t>
            </a:r>
            <a:endParaRPr lang="en-US" sz="800" dirty="0"/>
          </a:p>
        </p:txBody>
      </p:sp>
      <p:sp>
        <p:nvSpPr>
          <p:cNvPr id="35" name="Text 33"/>
          <p:cNvSpPr/>
          <p:nvPr/>
        </p:nvSpPr>
        <p:spPr>
          <a:xfrm>
            <a:off x="9281160" y="2898648"/>
            <a:ext cx="1051560" cy="292608"/>
          </a:xfrm>
          <a:prstGeom prst="rect">
            <a:avLst/>
          </a:prstGeom>
          <a:noFill/>
          <a:ln/>
        </p:spPr>
        <p:txBody>
          <a:bodyPr wrap="square" lIns="0" tIns="0" rIns="0" bIns="0" rtlCol="0" anchor="ctr"/>
          <a:lstStyle/>
          <a:p>
            <a:pPr marL="0" indent="0">
              <a:buNone/>
            </a:pPr>
            <a:r>
              <a:rPr lang="en-US" sz="1700" b="1" dirty="0">
                <a:solidFill>
                  <a:srgbClr val="B91C1C"/>
                </a:solidFill>
              </a:rPr>
              <a:t>+11</a:t>
            </a:r>
            <a:endParaRPr lang="en-US" sz="1700" dirty="0"/>
          </a:p>
        </p:txBody>
      </p:sp>
      <p:sp>
        <p:nvSpPr>
          <p:cNvPr id="36" name="Text 34"/>
          <p:cNvSpPr/>
          <p:nvPr/>
        </p:nvSpPr>
        <p:spPr>
          <a:xfrm>
            <a:off x="10332720" y="2990088"/>
            <a:ext cx="1005840" cy="164592"/>
          </a:xfrm>
          <a:prstGeom prst="rect">
            <a:avLst/>
          </a:prstGeom>
          <a:noFill/>
          <a:ln/>
        </p:spPr>
        <p:txBody>
          <a:bodyPr wrap="square" lIns="0" tIns="0" rIns="0" bIns="0" rtlCol="0" anchor="ctr"/>
          <a:lstStyle/>
          <a:p>
            <a:pPr marL="0" indent="0">
              <a:buNone/>
            </a:pPr>
            <a:r>
              <a:rPr lang="en-US" sz="750" dirty="0">
                <a:solidFill>
                  <a:srgbClr val="243B53"/>
                </a:solidFill>
              </a:rPr>
              <a:t>from Apr</a:t>
            </a:r>
            <a:endParaRPr lang="en-US" sz="750" dirty="0"/>
          </a:p>
        </p:txBody>
      </p:sp>
      <p:sp>
        <p:nvSpPr>
          <p:cNvPr id="37" name="Shape 35"/>
          <p:cNvSpPr/>
          <p:nvPr/>
        </p:nvSpPr>
        <p:spPr>
          <a:xfrm>
            <a:off x="914400" y="4251960"/>
            <a:ext cx="10287000" cy="685800"/>
          </a:xfrm>
          <a:prstGeom prst="roundRect">
            <a:avLst>
              <a:gd name="adj" fmla="val 10667"/>
            </a:avLst>
          </a:prstGeom>
          <a:solidFill>
            <a:srgbClr val="FFFFFF"/>
          </a:solidFill>
          <a:ln w="8890">
            <a:solidFill>
              <a:srgbClr val="D8CAB7"/>
            </a:solidFill>
            <a:prstDash val="solid"/>
          </a:ln>
        </p:spPr>
      </p:sp>
      <p:sp>
        <p:nvSpPr>
          <p:cNvPr id="38" name="Text 36"/>
          <p:cNvSpPr/>
          <p:nvPr/>
        </p:nvSpPr>
        <p:spPr>
          <a:xfrm>
            <a:off x="1143000" y="4480560"/>
            <a:ext cx="9829800" cy="201168"/>
          </a:xfrm>
          <a:prstGeom prst="rect">
            <a:avLst/>
          </a:prstGeom>
          <a:noFill/>
          <a:ln/>
        </p:spPr>
        <p:txBody>
          <a:bodyPr wrap="square" lIns="0" tIns="0" rIns="0" bIns="0" rtlCol="0" anchor="ctr"/>
          <a:lstStyle/>
          <a:p>
            <a:pPr marL="0" indent="0" algn="ctr">
              <a:buNone/>
            </a:pPr>
            <a:r>
              <a:rPr lang="en-US" sz="1300" b="1" dirty="0">
                <a:solidFill>
                  <a:srgbClr val="102A43"/>
                </a:solidFill>
              </a:rPr>
              <a:t>Serious analysis pattern: if financial, customer, and operational indicators worsen together, investigate a system issue before blaming marketing alone.</a:t>
            </a:r>
            <a:endParaRPr lang="en-US" sz="1300" dirty="0"/>
          </a:p>
        </p:txBody>
      </p:sp>
      <p:sp>
        <p:nvSpPr>
          <p:cNvPr id="39" name="Shape 37"/>
          <p:cNvSpPr/>
          <p:nvPr/>
        </p:nvSpPr>
        <p:spPr>
          <a:xfrm>
            <a:off x="822960" y="5257800"/>
            <a:ext cx="10424160" cy="640080"/>
          </a:xfrm>
          <a:prstGeom prst="roundRect">
            <a:avLst>
              <a:gd name="adj" fmla="val 7143"/>
            </a:avLst>
          </a:prstGeom>
          <a:solidFill>
            <a:srgbClr val="F6E7C1"/>
          </a:solidFill>
          <a:ln w="8890">
            <a:solidFill>
              <a:srgbClr val="E3C56F"/>
            </a:solidFill>
            <a:prstDash val="solid"/>
          </a:ln>
        </p:spPr>
      </p:sp>
      <p:sp>
        <p:nvSpPr>
          <p:cNvPr id="40" name="Text 38"/>
          <p:cNvSpPr/>
          <p:nvPr/>
        </p:nvSpPr>
        <p:spPr>
          <a:xfrm>
            <a:off x="987552" y="533095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41" name="Text 39"/>
          <p:cNvSpPr/>
          <p:nvPr/>
        </p:nvSpPr>
        <p:spPr>
          <a:xfrm>
            <a:off x="987552" y="5522976"/>
            <a:ext cx="100949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May is a cluster of warning signs. The risk is not one weak metric; it is several related metrics moving in the wrong direction at once.</a:t>
            </a:r>
            <a:endParaRPr lang="en-US" sz="1050" dirty="0"/>
          </a:p>
        </p:txBody>
      </p:sp>
      <p:sp>
        <p:nvSpPr>
          <p:cNvPr id="42"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VARIANCE HEATMAP</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April-to-May heatmap table</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3</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 y="1133856"/>
          <a:ext cx="10972800" cy="3794760"/>
        </p:xfrm>
        <a:graphic>
          <a:graphicData uri="http://schemas.openxmlformats.org/drawingml/2006/table">
            <a:tbl>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21640">
                <a:tc>
                  <a:txBody>
                    <a:bodyPr/>
                    <a:lstStyle/>
                    <a:p>
                      <a:pPr marL="0" indent="0">
                        <a:buNone/>
                      </a:pPr>
                      <a:r>
                        <a:rPr lang="en-US" sz="860" b="1" dirty="0">
                          <a:solidFill>
                            <a:srgbClr val="FFFFFF"/>
                          </a:solidFill>
                          <a:latin typeface="Aptos" pitchFamily="34" charset="0"/>
                          <a:ea typeface="Aptos" pitchFamily="34" charset="-122"/>
                          <a:cs typeface="Aptos" pitchFamily="34" charset="-120"/>
                        </a:rPr>
                        <a:t>Metric</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60" b="1" dirty="0">
                          <a:solidFill>
                            <a:srgbClr val="FFFFFF"/>
                          </a:solidFill>
                          <a:latin typeface="Aptos" pitchFamily="34" charset="0"/>
                          <a:ea typeface="Aptos" pitchFamily="34" charset="-122"/>
                          <a:cs typeface="Aptos" pitchFamily="34" charset="-120"/>
                        </a:rPr>
                        <a:t>April</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60" b="1" dirty="0">
                          <a:solidFill>
                            <a:srgbClr val="FFFFFF"/>
                          </a:solidFill>
                          <a:latin typeface="Aptos" pitchFamily="34" charset="0"/>
                          <a:ea typeface="Aptos" pitchFamily="34" charset="-122"/>
                          <a:cs typeface="Aptos" pitchFamily="34" charset="-120"/>
                        </a:rPr>
                        <a:t>May</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60" b="1" dirty="0">
                          <a:solidFill>
                            <a:srgbClr val="FFFFFF"/>
                          </a:solidFill>
                          <a:latin typeface="Aptos" pitchFamily="34" charset="0"/>
                          <a:ea typeface="Aptos" pitchFamily="34" charset="-122"/>
                          <a:cs typeface="Aptos" pitchFamily="34" charset="-120"/>
                        </a:rPr>
                        <a:t>Change</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60" b="1" dirty="0">
                          <a:solidFill>
                            <a:srgbClr val="FFFFFF"/>
                          </a:solidFill>
                          <a:latin typeface="Aptos" pitchFamily="34" charset="0"/>
                          <a:ea typeface="Aptos" pitchFamily="34" charset="-122"/>
                          <a:cs typeface="Aptos" pitchFamily="34" charset="-120"/>
                        </a:rPr>
                        <a:t>Interpretation</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Revenue</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$11,400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$10,800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-$600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Cost</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$5,300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$5,900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+$600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Profit</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$6,100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$4,900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-$1,200</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Gross Margin</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53.5%</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45.4%</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-8.1 pts</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AOV</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$45</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$37</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-$8</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Complaints</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19</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31</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+12</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Repeat Rate</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37.7%</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29.8%</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-7.9 pts</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1640">
                <a:tc>
                  <a:txBody>
                    <a:bodyPr/>
                    <a:lstStyle/>
                    <a:p>
                      <a:pPr marL="0" indent="0">
                        <a:buNone/>
                      </a:pPr>
                      <a:r>
                        <a:rPr lang="en-US" sz="860" dirty="0">
                          <a:solidFill>
                            <a:srgbClr val="243B53"/>
                          </a:solidFill>
                          <a:latin typeface="Aptos" pitchFamily="34" charset="0"/>
                          <a:ea typeface="Aptos" pitchFamily="34" charset="-122"/>
                          <a:cs typeface="Aptos" pitchFamily="34" charset="-120"/>
                        </a:rPr>
                        <a:t>Stockouts</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5</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16</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+11</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60" dirty="0">
                          <a:solidFill>
                            <a:srgbClr val="243B53"/>
                          </a:solidFill>
                          <a:latin typeface="Aptos" pitchFamily="34" charset="0"/>
                          <a:ea typeface="Aptos" pitchFamily="34" charset="-122"/>
                          <a:cs typeface="Aptos" pitchFamily="34" charset="-120"/>
                        </a:rPr>
                        <a:t>Bad</a:t>
                      </a:r>
                      <a:endParaRPr lang="en-US" sz="86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hape 3"/>
          <p:cNvSpPr/>
          <p:nvPr/>
        </p:nvSpPr>
        <p:spPr>
          <a:xfrm>
            <a:off x="6327648" y="1700784"/>
            <a:ext cx="1993392" cy="3154680"/>
          </a:xfrm>
          <a:prstGeom prst="rect">
            <a:avLst/>
          </a:prstGeom>
          <a:solidFill>
            <a:srgbClr val="FDE2E1">
              <a:alpha val="76000"/>
            </a:srgbClr>
          </a:solidFill>
          <a:ln w="12700">
            <a:solidFill>
              <a:srgbClr val="FFFFFF">
                <a:alpha val="0"/>
              </a:srgbClr>
            </a:solidFill>
            <a:prstDash val="solid"/>
          </a:ln>
        </p:spPr>
      </p:sp>
      <p:sp>
        <p:nvSpPr>
          <p:cNvPr id="7" name="Shape 4"/>
          <p:cNvSpPr/>
          <p:nvPr/>
        </p:nvSpPr>
        <p:spPr>
          <a:xfrm>
            <a:off x="8302752" y="1700784"/>
            <a:ext cx="3246120" cy="3154680"/>
          </a:xfrm>
          <a:prstGeom prst="rect">
            <a:avLst/>
          </a:prstGeom>
          <a:solidFill>
            <a:srgbClr val="FDE2E1">
              <a:alpha val="65000"/>
            </a:srgbClr>
          </a:solidFill>
          <a:ln w="12700">
            <a:solidFill>
              <a:srgbClr val="FFFFFF">
                <a:alpha val="0"/>
              </a:srgbClr>
            </a:solidFill>
            <a:prstDash val="solid"/>
          </a:ln>
        </p:spPr>
      </p:sp>
      <p:sp>
        <p:nvSpPr>
          <p:cNvPr id="8" name="Shape 5"/>
          <p:cNvSpPr/>
          <p:nvPr/>
        </p:nvSpPr>
        <p:spPr>
          <a:xfrm>
            <a:off x="822960" y="5257800"/>
            <a:ext cx="10424160" cy="640080"/>
          </a:xfrm>
          <a:prstGeom prst="roundRect">
            <a:avLst>
              <a:gd name="adj" fmla="val 7143"/>
            </a:avLst>
          </a:prstGeom>
          <a:solidFill>
            <a:srgbClr val="F6E7C1"/>
          </a:solidFill>
          <a:ln w="8890">
            <a:solidFill>
              <a:srgbClr val="E3C56F"/>
            </a:solidFill>
            <a:prstDash val="solid"/>
          </a:ln>
        </p:spPr>
      </p:sp>
      <p:sp>
        <p:nvSpPr>
          <p:cNvPr id="9" name="Text 6"/>
          <p:cNvSpPr/>
          <p:nvPr/>
        </p:nvSpPr>
        <p:spPr>
          <a:xfrm>
            <a:off x="987552" y="533095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10" name="Text 7"/>
          <p:cNvSpPr/>
          <p:nvPr/>
        </p:nvSpPr>
        <p:spPr>
          <a:xfrm>
            <a:off x="987552" y="5522976"/>
            <a:ext cx="100949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A heatmap makes the May problem visible quickly: nearly every key indicator deteriorated at the same time.</a:t>
            </a:r>
            <a:endParaRPr lang="en-US" sz="1050" dirty="0"/>
          </a:p>
        </p:txBody>
      </p:sp>
      <p:sp>
        <p:nvSpPr>
          <p:cNvPr id="11" name="Text 8"/>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FINANCIAL BRIDGE</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Profit waterfall: why May profit dropped</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3</a:t>
            </a:r>
            <a:endParaRPr lang="en-US" sz="800" dirty="0"/>
          </a:p>
        </p:txBody>
      </p:sp>
      <p:sp>
        <p:nvSpPr>
          <p:cNvPr id="5" name="Shape 3"/>
          <p:cNvSpPr/>
          <p:nvPr/>
        </p:nvSpPr>
        <p:spPr>
          <a:xfrm>
            <a:off x="777240" y="1188720"/>
            <a:ext cx="7680960" cy="4160520"/>
          </a:xfrm>
          <a:prstGeom prst="roundRect">
            <a:avLst>
              <a:gd name="adj" fmla="val 1758"/>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143000" y="2163862"/>
            <a:ext cx="1051560" cy="2270978"/>
          </a:xfrm>
          <a:prstGeom prst="rect">
            <a:avLst/>
          </a:prstGeom>
          <a:solidFill>
            <a:srgbClr val="2E7D32"/>
          </a:solidFill>
          <a:ln w="12700">
            <a:solidFill>
              <a:srgbClr val="2E7D32"/>
            </a:solidFill>
            <a:prstDash val="solid"/>
          </a:ln>
        </p:spPr>
      </p:sp>
      <p:sp>
        <p:nvSpPr>
          <p:cNvPr id="7" name="Text 5"/>
          <p:cNvSpPr/>
          <p:nvPr/>
        </p:nvSpPr>
        <p:spPr>
          <a:xfrm>
            <a:off x="1097280" y="1935262"/>
            <a:ext cx="1143000" cy="182880"/>
          </a:xfrm>
          <a:prstGeom prst="rect">
            <a:avLst/>
          </a:prstGeom>
          <a:noFill/>
          <a:ln/>
        </p:spPr>
        <p:txBody>
          <a:bodyPr wrap="square" lIns="0" tIns="0" rIns="0" bIns="0" rtlCol="0" anchor="ctr"/>
          <a:lstStyle/>
          <a:p>
            <a:pPr marL="0" indent="0" algn="ctr">
              <a:buNone/>
            </a:pPr>
            <a:r>
              <a:rPr lang="en-US" sz="800" b="1" dirty="0">
                <a:solidFill>
                  <a:srgbClr val="243B53"/>
                </a:solidFill>
              </a:rPr>
              <a:t>$6,100</a:t>
            </a:r>
            <a:endParaRPr lang="en-US" sz="800" dirty="0"/>
          </a:p>
        </p:txBody>
      </p:sp>
      <p:sp>
        <p:nvSpPr>
          <p:cNvPr id="8" name="Shape 6"/>
          <p:cNvSpPr/>
          <p:nvPr/>
        </p:nvSpPr>
        <p:spPr>
          <a:xfrm>
            <a:off x="2880360" y="2163862"/>
            <a:ext cx="1051560" cy="223375"/>
          </a:xfrm>
          <a:prstGeom prst="rect">
            <a:avLst/>
          </a:prstGeom>
          <a:solidFill>
            <a:srgbClr val="B91C1C"/>
          </a:solidFill>
          <a:ln w="12700">
            <a:solidFill>
              <a:srgbClr val="B91C1C"/>
            </a:solidFill>
            <a:prstDash val="solid"/>
          </a:ln>
        </p:spPr>
      </p:sp>
      <p:sp>
        <p:nvSpPr>
          <p:cNvPr id="9" name="Text 7"/>
          <p:cNvSpPr/>
          <p:nvPr/>
        </p:nvSpPr>
        <p:spPr>
          <a:xfrm>
            <a:off x="2834640" y="1935262"/>
            <a:ext cx="1143000" cy="182880"/>
          </a:xfrm>
          <a:prstGeom prst="rect">
            <a:avLst/>
          </a:prstGeom>
          <a:noFill/>
          <a:ln/>
        </p:spPr>
        <p:txBody>
          <a:bodyPr wrap="square" lIns="0" tIns="0" rIns="0" bIns="0" rtlCol="0" anchor="ctr"/>
          <a:lstStyle/>
          <a:p>
            <a:pPr marL="0" indent="0" algn="ctr">
              <a:buNone/>
            </a:pPr>
            <a:r>
              <a:rPr lang="en-US" sz="800" b="1" dirty="0">
                <a:solidFill>
                  <a:srgbClr val="B91C1C"/>
                </a:solidFill>
              </a:rPr>
              <a:t>-$600</a:t>
            </a:r>
            <a:endParaRPr lang="en-US" sz="800" dirty="0"/>
          </a:p>
        </p:txBody>
      </p:sp>
      <p:sp>
        <p:nvSpPr>
          <p:cNvPr id="10" name="Shape 8"/>
          <p:cNvSpPr/>
          <p:nvPr/>
        </p:nvSpPr>
        <p:spPr>
          <a:xfrm>
            <a:off x="4617720" y="2387237"/>
            <a:ext cx="1051560" cy="223375"/>
          </a:xfrm>
          <a:prstGeom prst="rect">
            <a:avLst/>
          </a:prstGeom>
          <a:solidFill>
            <a:srgbClr val="B91C1C"/>
          </a:solidFill>
          <a:ln w="12700">
            <a:solidFill>
              <a:srgbClr val="B91C1C"/>
            </a:solidFill>
            <a:prstDash val="solid"/>
          </a:ln>
        </p:spPr>
      </p:sp>
      <p:sp>
        <p:nvSpPr>
          <p:cNvPr id="11" name="Text 9"/>
          <p:cNvSpPr/>
          <p:nvPr/>
        </p:nvSpPr>
        <p:spPr>
          <a:xfrm>
            <a:off x="4572000" y="2158637"/>
            <a:ext cx="1143000" cy="182880"/>
          </a:xfrm>
          <a:prstGeom prst="rect">
            <a:avLst/>
          </a:prstGeom>
          <a:noFill/>
          <a:ln/>
        </p:spPr>
        <p:txBody>
          <a:bodyPr wrap="square" lIns="0" tIns="0" rIns="0" bIns="0" rtlCol="0" anchor="ctr"/>
          <a:lstStyle/>
          <a:p>
            <a:pPr marL="0" indent="0" algn="ctr">
              <a:buNone/>
            </a:pPr>
            <a:r>
              <a:rPr lang="en-US" sz="800" b="1" dirty="0">
                <a:solidFill>
                  <a:srgbClr val="B91C1C"/>
                </a:solidFill>
              </a:rPr>
              <a:t>-$600</a:t>
            </a:r>
            <a:endParaRPr lang="en-US" sz="800" dirty="0"/>
          </a:p>
        </p:txBody>
      </p:sp>
      <p:sp>
        <p:nvSpPr>
          <p:cNvPr id="12" name="Shape 10"/>
          <p:cNvSpPr/>
          <p:nvPr/>
        </p:nvSpPr>
        <p:spPr>
          <a:xfrm>
            <a:off x="6355080" y="2610612"/>
            <a:ext cx="1051560" cy="1824228"/>
          </a:xfrm>
          <a:prstGeom prst="rect">
            <a:avLst/>
          </a:prstGeom>
          <a:solidFill>
            <a:srgbClr val="B8860B"/>
          </a:solidFill>
          <a:ln w="12700">
            <a:solidFill>
              <a:srgbClr val="B8860B"/>
            </a:solidFill>
            <a:prstDash val="solid"/>
          </a:ln>
        </p:spPr>
      </p:sp>
      <p:sp>
        <p:nvSpPr>
          <p:cNvPr id="13" name="Text 11"/>
          <p:cNvSpPr/>
          <p:nvPr/>
        </p:nvSpPr>
        <p:spPr>
          <a:xfrm>
            <a:off x="6309360" y="2382012"/>
            <a:ext cx="1143000" cy="182880"/>
          </a:xfrm>
          <a:prstGeom prst="rect">
            <a:avLst/>
          </a:prstGeom>
          <a:noFill/>
          <a:ln/>
        </p:spPr>
        <p:txBody>
          <a:bodyPr wrap="square" lIns="0" tIns="0" rIns="0" bIns="0" rtlCol="0" anchor="ctr"/>
          <a:lstStyle/>
          <a:p>
            <a:pPr marL="0" indent="0" algn="ctr">
              <a:buNone/>
            </a:pPr>
            <a:r>
              <a:rPr lang="en-US" sz="800" b="1" dirty="0">
                <a:solidFill>
                  <a:srgbClr val="243B53"/>
                </a:solidFill>
              </a:rPr>
              <a:t>$4,900</a:t>
            </a:r>
            <a:endParaRPr lang="en-US" sz="800" dirty="0"/>
          </a:p>
        </p:txBody>
      </p:sp>
      <p:sp>
        <p:nvSpPr>
          <p:cNvPr id="14" name="Text 12"/>
          <p:cNvSpPr/>
          <p:nvPr/>
        </p:nvSpPr>
        <p:spPr>
          <a:xfrm>
            <a:off x="1097280" y="4507992"/>
            <a:ext cx="1143000" cy="384048"/>
          </a:xfrm>
          <a:prstGeom prst="rect">
            <a:avLst/>
          </a:prstGeom>
          <a:noFill/>
          <a:ln/>
        </p:spPr>
        <p:txBody>
          <a:bodyPr wrap="square" lIns="0" tIns="0" rIns="0" bIns="0" rtlCol="0" anchor="ctr">
            <a:normAutofit/>
          </a:bodyPr>
          <a:lstStyle/>
          <a:p>
            <a:pPr marL="0" indent="0" algn="ctr">
              <a:buNone/>
            </a:pPr>
            <a:r>
              <a:rPr lang="en-US" sz="800" dirty="0">
                <a:solidFill>
                  <a:srgbClr val="627D98"/>
                </a:solidFill>
              </a:rPr>
              <a:t>April</a:t>
            </a:r>
            <a:endParaRPr lang="en-US" sz="800" dirty="0"/>
          </a:p>
          <a:p>
            <a:pPr marL="0" indent="0" algn="ctr">
              <a:buNone/>
            </a:pPr>
            <a:r>
              <a:rPr lang="en-US" sz="800" dirty="0">
                <a:solidFill>
                  <a:srgbClr val="627D98"/>
                </a:solidFill>
              </a:rPr>
              <a:t>Profit</a:t>
            </a:r>
            <a:endParaRPr lang="en-US" sz="800" dirty="0"/>
          </a:p>
        </p:txBody>
      </p:sp>
      <p:sp>
        <p:nvSpPr>
          <p:cNvPr id="15" name="Text 13"/>
          <p:cNvSpPr/>
          <p:nvPr/>
        </p:nvSpPr>
        <p:spPr>
          <a:xfrm>
            <a:off x="2834640" y="4507992"/>
            <a:ext cx="1143000" cy="384048"/>
          </a:xfrm>
          <a:prstGeom prst="rect">
            <a:avLst/>
          </a:prstGeom>
          <a:noFill/>
          <a:ln/>
        </p:spPr>
        <p:txBody>
          <a:bodyPr wrap="square" lIns="0" tIns="0" rIns="0" bIns="0" rtlCol="0" anchor="ctr">
            <a:normAutofit/>
          </a:bodyPr>
          <a:lstStyle/>
          <a:p>
            <a:pPr marL="0" indent="0" algn="ctr">
              <a:buNone/>
            </a:pPr>
            <a:r>
              <a:rPr lang="en-US" sz="800" dirty="0">
                <a:solidFill>
                  <a:srgbClr val="627D98"/>
                </a:solidFill>
              </a:rPr>
              <a:t>Revenue</a:t>
            </a:r>
            <a:endParaRPr lang="en-US" sz="800" dirty="0"/>
          </a:p>
          <a:p>
            <a:pPr marL="0" indent="0" algn="ctr">
              <a:buNone/>
            </a:pPr>
            <a:r>
              <a:rPr lang="en-US" sz="800" dirty="0">
                <a:solidFill>
                  <a:srgbClr val="627D98"/>
                </a:solidFill>
              </a:rPr>
              <a:t>Drop</a:t>
            </a:r>
            <a:endParaRPr lang="en-US" sz="800" dirty="0"/>
          </a:p>
        </p:txBody>
      </p:sp>
      <p:sp>
        <p:nvSpPr>
          <p:cNvPr id="16" name="Text 14"/>
          <p:cNvSpPr/>
          <p:nvPr/>
        </p:nvSpPr>
        <p:spPr>
          <a:xfrm>
            <a:off x="4572000" y="4507992"/>
            <a:ext cx="1143000" cy="384048"/>
          </a:xfrm>
          <a:prstGeom prst="rect">
            <a:avLst/>
          </a:prstGeom>
          <a:noFill/>
          <a:ln/>
        </p:spPr>
        <p:txBody>
          <a:bodyPr wrap="square" lIns="0" tIns="0" rIns="0" bIns="0" rtlCol="0" anchor="ctr">
            <a:normAutofit/>
          </a:bodyPr>
          <a:lstStyle/>
          <a:p>
            <a:pPr marL="0" indent="0" algn="ctr">
              <a:buNone/>
            </a:pPr>
            <a:r>
              <a:rPr lang="en-US" sz="800" dirty="0">
                <a:solidFill>
                  <a:srgbClr val="627D98"/>
                </a:solidFill>
              </a:rPr>
              <a:t>Cost</a:t>
            </a:r>
            <a:endParaRPr lang="en-US" sz="800" dirty="0"/>
          </a:p>
          <a:p>
            <a:pPr marL="0" indent="0" algn="ctr">
              <a:buNone/>
            </a:pPr>
            <a:r>
              <a:rPr lang="en-US" sz="800" dirty="0">
                <a:solidFill>
                  <a:srgbClr val="627D98"/>
                </a:solidFill>
              </a:rPr>
              <a:t>Increase</a:t>
            </a:r>
            <a:endParaRPr lang="en-US" sz="800" dirty="0"/>
          </a:p>
        </p:txBody>
      </p:sp>
      <p:sp>
        <p:nvSpPr>
          <p:cNvPr id="17" name="Text 15"/>
          <p:cNvSpPr/>
          <p:nvPr/>
        </p:nvSpPr>
        <p:spPr>
          <a:xfrm>
            <a:off x="6309360" y="4507992"/>
            <a:ext cx="1143000" cy="384048"/>
          </a:xfrm>
          <a:prstGeom prst="rect">
            <a:avLst/>
          </a:prstGeom>
          <a:noFill/>
          <a:ln/>
        </p:spPr>
        <p:txBody>
          <a:bodyPr wrap="square" lIns="0" tIns="0" rIns="0" bIns="0" rtlCol="0" anchor="ctr">
            <a:normAutofit/>
          </a:bodyPr>
          <a:lstStyle/>
          <a:p>
            <a:pPr marL="0" indent="0" algn="ctr">
              <a:buNone/>
            </a:pPr>
            <a:r>
              <a:rPr lang="en-US" sz="800" dirty="0">
                <a:solidFill>
                  <a:srgbClr val="627D98"/>
                </a:solidFill>
              </a:rPr>
              <a:t>May</a:t>
            </a:r>
            <a:endParaRPr lang="en-US" sz="800" dirty="0"/>
          </a:p>
          <a:p>
            <a:pPr marL="0" indent="0" algn="ctr">
              <a:buNone/>
            </a:pPr>
            <a:r>
              <a:rPr lang="en-US" sz="800" dirty="0">
                <a:solidFill>
                  <a:srgbClr val="627D98"/>
                </a:solidFill>
              </a:rPr>
              <a:t>Profit</a:t>
            </a:r>
            <a:endParaRPr lang="en-US" sz="800" dirty="0"/>
          </a:p>
        </p:txBody>
      </p:sp>
      <p:sp>
        <p:nvSpPr>
          <p:cNvPr id="18" name="Shape 16"/>
          <p:cNvSpPr/>
          <p:nvPr/>
        </p:nvSpPr>
        <p:spPr>
          <a:xfrm>
            <a:off x="1143000" y="4434840"/>
            <a:ext cx="6537960" cy="0"/>
          </a:xfrm>
          <a:prstGeom prst="line">
            <a:avLst/>
          </a:prstGeom>
          <a:noFill/>
          <a:ln w="10160">
            <a:solidFill>
              <a:srgbClr val="A8A29E"/>
            </a:solidFill>
            <a:prstDash val="solid"/>
          </a:ln>
        </p:spPr>
      </p:sp>
      <p:sp>
        <p:nvSpPr>
          <p:cNvPr id="19" name="Shape 17"/>
          <p:cNvSpPr/>
          <p:nvPr/>
        </p:nvSpPr>
        <p:spPr>
          <a:xfrm>
            <a:off x="8732520" y="1508760"/>
            <a:ext cx="2468880" cy="3383280"/>
          </a:xfrm>
          <a:prstGeom prst="roundRect">
            <a:avLst>
              <a:gd name="adj" fmla="val 2963"/>
            </a:avLst>
          </a:prstGeom>
          <a:solidFill>
            <a:srgbClr val="FDE2E1"/>
          </a:solidFill>
          <a:ln w="8890">
            <a:solidFill>
              <a:srgbClr val="EEB5B0"/>
            </a:solidFill>
            <a:prstDash val="solid"/>
          </a:ln>
        </p:spPr>
      </p:sp>
      <p:sp>
        <p:nvSpPr>
          <p:cNvPr id="20" name="Text 18"/>
          <p:cNvSpPr/>
          <p:nvPr/>
        </p:nvSpPr>
        <p:spPr>
          <a:xfrm>
            <a:off x="8942832" y="1783080"/>
            <a:ext cx="2057400" cy="2331720"/>
          </a:xfrm>
          <a:prstGeom prst="rect">
            <a:avLst/>
          </a:prstGeom>
          <a:noFill/>
          <a:ln/>
        </p:spPr>
        <p:txBody>
          <a:bodyPr wrap="square" lIns="635" tIns="635" rIns="635" bIns="635" rtlCol="0" anchor="ctr">
            <a:normAutofit/>
          </a:bodyPr>
          <a:lstStyle/>
          <a:p>
            <a:pPr marL="152400" indent="-152400">
              <a:buSzPct val="100000"/>
              <a:buChar char="•"/>
            </a:pPr>
            <a:r>
              <a:rPr lang="en-US" sz="1060" dirty="0">
                <a:solidFill>
                  <a:srgbClr val="243B53"/>
                </a:solidFill>
              </a:rPr>
              <a:t>April profit: $6,100</a:t>
            </a:r>
            <a:endParaRPr lang="en-US" sz="1060" dirty="0"/>
          </a:p>
          <a:p>
            <a:pPr marL="152400" indent="-152400">
              <a:buSzPct val="100000"/>
              <a:buChar char="•"/>
            </a:pPr>
            <a:r>
              <a:rPr lang="en-US" sz="1060" dirty="0">
                <a:solidFill>
                  <a:srgbClr val="243B53"/>
                </a:solidFill>
              </a:rPr>
              <a:t>Revenue decline removes $600</a:t>
            </a:r>
            <a:endParaRPr lang="en-US" sz="1060" dirty="0"/>
          </a:p>
          <a:p>
            <a:pPr marL="152400" indent="-152400">
              <a:buSzPct val="100000"/>
              <a:buChar char="•"/>
            </a:pPr>
            <a:r>
              <a:rPr lang="en-US" sz="1060" dirty="0">
                <a:solidFill>
                  <a:srgbClr val="243B53"/>
                </a:solidFill>
              </a:rPr>
              <a:t>Cost increase removes another $600</a:t>
            </a:r>
            <a:endParaRPr lang="en-US" sz="1060" dirty="0"/>
          </a:p>
          <a:p>
            <a:pPr marL="152400" indent="-152400">
              <a:buSzPct val="100000"/>
              <a:buChar char="•"/>
            </a:pPr>
            <a:r>
              <a:rPr lang="en-US" sz="1060" dirty="0">
                <a:solidFill>
                  <a:srgbClr val="243B53"/>
                </a:solidFill>
              </a:rPr>
              <a:t>May profit ends at $4,900</a:t>
            </a:r>
            <a:endParaRPr lang="en-US" sz="1060" dirty="0"/>
          </a:p>
          <a:p>
            <a:pPr marL="152400" indent="-152400">
              <a:buSzPct val="100000"/>
              <a:buChar char="•"/>
            </a:pPr>
            <a:r>
              <a:rPr lang="en-US" sz="1060" dirty="0">
                <a:solidFill>
                  <a:srgbClr val="243B53"/>
                </a:solidFill>
              </a:rPr>
              <a:t>Total decline: $1,200</a:t>
            </a:r>
            <a:endParaRPr lang="en-US" sz="1060" dirty="0"/>
          </a:p>
        </p:txBody>
      </p:sp>
      <p:sp>
        <p:nvSpPr>
          <p:cNvPr id="21" name="Shape 19"/>
          <p:cNvSpPr/>
          <p:nvPr/>
        </p:nvSpPr>
        <p:spPr>
          <a:xfrm>
            <a:off x="8458200" y="5257800"/>
            <a:ext cx="2834640" cy="713232"/>
          </a:xfrm>
          <a:prstGeom prst="roundRect">
            <a:avLst>
              <a:gd name="adj" fmla="val 6410"/>
            </a:avLst>
          </a:prstGeom>
          <a:solidFill>
            <a:srgbClr val="F6E7C1"/>
          </a:solidFill>
          <a:ln w="8890">
            <a:solidFill>
              <a:srgbClr val="E3C56F"/>
            </a:solidFill>
            <a:prstDash val="solid"/>
          </a:ln>
        </p:spPr>
      </p:sp>
      <p:sp>
        <p:nvSpPr>
          <p:cNvPr id="22" name="Text 20"/>
          <p:cNvSpPr/>
          <p:nvPr/>
        </p:nvSpPr>
        <p:spPr>
          <a:xfrm>
            <a:off x="8622792" y="5330952"/>
            <a:ext cx="250545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3" name="Text 21"/>
          <p:cNvSpPr/>
          <p:nvPr/>
        </p:nvSpPr>
        <p:spPr>
          <a:xfrm>
            <a:off x="8622792" y="5522976"/>
            <a:ext cx="250545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The profit drop is a double hit: the business earned less revenue and spent more at the same time.</a:t>
            </a:r>
            <a:endParaRPr lang="en-US" sz="1050" dirty="0"/>
          </a:p>
        </p:txBody>
      </p:sp>
      <p:sp>
        <p:nvSpPr>
          <p:cNvPr id="24" name="Text 22"/>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CONTRIBUTION ANALYSIS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Revenue by channel</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sp>
        <p:nvSpPr>
          <p:cNvPr id="5" name="Shape 3"/>
          <p:cNvSpPr/>
          <p:nvPr/>
        </p:nvSpPr>
        <p:spPr>
          <a:xfrm>
            <a:off x="685800" y="1143000"/>
            <a:ext cx="6583680" cy="4251960"/>
          </a:xfrm>
          <a:prstGeom prst="roundRect">
            <a:avLst>
              <a:gd name="adj" fmla="val 172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97280" y="4526280"/>
            <a:ext cx="5715000" cy="0"/>
          </a:xfrm>
          <a:prstGeom prst="line">
            <a:avLst/>
          </a:prstGeom>
          <a:noFill/>
          <a:ln w="10160">
            <a:solidFill>
              <a:srgbClr val="A8A29E"/>
            </a:solidFill>
            <a:prstDash val="solid"/>
          </a:ln>
        </p:spPr>
      </p:sp>
      <p:sp>
        <p:nvSpPr>
          <p:cNvPr id="7" name="Shape 5"/>
          <p:cNvSpPr/>
          <p:nvPr/>
        </p:nvSpPr>
        <p:spPr>
          <a:xfrm>
            <a:off x="1097280" y="1874520"/>
            <a:ext cx="0" cy="2651760"/>
          </a:xfrm>
          <a:prstGeom prst="line">
            <a:avLst/>
          </a:prstGeom>
          <a:noFill/>
          <a:ln w="10160">
            <a:solidFill>
              <a:srgbClr val="A8A29E"/>
            </a:solidFill>
            <a:prstDash val="solid"/>
          </a:ln>
        </p:spPr>
      </p:sp>
      <p:sp>
        <p:nvSpPr>
          <p:cNvPr id="8" name="Text 6"/>
          <p:cNvSpPr/>
          <p:nvPr/>
        </p:nvSpPr>
        <p:spPr>
          <a:xfrm>
            <a:off x="1143000" y="1645920"/>
            <a:ext cx="5715000" cy="182880"/>
          </a:xfrm>
          <a:prstGeom prst="rect">
            <a:avLst/>
          </a:prstGeom>
          <a:noFill/>
          <a:ln/>
        </p:spPr>
        <p:txBody>
          <a:bodyPr wrap="square" lIns="0" tIns="0" rIns="0" bIns="0" rtlCol="0" anchor="ctr"/>
          <a:lstStyle/>
          <a:p>
            <a:pPr marL="0" indent="0">
              <a:buNone/>
            </a:pPr>
            <a:r>
              <a:rPr lang="en-US" sz="700" dirty="0">
                <a:solidFill>
                  <a:srgbClr val="627D98"/>
                </a:solidFill>
              </a:rPr>
              <a:t>June revenue by channel</a:t>
            </a:r>
            <a:endParaRPr lang="en-US" sz="700" dirty="0"/>
          </a:p>
        </p:txBody>
      </p:sp>
      <p:sp>
        <p:nvSpPr>
          <p:cNvPr id="9" name="Shape 7"/>
          <p:cNvSpPr/>
          <p:nvPr/>
        </p:nvSpPr>
        <p:spPr>
          <a:xfrm>
            <a:off x="1243584" y="2192731"/>
            <a:ext cx="1245870" cy="2333549"/>
          </a:xfrm>
          <a:prstGeom prst="rect">
            <a:avLst/>
          </a:prstGeom>
          <a:solidFill>
            <a:srgbClr val="2F5D8C"/>
          </a:solidFill>
          <a:ln w="12700">
            <a:solidFill>
              <a:srgbClr val="2F5D8C">
                <a:alpha val="0"/>
              </a:srgbClr>
            </a:solidFill>
            <a:prstDash val="solid"/>
          </a:ln>
        </p:spPr>
      </p:sp>
      <p:sp>
        <p:nvSpPr>
          <p:cNvPr id="10" name="Text 8"/>
          <p:cNvSpPr/>
          <p:nvPr/>
        </p:nvSpPr>
        <p:spPr>
          <a:xfrm>
            <a:off x="1152144" y="1982419"/>
            <a:ext cx="1428750" cy="164592"/>
          </a:xfrm>
          <a:prstGeom prst="rect">
            <a:avLst/>
          </a:prstGeom>
          <a:noFill/>
          <a:ln/>
        </p:spPr>
        <p:txBody>
          <a:bodyPr wrap="square" lIns="0" tIns="0" rIns="0" bIns="0" rtlCol="0" anchor="ctr"/>
          <a:lstStyle/>
          <a:p>
            <a:pPr marL="0" indent="0" algn="ctr">
              <a:buNone/>
            </a:pPr>
            <a:r>
              <a:rPr lang="en-US" sz="700" b="1" dirty="0">
                <a:solidFill>
                  <a:srgbClr val="243B53"/>
                </a:solidFill>
              </a:rPr>
              <a:t>$4,400</a:t>
            </a:r>
            <a:endParaRPr lang="en-US" sz="700" dirty="0"/>
          </a:p>
        </p:txBody>
      </p:sp>
      <p:sp>
        <p:nvSpPr>
          <p:cNvPr id="11" name="Text 9"/>
          <p:cNvSpPr/>
          <p:nvPr/>
        </p:nvSpPr>
        <p:spPr>
          <a:xfrm>
            <a:off x="1133856" y="4599432"/>
            <a:ext cx="1465326"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Walk-in</a:t>
            </a:r>
            <a:endParaRPr lang="en-US" sz="700" dirty="0"/>
          </a:p>
        </p:txBody>
      </p:sp>
      <p:sp>
        <p:nvSpPr>
          <p:cNvPr id="12" name="Shape 10"/>
          <p:cNvSpPr/>
          <p:nvPr/>
        </p:nvSpPr>
        <p:spPr>
          <a:xfrm>
            <a:off x="2635758" y="2351837"/>
            <a:ext cx="1245870" cy="2174443"/>
          </a:xfrm>
          <a:prstGeom prst="rect">
            <a:avLst/>
          </a:prstGeom>
          <a:solidFill>
            <a:srgbClr val="087E8B"/>
          </a:solidFill>
          <a:ln w="12700">
            <a:solidFill>
              <a:srgbClr val="087E8B">
                <a:alpha val="0"/>
              </a:srgbClr>
            </a:solidFill>
            <a:prstDash val="solid"/>
          </a:ln>
        </p:spPr>
      </p:sp>
      <p:sp>
        <p:nvSpPr>
          <p:cNvPr id="13" name="Text 11"/>
          <p:cNvSpPr/>
          <p:nvPr/>
        </p:nvSpPr>
        <p:spPr>
          <a:xfrm>
            <a:off x="2544318" y="2141525"/>
            <a:ext cx="1428750" cy="164592"/>
          </a:xfrm>
          <a:prstGeom prst="rect">
            <a:avLst/>
          </a:prstGeom>
          <a:noFill/>
          <a:ln/>
        </p:spPr>
        <p:txBody>
          <a:bodyPr wrap="square" lIns="0" tIns="0" rIns="0" bIns="0" rtlCol="0" anchor="ctr"/>
          <a:lstStyle/>
          <a:p>
            <a:pPr marL="0" indent="0" algn="ctr">
              <a:buNone/>
            </a:pPr>
            <a:r>
              <a:rPr lang="en-US" sz="700" b="1" dirty="0">
                <a:solidFill>
                  <a:srgbClr val="243B53"/>
                </a:solidFill>
              </a:rPr>
              <a:t>$4,100</a:t>
            </a:r>
            <a:endParaRPr lang="en-US" sz="700" dirty="0"/>
          </a:p>
        </p:txBody>
      </p:sp>
      <p:sp>
        <p:nvSpPr>
          <p:cNvPr id="14" name="Text 12"/>
          <p:cNvSpPr/>
          <p:nvPr/>
        </p:nvSpPr>
        <p:spPr>
          <a:xfrm>
            <a:off x="2526030" y="4599432"/>
            <a:ext cx="1465326"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Online</a:t>
            </a:r>
            <a:endParaRPr lang="en-US" sz="700" dirty="0"/>
          </a:p>
        </p:txBody>
      </p:sp>
      <p:sp>
        <p:nvSpPr>
          <p:cNvPr id="15" name="Shape 13"/>
          <p:cNvSpPr/>
          <p:nvPr/>
        </p:nvSpPr>
        <p:spPr>
          <a:xfrm>
            <a:off x="4027932" y="2935224"/>
            <a:ext cx="1245870" cy="1591056"/>
          </a:xfrm>
          <a:prstGeom prst="rect">
            <a:avLst/>
          </a:prstGeom>
          <a:solidFill>
            <a:srgbClr val="B8860B"/>
          </a:solidFill>
          <a:ln w="12700">
            <a:solidFill>
              <a:srgbClr val="B8860B">
                <a:alpha val="0"/>
              </a:srgbClr>
            </a:solidFill>
            <a:prstDash val="solid"/>
          </a:ln>
        </p:spPr>
      </p:sp>
      <p:sp>
        <p:nvSpPr>
          <p:cNvPr id="16" name="Text 14"/>
          <p:cNvSpPr/>
          <p:nvPr/>
        </p:nvSpPr>
        <p:spPr>
          <a:xfrm>
            <a:off x="3936492" y="2724912"/>
            <a:ext cx="1428750" cy="164592"/>
          </a:xfrm>
          <a:prstGeom prst="rect">
            <a:avLst/>
          </a:prstGeom>
          <a:noFill/>
          <a:ln/>
        </p:spPr>
        <p:txBody>
          <a:bodyPr wrap="square" lIns="0" tIns="0" rIns="0" bIns="0" rtlCol="0" anchor="ctr"/>
          <a:lstStyle/>
          <a:p>
            <a:pPr marL="0" indent="0" algn="ctr">
              <a:buNone/>
            </a:pPr>
            <a:r>
              <a:rPr lang="en-US" sz="700" b="1" dirty="0">
                <a:solidFill>
                  <a:srgbClr val="243B53"/>
                </a:solidFill>
              </a:rPr>
              <a:t>$3,000</a:t>
            </a:r>
            <a:endParaRPr lang="en-US" sz="700" dirty="0"/>
          </a:p>
        </p:txBody>
      </p:sp>
      <p:sp>
        <p:nvSpPr>
          <p:cNvPr id="17" name="Text 15"/>
          <p:cNvSpPr/>
          <p:nvPr/>
        </p:nvSpPr>
        <p:spPr>
          <a:xfrm>
            <a:off x="3918204" y="4599432"/>
            <a:ext cx="1465326"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Social media</a:t>
            </a:r>
            <a:endParaRPr lang="en-US" sz="700" dirty="0"/>
          </a:p>
        </p:txBody>
      </p:sp>
      <p:sp>
        <p:nvSpPr>
          <p:cNvPr id="18" name="Shape 16"/>
          <p:cNvSpPr/>
          <p:nvPr/>
        </p:nvSpPr>
        <p:spPr>
          <a:xfrm>
            <a:off x="5420106" y="3942893"/>
            <a:ext cx="1245870" cy="583387"/>
          </a:xfrm>
          <a:prstGeom prst="rect">
            <a:avLst/>
          </a:prstGeom>
          <a:solidFill>
            <a:srgbClr val="D97706"/>
          </a:solidFill>
          <a:ln w="12700">
            <a:solidFill>
              <a:srgbClr val="D97706">
                <a:alpha val="0"/>
              </a:srgbClr>
            </a:solidFill>
            <a:prstDash val="solid"/>
          </a:ln>
        </p:spPr>
      </p:sp>
      <p:sp>
        <p:nvSpPr>
          <p:cNvPr id="19" name="Text 17"/>
          <p:cNvSpPr/>
          <p:nvPr/>
        </p:nvSpPr>
        <p:spPr>
          <a:xfrm>
            <a:off x="5328666" y="3732581"/>
            <a:ext cx="1428750" cy="164592"/>
          </a:xfrm>
          <a:prstGeom prst="rect">
            <a:avLst/>
          </a:prstGeom>
          <a:noFill/>
          <a:ln/>
        </p:spPr>
        <p:txBody>
          <a:bodyPr wrap="square" lIns="0" tIns="0" rIns="0" bIns="0" rtlCol="0" anchor="ctr"/>
          <a:lstStyle/>
          <a:p>
            <a:pPr marL="0" indent="0" algn="ctr">
              <a:buNone/>
            </a:pPr>
            <a:r>
              <a:rPr lang="en-US" sz="700" b="1" dirty="0">
                <a:solidFill>
                  <a:srgbClr val="243B53"/>
                </a:solidFill>
              </a:rPr>
              <a:t>$1,100</a:t>
            </a:r>
            <a:endParaRPr lang="en-US" sz="700" dirty="0"/>
          </a:p>
        </p:txBody>
      </p:sp>
      <p:sp>
        <p:nvSpPr>
          <p:cNvPr id="20" name="Text 18"/>
          <p:cNvSpPr/>
          <p:nvPr/>
        </p:nvSpPr>
        <p:spPr>
          <a:xfrm>
            <a:off x="5310378" y="4599432"/>
            <a:ext cx="1465326"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Referrals</a:t>
            </a:r>
            <a:endParaRPr lang="en-US" sz="700" dirty="0"/>
          </a:p>
        </p:txBody>
      </p:sp>
      <p:sp>
        <p:nvSpPr>
          <p:cNvPr id="21" name="Shape 19"/>
          <p:cNvSpPr/>
          <p:nvPr/>
        </p:nvSpPr>
        <p:spPr>
          <a:xfrm>
            <a:off x="7635240" y="1417320"/>
            <a:ext cx="3520440" cy="3520440"/>
          </a:xfrm>
          <a:prstGeom prst="roundRect">
            <a:avLst>
              <a:gd name="adj" fmla="val 2078"/>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22" name="Text 20"/>
          <p:cNvSpPr/>
          <p:nvPr/>
        </p:nvSpPr>
        <p:spPr>
          <a:xfrm>
            <a:off x="7863840" y="1719072"/>
            <a:ext cx="3063240" cy="2514600"/>
          </a:xfrm>
          <a:prstGeom prst="rect">
            <a:avLst/>
          </a:prstGeom>
          <a:noFill/>
          <a:ln/>
        </p:spPr>
        <p:txBody>
          <a:bodyPr wrap="square" lIns="635" tIns="635" rIns="635" bIns="635" rtlCol="0" anchor="ctr">
            <a:normAutofit/>
          </a:bodyPr>
          <a:lstStyle/>
          <a:p>
            <a:pPr marL="152400" indent="-152400">
              <a:buSzPct val="100000"/>
              <a:buChar char="•"/>
            </a:pPr>
            <a:r>
              <a:rPr lang="en-US" sz="1080" dirty="0">
                <a:solidFill>
                  <a:srgbClr val="243B53"/>
                </a:solidFill>
              </a:rPr>
              <a:t>Walk-in is largest June channel: $4,400</a:t>
            </a:r>
            <a:endParaRPr lang="en-US" sz="1080" dirty="0"/>
          </a:p>
          <a:p>
            <a:pPr marL="152400" indent="-152400">
              <a:buSzPct val="100000"/>
              <a:buChar char="•"/>
            </a:pPr>
            <a:r>
              <a:rPr lang="en-US" sz="1080" dirty="0">
                <a:solidFill>
                  <a:srgbClr val="243B53"/>
                </a:solidFill>
              </a:rPr>
              <a:t>Online is close behind: $4,100</a:t>
            </a:r>
            <a:endParaRPr lang="en-US" sz="1080" dirty="0"/>
          </a:p>
          <a:p>
            <a:pPr marL="152400" indent="-152400">
              <a:buSzPct val="100000"/>
              <a:buChar char="•"/>
            </a:pPr>
            <a:r>
              <a:rPr lang="en-US" sz="1080" dirty="0">
                <a:solidFill>
                  <a:srgbClr val="243B53"/>
                </a:solidFill>
              </a:rPr>
              <a:t>Social media contributes $3,000</a:t>
            </a:r>
            <a:endParaRPr lang="en-US" sz="1080" dirty="0"/>
          </a:p>
          <a:p>
            <a:pPr marL="152400" indent="-152400">
              <a:buSzPct val="100000"/>
              <a:buChar char="•"/>
            </a:pPr>
            <a:r>
              <a:rPr lang="en-US" sz="1080" dirty="0">
                <a:solidFill>
                  <a:srgbClr val="243B53"/>
                </a:solidFill>
              </a:rPr>
              <a:t>Referrals are smallest but stable at $1,100</a:t>
            </a:r>
            <a:endParaRPr lang="en-US" sz="1080" dirty="0"/>
          </a:p>
          <a:p>
            <a:pPr marL="152400" indent="-152400">
              <a:buSzPct val="100000"/>
              <a:buChar char="•"/>
            </a:pPr>
            <a:r>
              <a:rPr lang="en-US" sz="1080" dirty="0">
                <a:solidFill>
                  <a:srgbClr val="243B53"/>
                </a:solidFill>
              </a:rPr>
              <a:t>Channel view helps decide where to invest attention</a:t>
            </a:r>
            <a:endParaRPr lang="en-US" sz="1080" dirty="0"/>
          </a:p>
        </p:txBody>
      </p:sp>
      <p:sp>
        <p:nvSpPr>
          <p:cNvPr id="23" name="Shape 21"/>
          <p:cNvSpPr/>
          <p:nvPr/>
        </p:nvSpPr>
        <p:spPr>
          <a:xfrm>
            <a:off x="7543800" y="5257800"/>
            <a:ext cx="3611880" cy="713232"/>
          </a:xfrm>
          <a:prstGeom prst="roundRect">
            <a:avLst>
              <a:gd name="adj" fmla="val 6410"/>
            </a:avLst>
          </a:prstGeom>
          <a:solidFill>
            <a:srgbClr val="F6E7C1"/>
          </a:solidFill>
          <a:ln w="8890">
            <a:solidFill>
              <a:srgbClr val="E3C56F"/>
            </a:solidFill>
            <a:prstDash val="solid"/>
          </a:ln>
        </p:spPr>
      </p:sp>
      <p:sp>
        <p:nvSpPr>
          <p:cNvPr id="24" name="Text 22"/>
          <p:cNvSpPr/>
          <p:nvPr/>
        </p:nvSpPr>
        <p:spPr>
          <a:xfrm>
            <a:off x="7708392" y="5330952"/>
            <a:ext cx="328269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5" name="Text 23"/>
          <p:cNvSpPr/>
          <p:nvPr/>
        </p:nvSpPr>
        <p:spPr>
          <a:xfrm>
            <a:off x="7708392" y="5522976"/>
            <a:ext cx="328269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Channel contribution shows where revenue comes from, but not whether each channel is profitable or operationally easy to serve.</a:t>
            </a:r>
            <a:endParaRPr lang="en-US" sz="1050" dirty="0"/>
          </a:p>
        </p:txBody>
      </p:sp>
      <p:sp>
        <p:nvSpPr>
          <p:cNvPr id="26" name="Text 24"/>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27"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BEYOND “LARGEST CHANNEL WINS”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Channel contribution and risk</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2926080"/>
        </p:xfrm>
        <a:graphic>
          <a:graphicData uri="http://schemas.openxmlformats.org/drawingml/2006/table">
            <a:tbl>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585216">
                <a:tc>
                  <a:txBody>
                    <a:bodyPr/>
                    <a:lstStyle/>
                    <a:p>
                      <a:pPr marL="0" indent="0">
                        <a:buNone/>
                      </a:pPr>
                      <a:r>
                        <a:rPr lang="en-US" sz="900" b="1" dirty="0">
                          <a:solidFill>
                            <a:srgbClr val="FFFFFF"/>
                          </a:solidFill>
                          <a:latin typeface="Aptos" pitchFamily="34" charset="0"/>
                          <a:ea typeface="Aptos" pitchFamily="34" charset="-122"/>
                          <a:cs typeface="Aptos" pitchFamily="34" charset="-120"/>
                        </a:rPr>
                        <a:t>Channel</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00" b="1" dirty="0">
                          <a:solidFill>
                            <a:srgbClr val="FFFFFF"/>
                          </a:solidFill>
                          <a:latin typeface="Aptos" pitchFamily="34" charset="0"/>
                          <a:ea typeface="Aptos" pitchFamily="34" charset="-122"/>
                          <a:cs typeface="Aptos" pitchFamily="34" charset="-120"/>
                        </a:rPr>
                        <a:t>June revenue</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00" b="1" dirty="0">
                          <a:solidFill>
                            <a:srgbClr val="FFFFFF"/>
                          </a:solidFill>
                          <a:latin typeface="Aptos" pitchFamily="34" charset="0"/>
                          <a:ea typeface="Aptos" pitchFamily="34" charset="-122"/>
                          <a:cs typeface="Aptos" pitchFamily="34" charset="-120"/>
                        </a:rPr>
                        <a:t>Likely management question</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00" b="1" dirty="0">
                          <a:solidFill>
                            <a:srgbClr val="FFFFFF"/>
                          </a:solidFill>
                          <a:latin typeface="Aptos" pitchFamily="34" charset="0"/>
                          <a:ea typeface="Aptos" pitchFamily="34" charset="-122"/>
                          <a:cs typeface="Aptos" pitchFamily="34" charset="-120"/>
                        </a:rPr>
                        <a:t>Risk to investigate</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585216">
                <a:tc>
                  <a:txBody>
                    <a:bodyPr/>
                    <a:lstStyle/>
                    <a:p>
                      <a:pPr marL="0" indent="0">
                        <a:buNone/>
                      </a:pPr>
                      <a:r>
                        <a:rPr lang="en-US" sz="900" dirty="0">
                          <a:solidFill>
                            <a:srgbClr val="243B53"/>
                          </a:solidFill>
                          <a:latin typeface="Aptos" pitchFamily="34" charset="0"/>
                          <a:ea typeface="Aptos" pitchFamily="34" charset="-122"/>
                          <a:cs typeface="Aptos" pitchFamily="34" charset="-120"/>
                        </a:rPr>
                        <a:t>Walk-in</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$4,400</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Can store operations handle demand?</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Staffing and service wait time</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900" dirty="0">
                          <a:solidFill>
                            <a:srgbClr val="243B53"/>
                          </a:solidFill>
                          <a:latin typeface="Aptos" pitchFamily="34" charset="0"/>
                          <a:ea typeface="Aptos" pitchFamily="34" charset="-122"/>
                          <a:cs typeface="Aptos" pitchFamily="34" charset="-120"/>
                        </a:rPr>
                        <a:t>Online</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$4,100</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Is fulfillment reliable?</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Delivery delays and stockouts</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900" dirty="0">
                          <a:solidFill>
                            <a:srgbClr val="243B53"/>
                          </a:solidFill>
                          <a:latin typeface="Aptos" pitchFamily="34" charset="0"/>
                          <a:ea typeface="Aptos" pitchFamily="34" charset="-122"/>
                          <a:cs typeface="Aptos" pitchFamily="34" charset="-120"/>
                        </a:rPr>
                        <a:t>Social media</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$3,000</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Are ads profitable?</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Ad cost and low-quality traffic</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900" dirty="0">
                          <a:solidFill>
                            <a:srgbClr val="243B53"/>
                          </a:solidFill>
                          <a:latin typeface="Aptos" pitchFamily="34" charset="0"/>
                          <a:ea typeface="Aptos" pitchFamily="34" charset="-122"/>
                          <a:cs typeface="Aptos" pitchFamily="34" charset="-120"/>
                        </a:rPr>
                        <a:t>Referrals</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$1,100</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Can loyalty be expanded?</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00" dirty="0">
                          <a:solidFill>
                            <a:srgbClr val="243B53"/>
                          </a:solidFill>
                          <a:latin typeface="Aptos" pitchFamily="34" charset="0"/>
                          <a:ea typeface="Aptos" pitchFamily="34" charset="-122"/>
                          <a:cs typeface="Aptos" pitchFamily="34" charset="-120"/>
                        </a:rPr>
                        <a:t>Low volume / limited reach</a:t>
                      </a:r>
                      <a:endParaRPr lang="en-US" sz="9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868680" y="4480560"/>
            <a:ext cx="10149840" cy="731520"/>
          </a:xfrm>
          <a:prstGeom prst="rect">
            <a:avLst/>
          </a:prstGeom>
          <a:noFill/>
          <a:ln/>
        </p:spPr>
        <p:txBody>
          <a:bodyPr wrap="square" lIns="635" tIns="635" rIns="635" bIns="635" rtlCol="0" anchor="ctr">
            <a:normAutofit/>
          </a:bodyPr>
          <a:lstStyle/>
          <a:p>
            <a:pPr marL="152400" indent="-152400">
              <a:buSzPct val="100000"/>
              <a:buChar char="•"/>
            </a:pPr>
            <a:r>
              <a:rPr lang="en-US" sz="1240" dirty="0">
                <a:solidFill>
                  <a:srgbClr val="243B53"/>
                </a:solidFill>
              </a:rPr>
              <a:t>Contribution analysis answers “where is performance coming from?”</a:t>
            </a:r>
            <a:endParaRPr lang="en-US" sz="1240" dirty="0"/>
          </a:p>
          <a:p>
            <a:pPr marL="152400" indent="-152400">
              <a:buSzPct val="100000"/>
              <a:buChar char="•"/>
            </a:pPr>
            <a:r>
              <a:rPr lang="en-US" sz="1240" dirty="0">
                <a:solidFill>
                  <a:srgbClr val="243B53"/>
                </a:solidFill>
              </a:rPr>
              <a:t>Risk analysis asks “what could break if we push this harder?”</a:t>
            </a:r>
            <a:endParaRPr lang="en-US" sz="1240" dirty="0"/>
          </a:p>
          <a:p>
            <a:pPr marL="152400" indent="-152400">
              <a:buSzPct val="100000"/>
              <a:buChar char="•"/>
            </a:pPr>
            <a:r>
              <a:rPr lang="en-US" sz="1240" dirty="0">
                <a:solidFill>
                  <a:srgbClr val="243B53"/>
                </a:solidFill>
              </a:rPr>
              <a:t>The best action may be to fix operations before scaling a channel</a:t>
            </a:r>
            <a:endParaRPr lang="en-US" sz="1240" dirty="0"/>
          </a:p>
        </p:txBody>
      </p:sp>
      <p:sp>
        <p:nvSpPr>
          <p:cNvPr id="7" name="Shape 4"/>
          <p:cNvSpPr/>
          <p:nvPr/>
        </p:nvSpPr>
        <p:spPr>
          <a:xfrm>
            <a:off x="822960" y="5440680"/>
            <a:ext cx="10424160" cy="566928"/>
          </a:xfrm>
          <a:prstGeom prst="roundRect">
            <a:avLst>
              <a:gd name="adj" fmla="val 8065"/>
            </a:avLst>
          </a:prstGeom>
          <a:solidFill>
            <a:srgbClr val="F6E7C1"/>
          </a:solidFill>
          <a:ln w="8890">
            <a:solidFill>
              <a:srgbClr val="E3C56F"/>
            </a:solidFill>
            <a:prstDash val="solid"/>
          </a:ln>
        </p:spPr>
      </p:sp>
      <p:sp>
        <p:nvSpPr>
          <p:cNvPr id="8" name="Text 5"/>
          <p:cNvSpPr/>
          <p:nvPr/>
        </p:nvSpPr>
        <p:spPr>
          <a:xfrm>
            <a:off x="987552" y="551383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9" name="Text 6"/>
          <p:cNvSpPr/>
          <p:nvPr/>
        </p:nvSpPr>
        <p:spPr>
          <a:xfrm>
            <a:off x="987552" y="5705856"/>
            <a:ext cx="10094976" cy="256032"/>
          </a:xfrm>
          <a:prstGeom prst="rect">
            <a:avLst/>
          </a:prstGeom>
          <a:noFill/>
          <a:ln/>
        </p:spPr>
        <p:txBody>
          <a:bodyPr wrap="square" lIns="0" tIns="0" rIns="0" bIns="0" rtlCol="0" anchor="ctr">
            <a:normAutofit/>
          </a:bodyPr>
          <a:lstStyle/>
          <a:p>
            <a:pPr marL="0" indent="0">
              <a:buNone/>
            </a:pPr>
            <a:r>
              <a:rPr lang="en-US" sz="1050" dirty="0">
                <a:solidFill>
                  <a:srgbClr val="243B53"/>
                </a:solidFill>
              </a:rPr>
              <a:t>A channel can be attractive in revenue but risky in execution. Analytics should connect growth opportunity to operational capacity.</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CATEGORY CONTRIBUTION OVER TIME</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Product/service revenue mix</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sp>
        <p:nvSpPr>
          <p:cNvPr id="5" name="Shape 3"/>
          <p:cNvSpPr/>
          <p:nvPr/>
        </p:nvSpPr>
        <p:spPr>
          <a:xfrm>
            <a:off x="594360" y="1143000"/>
            <a:ext cx="8001000" cy="4343400"/>
          </a:xfrm>
          <a:prstGeom prst="roundRect">
            <a:avLst>
              <a:gd name="adj" fmla="val 1684"/>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960120" y="4663440"/>
            <a:ext cx="7178040" cy="0"/>
          </a:xfrm>
          <a:prstGeom prst="line">
            <a:avLst/>
          </a:prstGeom>
          <a:noFill/>
          <a:ln w="10160">
            <a:solidFill>
              <a:srgbClr val="A8A29E"/>
            </a:solidFill>
            <a:prstDash val="solid"/>
          </a:ln>
        </p:spPr>
      </p:sp>
      <p:sp>
        <p:nvSpPr>
          <p:cNvPr id="7" name="Shape 5"/>
          <p:cNvSpPr/>
          <p:nvPr/>
        </p:nvSpPr>
        <p:spPr>
          <a:xfrm>
            <a:off x="960120" y="1965960"/>
            <a:ext cx="0" cy="2697480"/>
          </a:xfrm>
          <a:prstGeom prst="line">
            <a:avLst/>
          </a:prstGeom>
          <a:noFill/>
          <a:ln w="10160">
            <a:solidFill>
              <a:srgbClr val="A8A29E"/>
            </a:solidFill>
            <a:prstDash val="solid"/>
          </a:ln>
        </p:spPr>
      </p:sp>
      <p:sp>
        <p:nvSpPr>
          <p:cNvPr id="8" name="Text 6"/>
          <p:cNvSpPr/>
          <p:nvPr/>
        </p:nvSpPr>
        <p:spPr>
          <a:xfrm>
            <a:off x="1005840" y="1737360"/>
            <a:ext cx="7178040" cy="182880"/>
          </a:xfrm>
          <a:prstGeom prst="rect">
            <a:avLst/>
          </a:prstGeom>
          <a:noFill/>
          <a:ln/>
        </p:spPr>
        <p:txBody>
          <a:bodyPr wrap="square" lIns="0" tIns="0" rIns="0" bIns="0" rtlCol="0" anchor="ctr"/>
          <a:lstStyle/>
          <a:p>
            <a:pPr marL="0" indent="0">
              <a:buNone/>
            </a:pPr>
            <a:r>
              <a:rPr lang="en-US" sz="700" dirty="0">
                <a:solidFill>
                  <a:srgbClr val="627D98"/>
                </a:solidFill>
              </a:rPr>
              <a:t>Monthly revenue mix</a:t>
            </a:r>
            <a:endParaRPr lang="en-US" sz="700" dirty="0"/>
          </a:p>
        </p:txBody>
      </p:sp>
      <p:sp>
        <p:nvSpPr>
          <p:cNvPr id="9" name="Shape 7"/>
          <p:cNvSpPr/>
          <p:nvPr/>
        </p:nvSpPr>
        <p:spPr>
          <a:xfrm>
            <a:off x="1161288" y="4153712"/>
            <a:ext cx="961644" cy="509728"/>
          </a:xfrm>
          <a:prstGeom prst="rect">
            <a:avLst/>
          </a:prstGeom>
          <a:solidFill>
            <a:srgbClr val="087E8B"/>
          </a:solidFill>
          <a:ln w="3810">
            <a:solidFill>
              <a:srgbClr val="FFFFFF"/>
            </a:solidFill>
            <a:prstDash val="solid"/>
          </a:ln>
        </p:spPr>
      </p:sp>
      <p:sp>
        <p:nvSpPr>
          <p:cNvPr id="10" name="Shape 8"/>
          <p:cNvSpPr/>
          <p:nvPr/>
        </p:nvSpPr>
        <p:spPr>
          <a:xfrm>
            <a:off x="1161288" y="3786708"/>
            <a:ext cx="961644" cy="367004"/>
          </a:xfrm>
          <a:prstGeom prst="rect">
            <a:avLst/>
          </a:prstGeom>
          <a:solidFill>
            <a:srgbClr val="B8860B"/>
          </a:solidFill>
          <a:ln w="3810">
            <a:solidFill>
              <a:srgbClr val="FFFFFF"/>
            </a:solidFill>
            <a:prstDash val="solid"/>
          </a:ln>
        </p:spPr>
      </p:sp>
      <p:sp>
        <p:nvSpPr>
          <p:cNvPr id="11" name="Shape 9"/>
          <p:cNvSpPr/>
          <p:nvPr/>
        </p:nvSpPr>
        <p:spPr>
          <a:xfrm>
            <a:off x="1161288" y="3440093"/>
            <a:ext cx="961644" cy="346615"/>
          </a:xfrm>
          <a:prstGeom prst="rect">
            <a:avLst/>
          </a:prstGeom>
          <a:solidFill>
            <a:srgbClr val="2F5D8C"/>
          </a:solidFill>
          <a:ln w="3810">
            <a:solidFill>
              <a:srgbClr val="FFFFFF"/>
            </a:solidFill>
            <a:prstDash val="solid"/>
          </a:ln>
        </p:spPr>
      </p:sp>
      <p:sp>
        <p:nvSpPr>
          <p:cNvPr id="12" name="Shape 10"/>
          <p:cNvSpPr/>
          <p:nvPr/>
        </p:nvSpPr>
        <p:spPr>
          <a:xfrm>
            <a:off x="1161288" y="3134256"/>
            <a:ext cx="961644" cy="305837"/>
          </a:xfrm>
          <a:prstGeom prst="rect">
            <a:avLst/>
          </a:prstGeom>
          <a:solidFill>
            <a:srgbClr val="D97706"/>
          </a:solidFill>
          <a:ln w="3810">
            <a:solidFill>
              <a:srgbClr val="FFFFFF"/>
            </a:solidFill>
            <a:prstDash val="solid"/>
          </a:ln>
        </p:spPr>
      </p:sp>
      <p:sp>
        <p:nvSpPr>
          <p:cNvPr id="13" name="Shape 11"/>
          <p:cNvSpPr/>
          <p:nvPr/>
        </p:nvSpPr>
        <p:spPr>
          <a:xfrm>
            <a:off x="1161288" y="2930365"/>
            <a:ext cx="961644" cy="203891"/>
          </a:xfrm>
          <a:prstGeom prst="rect">
            <a:avLst/>
          </a:prstGeom>
          <a:solidFill>
            <a:srgbClr val="2E7D32"/>
          </a:solidFill>
          <a:ln w="3810">
            <a:solidFill>
              <a:srgbClr val="FFFFFF"/>
            </a:solidFill>
            <a:prstDash val="solid"/>
          </a:ln>
        </p:spPr>
      </p:sp>
      <p:sp>
        <p:nvSpPr>
          <p:cNvPr id="14" name="Text 12"/>
          <p:cNvSpPr/>
          <p:nvPr/>
        </p:nvSpPr>
        <p:spPr>
          <a:xfrm>
            <a:off x="1143000" y="4736592"/>
            <a:ext cx="998220" cy="164592"/>
          </a:xfrm>
          <a:prstGeom prst="rect">
            <a:avLst/>
          </a:prstGeom>
          <a:noFill/>
          <a:ln/>
        </p:spPr>
        <p:txBody>
          <a:bodyPr wrap="square" lIns="0" tIns="0" rIns="0" bIns="0" rtlCol="0" anchor="ctr"/>
          <a:lstStyle/>
          <a:p>
            <a:pPr marL="0" indent="0" algn="ctr">
              <a:buNone/>
            </a:pPr>
            <a:r>
              <a:rPr lang="en-US" sz="700" dirty="0">
                <a:solidFill>
                  <a:srgbClr val="627D98"/>
                </a:solidFill>
              </a:rPr>
              <a:t>Jan</a:t>
            </a:r>
            <a:endParaRPr lang="en-US" sz="700" dirty="0"/>
          </a:p>
        </p:txBody>
      </p:sp>
      <p:sp>
        <p:nvSpPr>
          <p:cNvPr id="15" name="Shape 13"/>
          <p:cNvSpPr/>
          <p:nvPr/>
        </p:nvSpPr>
        <p:spPr>
          <a:xfrm>
            <a:off x="2324100" y="4092545"/>
            <a:ext cx="961644" cy="570895"/>
          </a:xfrm>
          <a:prstGeom prst="rect">
            <a:avLst/>
          </a:prstGeom>
          <a:solidFill>
            <a:srgbClr val="087E8B"/>
          </a:solidFill>
          <a:ln w="3810">
            <a:solidFill>
              <a:srgbClr val="FFFFFF"/>
            </a:solidFill>
            <a:prstDash val="solid"/>
          </a:ln>
        </p:spPr>
      </p:sp>
      <p:sp>
        <p:nvSpPr>
          <p:cNvPr id="16" name="Shape 14"/>
          <p:cNvSpPr/>
          <p:nvPr/>
        </p:nvSpPr>
        <p:spPr>
          <a:xfrm>
            <a:off x="2324100" y="3705152"/>
            <a:ext cx="961644" cy="387393"/>
          </a:xfrm>
          <a:prstGeom prst="rect">
            <a:avLst/>
          </a:prstGeom>
          <a:solidFill>
            <a:srgbClr val="B8860B"/>
          </a:solidFill>
          <a:ln w="3810">
            <a:solidFill>
              <a:srgbClr val="FFFFFF"/>
            </a:solidFill>
            <a:prstDash val="solid"/>
          </a:ln>
        </p:spPr>
      </p:sp>
      <p:sp>
        <p:nvSpPr>
          <p:cNvPr id="17" name="Shape 15"/>
          <p:cNvSpPr/>
          <p:nvPr/>
        </p:nvSpPr>
        <p:spPr>
          <a:xfrm>
            <a:off x="2324100" y="3317758"/>
            <a:ext cx="961644" cy="387393"/>
          </a:xfrm>
          <a:prstGeom prst="rect">
            <a:avLst/>
          </a:prstGeom>
          <a:solidFill>
            <a:srgbClr val="2F5D8C"/>
          </a:solidFill>
          <a:ln w="3810">
            <a:solidFill>
              <a:srgbClr val="FFFFFF"/>
            </a:solidFill>
            <a:prstDash val="solid"/>
          </a:ln>
        </p:spPr>
      </p:sp>
      <p:sp>
        <p:nvSpPr>
          <p:cNvPr id="18" name="Shape 16"/>
          <p:cNvSpPr/>
          <p:nvPr/>
        </p:nvSpPr>
        <p:spPr>
          <a:xfrm>
            <a:off x="2324100" y="2991533"/>
            <a:ext cx="961644" cy="326226"/>
          </a:xfrm>
          <a:prstGeom prst="rect">
            <a:avLst/>
          </a:prstGeom>
          <a:solidFill>
            <a:srgbClr val="D97706"/>
          </a:solidFill>
          <a:ln w="3810">
            <a:solidFill>
              <a:srgbClr val="FFFFFF"/>
            </a:solidFill>
            <a:prstDash val="solid"/>
          </a:ln>
        </p:spPr>
      </p:sp>
      <p:sp>
        <p:nvSpPr>
          <p:cNvPr id="19" name="Shape 17"/>
          <p:cNvSpPr/>
          <p:nvPr/>
        </p:nvSpPr>
        <p:spPr>
          <a:xfrm>
            <a:off x="2324100" y="2787641"/>
            <a:ext cx="961644" cy="203891"/>
          </a:xfrm>
          <a:prstGeom prst="rect">
            <a:avLst/>
          </a:prstGeom>
          <a:solidFill>
            <a:srgbClr val="2E7D32"/>
          </a:solidFill>
          <a:ln w="3810">
            <a:solidFill>
              <a:srgbClr val="FFFFFF"/>
            </a:solidFill>
            <a:prstDash val="solid"/>
          </a:ln>
        </p:spPr>
      </p:sp>
      <p:sp>
        <p:nvSpPr>
          <p:cNvPr id="20" name="Text 18"/>
          <p:cNvSpPr/>
          <p:nvPr/>
        </p:nvSpPr>
        <p:spPr>
          <a:xfrm>
            <a:off x="2305812" y="4736592"/>
            <a:ext cx="998220" cy="164592"/>
          </a:xfrm>
          <a:prstGeom prst="rect">
            <a:avLst/>
          </a:prstGeom>
          <a:noFill/>
          <a:ln/>
        </p:spPr>
        <p:txBody>
          <a:bodyPr wrap="square" lIns="0" tIns="0" rIns="0" bIns="0" rtlCol="0" anchor="ctr"/>
          <a:lstStyle/>
          <a:p>
            <a:pPr marL="0" indent="0" algn="ctr">
              <a:buNone/>
            </a:pPr>
            <a:r>
              <a:rPr lang="en-US" sz="700" dirty="0">
                <a:solidFill>
                  <a:srgbClr val="627D98"/>
                </a:solidFill>
              </a:rPr>
              <a:t>Feb</a:t>
            </a:r>
            <a:endParaRPr lang="en-US" sz="700" dirty="0"/>
          </a:p>
        </p:txBody>
      </p:sp>
      <p:sp>
        <p:nvSpPr>
          <p:cNvPr id="21" name="Shape 19"/>
          <p:cNvSpPr/>
          <p:nvPr/>
        </p:nvSpPr>
        <p:spPr>
          <a:xfrm>
            <a:off x="3486912" y="4031377"/>
            <a:ext cx="961644" cy="632063"/>
          </a:xfrm>
          <a:prstGeom prst="rect">
            <a:avLst/>
          </a:prstGeom>
          <a:solidFill>
            <a:srgbClr val="087E8B"/>
          </a:solidFill>
          <a:ln w="3810">
            <a:solidFill>
              <a:srgbClr val="FFFFFF"/>
            </a:solidFill>
            <a:prstDash val="solid"/>
          </a:ln>
        </p:spPr>
      </p:sp>
      <p:sp>
        <p:nvSpPr>
          <p:cNvPr id="22" name="Shape 20"/>
          <p:cNvSpPr/>
          <p:nvPr/>
        </p:nvSpPr>
        <p:spPr>
          <a:xfrm>
            <a:off x="3486912" y="3603206"/>
            <a:ext cx="961644" cy="428171"/>
          </a:xfrm>
          <a:prstGeom prst="rect">
            <a:avLst/>
          </a:prstGeom>
          <a:solidFill>
            <a:srgbClr val="B8860B"/>
          </a:solidFill>
          <a:ln w="3810">
            <a:solidFill>
              <a:srgbClr val="FFFFFF"/>
            </a:solidFill>
            <a:prstDash val="solid"/>
          </a:ln>
        </p:spPr>
      </p:sp>
      <p:sp>
        <p:nvSpPr>
          <p:cNvPr id="23" name="Shape 21"/>
          <p:cNvSpPr/>
          <p:nvPr/>
        </p:nvSpPr>
        <p:spPr>
          <a:xfrm>
            <a:off x="3486912" y="3175035"/>
            <a:ext cx="961644" cy="428171"/>
          </a:xfrm>
          <a:prstGeom prst="rect">
            <a:avLst/>
          </a:prstGeom>
          <a:solidFill>
            <a:srgbClr val="2F5D8C"/>
          </a:solidFill>
          <a:ln w="3810">
            <a:solidFill>
              <a:srgbClr val="FFFFFF"/>
            </a:solidFill>
            <a:prstDash val="solid"/>
          </a:ln>
        </p:spPr>
      </p:sp>
      <p:sp>
        <p:nvSpPr>
          <p:cNvPr id="24" name="Shape 22"/>
          <p:cNvSpPr/>
          <p:nvPr/>
        </p:nvSpPr>
        <p:spPr>
          <a:xfrm>
            <a:off x="3486912" y="2808030"/>
            <a:ext cx="961644" cy="367004"/>
          </a:xfrm>
          <a:prstGeom prst="rect">
            <a:avLst/>
          </a:prstGeom>
          <a:solidFill>
            <a:srgbClr val="D97706"/>
          </a:solidFill>
          <a:ln w="3810">
            <a:solidFill>
              <a:srgbClr val="FFFFFF"/>
            </a:solidFill>
            <a:prstDash val="solid"/>
          </a:ln>
        </p:spPr>
      </p:sp>
      <p:sp>
        <p:nvSpPr>
          <p:cNvPr id="25" name="Shape 23"/>
          <p:cNvSpPr/>
          <p:nvPr/>
        </p:nvSpPr>
        <p:spPr>
          <a:xfrm>
            <a:off x="3486912" y="2604139"/>
            <a:ext cx="961644" cy="203891"/>
          </a:xfrm>
          <a:prstGeom prst="rect">
            <a:avLst/>
          </a:prstGeom>
          <a:solidFill>
            <a:srgbClr val="2E7D32"/>
          </a:solidFill>
          <a:ln w="3810">
            <a:solidFill>
              <a:srgbClr val="FFFFFF"/>
            </a:solidFill>
            <a:prstDash val="solid"/>
          </a:ln>
        </p:spPr>
      </p:sp>
      <p:sp>
        <p:nvSpPr>
          <p:cNvPr id="26" name="Text 24"/>
          <p:cNvSpPr/>
          <p:nvPr/>
        </p:nvSpPr>
        <p:spPr>
          <a:xfrm>
            <a:off x="3468624" y="4736592"/>
            <a:ext cx="998220" cy="164592"/>
          </a:xfrm>
          <a:prstGeom prst="rect">
            <a:avLst/>
          </a:prstGeom>
          <a:noFill/>
          <a:ln/>
        </p:spPr>
        <p:txBody>
          <a:bodyPr wrap="square" lIns="0" tIns="0" rIns="0" bIns="0" rtlCol="0" anchor="ctr"/>
          <a:lstStyle/>
          <a:p>
            <a:pPr marL="0" indent="0" algn="ctr">
              <a:buNone/>
            </a:pPr>
            <a:r>
              <a:rPr lang="en-US" sz="700" dirty="0">
                <a:solidFill>
                  <a:srgbClr val="627D98"/>
                </a:solidFill>
              </a:rPr>
              <a:t>Mar</a:t>
            </a:r>
            <a:endParaRPr lang="en-US" sz="700" dirty="0"/>
          </a:p>
        </p:txBody>
      </p:sp>
      <p:sp>
        <p:nvSpPr>
          <p:cNvPr id="27" name="Shape 25"/>
          <p:cNvSpPr/>
          <p:nvPr/>
        </p:nvSpPr>
        <p:spPr>
          <a:xfrm>
            <a:off x="4649724" y="3970210"/>
            <a:ext cx="961644" cy="693230"/>
          </a:xfrm>
          <a:prstGeom prst="rect">
            <a:avLst/>
          </a:prstGeom>
          <a:solidFill>
            <a:srgbClr val="087E8B"/>
          </a:solidFill>
          <a:ln w="3810">
            <a:solidFill>
              <a:srgbClr val="FFFFFF"/>
            </a:solidFill>
            <a:prstDash val="solid"/>
          </a:ln>
        </p:spPr>
      </p:sp>
      <p:sp>
        <p:nvSpPr>
          <p:cNvPr id="28" name="Shape 26"/>
          <p:cNvSpPr/>
          <p:nvPr/>
        </p:nvSpPr>
        <p:spPr>
          <a:xfrm>
            <a:off x="4649724" y="3501260"/>
            <a:ext cx="961644" cy="468950"/>
          </a:xfrm>
          <a:prstGeom prst="rect">
            <a:avLst/>
          </a:prstGeom>
          <a:solidFill>
            <a:srgbClr val="B8860B"/>
          </a:solidFill>
          <a:ln w="3810">
            <a:solidFill>
              <a:srgbClr val="FFFFFF"/>
            </a:solidFill>
            <a:prstDash val="solid"/>
          </a:ln>
        </p:spPr>
      </p:sp>
      <p:sp>
        <p:nvSpPr>
          <p:cNvPr id="29" name="Shape 27"/>
          <p:cNvSpPr/>
          <p:nvPr/>
        </p:nvSpPr>
        <p:spPr>
          <a:xfrm>
            <a:off x="4649724" y="3011922"/>
            <a:ext cx="961644" cy="489339"/>
          </a:xfrm>
          <a:prstGeom prst="rect">
            <a:avLst/>
          </a:prstGeom>
          <a:solidFill>
            <a:srgbClr val="2F5D8C"/>
          </a:solidFill>
          <a:ln w="3810">
            <a:solidFill>
              <a:srgbClr val="FFFFFF"/>
            </a:solidFill>
            <a:prstDash val="solid"/>
          </a:ln>
        </p:spPr>
      </p:sp>
      <p:sp>
        <p:nvSpPr>
          <p:cNvPr id="30" name="Shape 28"/>
          <p:cNvSpPr/>
          <p:nvPr/>
        </p:nvSpPr>
        <p:spPr>
          <a:xfrm>
            <a:off x="4649724" y="2583750"/>
            <a:ext cx="961644" cy="428171"/>
          </a:xfrm>
          <a:prstGeom prst="rect">
            <a:avLst/>
          </a:prstGeom>
          <a:solidFill>
            <a:srgbClr val="D97706"/>
          </a:solidFill>
          <a:ln w="3810">
            <a:solidFill>
              <a:srgbClr val="FFFFFF"/>
            </a:solidFill>
            <a:prstDash val="solid"/>
          </a:ln>
        </p:spPr>
      </p:sp>
      <p:sp>
        <p:nvSpPr>
          <p:cNvPr id="31" name="Shape 29"/>
          <p:cNvSpPr/>
          <p:nvPr/>
        </p:nvSpPr>
        <p:spPr>
          <a:xfrm>
            <a:off x="4649724" y="2339081"/>
            <a:ext cx="961644" cy="244669"/>
          </a:xfrm>
          <a:prstGeom prst="rect">
            <a:avLst/>
          </a:prstGeom>
          <a:solidFill>
            <a:srgbClr val="2E7D32"/>
          </a:solidFill>
          <a:ln w="3810">
            <a:solidFill>
              <a:srgbClr val="FFFFFF"/>
            </a:solidFill>
            <a:prstDash val="solid"/>
          </a:ln>
        </p:spPr>
      </p:sp>
      <p:sp>
        <p:nvSpPr>
          <p:cNvPr id="32" name="Text 30"/>
          <p:cNvSpPr/>
          <p:nvPr/>
        </p:nvSpPr>
        <p:spPr>
          <a:xfrm>
            <a:off x="4631436" y="4736592"/>
            <a:ext cx="998220" cy="164592"/>
          </a:xfrm>
          <a:prstGeom prst="rect">
            <a:avLst/>
          </a:prstGeom>
          <a:noFill/>
          <a:ln/>
        </p:spPr>
        <p:txBody>
          <a:bodyPr wrap="square" lIns="0" tIns="0" rIns="0" bIns="0" rtlCol="0" anchor="ctr"/>
          <a:lstStyle/>
          <a:p>
            <a:pPr marL="0" indent="0" algn="ctr">
              <a:buNone/>
            </a:pPr>
            <a:r>
              <a:rPr lang="en-US" sz="700" dirty="0">
                <a:solidFill>
                  <a:srgbClr val="627D98"/>
                </a:solidFill>
              </a:rPr>
              <a:t>Apr</a:t>
            </a:r>
            <a:endParaRPr lang="en-US" sz="700" dirty="0"/>
          </a:p>
        </p:txBody>
      </p:sp>
      <p:sp>
        <p:nvSpPr>
          <p:cNvPr id="33" name="Shape 31"/>
          <p:cNvSpPr/>
          <p:nvPr/>
        </p:nvSpPr>
        <p:spPr>
          <a:xfrm>
            <a:off x="5812536" y="4010988"/>
            <a:ext cx="961644" cy="652452"/>
          </a:xfrm>
          <a:prstGeom prst="rect">
            <a:avLst/>
          </a:prstGeom>
          <a:solidFill>
            <a:srgbClr val="087E8B"/>
          </a:solidFill>
          <a:ln w="3810">
            <a:solidFill>
              <a:srgbClr val="FFFFFF"/>
            </a:solidFill>
            <a:prstDash val="solid"/>
          </a:ln>
        </p:spPr>
      </p:sp>
      <p:sp>
        <p:nvSpPr>
          <p:cNvPr id="34" name="Shape 32"/>
          <p:cNvSpPr/>
          <p:nvPr/>
        </p:nvSpPr>
        <p:spPr>
          <a:xfrm>
            <a:off x="5812536" y="3562428"/>
            <a:ext cx="961644" cy="448561"/>
          </a:xfrm>
          <a:prstGeom prst="rect">
            <a:avLst/>
          </a:prstGeom>
          <a:solidFill>
            <a:srgbClr val="B8860B"/>
          </a:solidFill>
          <a:ln w="3810">
            <a:solidFill>
              <a:srgbClr val="FFFFFF"/>
            </a:solidFill>
            <a:prstDash val="solid"/>
          </a:ln>
        </p:spPr>
      </p:sp>
      <p:sp>
        <p:nvSpPr>
          <p:cNvPr id="35" name="Shape 33"/>
          <p:cNvSpPr/>
          <p:nvPr/>
        </p:nvSpPr>
        <p:spPr>
          <a:xfrm>
            <a:off x="5812536" y="3113867"/>
            <a:ext cx="961644" cy="448561"/>
          </a:xfrm>
          <a:prstGeom prst="rect">
            <a:avLst/>
          </a:prstGeom>
          <a:solidFill>
            <a:srgbClr val="2F5D8C"/>
          </a:solidFill>
          <a:ln w="3810">
            <a:solidFill>
              <a:srgbClr val="FFFFFF"/>
            </a:solidFill>
            <a:prstDash val="solid"/>
          </a:ln>
        </p:spPr>
      </p:sp>
      <p:sp>
        <p:nvSpPr>
          <p:cNvPr id="36" name="Shape 34"/>
          <p:cNvSpPr/>
          <p:nvPr/>
        </p:nvSpPr>
        <p:spPr>
          <a:xfrm>
            <a:off x="5812536" y="2706085"/>
            <a:ext cx="961644" cy="407782"/>
          </a:xfrm>
          <a:prstGeom prst="rect">
            <a:avLst/>
          </a:prstGeom>
          <a:solidFill>
            <a:srgbClr val="D97706"/>
          </a:solidFill>
          <a:ln w="3810">
            <a:solidFill>
              <a:srgbClr val="FFFFFF"/>
            </a:solidFill>
            <a:prstDash val="solid"/>
          </a:ln>
        </p:spPr>
      </p:sp>
      <p:sp>
        <p:nvSpPr>
          <p:cNvPr id="37" name="Shape 35"/>
          <p:cNvSpPr/>
          <p:nvPr/>
        </p:nvSpPr>
        <p:spPr>
          <a:xfrm>
            <a:off x="5812536" y="2461416"/>
            <a:ext cx="961644" cy="244669"/>
          </a:xfrm>
          <a:prstGeom prst="rect">
            <a:avLst/>
          </a:prstGeom>
          <a:solidFill>
            <a:srgbClr val="2E7D32"/>
          </a:solidFill>
          <a:ln w="3810">
            <a:solidFill>
              <a:srgbClr val="FFFFFF"/>
            </a:solidFill>
            <a:prstDash val="solid"/>
          </a:ln>
        </p:spPr>
      </p:sp>
      <p:sp>
        <p:nvSpPr>
          <p:cNvPr id="38" name="Text 36"/>
          <p:cNvSpPr/>
          <p:nvPr/>
        </p:nvSpPr>
        <p:spPr>
          <a:xfrm>
            <a:off x="5794248" y="4736592"/>
            <a:ext cx="998220" cy="164592"/>
          </a:xfrm>
          <a:prstGeom prst="rect">
            <a:avLst/>
          </a:prstGeom>
          <a:noFill/>
          <a:ln/>
        </p:spPr>
        <p:txBody>
          <a:bodyPr wrap="square" lIns="0" tIns="0" rIns="0" bIns="0" rtlCol="0" anchor="ctr"/>
          <a:lstStyle/>
          <a:p>
            <a:pPr marL="0" indent="0" algn="ctr">
              <a:buNone/>
            </a:pPr>
            <a:r>
              <a:rPr lang="en-US" sz="700" dirty="0">
                <a:solidFill>
                  <a:srgbClr val="627D98"/>
                </a:solidFill>
              </a:rPr>
              <a:t>May</a:t>
            </a:r>
            <a:endParaRPr lang="en-US" sz="700" dirty="0"/>
          </a:p>
        </p:txBody>
      </p:sp>
      <p:sp>
        <p:nvSpPr>
          <p:cNvPr id="39" name="Shape 37"/>
          <p:cNvSpPr/>
          <p:nvPr/>
        </p:nvSpPr>
        <p:spPr>
          <a:xfrm>
            <a:off x="6975348" y="3888654"/>
            <a:ext cx="961644" cy="774786"/>
          </a:xfrm>
          <a:prstGeom prst="rect">
            <a:avLst/>
          </a:prstGeom>
          <a:solidFill>
            <a:srgbClr val="087E8B"/>
          </a:solidFill>
          <a:ln w="3810">
            <a:solidFill>
              <a:srgbClr val="FFFFFF"/>
            </a:solidFill>
            <a:prstDash val="solid"/>
          </a:ln>
        </p:spPr>
      </p:sp>
      <p:sp>
        <p:nvSpPr>
          <p:cNvPr id="40" name="Shape 38"/>
          <p:cNvSpPr/>
          <p:nvPr/>
        </p:nvSpPr>
        <p:spPr>
          <a:xfrm>
            <a:off x="6975348" y="3399315"/>
            <a:ext cx="961644" cy="489339"/>
          </a:xfrm>
          <a:prstGeom prst="rect">
            <a:avLst/>
          </a:prstGeom>
          <a:solidFill>
            <a:srgbClr val="B8860B"/>
          </a:solidFill>
          <a:ln w="3810">
            <a:solidFill>
              <a:srgbClr val="FFFFFF"/>
            </a:solidFill>
            <a:prstDash val="solid"/>
          </a:ln>
        </p:spPr>
      </p:sp>
      <p:sp>
        <p:nvSpPr>
          <p:cNvPr id="41" name="Shape 39"/>
          <p:cNvSpPr/>
          <p:nvPr/>
        </p:nvSpPr>
        <p:spPr>
          <a:xfrm>
            <a:off x="6975348" y="2889587"/>
            <a:ext cx="961644" cy="509728"/>
          </a:xfrm>
          <a:prstGeom prst="rect">
            <a:avLst/>
          </a:prstGeom>
          <a:solidFill>
            <a:srgbClr val="2F5D8C"/>
          </a:solidFill>
          <a:ln w="3810">
            <a:solidFill>
              <a:srgbClr val="FFFFFF"/>
            </a:solidFill>
            <a:prstDash val="solid"/>
          </a:ln>
        </p:spPr>
      </p:sp>
      <p:sp>
        <p:nvSpPr>
          <p:cNvPr id="42" name="Shape 40"/>
          <p:cNvSpPr/>
          <p:nvPr/>
        </p:nvSpPr>
        <p:spPr>
          <a:xfrm>
            <a:off x="6975348" y="2420637"/>
            <a:ext cx="961644" cy="468950"/>
          </a:xfrm>
          <a:prstGeom prst="rect">
            <a:avLst/>
          </a:prstGeom>
          <a:solidFill>
            <a:srgbClr val="D97706"/>
          </a:solidFill>
          <a:ln w="3810">
            <a:solidFill>
              <a:srgbClr val="FFFFFF"/>
            </a:solidFill>
            <a:prstDash val="solid"/>
          </a:ln>
        </p:spPr>
      </p:sp>
      <p:sp>
        <p:nvSpPr>
          <p:cNvPr id="43" name="Shape 41"/>
          <p:cNvSpPr/>
          <p:nvPr/>
        </p:nvSpPr>
        <p:spPr>
          <a:xfrm>
            <a:off x="6975348" y="2094411"/>
            <a:ext cx="961644" cy="326226"/>
          </a:xfrm>
          <a:prstGeom prst="rect">
            <a:avLst/>
          </a:prstGeom>
          <a:solidFill>
            <a:srgbClr val="2E7D32"/>
          </a:solidFill>
          <a:ln w="3810">
            <a:solidFill>
              <a:srgbClr val="FFFFFF"/>
            </a:solidFill>
            <a:prstDash val="solid"/>
          </a:ln>
        </p:spPr>
      </p:sp>
      <p:sp>
        <p:nvSpPr>
          <p:cNvPr id="44" name="Text 42"/>
          <p:cNvSpPr/>
          <p:nvPr/>
        </p:nvSpPr>
        <p:spPr>
          <a:xfrm>
            <a:off x="6957060" y="4736592"/>
            <a:ext cx="998220" cy="164592"/>
          </a:xfrm>
          <a:prstGeom prst="rect">
            <a:avLst/>
          </a:prstGeom>
          <a:noFill/>
          <a:ln/>
        </p:spPr>
        <p:txBody>
          <a:bodyPr wrap="square" lIns="0" tIns="0" rIns="0" bIns="0" rtlCol="0" anchor="ctr"/>
          <a:lstStyle/>
          <a:p>
            <a:pPr marL="0" indent="0" algn="ctr">
              <a:buNone/>
            </a:pPr>
            <a:r>
              <a:rPr lang="en-US" sz="700" dirty="0">
                <a:solidFill>
                  <a:srgbClr val="627D98"/>
                </a:solidFill>
              </a:rPr>
              <a:t>Jun</a:t>
            </a:r>
            <a:endParaRPr lang="en-US" sz="700" dirty="0"/>
          </a:p>
        </p:txBody>
      </p:sp>
      <p:sp>
        <p:nvSpPr>
          <p:cNvPr id="45" name="Shape 43"/>
          <p:cNvSpPr/>
          <p:nvPr/>
        </p:nvSpPr>
        <p:spPr>
          <a:xfrm>
            <a:off x="960120" y="1618488"/>
            <a:ext cx="137160" cy="137160"/>
          </a:xfrm>
          <a:prstGeom prst="rect">
            <a:avLst/>
          </a:prstGeom>
          <a:solidFill>
            <a:srgbClr val="087E8B"/>
          </a:solidFill>
          <a:ln w="12700">
            <a:solidFill>
              <a:srgbClr val="087E8B"/>
            </a:solidFill>
            <a:prstDash val="solid"/>
          </a:ln>
        </p:spPr>
      </p:sp>
      <p:sp>
        <p:nvSpPr>
          <p:cNvPr id="46" name="Text 44"/>
          <p:cNvSpPr/>
          <p:nvPr/>
        </p:nvSpPr>
        <p:spPr>
          <a:xfrm>
            <a:off x="1133856" y="1600200"/>
            <a:ext cx="1097280" cy="182880"/>
          </a:xfrm>
          <a:prstGeom prst="rect">
            <a:avLst/>
          </a:prstGeom>
          <a:noFill/>
          <a:ln/>
        </p:spPr>
        <p:txBody>
          <a:bodyPr wrap="square" lIns="0" tIns="0" rIns="0" bIns="0" rtlCol="0" anchor="ctr"/>
          <a:lstStyle/>
          <a:p>
            <a:pPr marL="0" indent="0">
              <a:buNone/>
            </a:pPr>
            <a:r>
              <a:rPr lang="en-US" sz="750" dirty="0">
                <a:solidFill>
                  <a:srgbClr val="243B53"/>
                </a:solidFill>
              </a:rPr>
              <a:t>Skincare</a:t>
            </a:r>
            <a:endParaRPr lang="en-US" sz="750" dirty="0"/>
          </a:p>
        </p:txBody>
      </p:sp>
      <p:sp>
        <p:nvSpPr>
          <p:cNvPr id="47" name="Shape 45"/>
          <p:cNvSpPr/>
          <p:nvPr/>
        </p:nvSpPr>
        <p:spPr>
          <a:xfrm>
            <a:off x="2103120" y="1618488"/>
            <a:ext cx="137160" cy="137160"/>
          </a:xfrm>
          <a:prstGeom prst="rect">
            <a:avLst/>
          </a:prstGeom>
          <a:solidFill>
            <a:srgbClr val="B8860B"/>
          </a:solidFill>
          <a:ln w="12700">
            <a:solidFill>
              <a:srgbClr val="B8860B"/>
            </a:solidFill>
            <a:prstDash val="solid"/>
          </a:ln>
        </p:spPr>
      </p:sp>
      <p:sp>
        <p:nvSpPr>
          <p:cNvPr id="48" name="Text 46"/>
          <p:cNvSpPr/>
          <p:nvPr/>
        </p:nvSpPr>
        <p:spPr>
          <a:xfrm>
            <a:off x="2276856" y="1600200"/>
            <a:ext cx="1097280" cy="182880"/>
          </a:xfrm>
          <a:prstGeom prst="rect">
            <a:avLst/>
          </a:prstGeom>
          <a:noFill/>
          <a:ln/>
        </p:spPr>
        <p:txBody>
          <a:bodyPr wrap="square" lIns="0" tIns="0" rIns="0" bIns="0" rtlCol="0" anchor="ctr"/>
          <a:lstStyle/>
          <a:p>
            <a:pPr marL="0" indent="0">
              <a:buNone/>
            </a:pPr>
            <a:r>
              <a:rPr lang="en-US" sz="750" dirty="0">
                <a:solidFill>
                  <a:srgbClr val="243B53"/>
                </a:solidFill>
              </a:rPr>
              <a:t>Hair products</a:t>
            </a:r>
            <a:endParaRPr lang="en-US" sz="750" dirty="0"/>
          </a:p>
        </p:txBody>
      </p:sp>
      <p:sp>
        <p:nvSpPr>
          <p:cNvPr id="49" name="Shape 47"/>
          <p:cNvSpPr/>
          <p:nvPr/>
        </p:nvSpPr>
        <p:spPr>
          <a:xfrm>
            <a:off x="3429000" y="1618488"/>
            <a:ext cx="137160" cy="137160"/>
          </a:xfrm>
          <a:prstGeom prst="rect">
            <a:avLst/>
          </a:prstGeom>
          <a:solidFill>
            <a:srgbClr val="2F5D8C"/>
          </a:solidFill>
          <a:ln w="12700">
            <a:solidFill>
              <a:srgbClr val="2F5D8C"/>
            </a:solidFill>
            <a:prstDash val="solid"/>
          </a:ln>
        </p:spPr>
      </p:sp>
      <p:sp>
        <p:nvSpPr>
          <p:cNvPr id="50" name="Text 48"/>
          <p:cNvSpPr/>
          <p:nvPr/>
        </p:nvSpPr>
        <p:spPr>
          <a:xfrm>
            <a:off x="3602736" y="1600200"/>
            <a:ext cx="1097280" cy="182880"/>
          </a:xfrm>
          <a:prstGeom prst="rect">
            <a:avLst/>
          </a:prstGeom>
          <a:noFill/>
          <a:ln/>
        </p:spPr>
        <p:txBody>
          <a:bodyPr wrap="square" lIns="0" tIns="0" rIns="0" bIns="0" rtlCol="0" anchor="ctr"/>
          <a:lstStyle/>
          <a:p>
            <a:pPr marL="0" indent="0">
              <a:buNone/>
            </a:pPr>
            <a:r>
              <a:rPr lang="en-US" sz="750" dirty="0">
                <a:solidFill>
                  <a:srgbClr val="243B53"/>
                </a:solidFill>
              </a:rPr>
              <a:t>Nail services</a:t>
            </a:r>
            <a:endParaRPr lang="en-US" sz="750" dirty="0"/>
          </a:p>
        </p:txBody>
      </p:sp>
      <p:sp>
        <p:nvSpPr>
          <p:cNvPr id="51" name="Shape 49"/>
          <p:cNvSpPr/>
          <p:nvPr/>
        </p:nvSpPr>
        <p:spPr>
          <a:xfrm>
            <a:off x="4572000" y="1618488"/>
            <a:ext cx="137160" cy="137160"/>
          </a:xfrm>
          <a:prstGeom prst="rect">
            <a:avLst/>
          </a:prstGeom>
          <a:solidFill>
            <a:srgbClr val="D97706"/>
          </a:solidFill>
          <a:ln w="12700">
            <a:solidFill>
              <a:srgbClr val="D97706"/>
            </a:solidFill>
            <a:prstDash val="solid"/>
          </a:ln>
        </p:spPr>
      </p:sp>
      <p:sp>
        <p:nvSpPr>
          <p:cNvPr id="52" name="Text 50"/>
          <p:cNvSpPr/>
          <p:nvPr/>
        </p:nvSpPr>
        <p:spPr>
          <a:xfrm>
            <a:off x="4745736" y="1600200"/>
            <a:ext cx="1097280" cy="182880"/>
          </a:xfrm>
          <a:prstGeom prst="rect">
            <a:avLst/>
          </a:prstGeom>
          <a:noFill/>
          <a:ln/>
        </p:spPr>
        <p:txBody>
          <a:bodyPr wrap="square" lIns="0" tIns="0" rIns="0" bIns="0" rtlCol="0" anchor="ctr"/>
          <a:lstStyle/>
          <a:p>
            <a:pPr marL="0" indent="0">
              <a:buNone/>
            </a:pPr>
            <a:r>
              <a:rPr lang="en-US" sz="750" dirty="0">
                <a:solidFill>
                  <a:srgbClr val="243B53"/>
                </a:solidFill>
              </a:rPr>
              <a:t>Facial services</a:t>
            </a:r>
            <a:endParaRPr lang="en-US" sz="750" dirty="0"/>
          </a:p>
        </p:txBody>
      </p:sp>
      <p:sp>
        <p:nvSpPr>
          <p:cNvPr id="53" name="Shape 51"/>
          <p:cNvSpPr/>
          <p:nvPr/>
        </p:nvSpPr>
        <p:spPr>
          <a:xfrm>
            <a:off x="5715000" y="1618488"/>
            <a:ext cx="137160" cy="137160"/>
          </a:xfrm>
          <a:prstGeom prst="rect">
            <a:avLst/>
          </a:prstGeom>
          <a:solidFill>
            <a:srgbClr val="2E7D32"/>
          </a:solidFill>
          <a:ln w="12700">
            <a:solidFill>
              <a:srgbClr val="2E7D32"/>
            </a:solidFill>
            <a:prstDash val="solid"/>
          </a:ln>
        </p:spPr>
      </p:sp>
      <p:sp>
        <p:nvSpPr>
          <p:cNvPr id="54" name="Text 52"/>
          <p:cNvSpPr/>
          <p:nvPr/>
        </p:nvSpPr>
        <p:spPr>
          <a:xfrm>
            <a:off x="5888736" y="1600200"/>
            <a:ext cx="1097280" cy="182880"/>
          </a:xfrm>
          <a:prstGeom prst="rect">
            <a:avLst/>
          </a:prstGeom>
          <a:noFill/>
          <a:ln/>
        </p:spPr>
        <p:txBody>
          <a:bodyPr wrap="square" lIns="0" tIns="0" rIns="0" bIns="0" rtlCol="0" anchor="ctr"/>
          <a:lstStyle/>
          <a:p>
            <a:pPr marL="0" indent="0">
              <a:buNone/>
            </a:pPr>
            <a:r>
              <a:rPr lang="en-US" sz="750" dirty="0">
                <a:solidFill>
                  <a:srgbClr val="243B53"/>
                </a:solidFill>
              </a:rPr>
              <a:t>Delivery orders</a:t>
            </a:r>
            <a:endParaRPr lang="en-US" sz="750" dirty="0"/>
          </a:p>
        </p:txBody>
      </p:sp>
      <p:sp>
        <p:nvSpPr>
          <p:cNvPr id="55" name="Shape 53"/>
          <p:cNvSpPr/>
          <p:nvPr/>
        </p:nvSpPr>
        <p:spPr>
          <a:xfrm>
            <a:off x="8915400" y="1417320"/>
            <a:ext cx="2468880" cy="3566160"/>
          </a:xfrm>
          <a:prstGeom prst="roundRect">
            <a:avLst>
              <a:gd name="adj" fmla="val 2963"/>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56" name="Text 54"/>
          <p:cNvSpPr/>
          <p:nvPr/>
        </p:nvSpPr>
        <p:spPr>
          <a:xfrm>
            <a:off x="9125712" y="1700784"/>
            <a:ext cx="2057400" cy="2606040"/>
          </a:xfrm>
          <a:prstGeom prst="rect">
            <a:avLst/>
          </a:prstGeom>
          <a:noFill/>
          <a:ln/>
        </p:spPr>
        <p:txBody>
          <a:bodyPr wrap="square" lIns="635" tIns="635" rIns="635" bIns="635" rtlCol="0" anchor="ctr">
            <a:normAutofit/>
          </a:bodyPr>
          <a:lstStyle/>
          <a:p>
            <a:pPr marL="152400" indent="-152400">
              <a:buSzPct val="100000"/>
              <a:buChar char="•"/>
            </a:pPr>
            <a:r>
              <a:rPr lang="en-US" sz="1050" dirty="0">
                <a:solidFill>
                  <a:srgbClr val="243B53"/>
                </a:solidFill>
              </a:rPr>
              <a:t>Skincare remains largest category</a:t>
            </a:r>
            <a:endParaRPr lang="en-US" sz="1050" dirty="0"/>
          </a:p>
          <a:p>
            <a:pPr marL="152400" indent="-152400">
              <a:buSzPct val="100000"/>
              <a:buChar char="•"/>
            </a:pPr>
            <a:r>
              <a:rPr lang="en-US" sz="1050" dirty="0">
                <a:solidFill>
                  <a:srgbClr val="243B53"/>
                </a:solidFill>
              </a:rPr>
              <a:t>Delivery grows from $1,000 to $1,600</a:t>
            </a:r>
            <a:endParaRPr lang="en-US" sz="1050" dirty="0"/>
          </a:p>
          <a:p>
            <a:pPr marL="152400" indent="-152400">
              <a:buSzPct val="100000"/>
              <a:buChar char="•"/>
            </a:pPr>
            <a:r>
              <a:rPr lang="en-US" sz="1050" dirty="0">
                <a:solidFill>
                  <a:srgbClr val="243B53"/>
                </a:solidFill>
              </a:rPr>
              <a:t>All categories improve by June</a:t>
            </a:r>
            <a:endParaRPr lang="en-US" sz="1050" dirty="0"/>
          </a:p>
          <a:p>
            <a:pPr marL="152400" indent="-152400">
              <a:buSzPct val="100000"/>
              <a:buChar char="•"/>
            </a:pPr>
            <a:r>
              <a:rPr lang="en-US" sz="1050" dirty="0">
                <a:solidFill>
                  <a:srgbClr val="243B53"/>
                </a:solidFill>
              </a:rPr>
              <a:t>May softness appears across several categories, not one only</a:t>
            </a:r>
            <a:endParaRPr lang="en-US" sz="1050" dirty="0"/>
          </a:p>
        </p:txBody>
      </p:sp>
      <p:sp>
        <p:nvSpPr>
          <p:cNvPr id="57" name="Shape 55"/>
          <p:cNvSpPr/>
          <p:nvPr/>
        </p:nvSpPr>
        <p:spPr>
          <a:xfrm>
            <a:off x="8641080" y="5257800"/>
            <a:ext cx="2788920" cy="713232"/>
          </a:xfrm>
          <a:prstGeom prst="roundRect">
            <a:avLst>
              <a:gd name="adj" fmla="val 6410"/>
            </a:avLst>
          </a:prstGeom>
          <a:solidFill>
            <a:srgbClr val="F6E7C1"/>
          </a:solidFill>
          <a:ln w="8890">
            <a:solidFill>
              <a:srgbClr val="E3C56F"/>
            </a:solidFill>
            <a:prstDash val="solid"/>
          </a:ln>
        </p:spPr>
      </p:sp>
      <p:sp>
        <p:nvSpPr>
          <p:cNvPr id="58" name="Text 56"/>
          <p:cNvSpPr/>
          <p:nvPr/>
        </p:nvSpPr>
        <p:spPr>
          <a:xfrm>
            <a:off x="8805672" y="5330952"/>
            <a:ext cx="245973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59" name="Text 57"/>
          <p:cNvSpPr/>
          <p:nvPr/>
        </p:nvSpPr>
        <p:spPr>
          <a:xfrm>
            <a:off x="8805672" y="5522976"/>
            <a:ext cx="245973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Product mix helps explain whether growth comes from high-value categories, services, or lower-margin fulfillment-heavy orders.</a:t>
            </a:r>
            <a:endParaRPr lang="en-US" sz="1050" dirty="0"/>
          </a:p>
        </p:txBody>
      </p:sp>
      <p:sp>
        <p:nvSpPr>
          <p:cNvPr id="60" name="Text 58"/>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61"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READING CATEGORY SHIFTS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What product mix can reveal</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sp>
        <p:nvSpPr>
          <p:cNvPr id="5" name="Text 3"/>
          <p:cNvSpPr/>
          <p:nvPr/>
        </p:nvSpPr>
        <p:spPr>
          <a:xfrm>
            <a:off x="731520" y="1325880"/>
            <a:ext cx="4983480" cy="2971800"/>
          </a:xfrm>
          <a:prstGeom prst="rect">
            <a:avLst/>
          </a:prstGeom>
          <a:noFill/>
          <a:ln/>
        </p:spPr>
        <p:txBody>
          <a:bodyPr wrap="square" lIns="635" tIns="635" rIns="635" bIns="635" rtlCol="0" anchor="ctr">
            <a:normAutofit/>
          </a:bodyPr>
          <a:lstStyle/>
          <a:p>
            <a:pPr marL="152400" indent="-152400">
              <a:buSzPct val="100000"/>
              <a:buChar char="•"/>
            </a:pPr>
            <a:r>
              <a:rPr lang="en-US" sz="1440" dirty="0">
                <a:solidFill>
                  <a:srgbClr val="243B53"/>
                </a:solidFill>
              </a:rPr>
              <a:t>Product mix shows what customers are actually buying</a:t>
            </a:r>
            <a:endParaRPr lang="en-US" sz="1440" dirty="0"/>
          </a:p>
          <a:p>
            <a:pPr marL="152400" indent="-152400">
              <a:buSzPct val="100000"/>
              <a:buChar char="•"/>
            </a:pPr>
            <a:r>
              <a:rPr lang="en-US" sz="1440" dirty="0">
                <a:solidFill>
                  <a:srgbClr val="243B53"/>
                </a:solidFill>
              </a:rPr>
              <a:t>AOV can fall when customers shift to smaller baskets or lower-priced items</a:t>
            </a:r>
            <a:endParaRPr lang="en-US" sz="1440" dirty="0"/>
          </a:p>
          <a:p>
            <a:pPr marL="152400" indent="-152400">
              <a:buSzPct val="100000"/>
              <a:buChar char="•"/>
            </a:pPr>
            <a:r>
              <a:rPr lang="en-US" sz="1440" dirty="0">
                <a:solidFill>
                  <a:srgbClr val="243B53"/>
                </a:solidFill>
              </a:rPr>
              <a:t>Margin can fall when revenue shifts toward costly or discounted categories</a:t>
            </a:r>
            <a:endParaRPr lang="en-US" sz="1440" dirty="0"/>
          </a:p>
          <a:p>
            <a:pPr marL="152400" indent="-152400">
              <a:buSzPct val="100000"/>
              <a:buChar char="•"/>
            </a:pPr>
            <a:r>
              <a:rPr lang="en-US" sz="1440" dirty="0">
                <a:solidFill>
                  <a:srgbClr val="243B53"/>
                </a:solidFill>
              </a:rPr>
              <a:t>Operational load can rise when delivery or service-heavy categories grow</a:t>
            </a:r>
            <a:endParaRPr lang="en-US" sz="1440" dirty="0"/>
          </a:p>
        </p:txBody>
      </p:sp>
      <p:sp>
        <p:nvSpPr>
          <p:cNvPr id="6" name="Shape 4"/>
          <p:cNvSpPr/>
          <p:nvPr/>
        </p:nvSpPr>
        <p:spPr>
          <a:xfrm>
            <a:off x="6035040" y="1234440"/>
            <a:ext cx="5166360" cy="3520440"/>
          </a:xfrm>
          <a:prstGeom prst="roundRect">
            <a:avLst>
              <a:gd name="adj" fmla="val 2078"/>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355080" y="1737360"/>
          <a:ext cx="4526280" cy="2240280"/>
        </p:xfrm>
        <a:graphic>
          <a:graphicData uri="http://schemas.openxmlformats.org/drawingml/2006/table">
            <a:tbl>
              <a:tblPr/>
              <a:tblGrid>
                <a:gridCol w="2263140">
                  <a:extLst>
                    <a:ext uri="{9D8B030D-6E8A-4147-A177-3AD203B41FA5}">
                      <a16:colId xmlns:a16="http://schemas.microsoft.com/office/drawing/2014/main" val="20000"/>
                    </a:ext>
                  </a:extLst>
                </a:gridCol>
                <a:gridCol w="2263140">
                  <a:extLst>
                    <a:ext uri="{9D8B030D-6E8A-4147-A177-3AD203B41FA5}">
                      <a16:colId xmlns:a16="http://schemas.microsoft.com/office/drawing/2014/main" val="20001"/>
                    </a:ext>
                  </a:extLst>
                </a:gridCol>
              </a:tblGrid>
              <a:tr h="448056">
                <a:tc>
                  <a:txBody>
                    <a:bodyPr/>
                    <a:lstStyle/>
                    <a:p>
                      <a:pPr marL="0" indent="0">
                        <a:buNone/>
                      </a:pPr>
                      <a:r>
                        <a:rPr lang="en-US" sz="880" b="1" dirty="0">
                          <a:solidFill>
                            <a:srgbClr val="FFFFFF"/>
                          </a:solidFill>
                          <a:latin typeface="Aptos" pitchFamily="34" charset="0"/>
                          <a:ea typeface="Aptos" pitchFamily="34" charset="-122"/>
                          <a:cs typeface="Aptos" pitchFamily="34" charset="-120"/>
                        </a:rPr>
                        <a:t>Signal</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Possible interpretation</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448056">
                <a:tc>
                  <a:txBody>
                    <a:bodyPr/>
                    <a:lstStyle/>
                    <a:p>
                      <a:pPr marL="0" indent="0">
                        <a:buNone/>
                      </a:pPr>
                      <a:r>
                        <a:rPr lang="en-US" sz="880" dirty="0">
                          <a:solidFill>
                            <a:srgbClr val="243B53"/>
                          </a:solidFill>
                          <a:latin typeface="Aptos" pitchFamily="34" charset="0"/>
                          <a:ea typeface="Aptos" pitchFamily="34" charset="-122"/>
                          <a:cs typeface="Aptos" pitchFamily="34" charset="-120"/>
                        </a:rPr>
                        <a:t>AOV drops</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Customers buy fewer items, cheaper items, or discounted bundles</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8056">
                <a:tc>
                  <a:txBody>
                    <a:bodyPr/>
                    <a:lstStyle/>
                    <a:p>
                      <a:pPr marL="0" indent="0">
                        <a:buNone/>
                      </a:pPr>
                      <a:r>
                        <a:rPr lang="en-US" sz="880" dirty="0">
                          <a:solidFill>
                            <a:srgbClr val="243B53"/>
                          </a:solidFill>
                          <a:latin typeface="Aptos" pitchFamily="34" charset="0"/>
                          <a:ea typeface="Aptos" pitchFamily="34" charset="-122"/>
                          <a:cs typeface="Aptos" pitchFamily="34" charset="-120"/>
                        </a:rPr>
                        <a:t>Delivery grows</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Access improves, but delivery cost and delays may increase</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8056">
                <a:tc>
                  <a:txBody>
                    <a:bodyPr/>
                    <a:lstStyle/>
                    <a:p>
                      <a:pPr marL="0" indent="0">
                        <a:buNone/>
                      </a:pPr>
                      <a:r>
                        <a:rPr lang="en-US" sz="880" dirty="0">
                          <a:solidFill>
                            <a:srgbClr val="243B53"/>
                          </a:solidFill>
                          <a:latin typeface="Aptos" pitchFamily="34" charset="0"/>
                          <a:ea typeface="Aptos" pitchFamily="34" charset="-122"/>
                          <a:cs typeface="Aptos" pitchFamily="34" charset="-120"/>
                        </a:rPr>
                        <a:t>Services grow</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Higher revenue opportunity, but scheduling and staffing matter</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8056">
                <a:tc>
                  <a:txBody>
                    <a:bodyPr/>
                    <a:lstStyle/>
                    <a:p>
                      <a:pPr marL="0" indent="0">
                        <a:buNone/>
                      </a:pPr>
                      <a:r>
                        <a:rPr lang="en-US" sz="880" dirty="0">
                          <a:solidFill>
                            <a:srgbClr val="243B53"/>
                          </a:solidFill>
                          <a:latin typeface="Aptos" pitchFamily="34" charset="0"/>
                          <a:ea typeface="Aptos" pitchFamily="34" charset="-122"/>
                          <a:cs typeface="Aptos" pitchFamily="34" charset="-120"/>
                        </a:rPr>
                        <a:t>Skincare leads</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Inventory availability may strongly affect revenue</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5989320" y="5257800"/>
            <a:ext cx="5120640" cy="658368"/>
          </a:xfrm>
          <a:prstGeom prst="roundRect">
            <a:avLst>
              <a:gd name="adj" fmla="val 6944"/>
            </a:avLst>
          </a:prstGeom>
          <a:solidFill>
            <a:srgbClr val="F6E7C1"/>
          </a:solidFill>
          <a:ln w="8890">
            <a:solidFill>
              <a:srgbClr val="E3C56F"/>
            </a:solidFill>
            <a:prstDash val="solid"/>
          </a:ln>
        </p:spPr>
      </p:sp>
      <p:sp>
        <p:nvSpPr>
          <p:cNvPr id="9" name="Text 6"/>
          <p:cNvSpPr/>
          <p:nvPr/>
        </p:nvSpPr>
        <p:spPr>
          <a:xfrm>
            <a:off x="6153912" y="5330952"/>
            <a:ext cx="479145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10" name="Text 7"/>
          <p:cNvSpPr/>
          <p:nvPr/>
        </p:nvSpPr>
        <p:spPr>
          <a:xfrm>
            <a:off x="6153912" y="5522976"/>
            <a:ext cx="4791456" cy="347472"/>
          </a:xfrm>
          <a:prstGeom prst="rect">
            <a:avLst/>
          </a:prstGeom>
          <a:noFill/>
          <a:ln/>
        </p:spPr>
        <p:txBody>
          <a:bodyPr wrap="square" lIns="0" tIns="0" rIns="0" bIns="0" rtlCol="0" anchor="ctr">
            <a:normAutofit/>
          </a:bodyPr>
          <a:lstStyle/>
          <a:p>
            <a:pPr marL="0" indent="0">
              <a:buNone/>
            </a:pPr>
            <a:r>
              <a:rPr lang="en-US" sz="1050" dirty="0">
                <a:solidFill>
                  <a:srgbClr val="243B53"/>
                </a:solidFill>
              </a:rPr>
              <a:t>Mix analysis helps explain why two months with similar revenue may have very different margin and customer experience outcomes.</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CUSTOMER JOURNEY CONVERSION</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Funnel analysis: visits to completed orders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sp>
        <p:nvSpPr>
          <p:cNvPr id="5" name="Shape 3"/>
          <p:cNvSpPr/>
          <p:nvPr/>
        </p:nvSpPr>
        <p:spPr>
          <a:xfrm>
            <a:off x="822960" y="1097280"/>
            <a:ext cx="6903720" cy="4434840"/>
          </a:xfrm>
          <a:prstGeom prst="roundRect">
            <a:avLst>
              <a:gd name="adj" fmla="val 1649"/>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417320" y="1600200"/>
            <a:ext cx="5760720" cy="429768"/>
          </a:xfrm>
          <a:prstGeom prst="trapezoid">
            <a:avLst/>
          </a:prstGeom>
          <a:solidFill>
            <a:srgbClr val="087E8B"/>
          </a:solidFill>
          <a:ln w="6350">
            <a:solidFill>
              <a:srgbClr val="FFFFFF"/>
            </a:solidFill>
            <a:prstDash val="solid"/>
          </a:ln>
        </p:spPr>
      </p:sp>
      <p:sp>
        <p:nvSpPr>
          <p:cNvPr id="7" name="Text 5"/>
          <p:cNvSpPr/>
          <p:nvPr/>
        </p:nvSpPr>
        <p:spPr>
          <a:xfrm>
            <a:off x="1417320" y="1709928"/>
            <a:ext cx="5760720" cy="164592"/>
          </a:xfrm>
          <a:prstGeom prst="rect">
            <a:avLst/>
          </a:prstGeom>
          <a:noFill/>
          <a:ln/>
        </p:spPr>
        <p:txBody>
          <a:bodyPr wrap="square" lIns="0" tIns="0" rIns="0" bIns="0" rtlCol="0" anchor="ctr"/>
          <a:lstStyle/>
          <a:p>
            <a:pPr marL="0" indent="0" algn="ctr">
              <a:buNone/>
            </a:pPr>
            <a:r>
              <a:rPr lang="en-US" sz="900" b="1" dirty="0">
                <a:solidFill>
                  <a:srgbClr val="FFFFFF"/>
                </a:solidFill>
              </a:rPr>
              <a:t>Website visits  •  3,600</a:t>
            </a:r>
            <a:endParaRPr lang="en-US" sz="900" dirty="0"/>
          </a:p>
        </p:txBody>
      </p:sp>
      <p:sp>
        <p:nvSpPr>
          <p:cNvPr id="8" name="Shape 6"/>
          <p:cNvSpPr/>
          <p:nvPr/>
        </p:nvSpPr>
        <p:spPr>
          <a:xfrm>
            <a:off x="2617470" y="2240280"/>
            <a:ext cx="3360420" cy="429768"/>
          </a:xfrm>
          <a:prstGeom prst="trapezoid">
            <a:avLst/>
          </a:prstGeom>
          <a:solidFill>
            <a:srgbClr val="2D9CA5"/>
          </a:solidFill>
          <a:ln w="6350">
            <a:solidFill>
              <a:srgbClr val="FFFFFF"/>
            </a:solidFill>
            <a:prstDash val="solid"/>
          </a:ln>
        </p:spPr>
      </p:sp>
      <p:sp>
        <p:nvSpPr>
          <p:cNvPr id="9" name="Text 7"/>
          <p:cNvSpPr/>
          <p:nvPr/>
        </p:nvSpPr>
        <p:spPr>
          <a:xfrm>
            <a:off x="1417320" y="2350008"/>
            <a:ext cx="5760720" cy="164592"/>
          </a:xfrm>
          <a:prstGeom prst="rect">
            <a:avLst/>
          </a:prstGeom>
          <a:noFill/>
          <a:ln/>
        </p:spPr>
        <p:txBody>
          <a:bodyPr wrap="square" lIns="0" tIns="0" rIns="0" bIns="0" rtlCol="0" anchor="ctr"/>
          <a:lstStyle/>
          <a:p>
            <a:pPr marL="0" indent="0" algn="ctr">
              <a:buNone/>
            </a:pPr>
            <a:r>
              <a:rPr lang="en-US" sz="900" b="1" dirty="0">
                <a:solidFill>
                  <a:srgbClr val="FFFFFF"/>
                </a:solidFill>
              </a:rPr>
              <a:t>Product page views  •  2,100</a:t>
            </a:r>
            <a:endParaRPr lang="en-US" sz="900" dirty="0"/>
          </a:p>
        </p:txBody>
      </p:sp>
      <p:sp>
        <p:nvSpPr>
          <p:cNvPr id="10" name="Shape 8"/>
          <p:cNvSpPr/>
          <p:nvPr/>
        </p:nvSpPr>
        <p:spPr>
          <a:xfrm>
            <a:off x="3721608" y="2880360"/>
            <a:ext cx="1152144" cy="429768"/>
          </a:xfrm>
          <a:prstGeom prst="trapezoid">
            <a:avLst/>
          </a:prstGeom>
          <a:solidFill>
            <a:srgbClr val="4AAFB5"/>
          </a:solidFill>
          <a:ln w="6350">
            <a:solidFill>
              <a:srgbClr val="FFFFFF"/>
            </a:solidFill>
            <a:prstDash val="solid"/>
          </a:ln>
        </p:spPr>
      </p:sp>
      <p:sp>
        <p:nvSpPr>
          <p:cNvPr id="11" name="Text 9"/>
          <p:cNvSpPr/>
          <p:nvPr/>
        </p:nvSpPr>
        <p:spPr>
          <a:xfrm>
            <a:off x="1417320" y="2990088"/>
            <a:ext cx="5760720" cy="164592"/>
          </a:xfrm>
          <a:prstGeom prst="rect">
            <a:avLst/>
          </a:prstGeom>
          <a:noFill/>
          <a:ln/>
        </p:spPr>
        <p:txBody>
          <a:bodyPr wrap="square" lIns="0" tIns="0" rIns="0" bIns="0" rtlCol="0" anchor="ctr"/>
          <a:lstStyle/>
          <a:p>
            <a:pPr marL="0" indent="0" algn="ctr">
              <a:buNone/>
            </a:pPr>
            <a:r>
              <a:rPr lang="en-US" sz="900" b="1" dirty="0">
                <a:solidFill>
                  <a:srgbClr val="FFFFFF"/>
                </a:solidFill>
              </a:rPr>
              <a:t>Cart additions  •  720</a:t>
            </a:r>
            <a:endParaRPr lang="en-US" sz="900" dirty="0"/>
          </a:p>
        </p:txBody>
      </p:sp>
      <p:sp>
        <p:nvSpPr>
          <p:cNvPr id="12" name="Shape 10"/>
          <p:cNvSpPr/>
          <p:nvPr/>
        </p:nvSpPr>
        <p:spPr>
          <a:xfrm>
            <a:off x="3953637" y="3520440"/>
            <a:ext cx="688086" cy="429768"/>
          </a:xfrm>
          <a:prstGeom prst="trapezoid">
            <a:avLst/>
          </a:prstGeom>
          <a:solidFill>
            <a:srgbClr val="7BC7CB"/>
          </a:solidFill>
          <a:ln w="6350">
            <a:solidFill>
              <a:srgbClr val="FFFFFF"/>
            </a:solidFill>
            <a:prstDash val="solid"/>
          </a:ln>
        </p:spPr>
      </p:sp>
      <p:sp>
        <p:nvSpPr>
          <p:cNvPr id="13" name="Text 11"/>
          <p:cNvSpPr/>
          <p:nvPr/>
        </p:nvSpPr>
        <p:spPr>
          <a:xfrm>
            <a:off x="1417320" y="3630168"/>
            <a:ext cx="5760720" cy="164592"/>
          </a:xfrm>
          <a:prstGeom prst="rect">
            <a:avLst/>
          </a:prstGeom>
          <a:noFill/>
          <a:ln/>
        </p:spPr>
        <p:txBody>
          <a:bodyPr wrap="square" lIns="0" tIns="0" rIns="0" bIns="0" rtlCol="0" anchor="ctr"/>
          <a:lstStyle/>
          <a:p>
            <a:pPr marL="0" indent="0" algn="ctr">
              <a:buNone/>
            </a:pPr>
            <a:r>
              <a:rPr lang="en-US" sz="900" b="1" dirty="0">
                <a:solidFill>
                  <a:srgbClr val="FFFFFF"/>
                </a:solidFill>
              </a:rPr>
              <a:t>Checkout starts  •  430</a:t>
            </a:r>
            <a:endParaRPr lang="en-US" sz="900" dirty="0"/>
          </a:p>
        </p:txBody>
      </p:sp>
      <p:sp>
        <p:nvSpPr>
          <p:cNvPr id="14" name="Shape 12"/>
          <p:cNvSpPr/>
          <p:nvPr/>
        </p:nvSpPr>
        <p:spPr>
          <a:xfrm>
            <a:off x="4025646" y="4160520"/>
            <a:ext cx="544068" cy="429768"/>
          </a:xfrm>
          <a:prstGeom prst="trapezoid">
            <a:avLst/>
          </a:prstGeom>
          <a:solidFill>
            <a:srgbClr val="B8860B"/>
          </a:solidFill>
          <a:ln w="6350">
            <a:solidFill>
              <a:srgbClr val="FFFFFF"/>
            </a:solidFill>
            <a:prstDash val="solid"/>
          </a:ln>
        </p:spPr>
      </p:sp>
      <p:sp>
        <p:nvSpPr>
          <p:cNvPr id="15" name="Text 13"/>
          <p:cNvSpPr/>
          <p:nvPr/>
        </p:nvSpPr>
        <p:spPr>
          <a:xfrm>
            <a:off x="1417320" y="4270248"/>
            <a:ext cx="5760720" cy="164592"/>
          </a:xfrm>
          <a:prstGeom prst="rect">
            <a:avLst/>
          </a:prstGeom>
          <a:noFill/>
          <a:ln/>
        </p:spPr>
        <p:txBody>
          <a:bodyPr wrap="square" lIns="0" tIns="0" rIns="0" bIns="0" rtlCol="0" anchor="ctr"/>
          <a:lstStyle/>
          <a:p>
            <a:pPr marL="0" indent="0" algn="ctr">
              <a:buNone/>
            </a:pPr>
            <a:r>
              <a:rPr lang="en-US" sz="900" b="1" dirty="0">
                <a:solidFill>
                  <a:srgbClr val="FFFFFF"/>
                </a:solidFill>
              </a:rPr>
              <a:t>Completed orders  •  340</a:t>
            </a:r>
            <a:endParaRPr lang="en-US" sz="900" dirty="0"/>
          </a:p>
        </p:txBody>
      </p:sp>
      <p:sp>
        <p:nvSpPr>
          <p:cNvPr id="16" name="Shape 14"/>
          <p:cNvSpPr/>
          <p:nvPr/>
        </p:nvSpPr>
        <p:spPr>
          <a:xfrm>
            <a:off x="8092440" y="1417320"/>
            <a:ext cx="3017520" cy="3611880"/>
          </a:xfrm>
          <a:prstGeom prst="roundRect">
            <a:avLst>
              <a:gd name="adj" fmla="val 2424"/>
            </a:avLst>
          </a:prstGeom>
          <a:solidFill>
            <a:srgbClr val="DFF3F5"/>
          </a:solidFill>
          <a:ln w="8890">
            <a:solidFill>
              <a:srgbClr val="B6DEE2"/>
            </a:solidFill>
            <a:prstDash val="solid"/>
          </a:ln>
        </p:spPr>
      </p:sp>
      <p:sp>
        <p:nvSpPr>
          <p:cNvPr id="17" name="Text 15"/>
          <p:cNvSpPr/>
          <p:nvPr/>
        </p:nvSpPr>
        <p:spPr>
          <a:xfrm>
            <a:off x="8321040" y="1737360"/>
            <a:ext cx="2578608" cy="2514600"/>
          </a:xfrm>
          <a:prstGeom prst="rect">
            <a:avLst/>
          </a:prstGeom>
          <a:noFill/>
          <a:ln/>
        </p:spPr>
        <p:txBody>
          <a:bodyPr wrap="square" lIns="635" tIns="635" rIns="635" bIns="635" rtlCol="0" anchor="ctr">
            <a:normAutofit/>
          </a:bodyPr>
          <a:lstStyle/>
          <a:p>
            <a:pPr marL="152400" indent="-152400">
              <a:buSzPct val="100000"/>
              <a:buChar char="•"/>
            </a:pPr>
            <a:r>
              <a:rPr lang="en-US" sz="1050" dirty="0">
                <a:solidFill>
                  <a:srgbClr val="243B53"/>
                </a:solidFill>
              </a:rPr>
              <a:t>3,600 visits become 340 completed orders</a:t>
            </a:r>
            <a:endParaRPr lang="en-US" sz="1050" dirty="0"/>
          </a:p>
          <a:p>
            <a:pPr marL="152400" indent="-152400">
              <a:buSzPct val="100000"/>
              <a:buChar char="•"/>
            </a:pPr>
            <a:r>
              <a:rPr lang="en-US" sz="1050" dirty="0">
                <a:solidFill>
                  <a:srgbClr val="243B53"/>
                </a:solidFill>
              </a:rPr>
              <a:t>Largest volume drop: product views to cart additions</a:t>
            </a:r>
            <a:endParaRPr lang="en-US" sz="1050" dirty="0"/>
          </a:p>
          <a:p>
            <a:pPr marL="152400" indent="-152400">
              <a:buSzPct val="100000"/>
              <a:buChar char="•"/>
            </a:pPr>
            <a:r>
              <a:rPr lang="en-US" sz="1050" dirty="0">
                <a:solidFill>
                  <a:srgbClr val="243B53"/>
                </a:solidFill>
              </a:rPr>
              <a:t>Cart additions = 720; completed orders = 340</a:t>
            </a:r>
            <a:endParaRPr lang="en-US" sz="1050" dirty="0"/>
          </a:p>
          <a:p>
            <a:pPr marL="152400" indent="-152400">
              <a:buSzPct val="100000"/>
              <a:buChar char="•"/>
            </a:pPr>
            <a:r>
              <a:rPr lang="en-US" sz="1050" dirty="0">
                <a:solidFill>
                  <a:srgbClr val="243B53"/>
                </a:solidFill>
              </a:rPr>
              <a:t>Funnel analysis locates where action may improve conversion</a:t>
            </a:r>
            <a:endParaRPr lang="en-US" sz="1050" dirty="0"/>
          </a:p>
        </p:txBody>
      </p:sp>
      <p:sp>
        <p:nvSpPr>
          <p:cNvPr id="18" name="Shape 16"/>
          <p:cNvSpPr/>
          <p:nvPr/>
        </p:nvSpPr>
        <p:spPr>
          <a:xfrm>
            <a:off x="7818120" y="5257800"/>
            <a:ext cx="3383280" cy="713232"/>
          </a:xfrm>
          <a:prstGeom prst="roundRect">
            <a:avLst>
              <a:gd name="adj" fmla="val 6410"/>
            </a:avLst>
          </a:prstGeom>
          <a:solidFill>
            <a:srgbClr val="F6E7C1"/>
          </a:solidFill>
          <a:ln w="8890">
            <a:solidFill>
              <a:srgbClr val="E3C56F"/>
            </a:solidFill>
            <a:prstDash val="solid"/>
          </a:ln>
        </p:spPr>
      </p:sp>
      <p:sp>
        <p:nvSpPr>
          <p:cNvPr id="19" name="Text 17"/>
          <p:cNvSpPr/>
          <p:nvPr/>
        </p:nvSpPr>
        <p:spPr>
          <a:xfrm>
            <a:off x="7982712" y="5330952"/>
            <a:ext cx="305409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0" name="Text 18"/>
          <p:cNvSpPr/>
          <p:nvPr/>
        </p:nvSpPr>
        <p:spPr>
          <a:xfrm>
            <a:off x="7982712" y="5522976"/>
            <a:ext cx="305409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A funnel helps management see where potential demand leaks before becoming revenue.</a:t>
            </a:r>
            <a:endParaRPr lang="en-US" sz="1050" dirty="0"/>
          </a:p>
        </p:txBody>
      </p:sp>
      <p:sp>
        <p:nvSpPr>
          <p:cNvPr id="21" name="Text 19"/>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RATES OVER RAW COUNTS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Conversion rate interpretation</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234440"/>
          <a:ext cx="10881360" cy="2971800"/>
        </p:xfrm>
        <a:graphic>
          <a:graphicData uri="http://schemas.openxmlformats.org/drawingml/2006/table">
            <a:tbl>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495300">
                <a:tc>
                  <a:txBody>
                    <a:bodyPr/>
                    <a:lstStyle/>
                    <a:p>
                      <a:pPr marL="0" indent="0">
                        <a:buNone/>
                      </a:pPr>
                      <a:r>
                        <a:rPr lang="en-US" sz="930" b="1" dirty="0">
                          <a:solidFill>
                            <a:srgbClr val="FFFFFF"/>
                          </a:solidFill>
                          <a:latin typeface="Aptos" pitchFamily="34" charset="0"/>
                          <a:ea typeface="Aptos" pitchFamily="34" charset="-122"/>
                          <a:cs typeface="Aptos" pitchFamily="34" charset="-120"/>
                        </a:rPr>
                        <a:t>Stage</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30" b="1" dirty="0">
                          <a:solidFill>
                            <a:srgbClr val="FFFFFF"/>
                          </a:solidFill>
                          <a:latin typeface="Aptos" pitchFamily="34" charset="0"/>
                          <a:ea typeface="Aptos" pitchFamily="34" charset="-122"/>
                          <a:cs typeface="Aptos" pitchFamily="34" charset="-120"/>
                        </a:rPr>
                        <a:t>Count</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30" b="1" dirty="0">
                          <a:solidFill>
                            <a:srgbClr val="FFFFFF"/>
                          </a:solidFill>
                          <a:latin typeface="Aptos" pitchFamily="34" charset="0"/>
                          <a:ea typeface="Aptos" pitchFamily="34" charset="-122"/>
                          <a:cs typeface="Aptos" pitchFamily="34" charset="-120"/>
                        </a:rPr>
                        <a:t>Conversion from previous</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30" b="1" dirty="0">
                          <a:solidFill>
                            <a:srgbClr val="FFFFFF"/>
                          </a:solidFill>
                          <a:latin typeface="Aptos" pitchFamily="34" charset="0"/>
                          <a:ea typeface="Aptos" pitchFamily="34" charset="-122"/>
                          <a:cs typeface="Aptos" pitchFamily="34" charset="-120"/>
                        </a:rPr>
                        <a:t>Meaning</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495300">
                <a:tc>
                  <a:txBody>
                    <a:bodyPr/>
                    <a:lstStyle/>
                    <a:p>
                      <a:pPr marL="0" indent="0">
                        <a:buNone/>
                      </a:pPr>
                      <a:r>
                        <a:rPr lang="en-US" sz="930" dirty="0">
                          <a:solidFill>
                            <a:srgbClr val="243B53"/>
                          </a:solidFill>
                          <a:latin typeface="Aptos" pitchFamily="34" charset="0"/>
                          <a:ea typeface="Aptos" pitchFamily="34" charset="-122"/>
                          <a:cs typeface="Aptos" pitchFamily="34" charset="-120"/>
                        </a:rPr>
                        <a:t>Visits</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3,600</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100%</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Total traffic</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lang="en-US" sz="930" dirty="0">
                          <a:solidFill>
                            <a:srgbClr val="243B53"/>
                          </a:solidFill>
                          <a:latin typeface="Aptos" pitchFamily="34" charset="0"/>
                          <a:ea typeface="Aptos" pitchFamily="34" charset="-122"/>
                          <a:cs typeface="Aptos" pitchFamily="34" charset="-120"/>
                        </a:rPr>
                        <a:t>Product views</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2,100</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58.3%</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Visitors showing interest</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5300">
                <a:tc>
                  <a:txBody>
                    <a:bodyPr/>
                    <a:lstStyle/>
                    <a:p>
                      <a:pPr marL="0" indent="0">
                        <a:buNone/>
                      </a:pPr>
                      <a:r>
                        <a:rPr lang="en-US" sz="930" dirty="0">
                          <a:solidFill>
                            <a:srgbClr val="243B53"/>
                          </a:solidFill>
                          <a:latin typeface="Aptos" pitchFamily="34" charset="0"/>
                          <a:ea typeface="Aptos" pitchFamily="34" charset="-122"/>
                          <a:cs typeface="Aptos" pitchFamily="34" charset="-120"/>
                        </a:rPr>
                        <a:t>Cart additions</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720</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34.3%</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Product/pricing/availability test</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5300">
                <a:tc>
                  <a:txBody>
                    <a:bodyPr/>
                    <a:lstStyle/>
                    <a:p>
                      <a:pPr marL="0" indent="0">
                        <a:buNone/>
                      </a:pPr>
                      <a:r>
                        <a:rPr lang="en-US" sz="930" dirty="0">
                          <a:solidFill>
                            <a:srgbClr val="243B53"/>
                          </a:solidFill>
                          <a:latin typeface="Aptos" pitchFamily="34" charset="0"/>
                          <a:ea typeface="Aptos" pitchFamily="34" charset="-122"/>
                          <a:cs typeface="Aptos" pitchFamily="34" charset="-120"/>
                        </a:rPr>
                        <a:t>Checkout starts</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430</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59.7%</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Buying intent</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5300">
                <a:tc>
                  <a:txBody>
                    <a:bodyPr/>
                    <a:lstStyle/>
                    <a:p>
                      <a:pPr marL="0" indent="0">
                        <a:buNone/>
                      </a:pPr>
                      <a:r>
                        <a:rPr lang="en-US" sz="930" dirty="0">
                          <a:solidFill>
                            <a:srgbClr val="243B53"/>
                          </a:solidFill>
                          <a:latin typeface="Aptos" pitchFamily="34" charset="0"/>
                          <a:ea typeface="Aptos" pitchFamily="34" charset="-122"/>
                          <a:cs typeface="Aptos" pitchFamily="34" charset="-120"/>
                        </a:rPr>
                        <a:t>Completed orders</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340</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79.1%</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30" dirty="0">
                          <a:solidFill>
                            <a:srgbClr val="243B53"/>
                          </a:solidFill>
                          <a:latin typeface="Aptos" pitchFamily="34" charset="0"/>
                          <a:ea typeface="Aptos" pitchFamily="34" charset="-122"/>
                          <a:cs typeface="Aptos" pitchFamily="34" charset="-120"/>
                        </a:rPr>
                        <a:t>Checkout completion</a:t>
                      </a:r>
                      <a:endParaRPr lang="en-US" sz="93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868680" y="4434840"/>
            <a:ext cx="10058400" cy="822960"/>
          </a:xfrm>
          <a:prstGeom prst="rect">
            <a:avLst/>
          </a:prstGeom>
          <a:noFill/>
          <a:ln/>
        </p:spPr>
        <p:txBody>
          <a:bodyPr wrap="square" lIns="635" tIns="635" rIns="635" bIns="635" rtlCol="0" anchor="ctr">
            <a:normAutofit/>
          </a:bodyPr>
          <a:lstStyle/>
          <a:p>
            <a:pPr marL="152400" indent="-152400">
              <a:buSzPct val="100000"/>
              <a:buChar char="•"/>
            </a:pPr>
            <a:r>
              <a:rPr lang="en-US" sz="1200" dirty="0">
                <a:solidFill>
                  <a:srgbClr val="243B53"/>
                </a:solidFill>
              </a:rPr>
              <a:t>A conversion rate turns a count into a performance ratio</a:t>
            </a:r>
            <a:endParaRPr lang="en-US" sz="1200" dirty="0"/>
          </a:p>
          <a:p>
            <a:pPr marL="152400" indent="-152400">
              <a:buSzPct val="100000"/>
              <a:buChar char="•"/>
            </a:pPr>
            <a:r>
              <a:rPr lang="en-US" sz="1200" dirty="0">
                <a:solidFill>
                  <a:srgbClr val="243B53"/>
                </a:solidFill>
              </a:rPr>
              <a:t>Rates help compare stages with different volumes</a:t>
            </a:r>
            <a:endParaRPr lang="en-US" sz="1200" dirty="0"/>
          </a:p>
          <a:p>
            <a:pPr marL="152400" indent="-152400">
              <a:buSzPct val="100000"/>
              <a:buChar char="•"/>
            </a:pPr>
            <a:r>
              <a:rPr lang="en-US" sz="1200" dirty="0">
                <a:solidFill>
                  <a:srgbClr val="243B53"/>
                </a:solidFill>
              </a:rPr>
              <a:t>A high traffic number can hide weak conversion</a:t>
            </a:r>
            <a:endParaRPr lang="en-US" sz="1200" dirty="0"/>
          </a:p>
          <a:p>
            <a:pPr marL="152400" indent="-152400">
              <a:buSzPct val="100000"/>
              <a:buChar char="•"/>
            </a:pPr>
            <a:r>
              <a:rPr lang="en-US" sz="1200" dirty="0">
                <a:solidFill>
                  <a:srgbClr val="243B53"/>
                </a:solidFill>
              </a:rPr>
              <a:t>Improvement depends on the stage where the leak occurs</a:t>
            </a:r>
            <a:endParaRPr lang="en-US" sz="1200" dirty="0"/>
          </a:p>
        </p:txBody>
      </p:sp>
      <p:sp>
        <p:nvSpPr>
          <p:cNvPr id="7" name="Shape 4"/>
          <p:cNvSpPr/>
          <p:nvPr/>
        </p:nvSpPr>
        <p:spPr>
          <a:xfrm>
            <a:off x="822960" y="5349240"/>
            <a:ext cx="10424160" cy="594360"/>
          </a:xfrm>
          <a:prstGeom prst="roundRect">
            <a:avLst>
              <a:gd name="adj" fmla="val 7692"/>
            </a:avLst>
          </a:prstGeom>
          <a:solidFill>
            <a:srgbClr val="F6E7C1"/>
          </a:solidFill>
          <a:ln w="8890">
            <a:solidFill>
              <a:srgbClr val="E3C56F"/>
            </a:solidFill>
            <a:prstDash val="solid"/>
          </a:ln>
        </p:spPr>
      </p:sp>
      <p:sp>
        <p:nvSpPr>
          <p:cNvPr id="8" name="Text 5"/>
          <p:cNvSpPr/>
          <p:nvPr/>
        </p:nvSpPr>
        <p:spPr>
          <a:xfrm>
            <a:off x="987552" y="542239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9" name="Text 6"/>
          <p:cNvSpPr/>
          <p:nvPr/>
        </p:nvSpPr>
        <p:spPr>
          <a:xfrm>
            <a:off x="987552" y="5614416"/>
            <a:ext cx="10094976" cy="283464"/>
          </a:xfrm>
          <a:prstGeom prst="rect">
            <a:avLst/>
          </a:prstGeom>
          <a:noFill/>
          <a:ln/>
        </p:spPr>
        <p:txBody>
          <a:bodyPr wrap="square" lIns="0" tIns="0" rIns="0" bIns="0" rtlCol="0" anchor="ctr">
            <a:normAutofit/>
          </a:bodyPr>
          <a:lstStyle/>
          <a:p>
            <a:pPr marL="0" indent="0">
              <a:buNone/>
            </a:pPr>
            <a:r>
              <a:rPr lang="en-US" sz="1050" dirty="0">
                <a:solidFill>
                  <a:srgbClr val="243B53"/>
                </a:solidFill>
              </a:rPr>
              <a:t>Conversion analysis prevents the team from assuming traffic is the answer. Sometimes the better decision is to fix the buying path.</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RETENTION ANALYSIS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New vs returning customers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sp>
        <p:nvSpPr>
          <p:cNvPr id="5" name="Shape 3"/>
          <p:cNvSpPr/>
          <p:nvPr/>
        </p:nvSpPr>
        <p:spPr>
          <a:xfrm>
            <a:off x="685800" y="1143000"/>
            <a:ext cx="7452360" cy="4343400"/>
          </a:xfrm>
          <a:prstGeom prst="roundRect">
            <a:avLst>
              <a:gd name="adj" fmla="val 1684"/>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51560" y="4572000"/>
            <a:ext cx="6400800" cy="0"/>
          </a:xfrm>
          <a:prstGeom prst="line">
            <a:avLst/>
          </a:prstGeom>
          <a:noFill/>
          <a:ln w="10160">
            <a:solidFill>
              <a:srgbClr val="A8A29E"/>
            </a:solidFill>
            <a:prstDash val="solid"/>
          </a:ln>
        </p:spPr>
      </p:sp>
      <p:sp>
        <p:nvSpPr>
          <p:cNvPr id="7" name="Shape 5"/>
          <p:cNvSpPr/>
          <p:nvPr/>
        </p:nvSpPr>
        <p:spPr>
          <a:xfrm>
            <a:off x="1051560" y="1920240"/>
            <a:ext cx="0" cy="2651760"/>
          </a:xfrm>
          <a:prstGeom prst="line">
            <a:avLst/>
          </a:prstGeom>
          <a:noFill/>
          <a:ln w="10160">
            <a:solidFill>
              <a:srgbClr val="A8A29E"/>
            </a:solidFill>
            <a:prstDash val="solid"/>
          </a:ln>
        </p:spPr>
      </p:sp>
      <p:sp>
        <p:nvSpPr>
          <p:cNvPr id="8" name="Text 6"/>
          <p:cNvSpPr/>
          <p:nvPr/>
        </p:nvSpPr>
        <p:spPr>
          <a:xfrm>
            <a:off x="1097280" y="1691640"/>
            <a:ext cx="6400800" cy="182880"/>
          </a:xfrm>
          <a:prstGeom prst="rect">
            <a:avLst/>
          </a:prstGeom>
          <a:noFill/>
          <a:ln/>
        </p:spPr>
        <p:txBody>
          <a:bodyPr wrap="square" lIns="0" tIns="0" rIns="0" bIns="0" rtlCol="0" anchor="ctr"/>
          <a:lstStyle/>
          <a:p>
            <a:pPr marL="0" indent="0">
              <a:buNone/>
            </a:pPr>
            <a:r>
              <a:rPr lang="en-US" sz="700" dirty="0">
                <a:solidFill>
                  <a:srgbClr val="627D98"/>
                </a:solidFill>
              </a:rPr>
              <a:t>Customers by month</a:t>
            </a:r>
            <a:endParaRPr lang="en-US" sz="700" dirty="0"/>
          </a:p>
        </p:txBody>
      </p:sp>
      <p:sp>
        <p:nvSpPr>
          <p:cNvPr id="9" name="Shape 7"/>
          <p:cNvSpPr/>
          <p:nvPr/>
        </p:nvSpPr>
        <p:spPr>
          <a:xfrm>
            <a:off x="1252728" y="3588611"/>
            <a:ext cx="832104" cy="983389"/>
          </a:xfrm>
          <a:prstGeom prst="rect">
            <a:avLst/>
          </a:prstGeom>
          <a:solidFill>
            <a:srgbClr val="E7EEF7"/>
          </a:solidFill>
          <a:ln w="5080">
            <a:solidFill>
              <a:srgbClr val="2F5D8C"/>
            </a:solidFill>
            <a:prstDash val="solid"/>
          </a:ln>
        </p:spPr>
      </p:sp>
      <p:sp>
        <p:nvSpPr>
          <p:cNvPr id="10" name="Shape 8"/>
          <p:cNvSpPr/>
          <p:nvPr/>
        </p:nvSpPr>
        <p:spPr>
          <a:xfrm>
            <a:off x="1252728" y="3283421"/>
            <a:ext cx="832104" cy="305190"/>
          </a:xfrm>
          <a:prstGeom prst="rect">
            <a:avLst/>
          </a:prstGeom>
          <a:solidFill>
            <a:srgbClr val="087E8B"/>
          </a:solidFill>
          <a:ln w="3810">
            <a:solidFill>
              <a:srgbClr val="FFFFFF"/>
            </a:solidFill>
            <a:prstDash val="solid"/>
          </a:ln>
        </p:spPr>
      </p:sp>
      <p:sp>
        <p:nvSpPr>
          <p:cNvPr id="11" name="Text 9"/>
          <p:cNvSpPr/>
          <p:nvPr/>
        </p:nvSpPr>
        <p:spPr>
          <a:xfrm>
            <a:off x="1225296" y="4645152"/>
            <a:ext cx="886968" cy="164592"/>
          </a:xfrm>
          <a:prstGeom prst="rect">
            <a:avLst/>
          </a:prstGeom>
          <a:noFill/>
          <a:ln/>
        </p:spPr>
        <p:txBody>
          <a:bodyPr wrap="square" lIns="0" tIns="0" rIns="0" bIns="0" rtlCol="0" anchor="ctr"/>
          <a:lstStyle/>
          <a:p>
            <a:pPr marL="0" indent="0" algn="ctr">
              <a:buNone/>
            </a:pPr>
            <a:r>
              <a:rPr lang="en-US" sz="700" dirty="0">
                <a:solidFill>
                  <a:srgbClr val="627D98"/>
                </a:solidFill>
              </a:rPr>
              <a:t>Jan</a:t>
            </a:r>
            <a:endParaRPr lang="en-US" sz="700" dirty="0"/>
          </a:p>
        </p:txBody>
      </p:sp>
      <p:sp>
        <p:nvSpPr>
          <p:cNvPr id="12" name="Shape 10"/>
          <p:cNvSpPr/>
          <p:nvPr/>
        </p:nvSpPr>
        <p:spPr>
          <a:xfrm>
            <a:off x="2286000" y="3486881"/>
            <a:ext cx="832104" cy="1085119"/>
          </a:xfrm>
          <a:prstGeom prst="rect">
            <a:avLst/>
          </a:prstGeom>
          <a:solidFill>
            <a:srgbClr val="E7EEF7"/>
          </a:solidFill>
          <a:ln w="5080">
            <a:solidFill>
              <a:srgbClr val="2F5D8C"/>
            </a:solidFill>
            <a:prstDash val="solid"/>
          </a:ln>
        </p:spPr>
      </p:sp>
      <p:sp>
        <p:nvSpPr>
          <p:cNvPr id="13" name="Shape 11"/>
          <p:cNvSpPr/>
          <p:nvPr/>
        </p:nvSpPr>
        <p:spPr>
          <a:xfrm>
            <a:off x="2286000" y="3046051"/>
            <a:ext cx="832104" cy="440830"/>
          </a:xfrm>
          <a:prstGeom prst="rect">
            <a:avLst/>
          </a:prstGeom>
          <a:solidFill>
            <a:srgbClr val="087E8B"/>
          </a:solidFill>
          <a:ln w="3810">
            <a:solidFill>
              <a:srgbClr val="FFFFFF"/>
            </a:solidFill>
            <a:prstDash val="solid"/>
          </a:ln>
        </p:spPr>
      </p:sp>
      <p:sp>
        <p:nvSpPr>
          <p:cNvPr id="14" name="Text 12"/>
          <p:cNvSpPr/>
          <p:nvPr/>
        </p:nvSpPr>
        <p:spPr>
          <a:xfrm>
            <a:off x="2258568" y="4645152"/>
            <a:ext cx="886968" cy="164592"/>
          </a:xfrm>
          <a:prstGeom prst="rect">
            <a:avLst/>
          </a:prstGeom>
          <a:noFill/>
          <a:ln/>
        </p:spPr>
        <p:txBody>
          <a:bodyPr wrap="square" lIns="0" tIns="0" rIns="0" bIns="0" rtlCol="0" anchor="ctr"/>
          <a:lstStyle/>
          <a:p>
            <a:pPr marL="0" indent="0" algn="ctr">
              <a:buNone/>
            </a:pPr>
            <a:r>
              <a:rPr lang="en-US" sz="700" dirty="0">
                <a:solidFill>
                  <a:srgbClr val="627D98"/>
                </a:solidFill>
              </a:rPr>
              <a:t>Feb</a:t>
            </a:r>
            <a:endParaRPr lang="en-US" sz="700" dirty="0"/>
          </a:p>
        </p:txBody>
      </p:sp>
      <p:sp>
        <p:nvSpPr>
          <p:cNvPr id="15" name="Shape 13"/>
          <p:cNvSpPr/>
          <p:nvPr/>
        </p:nvSpPr>
        <p:spPr>
          <a:xfrm>
            <a:off x="3319272" y="3385151"/>
            <a:ext cx="832104" cy="1186849"/>
          </a:xfrm>
          <a:prstGeom prst="rect">
            <a:avLst/>
          </a:prstGeom>
          <a:solidFill>
            <a:srgbClr val="E7EEF7"/>
          </a:solidFill>
          <a:ln w="5080">
            <a:solidFill>
              <a:srgbClr val="2F5D8C"/>
            </a:solidFill>
            <a:prstDash val="solid"/>
          </a:ln>
        </p:spPr>
      </p:sp>
      <p:sp>
        <p:nvSpPr>
          <p:cNvPr id="16" name="Shape 14"/>
          <p:cNvSpPr/>
          <p:nvPr/>
        </p:nvSpPr>
        <p:spPr>
          <a:xfrm>
            <a:off x="3319272" y="2808681"/>
            <a:ext cx="832104" cy="576470"/>
          </a:xfrm>
          <a:prstGeom prst="rect">
            <a:avLst/>
          </a:prstGeom>
          <a:solidFill>
            <a:srgbClr val="087E8B"/>
          </a:solidFill>
          <a:ln w="3810">
            <a:solidFill>
              <a:srgbClr val="FFFFFF"/>
            </a:solidFill>
            <a:prstDash val="solid"/>
          </a:ln>
        </p:spPr>
      </p:sp>
      <p:sp>
        <p:nvSpPr>
          <p:cNvPr id="17" name="Text 15"/>
          <p:cNvSpPr/>
          <p:nvPr/>
        </p:nvSpPr>
        <p:spPr>
          <a:xfrm>
            <a:off x="3291840" y="4645152"/>
            <a:ext cx="886968" cy="164592"/>
          </a:xfrm>
          <a:prstGeom prst="rect">
            <a:avLst/>
          </a:prstGeom>
          <a:noFill/>
          <a:ln/>
        </p:spPr>
        <p:txBody>
          <a:bodyPr wrap="square" lIns="0" tIns="0" rIns="0" bIns="0" rtlCol="0" anchor="ctr"/>
          <a:lstStyle/>
          <a:p>
            <a:pPr marL="0" indent="0" algn="ctr">
              <a:buNone/>
            </a:pPr>
            <a:r>
              <a:rPr lang="en-US" sz="700" dirty="0">
                <a:solidFill>
                  <a:srgbClr val="627D98"/>
                </a:solidFill>
              </a:rPr>
              <a:t>Mar</a:t>
            </a:r>
            <a:endParaRPr lang="en-US" sz="700" dirty="0"/>
          </a:p>
        </p:txBody>
      </p:sp>
      <p:sp>
        <p:nvSpPr>
          <p:cNvPr id="18" name="Shape 16"/>
          <p:cNvSpPr/>
          <p:nvPr/>
        </p:nvSpPr>
        <p:spPr>
          <a:xfrm>
            <a:off x="4352544" y="3283421"/>
            <a:ext cx="832104" cy="1288579"/>
          </a:xfrm>
          <a:prstGeom prst="rect">
            <a:avLst/>
          </a:prstGeom>
          <a:solidFill>
            <a:srgbClr val="E7EEF7"/>
          </a:solidFill>
          <a:ln w="5080">
            <a:solidFill>
              <a:srgbClr val="2F5D8C"/>
            </a:solidFill>
            <a:prstDash val="solid"/>
          </a:ln>
        </p:spPr>
      </p:sp>
      <p:sp>
        <p:nvSpPr>
          <p:cNvPr id="19" name="Shape 17"/>
          <p:cNvSpPr/>
          <p:nvPr/>
        </p:nvSpPr>
        <p:spPr>
          <a:xfrm>
            <a:off x="4352544" y="2503492"/>
            <a:ext cx="832104" cy="779929"/>
          </a:xfrm>
          <a:prstGeom prst="rect">
            <a:avLst/>
          </a:prstGeom>
          <a:solidFill>
            <a:srgbClr val="087E8B"/>
          </a:solidFill>
          <a:ln w="3810">
            <a:solidFill>
              <a:srgbClr val="FFFFFF"/>
            </a:solidFill>
            <a:prstDash val="solid"/>
          </a:ln>
        </p:spPr>
      </p:sp>
      <p:sp>
        <p:nvSpPr>
          <p:cNvPr id="20" name="Text 18"/>
          <p:cNvSpPr/>
          <p:nvPr/>
        </p:nvSpPr>
        <p:spPr>
          <a:xfrm>
            <a:off x="4325112" y="4645152"/>
            <a:ext cx="886968" cy="164592"/>
          </a:xfrm>
          <a:prstGeom prst="rect">
            <a:avLst/>
          </a:prstGeom>
          <a:noFill/>
          <a:ln/>
        </p:spPr>
        <p:txBody>
          <a:bodyPr wrap="square" lIns="0" tIns="0" rIns="0" bIns="0" rtlCol="0" anchor="ctr"/>
          <a:lstStyle/>
          <a:p>
            <a:pPr marL="0" indent="0" algn="ctr">
              <a:buNone/>
            </a:pPr>
            <a:r>
              <a:rPr lang="en-US" sz="700" dirty="0">
                <a:solidFill>
                  <a:srgbClr val="627D98"/>
                </a:solidFill>
              </a:rPr>
              <a:t>Apr</a:t>
            </a:r>
            <a:endParaRPr lang="en-US" sz="700" dirty="0"/>
          </a:p>
        </p:txBody>
      </p:sp>
      <p:sp>
        <p:nvSpPr>
          <p:cNvPr id="21" name="Shape 19"/>
          <p:cNvSpPr/>
          <p:nvPr/>
        </p:nvSpPr>
        <p:spPr>
          <a:xfrm>
            <a:off x="5385816" y="3181691"/>
            <a:ext cx="832104" cy="1390309"/>
          </a:xfrm>
          <a:prstGeom prst="rect">
            <a:avLst/>
          </a:prstGeom>
          <a:solidFill>
            <a:srgbClr val="E7EEF7"/>
          </a:solidFill>
          <a:ln w="5080">
            <a:solidFill>
              <a:srgbClr val="2F5D8C"/>
            </a:solidFill>
            <a:prstDash val="solid"/>
          </a:ln>
        </p:spPr>
      </p:sp>
      <p:sp>
        <p:nvSpPr>
          <p:cNvPr id="22" name="Shape 20"/>
          <p:cNvSpPr/>
          <p:nvPr/>
        </p:nvSpPr>
        <p:spPr>
          <a:xfrm>
            <a:off x="5385816" y="2591657"/>
            <a:ext cx="832104" cy="590034"/>
          </a:xfrm>
          <a:prstGeom prst="rect">
            <a:avLst/>
          </a:prstGeom>
          <a:solidFill>
            <a:srgbClr val="087E8B"/>
          </a:solidFill>
          <a:ln w="3810">
            <a:solidFill>
              <a:srgbClr val="FFFFFF"/>
            </a:solidFill>
            <a:prstDash val="solid"/>
          </a:ln>
        </p:spPr>
      </p:sp>
      <p:sp>
        <p:nvSpPr>
          <p:cNvPr id="23" name="Text 21"/>
          <p:cNvSpPr/>
          <p:nvPr/>
        </p:nvSpPr>
        <p:spPr>
          <a:xfrm>
            <a:off x="5358384" y="4645152"/>
            <a:ext cx="886968" cy="164592"/>
          </a:xfrm>
          <a:prstGeom prst="rect">
            <a:avLst/>
          </a:prstGeom>
          <a:noFill/>
          <a:ln/>
        </p:spPr>
        <p:txBody>
          <a:bodyPr wrap="square" lIns="0" tIns="0" rIns="0" bIns="0" rtlCol="0" anchor="ctr"/>
          <a:lstStyle/>
          <a:p>
            <a:pPr marL="0" indent="0" algn="ctr">
              <a:buNone/>
            </a:pPr>
            <a:r>
              <a:rPr lang="en-US" sz="700" dirty="0">
                <a:solidFill>
                  <a:srgbClr val="627D98"/>
                </a:solidFill>
              </a:rPr>
              <a:t>May</a:t>
            </a:r>
            <a:endParaRPr lang="en-US" sz="700" dirty="0"/>
          </a:p>
        </p:txBody>
      </p:sp>
      <p:sp>
        <p:nvSpPr>
          <p:cNvPr id="24" name="Shape 22"/>
          <p:cNvSpPr/>
          <p:nvPr/>
        </p:nvSpPr>
        <p:spPr>
          <a:xfrm>
            <a:off x="6419088" y="3113871"/>
            <a:ext cx="832104" cy="1458129"/>
          </a:xfrm>
          <a:prstGeom prst="rect">
            <a:avLst/>
          </a:prstGeom>
          <a:solidFill>
            <a:srgbClr val="E7EEF7"/>
          </a:solidFill>
          <a:ln w="5080">
            <a:solidFill>
              <a:srgbClr val="2F5D8C"/>
            </a:solidFill>
            <a:prstDash val="solid"/>
          </a:ln>
        </p:spPr>
      </p:sp>
      <p:sp>
        <p:nvSpPr>
          <p:cNvPr id="25" name="Shape 23"/>
          <p:cNvSpPr/>
          <p:nvPr/>
        </p:nvSpPr>
        <p:spPr>
          <a:xfrm>
            <a:off x="6419088" y="2266122"/>
            <a:ext cx="832104" cy="847749"/>
          </a:xfrm>
          <a:prstGeom prst="rect">
            <a:avLst/>
          </a:prstGeom>
          <a:solidFill>
            <a:srgbClr val="087E8B"/>
          </a:solidFill>
          <a:ln w="3810">
            <a:solidFill>
              <a:srgbClr val="FFFFFF"/>
            </a:solidFill>
            <a:prstDash val="solid"/>
          </a:ln>
        </p:spPr>
      </p:sp>
      <p:sp>
        <p:nvSpPr>
          <p:cNvPr id="26" name="Text 24"/>
          <p:cNvSpPr/>
          <p:nvPr/>
        </p:nvSpPr>
        <p:spPr>
          <a:xfrm>
            <a:off x="6391656" y="4645152"/>
            <a:ext cx="886968" cy="164592"/>
          </a:xfrm>
          <a:prstGeom prst="rect">
            <a:avLst/>
          </a:prstGeom>
          <a:noFill/>
          <a:ln/>
        </p:spPr>
        <p:txBody>
          <a:bodyPr wrap="square" lIns="0" tIns="0" rIns="0" bIns="0" rtlCol="0" anchor="ctr"/>
          <a:lstStyle/>
          <a:p>
            <a:pPr marL="0" indent="0" algn="ctr">
              <a:buNone/>
            </a:pPr>
            <a:r>
              <a:rPr lang="en-US" sz="700" dirty="0">
                <a:solidFill>
                  <a:srgbClr val="627D98"/>
                </a:solidFill>
              </a:rPr>
              <a:t>Jun</a:t>
            </a:r>
            <a:endParaRPr lang="en-US" sz="700" dirty="0"/>
          </a:p>
        </p:txBody>
      </p:sp>
      <p:sp>
        <p:nvSpPr>
          <p:cNvPr id="27" name="Shape 25"/>
          <p:cNvSpPr/>
          <p:nvPr/>
        </p:nvSpPr>
        <p:spPr>
          <a:xfrm>
            <a:off x="1051560" y="1591056"/>
            <a:ext cx="137160" cy="137160"/>
          </a:xfrm>
          <a:prstGeom prst="rect">
            <a:avLst/>
          </a:prstGeom>
          <a:solidFill>
            <a:srgbClr val="E7EEF7"/>
          </a:solidFill>
          <a:ln w="12700">
            <a:solidFill>
              <a:srgbClr val="E7EEF7"/>
            </a:solidFill>
            <a:prstDash val="solid"/>
          </a:ln>
        </p:spPr>
      </p:sp>
      <p:sp>
        <p:nvSpPr>
          <p:cNvPr id="28" name="Text 26"/>
          <p:cNvSpPr/>
          <p:nvPr/>
        </p:nvSpPr>
        <p:spPr>
          <a:xfrm>
            <a:off x="1225296" y="1572768"/>
            <a:ext cx="1097280" cy="182880"/>
          </a:xfrm>
          <a:prstGeom prst="rect">
            <a:avLst/>
          </a:prstGeom>
          <a:noFill/>
          <a:ln/>
        </p:spPr>
        <p:txBody>
          <a:bodyPr wrap="square" lIns="0" tIns="0" rIns="0" bIns="0" rtlCol="0" anchor="ctr"/>
          <a:lstStyle/>
          <a:p>
            <a:pPr marL="0" indent="0">
              <a:buNone/>
            </a:pPr>
            <a:r>
              <a:rPr lang="en-US" sz="750" dirty="0">
                <a:solidFill>
                  <a:srgbClr val="243B53"/>
                </a:solidFill>
              </a:rPr>
              <a:t>New customers</a:t>
            </a:r>
            <a:endParaRPr lang="en-US" sz="750" dirty="0"/>
          </a:p>
        </p:txBody>
      </p:sp>
      <p:sp>
        <p:nvSpPr>
          <p:cNvPr id="29" name="Shape 27"/>
          <p:cNvSpPr/>
          <p:nvPr/>
        </p:nvSpPr>
        <p:spPr>
          <a:xfrm>
            <a:off x="2377440" y="1591056"/>
            <a:ext cx="137160" cy="137160"/>
          </a:xfrm>
          <a:prstGeom prst="rect">
            <a:avLst/>
          </a:prstGeom>
          <a:solidFill>
            <a:srgbClr val="087E8B"/>
          </a:solidFill>
          <a:ln w="12700">
            <a:solidFill>
              <a:srgbClr val="087E8B"/>
            </a:solidFill>
            <a:prstDash val="solid"/>
          </a:ln>
        </p:spPr>
      </p:sp>
      <p:sp>
        <p:nvSpPr>
          <p:cNvPr id="30" name="Text 28"/>
          <p:cNvSpPr/>
          <p:nvPr/>
        </p:nvSpPr>
        <p:spPr>
          <a:xfrm>
            <a:off x="2551176" y="1572768"/>
            <a:ext cx="1097280" cy="182880"/>
          </a:xfrm>
          <a:prstGeom prst="rect">
            <a:avLst/>
          </a:prstGeom>
          <a:noFill/>
          <a:ln/>
        </p:spPr>
        <p:txBody>
          <a:bodyPr wrap="square" lIns="0" tIns="0" rIns="0" bIns="0" rtlCol="0" anchor="ctr"/>
          <a:lstStyle/>
          <a:p>
            <a:pPr marL="0" indent="0">
              <a:buNone/>
            </a:pPr>
            <a:r>
              <a:rPr lang="en-US" sz="750" dirty="0">
                <a:solidFill>
                  <a:srgbClr val="243B53"/>
                </a:solidFill>
              </a:rPr>
              <a:t>Returning customers</a:t>
            </a:r>
            <a:endParaRPr lang="en-US" sz="750" dirty="0"/>
          </a:p>
        </p:txBody>
      </p:sp>
      <p:sp>
        <p:nvSpPr>
          <p:cNvPr id="31" name="Shape 29"/>
          <p:cNvSpPr/>
          <p:nvPr/>
        </p:nvSpPr>
        <p:spPr>
          <a:xfrm>
            <a:off x="8458200" y="1463040"/>
            <a:ext cx="2606040" cy="3429000"/>
          </a:xfrm>
          <a:prstGeom prst="roundRect">
            <a:avLst>
              <a:gd name="adj" fmla="val 2807"/>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32" name="Text 30"/>
          <p:cNvSpPr/>
          <p:nvPr/>
        </p:nvSpPr>
        <p:spPr>
          <a:xfrm>
            <a:off x="8686800" y="1783080"/>
            <a:ext cx="2148840" cy="2377440"/>
          </a:xfrm>
          <a:prstGeom prst="rect">
            <a:avLst/>
          </a:prstGeom>
          <a:noFill/>
          <a:ln/>
        </p:spPr>
        <p:txBody>
          <a:bodyPr wrap="square" lIns="635" tIns="635" rIns="635" bIns="635" rtlCol="0" anchor="ctr">
            <a:normAutofit/>
          </a:bodyPr>
          <a:lstStyle/>
          <a:p>
            <a:pPr marL="152400" indent="-152400">
              <a:buSzPct val="100000"/>
              <a:buChar char="•"/>
            </a:pPr>
            <a:r>
              <a:rPr lang="en-US" sz="1070" dirty="0">
                <a:solidFill>
                  <a:srgbClr val="243B53"/>
                </a:solidFill>
              </a:rPr>
              <a:t>Repeat rate rises Jan–Apr</a:t>
            </a:r>
            <a:endParaRPr lang="en-US" sz="1070" dirty="0"/>
          </a:p>
          <a:p>
            <a:pPr marL="152400" indent="-152400">
              <a:buSzPct val="100000"/>
              <a:buChar char="•"/>
            </a:pPr>
            <a:r>
              <a:rPr lang="en-US" sz="1070" dirty="0">
                <a:solidFill>
                  <a:srgbClr val="243B53"/>
                </a:solidFill>
              </a:rPr>
              <a:t>May repeat rate falls to 29.8%</a:t>
            </a:r>
            <a:endParaRPr lang="en-US" sz="1070" dirty="0"/>
          </a:p>
          <a:p>
            <a:pPr marL="152400" indent="-152400">
              <a:buSzPct val="100000"/>
              <a:buChar char="•"/>
            </a:pPr>
            <a:r>
              <a:rPr lang="en-US" sz="1070" dirty="0">
                <a:solidFill>
                  <a:srgbClr val="243B53"/>
                </a:solidFill>
              </a:rPr>
              <a:t>June recovers to 36.8%</a:t>
            </a:r>
            <a:endParaRPr lang="en-US" sz="1070" dirty="0"/>
          </a:p>
          <a:p>
            <a:pPr marL="152400" indent="-152400">
              <a:buSzPct val="100000"/>
              <a:buChar char="•"/>
            </a:pPr>
            <a:r>
              <a:rPr lang="en-US" sz="1070" dirty="0">
                <a:solidFill>
                  <a:srgbClr val="243B53"/>
                </a:solidFill>
              </a:rPr>
              <a:t>Retention helps predict future revenue quality</a:t>
            </a:r>
            <a:endParaRPr lang="en-US" sz="1070" dirty="0"/>
          </a:p>
        </p:txBody>
      </p:sp>
      <p:sp>
        <p:nvSpPr>
          <p:cNvPr id="33" name="Shape 31"/>
          <p:cNvSpPr/>
          <p:nvPr/>
        </p:nvSpPr>
        <p:spPr>
          <a:xfrm>
            <a:off x="8183880" y="5257800"/>
            <a:ext cx="3154680" cy="713232"/>
          </a:xfrm>
          <a:prstGeom prst="roundRect">
            <a:avLst>
              <a:gd name="adj" fmla="val 6410"/>
            </a:avLst>
          </a:prstGeom>
          <a:solidFill>
            <a:srgbClr val="F6E7C1"/>
          </a:solidFill>
          <a:ln w="8890">
            <a:solidFill>
              <a:srgbClr val="E3C56F"/>
            </a:solidFill>
            <a:prstDash val="solid"/>
          </a:ln>
        </p:spPr>
      </p:sp>
      <p:sp>
        <p:nvSpPr>
          <p:cNvPr id="34" name="Text 32"/>
          <p:cNvSpPr/>
          <p:nvPr/>
        </p:nvSpPr>
        <p:spPr>
          <a:xfrm>
            <a:off x="8348472" y="5330952"/>
            <a:ext cx="282549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35" name="Text 33"/>
          <p:cNvSpPr/>
          <p:nvPr/>
        </p:nvSpPr>
        <p:spPr>
          <a:xfrm>
            <a:off x="8348472" y="5522976"/>
            <a:ext cx="282549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Returning customers are a trust signal. A May drop in repeat behavior is a warning about customer experience or value.</a:t>
            </a:r>
            <a:endParaRPr lang="en-US" sz="1050" dirty="0"/>
          </a:p>
        </p:txBody>
      </p:sp>
      <p:sp>
        <p:nvSpPr>
          <p:cNvPr id="36" name="Text 34"/>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37"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RELATIONSHIP ANALYSIS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Complaints vs repeat customer rate</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4</a:t>
            </a:r>
            <a:endParaRPr lang="en-US" sz="800" dirty="0"/>
          </a:p>
        </p:txBody>
      </p:sp>
      <p:sp>
        <p:nvSpPr>
          <p:cNvPr id="5" name="Shape 3"/>
          <p:cNvSpPr/>
          <p:nvPr/>
        </p:nvSpPr>
        <p:spPr>
          <a:xfrm>
            <a:off x="685800" y="1143000"/>
            <a:ext cx="7315200" cy="4343400"/>
          </a:xfrm>
          <a:prstGeom prst="roundRect">
            <a:avLst>
              <a:gd name="adj" fmla="val 1684"/>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143000" y="4617720"/>
            <a:ext cx="6126480" cy="0"/>
          </a:xfrm>
          <a:prstGeom prst="line">
            <a:avLst/>
          </a:prstGeom>
          <a:noFill/>
          <a:ln w="10160">
            <a:solidFill>
              <a:srgbClr val="A8A29E"/>
            </a:solidFill>
            <a:prstDash val="solid"/>
          </a:ln>
        </p:spPr>
      </p:sp>
      <p:sp>
        <p:nvSpPr>
          <p:cNvPr id="7" name="Shape 5"/>
          <p:cNvSpPr/>
          <p:nvPr/>
        </p:nvSpPr>
        <p:spPr>
          <a:xfrm>
            <a:off x="1143000" y="1874520"/>
            <a:ext cx="0" cy="2743200"/>
          </a:xfrm>
          <a:prstGeom prst="line">
            <a:avLst/>
          </a:prstGeom>
          <a:noFill/>
          <a:ln w="10160">
            <a:solidFill>
              <a:srgbClr val="A8A29E"/>
            </a:solidFill>
            <a:prstDash val="solid"/>
          </a:ln>
        </p:spPr>
      </p:sp>
      <p:sp>
        <p:nvSpPr>
          <p:cNvPr id="8" name="Text 6"/>
          <p:cNvSpPr/>
          <p:nvPr/>
        </p:nvSpPr>
        <p:spPr>
          <a:xfrm>
            <a:off x="1188720" y="1645920"/>
            <a:ext cx="6126480" cy="182880"/>
          </a:xfrm>
          <a:prstGeom prst="rect">
            <a:avLst/>
          </a:prstGeom>
          <a:noFill/>
          <a:ln/>
        </p:spPr>
        <p:txBody>
          <a:bodyPr wrap="square" lIns="0" tIns="0" rIns="0" bIns="0" rtlCol="0" anchor="ctr"/>
          <a:lstStyle/>
          <a:p>
            <a:pPr marL="0" indent="0">
              <a:buNone/>
            </a:pPr>
            <a:r>
              <a:rPr lang="en-US" sz="700" dirty="0">
                <a:solidFill>
                  <a:srgbClr val="627D98"/>
                </a:solidFill>
              </a:rPr>
              <a:t>Complaints (x) vs repeat rate (y)</a:t>
            </a:r>
            <a:endParaRPr lang="en-US" sz="700" dirty="0"/>
          </a:p>
        </p:txBody>
      </p:sp>
      <p:sp>
        <p:nvSpPr>
          <p:cNvPr id="9" name="Shape 7"/>
          <p:cNvSpPr/>
          <p:nvPr/>
        </p:nvSpPr>
        <p:spPr>
          <a:xfrm>
            <a:off x="6592824" y="4046220"/>
            <a:ext cx="128016" cy="128016"/>
          </a:xfrm>
          <a:prstGeom prst="ellipse">
            <a:avLst/>
          </a:prstGeom>
          <a:solidFill>
            <a:srgbClr val="087E8B"/>
          </a:solidFill>
          <a:ln w="6350">
            <a:solidFill>
              <a:srgbClr val="FFFFFF"/>
            </a:solidFill>
            <a:prstDash val="solid"/>
          </a:ln>
        </p:spPr>
      </p:sp>
      <p:sp>
        <p:nvSpPr>
          <p:cNvPr id="10" name="Text 8"/>
          <p:cNvSpPr/>
          <p:nvPr/>
        </p:nvSpPr>
        <p:spPr>
          <a:xfrm>
            <a:off x="6729984" y="4037076"/>
            <a:ext cx="365760" cy="146304"/>
          </a:xfrm>
          <a:prstGeom prst="rect">
            <a:avLst/>
          </a:prstGeom>
          <a:noFill/>
          <a:ln/>
        </p:spPr>
        <p:txBody>
          <a:bodyPr wrap="square" lIns="0" tIns="0" rIns="0" bIns="0" rtlCol="0" anchor="ctr"/>
          <a:lstStyle/>
          <a:p>
            <a:pPr marL="0" indent="0">
              <a:buNone/>
            </a:pPr>
            <a:r>
              <a:rPr lang="en-US" sz="700" b="1" dirty="0">
                <a:solidFill>
                  <a:srgbClr val="087E8B"/>
                </a:solidFill>
              </a:rPr>
              <a:t>Jan</a:t>
            </a:r>
            <a:endParaRPr lang="en-US" sz="700" dirty="0"/>
          </a:p>
        </p:txBody>
      </p:sp>
      <p:sp>
        <p:nvSpPr>
          <p:cNvPr id="11" name="Shape 9"/>
          <p:cNvSpPr/>
          <p:nvPr/>
        </p:nvSpPr>
        <p:spPr>
          <a:xfrm>
            <a:off x="5163312" y="3332988"/>
            <a:ext cx="128016" cy="128016"/>
          </a:xfrm>
          <a:prstGeom prst="ellipse">
            <a:avLst/>
          </a:prstGeom>
          <a:solidFill>
            <a:srgbClr val="087E8B"/>
          </a:solidFill>
          <a:ln w="6350">
            <a:solidFill>
              <a:srgbClr val="FFFFFF"/>
            </a:solidFill>
            <a:prstDash val="solid"/>
          </a:ln>
        </p:spPr>
      </p:sp>
      <p:sp>
        <p:nvSpPr>
          <p:cNvPr id="12" name="Text 10"/>
          <p:cNvSpPr/>
          <p:nvPr/>
        </p:nvSpPr>
        <p:spPr>
          <a:xfrm>
            <a:off x="5300472" y="3323844"/>
            <a:ext cx="365760" cy="146304"/>
          </a:xfrm>
          <a:prstGeom prst="rect">
            <a:avLst/>
          </a:prstGeom>
          <a:noFill/>
          <a:ln/>
        </p:spPr>
        <p:txBody>
          <a:bodyPr wrap="square" lIns="0" tIns="0" rIns="0" bIns="0" rtlCol="0" anchor="ctr"/>
          <a:lstStyle/>
          <a:p>
            <a:pPr marL="0" indent="0">
              <a:buNone/>
            </a:pPr>
            <a:r>
              <a:rPr lang="en-US" sz="700" b="1" dirty="0">
                <a:solidFill>
                  <a:srgbClr val="087E8B"/>
                </a:solidFill>
              </a:rPr>
              <a:t>Feb</a:t>
            </a:r>
            <a:endParaRPr lang="en-US" sz="700" dirty="0"/>
          </a:p>
        </p:txBody>
      </p:sp>
      <p:sp>
        <p:nvSpPr>
          <p:cNvPr id="13" name="Shape 11"/>
          <p:cNvSpPr/>
          <p:nvPr/>
        </p:nvSpPr>
        <p:spPr>
          <a:xfrm>
            <a:off x="3733800" y="2811780"/>
            <a:ext cx="128016" cy="128016"/>
          </a:xfrm>
          <a:prstGeom prst="ellipse">
            <a:avLst/>
          </a:prstGeom>
          <a:solidFill>
            <a:srgbClr val="087E8B"/>
          </a:solidFill>
          <a:ln w="6350">
            <a:solidFill>
              <a:srgbClr val="FFFFFF"/>
            </a:solidFill>
            <a:prstDash val="solid"/>
          </a:ln>
        </p:spPr>
      </p:sp>
      <p:sp>
        <p:nvSpPr>
          <p:cNvPr id="14" name="Text 12"/>
          <p:cNvSpPr/>
          <p:nvPr/>
        </p:nvSpPr>
        <p:spPr>
          <a:xfrm>
            <a:off x="3870960" y="2802636"/>
            <a:ext cx="365760" cy="146304"/>
          </a:xfrm>
          <a:prstGeom prst="rect">
            <a:avLst/>
          </a:prstGeom>
          <a:noFill/>
          <a:ln/>
        </p:spPr>
        <p:txBody>
          <a:bodyPr wrap="square" lIns="0" tIns="0" rIns="0" bIns="0" rtlCol="0" anchor="ctr"/>
          <a:lstStyle/>
          <a:p>
            <a:pPr marL="0" indent="0">
              <a:buNone/>
            </a:pPr>
            <a:r>
              <a:rPr lang="en-US" sz="700" b="1" dirty="0">
                <a:solidFill>
                  <a:srgbClr val="087E8B"/>
                </a:solidFill>
              </a:rPr>
              <a:t>Mar</a:t>
            </a:r>
            <a:endParaRPr lang="en-US" sz="700" dirty="0"/>
          </a:p>
        </p:txBody>
      </p:sp>
      <p:sp>
        <p:nvSpPr>
          <p:cNvPr id="15" name="Shape 13"/>
          <p:cNvSpPr/>
          <p:nvPr/>
        </p:nvSpPr>
        <p:spPr>
          <a:xfrm>
            <a:off x="1895856" y="2125980"/>
            <a:ext cx="128016" cy="128016"/>
          </a:xfrm>
          <a:prstGeom prst="ellipse">
            <a:avLst/>
          </a:prstGeom>
          <a:solidFill>
            <a:srgbClr val="2E7D32"/>
          </a:solidFill>
          <a:ln w="6350">
            <a:solidFill>
              <a:srgbClr val="FFFFFF"/>
            </a:solidFill>
            <a:prstDash val="solid"/>
          </a:ln>
        </p:spPr>
      </p:sp>
      <p:sp>
        <p:nvSpPr>
          <p:cNvPr id="16" name="Text 14"/>
          <p:cNvSpPr/>
          <p:nvPr/>
        </p:nvSpPr>
        <p:spPr>
          <a:xfrm>
            <a:off x="2033016" y="2116836"/>
            <a:ext cx="365760" cy="146304"/>
          </a:xfrm>
          <a:prstGeom prst="rect">
            <a:avLst/>
          </a:prstGeom>
          <a:noFill/>
          <a:ln/>
        </p:spPr>
        <p:txBody>
          <a:bodyPr wrap="square" lIns="0" tIns="0" rIns="0" bIns="0" rtlCol="0" anchor="ctr"/>
          <a:lstStyle/>
          <a:p>
            <a:pPr marL="0" indent="0">
              <a:buNone/>
            </a:pPr>
            <a:r>
              <a:rPr lang="en-US" sz="700" b="1" dirty="0">
                <a:solidFill>
                  <a:srgbClr val="2E7D32"/>
                </a:solidFill>
              </a:rPr>
              <a:t>Apr</a:t>
            </a:r>
            <a:endParaRPr lang="en-US" sz="700" dirty="0"/>
          </a:p>
        </p:txBody>
      </p:sp>
      <p:sp>
        <p:nvSpPr>
          <p:cNvPr id="17" name="Shape 15"/>
          <p:cNvSpPr/>
          <p:nvPr/>
        </p:nvSpPr>
        <p:spPr>
          <a:xfrm>
            <a:off x="4346448" y="3209544"/>
            <a:ext cx="128016" cy="128016"/>
          </a:xfrm>
          <a:prstGeom prst="ellipse">
            <a:avLst/>
          </a:prstGeom>
          <a:solidFill>
            <a:srgbClr val="B91C1C"/>
          </a:solidFill>
          <a:ln w="6350">
            <a:solidFill>
              <a:srgbClr val="FFFFFF"/>
            </a:solidFill>
            <a:prstDash val="solid"/>
          </a:ln>
        </p:spPr>
      </p:sp>
      <p:sp>
        <p:nvSpPr>
          <p:cNvPr id="18" name="Text 16"/>
          <p:cNvSpPr/>
          <p:nvPr/>
        </p:nvSpPr>
        <p:spPr>
          <a:xfrm>
            <a:off x="4483608" y="3200400"/>
            <a:ext cx="365760" cy="146304"/>
          </a:xfrm>
          <a:prstGeom prst="rect">
            <a:avLst/>
          </a:prstGeom>
          <a:noFill/>
          <a:ln/>
        </p:spPr>
        <p:txBody>
          <a:bodyPr wrap="square" lIns="0" tIns="0" rIns="0" bIns="0" rtlCol="0" anchor="ctr"/>
          <a:lstStyle/>
          <a:p>
            <a:pPr marL="0" indent="0">
              <a:buNone/>
            </a:pPr>
            <a:r>
              <a:rPr lang="en-US" sz="700" b="1" dirty="0">
                <a:solidFill>
                  <a:srgbClr val="B91C1C"/>
                </a:solidFill>
              </a:rPr>
              <a:t>May</a:t>
            </a:r>
            <a:endParaRPr lang="en-US" sz="700" dirty="0"/>
          </a:p>
        </p:txBody>
      </p:sp>
      <p:sp>
        <p:nvSpPr>
          <p:cNvPr id="19" name="Shape 17"/>
          <p:cNvSpPr/>
          <p:nvPr/>
        </p:nvSpPr>
        <p:spPr>
          <a:xfrm>
            <a:off x="2916936" y="2249424"/>
            <a:ext cx="128016" cy="128016"/>
          </a:xfrm>
          <a:prstGeom prst="ellipse">
            <a:avLst/>
          </a:prstGeom>
          <a:solidFill>
            <a:srgbClr val="087E8B"/>
          </a:solidFill>
          <a:ln w="6350">
            <a:solidFill>
              <a:srgbClr val="FFFFFF"/>
            </a:solidFill>
            <a:prstDash val="solid"/>
          </a:ln>
        </p:spPr>
      </p:sp>
      <p:sp>
        <p:nvSpPr>
          <p:cNvPr id="20" name="Text 18"/>
          <p:cNvSpPr/>
          <p:nvPr/>
        </p:nvSpPr>
        <p:spPr>
          <a:xfrm>
            <a:off x="3054096" y="2240280"/>
            <a:ext cx="365760" cy="146304"/>
          </a:xfrm>
          <a:prstGeom prst="rect">
            <a:avLst/>
          </a:prstGeom>
          <a:noFill/>
          <a:ln/>
        </p:spPr>
        <p:txBody>
          <a:bodyPr wrap="square" lIns="0" tIns="0" rIns="0" bIns="0" rtlCol="0" anchor="ctr"/>
          <a:lstStyle/>
          <a:p>
            <a:pPr marL="0" indent="0">
              <a:buNone/>
            </a:pPr>
            <a:r>
              <a:rPr lang="en-US" sz="700" b="1" dirty="0">
                <a:solidFill>
                  <a:srgbClr val="087E8B"/>
                </a:solidFill>
              </a:rPr>
              <a:t>Jun</a:t>
            </a:r>
            <a:endParaRPr lang="en-US" sz="700" dirty="0"/>
          </a:p>
        </p:txBody>
      </p:sp>
      <p:sp>
        <p:nvSpPr>
          <p:cNvPr id="21" name="Text 19"/>
          <p:cNvSpPr/>
          <p:nvPr/>
        </p:nvSpPr>
        <p:spPr>
          <a:xfrm>
            <a:off x="1325880" y="5074920"/>
            <a:ext cx="5669280" cy="228600"/>
          </a:xfrm>
          <a:prstGeom prst="rect">
            <a:avLst/>
          </a:prstGeom>
          <a:noFill/>
          <a:ln/>
        </p:spPr>
        <p:txBody>
          <a:bodyPr wrap="square" lIns="0" tIns="0" rIns="0" bIns="0" rtlCol="0" anchor="ctr"/>
          <a:lstStyle/>
          <a:p>
            <a:pPr marL="0" indent="0" algn="ctr">
              <a:buNone/>
            </a:pPr>
            <a:r>
              <a:rPr lang="en-US" sz="1050" b="1" dirty="0">
                <a:solidFill>
                  <a:srgbClr val="B91C1C"/>
                </a:solidFill>
              </a:rPr>
              <a:t>More complaints generally appear alongside weaker repeat behavior. May is a concern point.</a:t>
            </a:r>
            <a:endParaRPr lang="en-US" sz="1050" dirty="0"/>
          </a:p>
        </p:txBody>
      </p:sp>
      <p:sp>
        <p:nvSpPr>
          <p:cNvPr id="22" name="Shape 20"/>
          <p:cNvSpPr/>
          <p:nvPr/>
        </p:nvSpPr>
        <p:spPr>
          <a:xfrm>
            <a:off x="8275320" y="1417320"/>
            <a:ext cx="2971800" cy="3657600"/>
          </a:xfrm>
          <a:prstGeom prst="roundRect">
            <a:avLst>
              <a:gd name="adj" fmla="val 2462"/>
            </a:avLst>
          </a:prstGeom>
          <a:solidFill>
            <a:srgbClr val="F6E7C1"/>
          </a:solidFill>
          <a:ln w="8890">
            <a:solidFill>
              <a:srgbClr val="E3C56F"/>
            </a:solidFill>
            <a:prstDash val="solid"/>
          </a:ln>
        </p:spPr>
      </p:sp>
      <p:sp>
        <p:nvSpPr>
          <p:cNvPr id="23" name="Text 21"/>
          <p:cNvSpPr/>
          <p:nvPr/>
        </p:nvSpPr>
        <p:spPr>
          <a:xfrm>
            <a:off x="8522208" y="1737360"/>
            <a:ext cx="2468880" cy="2560320"/>
          </a:xfrm>
          <a:prstGeom prst="rect">
            <a:avLst/>
          </a:prstGeom>
          <a:noFill/>
          <a:ln/>
        </p:spPr>
        <p:txBody>
          <a:bodyPr wrap="square" lIns="635" tIns="635" rIns="635" bIns="635" rtlCol="0" anchor="ctr">
            <a:normAutofit/>
          </a:bodyPr>
          <a:lstStyle/>
          <a:p>
            <a:pPr marL="152400" indent="-152400">
              <a:buSzPct val="100000"/>
              <a:buChar char="•"/>
            </a:pPr>
            <a:r>
              <a:rPr lang="en-US" sz="1040" dirty="0">
                <a:solidFill>
                  <a:srgbClr val="243B53"/>
                </a:solidFill>
              </a:rPr>
              <a:t>Complaints rose from 19 to 31 in May</a:t>
            </a:r>
            <a:endParaRPr lang="en-US" sz="1040" dirty="0"/>
          </a:p>
          <a:p>
            <a:pPr marL="152400" indent="-152400">
              <a:buSzPct val="100000"/>
              <a:buChar char="•"/>
            </a:pPr>
            <a:r>
              <a:rPr lang="en-US" sz="1040" dirty="0">
                <a:solidFill>
                  <a:srgbClr val="243B53"/>
                </a:solidFill>
              </a:rPr>
              <a:t>Repeat rate fell from 37.7% to 29.8%</a:t>
            </a:r>
            <a:endParaRPr lang="en-US" sz="1040" dirty="0"/>
          </a:p>
          <a:p>
            <a:pPr marL="152400" indent="-152400">
              <a:buSzPct val="100000"/>
              <a:buChar char="•"/>
            </a:pPr>
            <a:r>
              <a:rPr lang="en-US" sz="1040" dirty="0">
                <a:solidFill>
                  <a:srgbClr val="243B53"/>
                </a:solidFill>
              </a:rPr>
              <a:t>June improved: complaints 24, repeat 36.8%</a:t>
            </a:r>
            <a:endParaRPr lang="en-US" sz="1040" dirty="0"/>
          </a:p>
          <a:p>
            <a:pPr marL="152400" indent="-152400">
              <a:buSzPct val="100000"/>
              <a:buChar char="•"/>
            </a:pPr>
            <a:r>
              <a:rPr lang="en-US" sz="1040" dirty="0">
                <a:solidFill>
                  <a:srgbClr val="243B53"/>
                </a:solidFill>
              </a:rPr>
              <a:t>Relationship ≠ proof, but it is a strong lead</a:t>
            </a:r>
            <a:endParaRPr lang="en-US" sz="1040" dirty="0"/>
          </a:p>
        </p:txBody>
      </p:sp>
      <p:sp>
        <p:nvSpPr>
          <p:cNvPr id="24" name="Shape 22"/>
          <p:cNvSpPr/>
          <p:nvPr/>
        </p:nvSpPr>
        <p:spPr>
          <a:xfrm>
            <a:off x="8092440" y="5257800"/>
            <a:ext cx="3246120" cy="713232"/>
          </a:xfrm>
          <a:prstGeom prst="roundRect">
            <a:avLst>
              <a:gd name="adj" fmla="val 6410"/>
            </a:avLst>
          </a:prstGeom>
          <a:solidFill>
            <a:srgbClr val="F6E7C1"/>
          </a:solidFill>
          <a:ln w="8890">
            <a:solidFill>
              <a:srgbClr val="E3C56F"/>
            </a:solidFill>
            <a:prstDash val="solid"/>
          </a:ln>
        </p:spPr>
      </p:sp>
      <p:sp>
        <p:nvSpPr>
          <p:cNvPr id="25" name="Text 23"/>
          <p:cNvSpPr/>
          <p:nvPr/>
        </p:nvSpPr>
        <p:spPr>
          <a:xfrm>
            <a:off x="8257032" y="5330952"/>
            <a:ext cx="291693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6" name="Text 24"/>
          <p:cNvSpPr/>
          <p:nvPr/>
        </p:nvSpPr>
        <p:spPr>
          <a:xfrm>
            <a:off x="8257032" y="5522976"/>
            <a:ext cx="291693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Relationship charts help identify possible connections. They should guide investigation, not overclaim causality.</a:t>
            </a:r>
            <a:endParaRPr lang="en-US" sz="1050" dirty="0"/>
          </a:p>
        </p:txBody>
      </p:sp>
      <p:sp>
        <p:nvSpPr>
          <p:cNvPr id="27" name="Text 25"/>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28"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OPERATIONAL ROOT CAUSE EVIDENCE</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Operational issue trends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5</a:t>
            </a:r>
            <a:endParaRPr lang="en-US" sz="800" dirty="0"/>
          </a:p>
        </p:txBody>
      </p:sp>
      <p:sp>
        <p:nvSpPr>
          <p:cNvPr id="5" name="Shape 3"/>
          <p:cNvSpPr/>
          <p:nvPr/>
        </p:nvSpPr>
        <p:spPr>
          <a:xfrm>
            <a:off x="685800" y="1143000"/>
            <a:ext cx="7498080" cy="4343400"/>
          </a:xfrm>
          <a:prstGeom prst="roundRect">
            <a:avLst>
              <a:gd name="adj" fmla="val 1684"/>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51560" y="4526280"/>
            <a:ext cx="6492240" cy="0"/>
          </a:xfrm>
          <a:prstGeom prst="line">
            <a:avLst/>
          </a:prstGeom>
          <a:noFill/>
          <a:ln w="10160">
            <a:solidFill>
              <a:srgbClr val="A8A29E"/>
            </a:solidFill>
            <a:prstDash val="solid"/>
          </a:ln>
        </p:spPr>
      </p:sp>
      <p:sp>
        <p:nvSpPr>
          <p:cNvPr id="7" name="Shape 5"/>
          <p:cNvSpPr/>
          <p:nvPr/>
        </p:nvSpPr>
        <p:spPr>
          <a:xfrm>
            <a:off x="1051560" y="1920240"/>
            <a:ext cx="0" cy="2606040"/>
          </a:xfrm>
          <a:prstGeom prst="line">
            <a:avLst/>
          </a:prstGeom>
          <a:noFill/>
          <a:ln w="10160">
            <a:solidFill>
              <a:srgbClr val="A8A29E"/>
            </a:solidFill>
            <a:prstDash val="solid"/>
          </a:ln>
        </p:spPr>
      </p:sp>
      <p:sp>
        <p:nvSpPr>
          <p:cNvPr id="8" name="Text 6"/>
          <p:cNvSpPr/>
          <p:nvPr/>
        </p:nvSpPr>
        <p:spPr>
          <a:xfrm>
            <a:off x="1097280" y="1691640"/>
            <a:ext cx="6492240" cy="182880"/>
          </a:xfrm>
          <a:prstGeom prst="rect">
            <a:avLst/>
          </a:prstGeom>
          <a:noFill/>
          <a:ln/>
        </p:spPr>
        <p:txBody>
          <a:bodyPr wrap="square" lIns="0" tIns="0" rIns="0" bIns="0" rtlCol="0" anchor="ctr"/>
          <a:lstStyle/>
          <a:p>
            <a:pPr marL="0" indent="0">
              <a:buNone/>
            </a:pPr>
            <a:r>
              <a:rPr lang="en-US" sz="700" dirty="0">
                <a:solidFill>
                  <a:srgbClr val="627D98"/>
                </a:solidFill>
              </a:rPr>
              <a:t>Issue count</a:t>
            </a:r>
            <a:endParaRPr lang="en-US" sz="700" dirty="0"/>
          </a:p>
        </p:txBody>
      </p:sp>
      <p:sp>
        <p:nvSpPr>
          <p:cNvPr id="9" name="Text 7"/>
          <p:cNvSpPr/>
          <p:nvPr/>
        </p:nvSpPr>
        <p:spPr>
          <a:xfrm>
            <a:off x="914400" y="45994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Jan</a:t>
            </a:r>
            <a:endParaRPr lang="en-US" sz="700" dirty="0"/>
          </a:p>
        </p:txBody>
      </p:sp>
      <p:sp>
        <p:nvSpPr>
          <p:cNvPr id="10" name="Text 8"/>
          <p:cNvSpPr/>
          <p:nvPr/>
        </p:nvSpPr>
        <p:spPr>
          <a:xfrm>
            <a:off x="2212848" y="45994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Feb</a:t>
            </a:r>
            <a:endParaRPr lang="en-US" sz="700" dirty="0"/>
          </a:p>
        </p:txBody>
      </p:sp>
      <p:sp>
        <p:nvSpPr>
          <p:cNvPr id="11" name="Text 9"/>
          <p:cNvSpPr/>
          <p:nvPr/>
        </p:nvSpPr>
        <p:spPr>
          <a:xfrm>
            <a:off x="3511296" y="45994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Mar</a:t>
            </a:r>
            <a:endParaRPr lang="en-US" sz="700" dirty="0"/>
          </a:p>
        </p:txBody>
      </p:sp>
      <p:sp>
        <p:nvSpPr>
          <p:cNvPr id="12" name="Text 10"/>
          <p:cNvSpPr/>
          <p:nvPr/>
        </p:nvSpPr>
        <p:spPr>
          <a:xfrm>
            <a:off x="4809744" y="45994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Apr</a:t>
            </a:r>
            <a:endParaRPr lang="en-US" sz="700" dirty="0"/>
          </a:p>
        </p:txBody>
      </p:sp>
      <p:sp>
        <p:nvSpPr>
          <p:cNvPr id="13" name="Text 11"/>
          <p:cNvSpPr/>
          <p:nvPr/>
        </p:nvSpPr>
        <p:spPr>
          <a:xfrm>
            <a:off x="6108192" y="45994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May</a:t>
            </a:r>
            <a:endParaRPr lang="en-US" sz="700" dirty="0"/>
          </a:p>
        </p:txBody>
      </p:sp>
      <p:sp>
        <p:nvSpPr>
          <p:cNvPr id="14" name="Text 12"/>
          <p:cNvSpPr/>
          <p:nvPr/>
        </p:nvSpPr>
        <p:spPr>
          <a:xfrm>
            <a:off x="7406640" y="45994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Jun</a:t>
            </a:r>
            <a:endParaRPr lang="en-US" sz="700" dirty="0"/>
          </a:p>
        </p:txBody>
      </p:sp>
      <p:sp>
        <p:nvSpPr>
          <p:cNvPr id="15" name="Shape 13"/>
          <p:cNvSpPr/>
          <p:nvPr/>
        </p:nvSpPr>
        <p:spPr>
          <a:xfrm>
            <a:off x="1051560" y="2571750"/>
            <a:ext cx="1298448" cy="217170"/>
          </a:xfrm>
          <a:prstGeom prst="line">
            <a:avLst/>
          </a:prstGeom>
          <a:noFill/>
          <a:ln w="25400">
            <a:solidFill>
              <a:srgbClr val="D97706"/>
            </a:solidFill>
            <a:prstDash val="solid"/>
          </a:ln>
        </p:spPr>
      </p:sp>
      <p:sp>
        <p:nvSpPr>
          <p:cNvPr id="16" name="Shape 14"/>
          <p:cNvSpPr/>
          <p:nvPr/>
        </p:nvSpPr>
        <p:spPr>
          <a:xfrm>
            <a:off x="2350008" y="2788920"/>
            <a:ext cx="1298448" cy="434340"/>
          </a:xfrm>
          <a:prstGeom prst="line">
            <a:avLst/>
          </a:prstGeom>
          <a:noFill/>
          <a:ln w="25400">
            <a:solidFill>
              <a:srgbClr val="D97706"/>
            </a:solidFill>
            <a:prstDash val="solid"/>
          </a:ln>
        </p:spPr>
      </p:sp>
      <p:sp>
        <p:nvSpPr>
          <p:cNvPr id="17" name="Shape 15"/>
          <p:cNvSpPr/>
          <p:nvPr/>
        </p:nvSpPr>
        <p:spPr>
          <a:xfrm>
            <a:off x="3648456" y="3223260"/>
            <a:ext cx="1298448" cy="325755"/>
          </a:xfrm>
          <a:prstGeom prst="line">
            <a:avLst/>
          </a:prstGeom>
          <a:noFill/>
          <a:ln w="25400">
            <a:solidFill>
              <a:srgbClr val="D97706"/>
            </a:solidFill>
            <a:prstDash val="solid"/>
          </a:ln>
        </p:spPr>
      </p:sp>
      <p:sp>
        <p:nvSpPr>
          <p:cNvPr id="18" name="Shape 16"/>
          <p:cNvSpPr/>
          <p:nvPr/>
        </p:nvSpPr>
        <p:spPr>
          <a:xfrm>
            <a:off x="4946904" y="3549015"/>
            <a:ext cx="1298448" cy="0"/>
          </a:xfrm>
          <a:prstGeom prst="line">
            <a:avLst/>
          </a:prstGeom>
          <a:noFill/>
          <a:ln w="25400">
            <a:solidFill>
              <a:srgbClr val="D97706"/>
            </a:solidFill>
            <a:prstDash val="solid"/>
          </a:ln>
        </p:spPr>
      </p:sp>
      <p:sp>
        <p:nvSpPr>
          <p:cNvPr id="19" name="Shape 17"/>
          <p:cNvSpPr/>
          <p:nvPr/>
        </p:nvSpPr>
        <p:spPr>
          <a:xfrm>
            <a:off x="6245352" y="2245995"/>
            <a:ext cx="1298448" cy="868680"/>
          </a:xfrm>
          <a:prstGeom prst="line">
            <a:avLst/>
          </a:prstGeom>
          <a:noFill/>
          <a:ln w="25400">
            <a:solidFill>
              <a:srgbClr val="D97706"/>
            </a:solidFill>
            <a:prstDash val="solid"/>
          </a:ln>
        </p:spPr>
      </p:sp>
      <p:sp>
        <p:nvSpPr>
          <p:cNvPr id="20" name="Shape 18"/>
          <p:cNvSpPr/>
          <p:nvPr/>
        </p:nvSpPr>
        <p:spPr>
          <a:xfrm>
            <a:off x="1010412" y="2530602"/>
            <a:ext cx="82296" cy="82296"/>
          </a:xfrm>
          <a:prstGeom prst="ellipse">
            <a:avLst/>
          </a:prstGeom>
          <a:solidFill>
            <a:srgbClr val="D97706"/>
          </a:solidFill>
          <a:ln w="7620">
            <a:solidFill>
              <a:srgbClr val="FFFFFF"/>
            </a:solidFill>
            <a:prstDash val="solid"/>
          </a:ln>
        </p:spPr>
      </p:sp>
      <p:sp>
        <p:nvSpPr>
          <p:cNvPr id="21" name="Shape 19"/>
          <p:cNvSpPr/>
          <p:nvPr/>
        </p:nvSpPr>
        <p:spPr>
          <a:xfrm>
            <a:off x="2308860" y="2747772"/>
            <a:ext cx="82296" cy="82296"/>
          </a:xfrm>
          <a:prstGeom prst="ellipse">
            <a:avLst/>
          </a:prstGeom>
          <a:solidFill>
            <a:srgbClr val="D97706"/>
          </a:solidFill>
          <a:ln w="7620">
            <a:solidFill>
              <a:srgbClr val="FFFFFF"/>
            </a:solidFill>
            <a:prstDash val="solid"/>
          </a:ln>
        </p:spPr>
      </p:sp>
      <p:sp>
        <p:nvSpPr>
          <p:cNvPr id="22" name="Shape 20"/>
          <p:cNvSpPr/>
          <p:nvPr/>
        </p:nvSpPr>
        <p:spPr>
          <a:xfrm>
            <a:off x="3607308" y="3182112"/>
            <a:ext cx="82296" cy="82296"/>
          </a:xfrm>
          <a:prstGeom prst="ellipse">
            <a:avLst/>
          </a:prstGeom>
          <a:solidFill>
            <a:srgbClr val="D97706"/>
          </a:solidFill>
          <a:ln w="7620">
            <a:solidFill>
              <a:srgbClr val="FFFFFF"/>
            </a:solidFill>
            <a:prstDash val="solid"/>
          </a:ln>
        </p:spPr>
      </p:sp>
      <p:sp>
        <p:nvSpPr>
          <p:cNvPr id="23" name="Shape 21"/>
          <p:cNvSpPr/>
          <p:nvPr/>
        </p:nvSpPr>
        <p:spPr>
          <a:xfrm>
            <a:off x="4905756" y="3507867"/>
            <a:ext cx="82296" cy="82296"/>
          </a:xfrm>
          <a:prstGeom prst="ellipse">
            <a:avLst/>
          </a:prstGeom>
          <a:solidFill>
            <a:srgbClr val="D97706"/>
          </a:solidFill>
          <a:ln w="7620">
            <a:solidFill>
              <a:srgbClr val="FFFFFF"/>
            </a:solidFill>
            <a:prstDash val="solid"/>
          </a:ln>
        </p:spPr>
      </p:sp>
      <p:sp>
        <p:nvSpPr>
          <p:cNvPr id="24" name="Text 22"/>
          <p:cNvSpPr/>
          <p:nvPr/>
        </p:nvSpPr>
        <p:spPr>
          <a:xfrm>
            <a:off x="4581144" y="329298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D97706"/>
                </a:solidFill>
              </a:rPr>
              <a:t>Late deliveries: 9</a:t>
            </a:r>
            <a:endParaRPr lang="en-US" sz="680" dirty="0"/>
          </a:p>
        </p:txBody>
      </p:sp>
      <p:sp>
        <p:nvSpPr>
          <p:cNvPr id="25" name="Shape 23"/>
          <p:cNvSpPr/>
          <p:nvPr/>
        </p:nvSpPr>
        <p:spPr>
          <a:xfrm>
            <a:off x="6204204" y="2204847"/>
            <a:ext cx="82296" cy="82296"/>
          </a:xfrm>
          <a:prstGeom prst="ellipse">
            <a:avLst/>
          </a:prstGeom>
          <a:solidFill>
            <a:srgbClr val="D97706"/>
          </a:solidFill>
          <a:ln w="7620">
            <a:solidFill>
              <a:srgbClr val="FFFFFF"/>
            </a:solidFill>
            <a:prstDash val="solid"/>
          </a:ln>
        </p:spPr>
      </p:sp>
      <p:sp>
        <p:nvSpPr>
          <p:cNvPr id="26" name="Text 24"/>
          <p:cNvSpPr/>
          <p:nvPr/>
        </p:nvSpPr>
        <p:spPr>
          <a:xfrm>
            <a:off x="5879592" y="198996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D97706"/>
                </a:solidFill>
              </a:rPr>
              <a:t>Late deliveries: 21</a:t>
            </a:r>
            <a:endParaRPr lang="en-US" sz="680" dirty="0"/>
          </a:p>
        </p:txBody>
      </p:sp>
      <p:sp>
        <p:nvSpPr>
          <p:cNvPr id="27" name="Shape 25"/>
          <p:cNvSpPr/>
          <p:nvPr/>
        </p:nvSpPr>
        <p:spPr>
          <a:xfrm>
            <a:off x="7502652" y="3073527"/>
            <a:ext cx="82296" cy="82296"/>
          </a:xfrm>
          <a:prstGeom prst="ellipse">
            <a:avLst/>
          </a:prstGeom>
          <a:solidFill>
            <a:srgbClr val="D97706"/>
          </a:solidFill>
          <a:ln w="7620">
            <a:solidFill>
              <a:srgbClr val="FFFFFF"/>
            </a:solidFill>
            <a:prstDash val="solid"/>
          </a:ln>
        </p:spPr>
      </p:sp>
      <p:sp>
        <p:nvSpPr>
          <p:cNvPr id="28" name="Text 26"/>
          <p:cNvSpPr/>
          <p:nvPr/>
        </p:nvSpPr>
        <p:spPr>
          <a:xfrm>
            <a:off x="7178040" y="285864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D97706"/>
                </a:solidFill>
              </a:rPr>
              <a:t>Late deliveries: 13</a:t>
            </a:r>
            <a:endParaRPr lang="en-US" sz="680" dirty="0"/>
          </a:p>
        </p:txBody>
      </p:sp>
      <p:sp>
        <p:nvSpPr>
          <p:cNvPr id="29" name="Shape 27"/>
          <p:cNvSpPr/>
          <p:nvPr/>
        </p:nvSpPr>
        <p:spPr>
          <a:xfrm>
            <a:off x="1051560" y="3223260"/>
            <a:ext cx="1298448" cy="217170"/>
          </a:xfrm>
          <a:prstGeom prst="line">
            <a:avLst/>
          </a:prstGeom>
          <a:noFill/>
          <a:ln w="25400">
            <a:solidFill>
              <a:srgbClr val="B91C1C"/>
            </a:solidFill>
            <a:prstDash val="solid"/>
          </a:ln>
        </p:spPr>
      </p:sp>
      <p:sp>
        <p:nvSpPr>
          <p:cNvPr id="30" name="Shape 28"/>
          <p:cNvSpPr/>
          <p:nvPr/>
        </p:nvSpPr>
        <p:spPr>
          <a:xfrm>
            <a:off x="2350008" y="3440430"/>
            <a:ext cx="1298448" cy="217170"/>
          </a:xfrm>
          <a:prstGeom prst="line">
            <a:avLst/>
          </a:prstGeom>
          <a:noFill/>
          <a:ln w="25400">
            <a:solidFill>
              <a:srgbClr val="B91C1C"/>
            </a:solidFill>
            <a:prstDash val="solid"/>
          </a:ln>
        </p:spPr>
      </p:sp>
      <p:sp>
        <p:nvSpPr>
          <p:cNvPr id="31" name="Shape 29"/>
          <p:cNvSpPr/>
          <p:nvPr/>
        </p:nvSpPr>
        <p:spPr>
          <a:xfrm>
            <a:off x="3648456" y="3657600"/>
            <a:ext cx="1298448" cy="325755"/>
          </a:xfrm>
          <a:prstGeom prst="line">
            <a:avLst/>
          </a:prstGeom>
          <a:noFill/>
          <a:ln w="25400">
            <a:solidFill>
              <a:srgbClr val="B91C1C"/>
            </a:solidFill>
            <a:prstDash val="solid"/>
          </a:ln>
        </p:spPr>
      </p:sp>
      <p:sp>
        <p:nvSpPr>
          <p:cNvPr id="32" name="Shape 30"/>
          <p:cNvSpPr/>
          <p:nvPr/>
        </p:nvSpPr>
        <p:spPr>
          <a:xfrm>
            <a:off x="4946904" y="3983355"/>
            <a:ext cx="1298448" cy="0"/>
          </a:xfrm>
          <a:prstGeom prst="line">
            <a:avLst/>
          </a:prstGeom>
          <a:noFill/>
          <a:ln w="25400">
            <a:solidFill>
              <a:srgbClr val="B91C1C"/>
            </a:solidFill>
            <a:prstDash val="solid"/>
          </a:ln>
        </p:spPr>
      </p:sp>
      <p:sp>
        <p:nvSpPr>
          <p:cNvPr id="33" name="Shape 31"/>
          <p:cNvSpPr/>
          <p:nvPr/>
        </p:nvSpPr>
        <p:spPr>
          <a:xfrm>
            <a:off x="6245352" y="2788920"/>
            <a:ext cx="1298448" cy="760095"/>
          </a:xfrm>
          <a:prstGeom prst="line">
            <a:avLst/>
          </a:prstGeom>
          <a:noFill/>
          <a:ln w="25400">
            <a:solidFill>
              <a:srgbClr val="B91C1C"/>
            </a:solidFill>
            <a:prstDash val="solid"/>
          </a:ln>
        </p:spPr>
      </p:sp>
      <p:sp>
        <p:nvSpPr>
          <p:cNvPr id="34" name="Shape 32"/>
          <p:cNvSpPr/>
          <p:nvPr/>
        </p:nvSpPr>
        <p:spPr>
          <a:xfrm>
            <a:off x="1010412" y="3182112"/>
            <a:ext cx="82296" cy="82296"/>
          </a:xfrm>
          <a:prstGeom prst="ellipse">
            <a:avLst/>
          </a:prstGeom>
          <a:solidFill>
            <a:srgbClr val="B91C1C"/>
          </a:solidFill>
          <a:ln w="7620">
            <a:solidFill>
              <a:srgbClr val="FFFFFF"/>
            </a:solidFill>
            <a:prstDash val="solid"/>
          </a:ln>
        </p:spPr>
      </p:sp>
      <p:sp>
        <p:nvSpPr>
          <p:cNvPr id="35" name="Shape 33"/>
          <p:cNvSpPr/>
          <p:nvPr/>
        </p:nvSpPr>
        <p:spPr>
          <a:xfrm>
            <a:off x="2308860" y="3399282"/>
            <a:ext cx="82296" cy="82296"/>
          </a:xfrm>
          <a:prstGeom prst="ellipse">
            <a:avLst/>
          </a:prstGeom>
          <a:solidFill>
            <a:srgbClr val="B91C1C"/>
          </a:solidFill>
          <a:ln w="7620">
            <a:solidFill>
              <a:srgbClr val="FFFFFF"/>
            </a:solidFill>
            <a:prstDash val="solid"/>
          </a:ln>
        </p:spPr>
      </p:sp>
      <p:sp>
        <p:nvSpPr>
          <p:cNvPr id="36" name="Shape 34"/>
          <p:cNvSpPr/>
          <p:nvPr/>
        </p:nvSpPr>
        <p:spPr>
          <a:xfrm>
            <a:off x="3607308" y="3616452"/>
            <a:ext cx="82296" cy="82296"/>
          </a:xfrm>
          <a:prstGeom prst="ellipse">
            <a:avLst/>
          </a:prstGeom>
          <a:solidFill>
            <a:srgbClr val="B91C1C"/>
          </a:solidFill>
          <a:ln w="7620">
            <a:solidFill>
              <a:srgbClr val="FFFFFF"/>
            </a:solidFill>
            <a:prstDash val="solid"/>
          </a:ln>
        </p:spPr>
      </p:sp>
      <p:sp>
        <p:nvSpPr>
          <p:cNvPr id="37" name="Shape 35"/>
          <p:cNvSpPr/>
          <p:nvPr/>
        </p:nvSpPr>
        <p:spPr>
          <a:xfrm>
            <a:off x="4905756" y="3942207"/>
            <a:ext cx="82296" cy="82296"/>
          </a:xfrm>
          <a:prstGeom prst="ellipse">
            <a:avLst/>
          </a:prstGeom>
          <a:solidFill>
            <a:srgbClr val="B91C1C"/>
          </a:solidFill>
          <a:ln w="7620">
            <a:solidFill>
              <a:srgbClr val="FFFFFF"/>
            </a:solidFill>
            <a:prstDash val="solid"/>
          </a:ln>
        </p:spPr>
      </p:sp>
      <p:sp>
        <p:nvSpPr>
          <p:cNvPr id="38" name="Text 36"/>
          <p:cNvSpPr/>
          <p:nvPr/>
        </p:nvSpPr>
        <p:spPr>
          <a:xfrm>
            <a:off x="4581144" y="372732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B91C1C"/>
                </a:solidFill>
              </a:rPr>
              <a:t>Stockouts: 5</a:t>
            </a:r>
            <a:endParaRPr lang="en-US" sz="680" dirty="0"/>
          </a:p>
        </p:txBody>
      </p:sp>
      <p:sp>
        <p:nvSpPr>
          <p:cNvPr id="39" name="Shape 37"/>
          <p:cNvSpPr/>
          <p:nvPr/>
        </p:nvSpPr>
        <p:spPr>
          <a:xfrm>
            <a:off x="6204204" y="2747772"/>
            <a:ext cx="82296" cy="82296"/>
          </a:xfrm>
          <a:prstGeom prst="ellipse">
            <a:avLst/>
          </a:prstGeom>
          <a:solidFill>
            <a:srgbClr val="B91C1C"/>
          </a:solidFill>
          <a:ln w="7620">
            <a:solidFill>
              <a:srgbClr val="FFFFFF"/>
            </a:solidFill>
            <a:prstDash val="solid"/>
          </a:ln>
        </p:spPr>
      </p:sp>
      <p:sp>
        <p:nvSpPr>
          <p:cNvPr id="40" name="Text 38"/>
          <p:cNvSpPr/>
          <p:nvPr/>
        </p:nvSpPr>
        <p:spPr>
          <a:xfrm>
            <a:off x="5879592" y="2532888"/>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B91C1C"/>
                </a:solidFill>
              </a:rPr>
              <a:t>Stockouts: 16</a:t>
            </a:r>
            <a:endParaRPr lang="en-US" sz="680" dirty="0"/>
          </a:p>
        </p:txBody>
      </p:sp>
      <p:sp>
        <p:nvSpPr>
          <p:cNvPr id="41" name="Shape 39"/>
          <p:cNvSpPr/>
          <p:nvPr/>
        </p:nvSpPr>
        <p:spPr>
          <a:xfrm>
            <a:off x="7502652" y="3507867"/>
            <a:ext cx="82296" cy="82296"/>
          </a:xfrm>
          <a:prstGeom prst="ellipse">
            <a:avLst/>
          </a:prstGeom>
          <a:solidFill>
            <a:srgbClr val="B91C1C"/>
          </a:solidFill>
          <a:ln w="7620">
            <a:solidFill>
              <a:srgbClr val="FFFFFF"/>
            </a:solidFill>
            <a:prstDash val="solid"/>
          </a:ln>
        </p:spPr>
      </p:sp>
      <p:sp>
        <p:nvSpPr>
          <p:cNvPr id="42" name="Text 40"/>
          <p:cNvSpPr/>
          <p:nvPr/>
        </p:nvSpPr>
        <p:spPr>
          <a:xfrm>
            <a:off x="7178040" y="329298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B91C1C"/>
                </a:solidFill>
              </a:rPr>
              <a:t>Stockouts: 9</a:t>
            </a:r>
            <a:endParaRPr lang="en-US" sz="680" dirty="0"/>
          </a:p>
        </p:txBody>
      </p:sp>
      <p:sp>
        <p:nvSpPr>
          <p:cNvPr id="43" name="Shape 41"/>
          <p:cNvSpPr/>
          <p:nvPr/>
        </p:nvSpPr>
        <p:spPr>
          <a:xfrm>
            <a:off x="1051560" y="3006090"/>
            <a:ext cx="1298448" cy="217170"/>
          </a:xfrm>
          <a:prstGeom prst="line">
            <a:avLst/>
          </a:prstGeom>
          <a:noFill/>
          <a:ln w="25400">
            <a:solidFill>
              <a:srgbClr val="2F5D8C"/>
            </a:solidFill>
            <a:prstDash val="solid"/>
          </a:ln>
        </p:spPr>
      </p:sp>
      <p:sp>
        <p:nvSpPr>
          <p:cNvPr id="44" name="Shape 42"/>
          <p:cNvSpPr/>
          <p:nvPr/>
        </p:nvSpPr>
        <p:spPr>
          <a:xfrm>
            <a:off x="2350008" y="3223260"/>
            <a:ext cx="1298448" cy="217170"/>
          </a:xfrm>
          <a:prstGeom prst="line">
            <a:avLst/>
          </a:prstGeom>
          <a:noFill/>
          <a:ln w="25400">
            <a:solidFill>
              <a:srgbClr val="2F5D8C"/>
            </a:solidFill>
            <a:prstDash val="solid"/>
          </a:ln>
        </p:spPr>
      </p:sp>
      <p:sp>
        <p:nvSpPr>
          <p:cNvPr id="45" name="Shape 43"/>
          <p:cNvSpPr/>
          <p:nvPr/>
        </p:nvSpPr>
        <p:spPr>
          <a:xfrm>
            <a:off x="3648456" y="3440430"/>
            <a:ext cx="1298448" cy="217170"/>
          </a:xfrm>
          <a:prstGeom prst="line">
            <a:avLst/>
          </a:prstGeom>
          <a:noFill/>
          <a:ln w="25400">
            <a:solidFill>
              <a:srgbClr val="2F5D8C"/>
            </a:solidFill>
            <a:prstDash val="solid"/>
          </a:ln>
        </p:spPr>
      </p:sp>
      <p:sp>
        <p:nvSpPr>
          <p:cNvPr id="46" name="Shape 44"/>
          <p:cNvSpPr/>
          <p:nvPr/>
        </p:nvSpPr>
        <p:spPr>
          <a:xfrm>
            <a:off x="4946904" y="3657600"/>
            <a:ext cx="1298448" cy="0"/>
          </a:xfrm>
          <a:prstGeom prst="line">
            <a:avLst/>
          </a:prstGeom>
          <a:noFill/>
          <a:ln w="25400">
            <a:solidFill>
              <a:srgbClr val="2F5D8C"/>
            </a:solidFill>
            <a:prstDash val="solid"/>
          </a:ln>
        </p:spPr>
      </p:sp>
      <p:sp>
        <p:nvSpPr>
          <p:cNvPr id="47" name="Shape 45"/>
          <p:cNvSpPr/>
          <p:nvPr/>
        </p:nvSpPr>
        <p:spPr>
          <a:xfrm>
            <a:off x="6245352" y="2463165"/>
            <a:ext cx="1298448" cy="868680"/>
          </a:xfrm>
          <a:prstGeom prst="line">
            <a:avLst/>
          </a:prstGeom>
          <a:noFill/>
          <a:ln w="25400">
            <a:solidFill>
              <a:srgbClr val="2F5D8C"/>
            </a:solidFill>
            <a:prstDash val="solid"/>
          </a:ln>
        </p:spPr>
      </p:sp>
      <p:sp>
        <p:nvSpPr>
          <p:cNvPr id="48" name="Shape 46"/>
          <p:cNvSpPr/>
          <p:nvPr/>
        </p:nvSpPr>
        <p:spPr>
          <a:xfrm>
            <a:off x="1010412" y="2964942"/>
            <a:ext cx="82296" cy="82296"/>
          </a:xfrm>
          <a:prstGeom prst="ellipse">
            <a:avLst/>
          </a:prstGeom>
          <a:solidFill>
            <a:srgbClr val="2F5D8C"/>
          </a:solidFill>
          <a:ln w="7620">
            <a:solidFill>
              <a:srgbClr val="FFFFFF"/>
            </a:solidFill>
            <a:prstDash val="solid"/>
          </a:ln>
        </p:spPr>
      </p:sp>
      <p:sp>
        <p:nvSpPr>
          <p:cNvPr id="49" name="Shape 47"/>
          <p:cNvSpPr/>
          <p:nvPr/>
        </p:nvSpPr>
        <p:spPr>
          <a:xfrm>
            <a:off x="2308860" y="3182112"/>
            <a:ext cx="82296" cy="82296"/>
          </a:xfrm>
          <a:prstGeom prst="ellipse">
            <a:avLst/>
          </a:prstGeom>
          <a:solidFill>
            <a:srgbClr val="2F5D8C"/>
          </a:solidFill>
          <a:ln w="7620">
            <a:solidFill>
              <a:srgbClr val="FFFFFF"/>
            </a:solidFill>
            <a:prstDash val="solid"/>
          </a:ln>
        </p:spPr>
      </p:sp>
      <p:sp>
        <p:nvSpPr>
          <p:cNvPr id="50" name="Shape 48"/>
          <p:cNvSpPr/>
          <p:nvPr/>
        </p:nvSpPr>
        <p:spPr>
          <a:xfrm>
            <a:off x="3607308" y="3399282"/>
            <a:ext cx="82296" cy="82296"/>
          </a:xfrm>
          <a:prstGeom prst="ellipse">
            <a:avLst/>
          </a:prstGeom>
          <a:solidFill>
            <a:srgbClr val="2F5D8C"/>
          </a:solidFill>
          <a:ln w="7620">
            <a:solidFill>
              <a:srgbClr val="FFFFFF"/>
            </a:solidFill>
            <a:prstDash val="solid"/>
          </a:ln>
        </p:spPr>
      </p:sp>
      <p:sp>
        <p:nvSpPr>
          <p:cNvPr id="51" name="Shape 49"/>
          <p:cNvSpPr/>
          <p:nvPr/>
        </p:nvSpPr>
        <p:spPr>
          <a:xfrm>
            <a:off x="4905756" y="3616452"/>
            <a:ext cx="82296" cy="82296"/>
          </a:xfrm>
          <a:prstGeom prst="ellipse">
            <a:avLst/>
          </a:prstGeom>
          <a:solidFill>
            <a:srgbClr val="2F5D8C"/>
          </a:solidFill>
          <a:ln w="7620">
            <a:solidFill>
              <a:srgbClr val="FFFFFF"/>
            </a:solidFill>
            <a:prstDash val="solid"/>
          </a:ln>
        </p:spPr>
      </p:sp>
      <p:sp>
        <p:nvSpPr>
          <p:cNvPr id="52" name="Text 50"/>
          <p:cNvSpPr/>
          <p:nvPr/>
        </p:nvSpPr>
        <p:spPr>
          <a:xfrm>
            <a:off x="4581144" y="3401568"/>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2F5D8C"/>
                </a:solidFill>
              </a:rPr>
              <a:t>Cancelled orders: 8</a:t>
            </a:r>
            <a:endParaRPr lang="en-US" sz="680" dirty="0"/>
          </a:p>
        </p:txBody>
      </p:sp>
      <p:sp>
        <p:nvSpPr>
          <p:cNvPr id="53" name="Shape 51"/>
          <p:cNvSpPr/>
          <p:nvPr/>
        </p:nvSpPr>
        <p:spPr>
          <a:xfrm>
            <a:off x="6204204" y="2422017"/>
            <a:ext cx="82296" cy="82296"/>
          </a:xfrm>
          <a:prstGeom prst="ellipse">
            <a:avLst/>
          </a:prstGeom>
          <a:solidFill>
            <a:srgbClr val="2F5D8C"/>
          </a:solidFill>
          <a:ln w="7620">
            <a:solidFill>
              <a:srgbClr val="FFFFFF"/>
            </a:solidFill>
            <a:prstDash val="solid"/>
          </a:ln>
        </p:spPr>
      </p:sp>
      <p:sp>
        <p:nvSpPr>
          <p:cNvPr id="54" name="Text 52"/>
          <p:cNvSpPr/>
          <p:nvPr/>
        </p:nvSpPr>
        <p:spPr>
          <a:xfrm>
            <a:off x="5879592" y="220713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2F5D8C"/>
                </a:solidFill>
              </a:rPr>
              <a:t>Cancelled orders: 19</a:t>
            </a:r>
            <a:endParaRPr lang="en-US" sz="680" dirty="0"/>
          </a:p>
        </p:txBody>
      </p:sp>
      <p:sp>
        <p:nvSpPr>
          <p:cNvPr id="55" name="Shape 53"/>
          <p:cNvSpPr/>
          <p:nvPr/>
        </p:nvSpPr>
        <p:spPr>
          <a:xfrm>
            <a:off x="7502652" y="3290697"/>
            <a:ext cx="82296" cy="82296"/>
          </a:xfrm>
          <a:prstGeom prst="ellipse">
            <a:avLst/>
          </a:prstGeom>
          <a:solidFill>
            <a:srgbClr val="2F5D8C"/>
          </a:solidFill>
          <a:ln w="7620">
            <a:solidFill>
              <a:srgbClr val="FFFFFF"/>
            </a:solidFill>
            <a:prstDash val="solid"/>
          </a:ln>
        </p:spPr>
      </p:sp>
      <p:sp>
        <p:nvSpPr>
          <p:cNvPr id="56" name="Text 54"/>
          <p:cNvSpPr/>
          <p:nvPr/>
        </p:nvSpPr>
        <p:spPr>
          <a:xfrm>
            <a:off x="7178040" y="3075813"/>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2F5D8C"/>
                </a:solidFill>
              </a:rPr>
              <a:t>Cancelled orders: 11</a:t>
            </a:r>
            <a:endParaRPr lang="en-US" sz="680" dirty="0"/>
          </a:p>
        </p:txBody>
      </p:sp>
      <p:sp>
        <p:nvSpPr>
          <p:cNvPr id="57" name="Shape 55"/>
          <p:cNvSpPr/>
          <p:nvPr/>
        </p:nvSpPr>
        <p:spPr>
          <a:xfrm>
            <a:off x="1051560" y="1600200"/>
            <a:ext cx="137160" cy="137160"/>
          </a:xfrm>
          <a:prstGeom prst="rect">
            <a:avLst/>
          </a:prstGeom>
          <a:solidFill>
            <a:srgbClr val="D97706"/>
          </a:solidFill>
          <a:ln w="12700">
            <a:solidFill>
              <a:srgbClr val="D97706"/>
            </a:solidFill>
            <a:prstDash val="solid"/>
          </a:ln>
        </p:spPr>
      </p:sp>
      <p:sp>
        <p:nvSpPr>
          <p:cNvPr id="58" name="Text 56"/>
          <p:cNvSpPr/>
          <p:nvPr/>
        </p:nvSpPr>
        <p:spPr>
          <a:xfrm>
            <a:off x="122529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Late deliveries</a:t>
            </a:r>
            <a:endParaRPr lang="en-US" sz="750" dirty="0"/>
          </a:p>
        </p:txBody>
      </p:sp>
      <p:sp>
        <p:nvSpPr>
          <p:cNvPr id="59" name="Shape 57"/>
          <p:cNvSpPr/>
          <p:nvPr/>
        </p:nvSpPr>
        <p:spPr>
          <a:xfrm>
            <a:off x="2468880" y="1600200"/>
            <a:ext cx="137160" cy="137160"/>
          </a:xfrm>
          <a:prstGeom prst="rect">
            <a:avLst/>
          </a:prstGeom>
          <a:solidFill>
            <a:srgbClr val="B91C1C"/>
          </a:solidFill>
          <a:ln w="12700">
            <a:solidFill>
              <a:srgbClr val="B91C1C"/>
            </a:solidFill>
            <a:prstDash val="solid"/>
          </a:ln>
        </p:spPr>
      </p:sp>
      <p:sp>
        <p:nvSpPr>
          <p:cNvPr id="60" name="Text 58"/>
          <p:cNvSpPr/>
          <p:nvPr/>
        </p:nvSpPr>
        <p:spPr>
          <a:xfrm>
            <a:off x="264261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Stockouts</a:t>
            </a:r>
            <a:endParaRPr lang="en-US" sz="750" dirty="0"/>
          </a:p>
        </p:txBody>
      </p:sp>
      <p:sp>
        <p:nvSpPr>
          <p:cNvPr id="61" name="Shape 59"/>
          <p:cNvSpPr/>
          <p:nvPr/>
        </p:nvSpPr>
        <p:spPr>
          <a:xfrm>
            <a:off x="3474720" y="1600200"/>
            <a:ext cx="137160" cy="137160"/>
          </a:xfrm>
          <a:prstGeom prst="rect">
            <a:avLst/>
          </a:prstGeom>
          <a:solidFill>
            <a:srgbClr val="2F5D8C"/>
          </a:solidFill>
          <a:ln w="12700">
            <a:solidFill>
              <a:srgbClr val="2F5D8C"/>
            </a:solidFill>
            <a:prstDash val="solid"/>
          </a:ln>
        </p:spPr>
      </p:sp>
      <p:sp>
        <p:nvSpPr>
          <p:cNvPr id="62" name="Text 60"/>
          <p:cNvSpPr/>
          <p:nvPr/>
        </p:nvSpPr>
        <p:spPr>
          <a:xfrm>
            <a:off x="3648456" y="1581912"/>
            <a:ext cx="1097280" cy="182880"/>
          </a:xfrm>
          <a:prstGeom prst="rect">
            <a:avLst/>
          </a:prstGeom>
          <a:noFill/>
          <a:ln/>
        </p:spPr>
        <p:txBody>
          <a:bodyPr wrap="square" lIns="0" tIns="0" rIns="0" bIns="0" rtlCol="0" anchor="ctr"/>
          <a:lstStyle/>
          <a:p>
            <a:pPr marL="0" indent="0">
              <a:buNone/>
            </a:pPr>
            <a:r>
              <a:rPr lang="en-US" sz="750" dirty="0">
                <a:solidFill>
                  <a:srgbClr val="243B53"/>
                </a:solidFill>
              </a:rPr>
              <a:t>Cancelled orders</a:t>
            </a:r>
            <a:endParaRPr lang="en-US" sz="750" dirty="0"/>
          </a:p>
        </p:txBody>
      </p:sp>
      <p:sp>
        <p:nvSpPr>
          <p:cNvPr id="63" name="Shape 61"/>
          <p:cNvSpPr/>
          <p:nvPr/>
        </p:nvSpPr>
        <p:spPr>
          <a:xfrm>
            <a:off x="8503920" y="1417320"/>
            <a:ext cx="2651760" cy="3566160"/>
          </a:xfrm>
          <a:prstGeom prst="roundRect">
            <a:avLst>
              <a:gd name="adj" fmla="val 2759"/>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4" name="Text 62"/>
          <p:cNvSpPr/>
          <p:nvPr/>
        </p:nvSpPr>
        <p:spPr>
          <a:xfrm>
            <a:off x="8732520" y="1719072"/>
            <a:ext cx="2240280" cy="2651760"/>
          </a:xfrm>
          <a:prstGeom prst="rect">
            <a:avLst/>
          </a:prstGeom>
          <a:noFill/>
          <a:ln/>
        </p:spPr>
        <p:txBody>
          <a:bodyPr wrap="square" lIns="635" tIns="635" rIns="635" bIns="635" rtlCol="0" anchor="ctr">
            <a:normAutofit/>
          </a:bodyPr>
          <a:lstStyle/>
          <a:p>
            <a:pPr marL="152400" indent="-152400">
              <a:buSzPct val="100000"/>
              <a:buChar char="•"/>
            </a:pPr>
            <a:r>
              <a:rPr lang="en-US" sz="1030" dirty="0">
                <a:solidFill>
                  <a:srgbClr val="243B53"/>
                </a:solidFill>
              </a:rPr>
              <a:t>Late deliveries jump from 9 to 21 in May</a:t>
            </a:r>
            <a:endParaRPr lang="en-US" sz="1030" dirty="0"/>
          </a:p>
          <a:p>
            <a:pPr marL="152400" indent="-152400">
              <a:buSzPct val="100000"/>
              <a:buChar char="•"/>
            </a:pPr>
            <a:r>
              <a:rPr lang="en-US" sz="1030" dirty="0">
                <a:solidFill>
                  <a:srgbClr val="243B53"/>
                </a:solidFill>
              </a:rPr>
              <a:t>Stockouts jump from 5 to 16</a:t>
            </a:r>
            <a:endParaRPr lang="en-US" sz="1030" dirty="0"/>
          </a:p>
          <a:p>
            <a:pPr marL="152400" indent="-152400">
              <a:buSzPct val="100000"/>
              <a:buChar char="•"/>
            </a:pPr>
            <a:r>
              <a:rPr lang="en-US" sz="1030" dirty="0">
                <a:solidFill>
                  <a:srgbClr val="243B53"/>
                </a:solidFill>
              </a:rPr>
              <a:t>Cancelled orders rise from 8 to 19</a:t>
            </a:r>
            <a:endParaRPr lang="en-US" sz="1030" dirty="0"/>
          </a:p>
          <a:p>
            <a:pPr marL="152400" indent="-152400">
              <a:buSzPct val="100000"/>
              <a:buChar char="•"/>
            </a:pPr>
            <a:r>
              <a:rPr lang="en-US" sz="1030" dirty="0">
                <a:solidFill>
                  <a:srgbClr val="243B53"/>
                </a:solidFill>
              </a:rPr>
              <a:t>Resolution time also worsens from 2.8 to 5.2 days</a:t>
            </a:r>
            <a:endParaRPr lang="en-US" sz="1030" dirty="0"/>
          </a:p>
        </p:txBody>
      </p:sp>
      <p:sp>
        <p:nvSpPr>
          <p:cNvPr id="65" name="Shape 63"/>
          <p:cNvSpPr/>
          <p:nvPr/>
        </p:nvSpPr>
        <p:spPr>
          <a:xfrm>
            <a:off x="8183880" y="5257800"/>
            <a:ext cx="3154680" cy="713232"/>
          </a:xfrm>
          <a:prstGeom prst="roundRect">
            <a:avLst>
              <a:gd name="adj" fmla="val 6410"/>
            </a:avLst>
          </a:prstGeom>
          <a:solidFill>
            <a:srgbClr val="F6E7C1"/>
          </a:solidFill>
          <a:ln w="8890">
            <a:solidFill>
              <a:srgbClr val="E3C56F"/>
            </a:solidFill>
            <a:prstDash val="solid"/>
          </a:ln>
        </p:spPr>
      </p:sp>
      <p:sp>
        <p:nvSpPr>
          <p:cNvPr id="66" name="Text 64"/>
          <p:cNvSpPr/>
          <p:nvPr/>
        </p:nvSpPr>
        <p:spPr>
          <a:xfrm>
            <a:off x="8348472" y="5330952"/>
            <a:ext cx="282549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67" name="Text 65"/>
          <p:cNvSpPr/>
          <p:nvPr/>
        </p:nvSpPr>
        <p:spPr>
          <a:xfrm>
            <a:off x="8348472" y="5522976"/>
            <a:ext cx="2825496" cy="402336"/>
          </a:xfrm>
          <a:prstGeom prst="rect">
            <a:avLst/>
          </a:prstGeom>
          <a:noFill/>
          <a:ln/>
        </p:spPr>
        <p:txBody>
          <a:bodyPr wrap="square" lIns="0" tIns="0" rIns="0" bIns="0" rtlCol="0" anchor="ctr">
            <a:normAutofit/>
          </a:bodyPr>
          <a:lstStyle/>
          <a:p>
            <a:pPr marL="0" indent="0">
              <a:buNone/>
            </a:pPr>
            <a:r>
              <a:rPr lang="en-US" sz="1050" dirty="0">
                <a:solidFill>
                  <a:srgbClr val="243B53"/>
                </a:solidFill>
              </a:rPr>
              <a:t>Operational issues worsened in the same month as profit, margin, complaints, and repeat behavior deteriorated.</a:t>
            </a:r>
            <a:endParaRPr lang="en-US" sz="1050" dirty="0"/>
          </a:p>
        </p:txBody>
      </p:sp>
      <p:sp>
        <p:nvSpPr>
          <p:cNvPr id="68" name="Text 66"/>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69"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FROM SYMPTOMS TO SYSTEM VIEW</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Connecting operations to customer behavior</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5</a:t>
            </a:r>
            <a:endParaRPr lang="en-US" sz="800" dirty="0"/>
          </a:p>
        </p:txBody>
      </p:sp>
      <p:sp>
        <p:nvSpPr>
          <p:cNvPr id="5" name="Shape 3"/>
          <p:cNvSpPr/>
          <p:nvPr/>
        </p:nvSpPr>
        <p:spPr>
          <a:xfrm>
            <a:off x="685800" y="1234440"/>
            <a:ext cx="10972800" cy="3931920"/>
          </a:xfrm>
          <a:prstGeom prst="roundRect">
            <a:avLst>
              <a:gd name="adj" fmla="val 186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05840" y="1920240"/>
            <a:ext cx="1874520" cy="640080"/>
          </a:xfrm>
          <a:prstGeom prst="roundRect">
            <a:avLst>
              <a:gd name="adj" fmla="val 8571"/>
            </a:avLst>
          </a:prstGeom>
          <a:solidFill>
            <a:srgbClr val="B91C1C"/>
          </a:solidFill>
          <a:ln w="12700">
            <a:solidFill>
              <a:srgbClr val="FFFFFF"/>
            </a:solidFill>
            <a:prstDash val="solid"/>
          </a:ln>
        </p:spPr>
      </p:sp>
      <p:sp>
        <p:nvSpPr>
          <p:cNvPr id="7" name="Text 5"/>
          <p:cNvSpPr/>
          <p:nvPr/>
        </p:nvSpPr>
        <p:spPr>
          <a:xfrm>
            <a:off x="1078992" y="2057400"/>
            <a:ext cx="1728216" cy="2743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rPr>
              <a:t>Stockouts</a:t>
            </a:r>
            <a:endParaRPr lang="en-US" sz="1000" dirty="0"/>
          </a:p>
          <a:p>
            <a:pPr marL="0" indent="0" algn="ctr">
              <a:buNone/>
            </a:pPr>
            <a:r>
              <a:rPr lang="en-US" sz="1000" b="1" dirty="0">
                <a:solidFill>
                  <a:srgbClr val="FFFFFF"/>
                </a:solidFill>
              </a:rPr>
              <a:t>5 → 16</a:t>
            </a:r>
            <a:endParaRPr lang="en-US" sz="1000" dirty="0"/>
          </a:p>
        </p:txBody>
      </p:sp>
      <p:sp>
        <p:nvSpPr>
          <p:cNvPr id="8" name="Shape 6"/>
          <p:cNvSpPr/>
          <p:nvPr/>
        </p:nvSpPr>
        <p:spPr>
          <a:xfrm>
            <a:off x="1005840" y="3063240"/>
            <a:ext cx="1874520" cy="640080"/>
          </a:xfrm>
          <a:prstGeom prst="roundRect">
            <a:avLst>
              <a:gd name="adj" fmla="val 8571"/>
            </a:avLst>
          </a:prstGeom>
          <a:solidFill>
            <a:srgbClr val="D97706"/>
          </a:solidFill>
          <a:ln w="12700">
            <a:solidFill>
              <a:srgbClr val="FFFFFF"/>
            </a:solidFill>
            <a:prstDash val="solid"/>
          </a:ln>
        </p:spPr>
      </p:sp>
      <p:sp>
        <p:nvSpPr>
          <p:cNvPr id="9" name="Text 7"/>
          <p:cNvSpPr/>
          <p:nvPr/>
        </p:nvSpPr>
        <p:spPr>
          <a:xfrm>
            <a:off x="1078992" y="3200400"/>
            <a:ext cx="1728216" cy="2743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rPr>
              <a:t>Late deliveries</a:t>
            </a:r>
            <a:endParaRPr lang="en-US" sz="1000" dirty="0"/>
          </a:p>
          <a:p>
            <a:pPr marL="0" indent="0" algn="ctr">
              <a:buNone/>
            </a:pPr>
            <a:r>
              <a:rPr lang="en-US" sz="1000" b="1" dirty="0">
                <a:solidFill>
                  <a:srgbClr val="FFFFFF"/>
                </a:solidFill>
              </a:rPr>
              <a:t>9 → 21</a:t>
            </a:r>
            <a:endParaRPr lang="en-US" sz="1000" dirty="0"/>
          </a:p>
        </p:txBody>
      </p:sp>
      <p:sp>
        <p:nvSpPr>
          <p:cNvPr id="10" name="Shape 8"/>
          <p:cNvSpPr/>
          <p:nvPr/>
        </p:nvSpPr>
        <p:spPr>
          <a:xfrm>
            <a:off x="3886200" y="2468880"/>
            <a:ext cx="1874520" cy="640080"/>
          </a:xfrm>
          <a:prstGeom prst="roundRect">
            <a:avLst>
              <a:gd name="adj" fmla="val 8571"/>
            </a:avLst>
          </a:prstGeom>
          <a:solidFill>
            <a:srgbClr val="B91C1C"/>
          </a:solidFill>
          <a:ln w="12700">
            <a:solidFill>
              <a:srgbClr val="FFFFFF"/>
            </a:solidFill>
            <a:prstDash val="solid"/>
          </a:ln>
        </p:spPr>
      </p:sp>
      <p:sp>
        <p:nvSpPr>
          <p:cNvPr id="11" name="Text 9"/>
          <p:cNvSpPr/>
          <p:nvPr/>
        </p:nvSpPr>
        <p:spPr>
          <a:xfrm>
            <a:off x="3959352" y="2606040"/>
            <a:ext cx="1728216" cy="2743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rPr>
              <a:t>Complaints</a:t>
            </a:r>
            <a:endParaRPr lang="en-US" sz="1000" dirty="0"/>
          </a:p>
          <a:p>
            <a:pPr marL="0" indent="0" algn="ctr">
              <a:buNone/>
            </a:pPr>
            <a:r>
              <a:rPr lang="en-US" sz="1000" b="1" dirty="0">
                <a:solidFill>
                  <a:srgbClr val="FFFFFF"/>
                </a:solidFill>
              </a:rPr>
              <a:t>19 → 31</a:t>
            </a:r>
            <a:endParaRPr lang="en-US" sz="1000" dirty="0"/>
          </a:p>
        </p:txBody>
      </p:sp>
      <p:sp>
        <p:nvSpPr>
          <p:cNvPr id="12" name="Shape 10"/>
          <p:cNvSpPr/>
          <p:nvPr/>
        </p:nvSpPr>
        <p:spPr>
          <a:xfrm>
            <a:off x="6492240" y="1828800"/>
            <a:ext cx="1874520" cy="640080"/>
          </a:xfrm>
          <a:prstGeom prst="roundRect">
            <a:avLst>
              <a:gd name="adj" fmla="val 8571"/>
            </a:avLst>
          </a:prstGeom>
          <a:solidFill>
            <a:srgbClr val="B8860B"/>
          </a:solidFill>
          <a:ln w="12700">
            <a:solidFill>
              <a:srgbClr val="FFFFFF"/>
            </a:solidFill>
            <a:prstDash val="solid"/>
          </a:ln>
        </p:spPr>
      </p:sp>
      <p:sp>
        <p:nvSpPr>
          <p:cNvPr id="13" name="Text 11"/>
          <p:cNvSpPr/>
          <p:nvPr/>
        </p:nvSpPr>
        <p:spPr>
          <a:xfrm>
            <a:off x="6565392" y="1965960"/>
            <a:ext cx="1728216" cy="2743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rPr>
              <a:t>AOV</a:t>
            </a:r>
            <a:endParaRPr lang="en-US" sz="1000" dirty="0"/>
          </a:p>
          <a:p>
            <a:pPr marL="0" indent="0" algn="ctr">
              <a:buNone/>
            </a:pPr>
            <a:r>
              <a:rPr lang="en-US" sz="1000" b="1" dirty="0">
                <a:solidFill>
                  <a:srgbClr val="FFFFFF"/>
                </a:solidFill>
              </a:rPr>
              <a:t>$45 → $37</a:t>
            </a:r>
            <a:endParaRPr lang="en-US" sz="1000" dirty="0"/>
          </a:p>
        </p:txBody>
      </p:sp>
      <p:sp>
        <p:nvSpPr>
          <p:cNvPr id="14" name="Shape 12"/>
          <p:cNvSpPr/>
          <p:nvPr/>
        </p:nvSpPr>
        <p:spPr>
          <a:xfrm>
            <a:off x="6492240" y="3154680"/>
            <a:ext cx="1874520" cy="640080"/>
          </a:xfrm>
          <a:prstGeom prst="roundRect">
            <a:avLst>
              <a:gd name="adj" fmla="val 8571"/>
            </a:avLst>
          </a:prstGeom>
          <a:solidFill>
            <a:srgbClr val="B91C1C"/>
          </a:solidFill>
          <a:ln w="12700">
            <a:solidFill>
              <a:srgbClr val="FFFFFF"/>
            </a:solidFill>
            <a:prstDash val="solid"/>
          </a:ln>
        </p:spPr>
      </p:sp>
      <p:sp>
        <p:nvSpPr>
          <p:cNvPr id="15" name="Text 13"/>
          <p:cNvSpPr/>
          <p:nvPr/>
        </p:nvSpPr>
        <p:spPr>
          <a:xfrm>
            <a:off x="6565392" y="3291840"/>
            <a:ext cx="1728216" cy="2743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rPr>
              <a:t>Repeat rate</a:t>
            </a:r>
            <a:endParaRPr lang="en-US" sz="1000" dirty="0"/>
          </a:p>
          <a:p>
            <a:pPr marL="0" indent="0" algn="ctr">
              <a:buNone/>
            </a:pPr>
            <a:r>
              <a:rPr lang="en-US" sz="1000" b="1" dirty="0">
                <a:solidFill>
                  <a:srgbClr val="FFFFFF"/>
                </a:solidFill>
              </a:rPr>
              <a:t>37.7% → 29.8%</a:t>
            </a:r>
            <a:endParaRPr lang="en-US" sz="1000" dirty="0"/>
          </a:p>
        </p:txBody>
      </p:sp>
      <p:sp>
        <p:nvSpPr>
          <p:cNvPr id="16" name="Shape 14"/>
          <p:cNvSpPr/>
          <p:nvPr/>
        </p:nvSpPr>
        <p:spPr>
          <a:xfrm>
            <a:off x="9235440" y="2468880"/>
            <a:ext cx="1874520" cy="640080"/>
          </a:xfrm>
          <a:prstGeom prst="roundRect">
            <a:avLst>
              <a:gd name="adj" fmla="val 8571"/>
            </a:avLst>
          </a:prstGeom>
          <a:solidFill>
            <a:srgbClr val="B91C1C"/>
          </a:solidFill>
          <a:ln w="12700">
            <a:solidFill>
              <a:srgbClr val="FFFFFF"/>
            </a:solidFill>
            <a:prstDash val="solid"/>
          </a:ln>
        </p:spPr>
      </p:sp>
      <p:sp>
        <p:nvSpPr>
          <p:cNvPr id="17" name="Text 15"/>
          <p:cNvSpPr/>
          <p:nvPr/>
        </p:nvSpPr>
        <p:spPr>
          <a:xfrm>
            <a:off x="9308592" y="2606040"/>
            <a:ext cx="1728216" cy="2743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rPr>
              <a:t>Profit</a:t>
            </a:r>
            <a:endParaRPr lang="en-US" sz="1000" dirty="0"/>
          </a:p>
          <a:p>
            <a:pPr marL="0" indent="0" algn="ctr">
              <a:buNone/>
            </a:pPr>
            <a:r>
              <a:rPr lang="en-US" sz="1000" b="1" dirty="0">
                <a:solidFill>
                  <a:srgbClr val="FFFFFF"/>
                </a:solidFill>
              </a:rPr>
              <a:t>$6.1k → $4.9k</a:t>
            </a:r>
            <a:endParaRPr lang="en-US" sz="1000" dirty="0"/>
          </a:p>
        </p:txBody>
      </p:sp>
      <p:sp>
        <p:nvSpPr>
          <p:cNvPr id="18" name="Shape 16"/>
          <p:cNvSpPr/>
          <p:nvPr/>
        </p:nvSpPr>
        <p:spPr>
          <a:xfrm>
            <a:off x="2880360" y="2240280"/>
            <a:ext cx="914400" cy="411480"/>
          </a:xfrm>
          <a:prstGeom prst="line">
            <a:avLst/>
          </a:prstGeom>
          <a:noFill/>
          <a:ln w="21590">
            <a:solidFill>
              <a:srgbClr val="243B53"/>
            </a:solidFill>
            <a:prstDash val="solid"/>
            <a:tailEnd type="triangle"/>
          </a:ln>
        </p:spPr>
      </p:sp>
      <p:sp>
        <p:nvSpPr>
          <p:cNvPr id="19" name="Shape 17"/>
          <p:cNvSpPr/>
          <p:nvPr/>
        </p:nvSpPr>
        <p:spPr>
          <a:xfrm>
            <a:off x="2880360" y="3383280"/>
            <a:ext cx="914400" cy="0"/>
          </a:xfrm>
          <a:prstGeom prst="line">
            <a:avLst/>
          </a:prstGeom>
          <a:noFill/>
          <a:ln w="21590">
            <a:solidFill>
              <a:srgbClr val="243B53"/>
            </a:solidFill>
            <a:prstDash val="solid"/>
            <a:tailEnd type="triangle"/>
          </a:ln>
        </p:spPr>
      </p:sp>
      <p:sp>
        <p:nvSpPr>
          <p:cNvPr id="20" name="Shape 18"/>
          <p:cNvSpPr/>
          <p:nvPr/>
        </p:nvSpPr>
        <p:spPr>
          <a:xfrm>
            <a:off x="5760720" y="2697480"/>
            <a:ext cx="731520" cy="0"/>
          </a:xfrm>
          <a:prstGeom prst="line">
            <a:avLst/>
          </a:prstGeom>
          <a:noFill/>
          <a:ln w="21590">
            <a:solidFill>
              <a:srgbClr val="243B53"/>
            </a:solidFill>
            <a:prstDash val="solid"/>
            <a:tailEnd type="triangle"/>
          </a:ln>
        </p:spPr>
      </p:sp>
      <p:sp>
        <p:nvSpPr>
          <p:cNvPr id="21" name="Shape 19"/>
          <p:cNvSpPr/>
          <p:nvPr/>
        </p:nvSpPr>
        <p:spPr>
          <a:xfrm>
            <a:off x="5760720" y="2697480"/>
            <a:ext cx="731520" cy="640080"/>
          </a:xfrm>
          <a:prstGeom prst="line">
            <a:avLst/>
          </a:prstGeom>
          <a:noFill/>
          <a:ln w="21590">
            <a:solidFill>
              <a:srgbClr val="243B53"/>
            </a:solidFill>
            <a:prstDash val="solid"/>
            <a:tailEnd type="triangle"/>
          </a:ln>
        </p:spPr>
      </p:sp>
      <p:sp>
        <p:nvSpPr>
          <p:cNvPr id="22" name="Shape 20"/>
          <p:cNvSpPr/>
          <p:nvPr/>
        </p:nvSpPr>
        <p:spPr>
          <a:xfrm>
            <a:off x="8321040" y="2121408"/>
            <a:ext cx="868680" cy="502920"/>
          </a:xfrm>
          <a:prstGeom prst="line">
            <a:avLst/>
          </a:prstGeom>
          <a:noFill/>
          <a:ln w="21590">
            <a:solidFill>
              <a:srgbClr val="243B53"/>
            </a:solidFill>
            <a:prstDash val="solid"/>
            <a:tailEnd type="triangle"/>
          </a:ln>
        </p:spPr>
      </p:sp>
      <p:sp>
        <p:nvSpPr>
          <p:cNvPr id="23" name="Shape 21"/>
          <p:cNvSpPr/>
          <p:nvPr/>
        </p:nvSpPr>
        <p:spPr>
          <a:xfrm>
            <a:off x="8321040" y="3456432"/>
            <a:ext cx="868680" cy="0"/>
          </a:xfrm>
          <a:prstGeom prst="line">
            <a:avLst/>
          </a:prstGeom>
          <a:noFill/>
          <a:ln w="21590">
            <a:solidFill>
              <a:srgbClr val="243B53"/>
            </a:solidFill>
            <a:prstDash val="solid"/>
            <a:tailEnd type="triangle"/>
          </a:ln>
        </p:spPr>
      </p:sp>
      <p:sp>
        <p:nvSpPr>
          <p:cNvPr id="24" name="Shape 22"/>
          <p:cNvSpPr/>
          <p:nvPr/>
        </p:nvSpPr>
        <p:spPr>
          <a:xfrm>
            <a:off x="822960" y="5440680"/>
            <a:ext cx="10424160" cy="566928"/>
          </a:xfrm>
          <a:prstGeom prst="roundRect">
            <a:avLst>
              <a:gd name="adj" fmla="val 8065"/>
            </a:avLst>
          </a:prstGeom>
          <a:solidFill>
            <a:srgbClr val="F6E7C1"/>
          </a:solidFill>
          <a:ln w="8890">
            <a:solidFill>
              <a:srgbClr val="E3C56F"/>
            </a:solidFill>
            <a:prstDash val="solid"/>
          </a:ln>
        </p:spPr>
      </p:sp>
      <p:sp>
        <p:nvSpPr>
          <p:cNvPr id="25" name="Text 23"/>
          <p:cNvSpPr/>
          <p:nvPr/>
        </p:nvSpPr>
        <p:spPr>
          <a:xfrm>
            <a:off x="987552" y="551383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6" name="Text 24"/>
          <p:cNvSpPr/>
          <p:nvPr/>
        </p:nvSpPr>
        <p:spPr>
          <a:xfrm>
            <a:off x="987552" y="5705856"/>
            <a:ext cx="10094976" cy="256032"/>
          </a:xfrm>
          <a:prstGeom prst="rect">
            <a:avLst/>
          </a:prstGeom>
          <a:noFill/>
          <a:ln/>
        </p:spPr>
        <p:txBody>
          <a:bodyPr wrap="square" lIns="0" tIns="0" rIns="0" bIns="0" rtlCol="0" anchor="ctr">
            <a:normAutofit/>
          </a:bodyPr>
          <a:lstStyle/>
          <a:p>
            <a:pPr marL="0" indent="0">
              <a:buNone/>
            </a:pPr>
            <a:r>
              <a:rPr lang="en-US" sz="1050" dirty="0">
                <a:solidFill>
                  <a:srgbClr val="243B53"/>
                </a:solidFill>
              </a:rPr>
              <a:t>A system view shows how operational failures can flow into customer dissatisfaction, lower basket size, weaker repeat behavior, and reduced profit.</a:t>
            </a:r>
            <a:endParaRPr lang="en-US" sz="1050" dirty="0"/>
          </a:p>
        </p:txBody>
      </p:sp>
      <p:sp>
        <p:nvSpPr>
          <p:cNvPr id="27"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DIAGNOSING BEFORE PRESCRIBING</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Root cause diagram for May</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5</a:t>
            </a:r>
            <a:endParaRPr lang="en-US" sz="800" dirty="0"/>
          </a:p>
        </p:txBody>
      </p:sp>
      <p:sp>
        <p:nvSpPr>
          <p:cNvPr id="5" name="Shape 3"/>
          <p:cNvSpPr/>
          <p:nvPr/>
        </p:nvSpPr>
        <p:spPr>
          <a:xfrm>
            <a:off x="777240" y="1143000"/>
            <a:ext cx="10698480" cy="4389120"/>
          </a:xfrm>
          <a:prstGeom prst="roundRect">
            <a:avLst>
              <a:gd name="adj" fmla="val 1667"/>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4846320" y="2514600"/>
            <a:ext cx="2423160" cy="731520"/>
          </a:xfrm>
          <a:prstGeom prst="roundRect">
            <a:avLst>
              <a:gd name="adj" fmla="val 7500"/>
            </a:avLst>
          </a:prstGeom>
          <a:solidFill>
            <a:srgbClr val="B91C1C"/>
          </a:solidFill>
          <a:ln w="12700">
            <a:solidFill>
              <a:srgbClr val="FFFFFF"/>
            </a:solidFill>
            <a:prstDash val="solid"/>
          </a:ln>
        </p:spPr>
      </p:sp>
      <p:sp>
        <p:nvSpPr>
          <p:cNvPr id="7" name="Text 5"/>
          <p:cNvSpPr/>
          <p:nvPr/>
        </p:nvSpPr>
        <p:spPr>
          <a:xfrm>
            <a:off x="4983480" y="2688336"/>
            <a:ext cx="2148840" cy="292608"/>
          </a:xfrm>
          <a:prstGeom prst="rect">
            <a:avLst/>
          </a:prstGeom>
          <a:noFill/>
          <a:ln/>
        </p:spPr>
        <p:txBody>
          <a:bodyPr wrap="square" lIns="0" tIns="0" rIns="0" bIns="0" rtlCol="0" anchor="ctr"/>
          <a:lstStyle/>
          <a:p>
            <a:pPr marL="0" indent="0" algn="ctr">
              <a:buNone/>
            </a:pPr>
            <a:r>
              <a:rPr lang="en-US" sz="1200" b="1" dirty="0">
                <a:solidFill>
                  <a:srgbClr val="FFFFFF"/>
                </a:solidFill>
              </a:rPr>
              <a:t>May profit decline</a:t>
            </a:r>
            <a:endParaRPr lang="en-US" sz="1200" dirty="0"/>
          </a:p>
          <a:p>
            <a:pPr marL="0" indent="0" algn="ctr">
              <a:buNone/>
            </a:pPr>
            <a:r>
              <a:rPr lang="en-US" sz="1200" b="1" dirty="0">
                <a:solidFill>
                  <a:srgbClr val="FFFFFF"/>
                </a:solidFill>
              </a:rPr>
              <a:t>$6.1k → $4.9k</a:t>
            </a:r>
            <a:endParaRPr lang="en-US" sz="1200" dirty="0"/>
          </a:p>
        </p:txBody>
      </p:sp>
      <p:sp>
        <p:nvSpPr>
          <p:cNvPr id="8" name="Shape 6"/>
          <p:cNvSpPr/>
          <p:nvPr/>
        </p:nvSpPr>
        <p:spPr>
          <a:xfrm>
            <a:off x="1097280" y="1371600"/>
            <a:ext cx="2331720" cy="749808"/>
          </a:xfrm>
          <a:prstGeom prst="roundRect">
            <a:avLst>
              <a:gd name="adj" fmla="val 7317"/>
            </a:avLst>
          </a:prstGeom>
          <a:solidFill>
            <a:srgbClr val="B8860B"/>
          </a:solidFill>
          <a:ln w="12700">
            <a:solidFill>
              <a:srgbClr val="FFFFFF"/>
            </a:solidFill>
            <a:prstDash val="solid"/>
          </a:ln>
        </p:spPr>
      </p:sp>
      <p:sp>
        <p:nvSpPr>
          <p:cNvPr id="9" name="Text 7"/>
          <p:cNvSpPr/>
          <p:nvPr/>
        </p:nvSpPr>
        <p:spPr>
          <a:xfrm>
            <a:off x="1188720" y="1481328"/>
            <a:ext cx="2148840" cy="164592"/>
          </a:xfrm>
          <a:prstGeom prst="rect">
            <a:avLst/>
          </a:prstGeom>
          <a:noFill/>
          <a:ln/>
        </p:spPr>
        <p:txBody>
          <a:bodyPr wrap="square" lIns="0" tIns="0" rIns="0" bIns="0" rtlCol="0" anchor="ctr"/>
          <a:lstStyle/>
          <a:p>
            <a:pPr marL="0" indent="0" algn="ctr">
              <a:buNone/>
            </a:pPr>
            <a:r>
              <a:rPr lang="en-US" sz="900" b="1" dirty="0">
                <a:solidFill>
                  <a:srgbClr val="FFFFFF"/>
                </a:solidFill>
              </a:rPr>
              <a:t>Revenue quality</a:t>
            </a:r>
            <a:endParaRPr lang="en-US" sz="900" dirty="0"/>
          </a:p>
        </p:txBody>
      </p:sp>
      <p:sp>
        <p:nvSpPr>
          <p:cNvPr id="10" name="Text 8"/>
          <p:cNvSpPr/>
          <p:nvPr/>
        </p:nvSpPr>
        <p:spPr>
          <a:xfrm>
            <a:off x="1188720" y="1719072"/>
            <a:ext cx="2148840" cy="256032"/>
          </a:xfrm>
          <a:prstGeom prst="rect">
            <a:avLst/>
          </a:prstGeom>
          <a:noFill/>
          <a:ln/>
        </p:spPr>
        <p:txBody>
          <a:bodyPr wrap="square" lIns="0" tIns="0" rIns="0" bIns="0" rtlCol="0" anchor="ctr">
            <a:normAutofit/>
          </a:bodyPr>
          <a:lstStyle/>
          <a:p>
            <a:pPr marL="0" indent="0" algn="ctr">
              <a:buNone/>
            </a:pPr>
            <a:r>
              <a:rPr lang="en-US" sz="770" dirty="0">
                <a:solidFill>
                  <a:srgbClr val="FFFFFF"/>
                </a:solidFill>
              </a:rPr>
              <a:t>AOV dropped $45 → $37</a:t>
            </a:r>
            <a:endParaRPr lang="en-US" sz="770" dirty="0"/>
          </a:p>
        </p:txBody>
      </p:sp>
      <p:sp>
        <p:nvSpPr>
          <p:cNvPr id="11" name="Shape 9"/>
          <p:cNvSpPr/>
          <p:nvPr/>
        </p:nvSpPr>
        <p:spPr>
          <a:xfrm>
            <a:off x="3429000" y="1746504"/>
            <a:ext cx="1417320" cy="822960"/>
          </a:xfrm>
          <a:prstGeom prst="line">
            <a:avLst/>
          </a:prstGeom>
          <a:noFill/>
          <a:ln w="19050">
            <a:solidFill>
              <a:srgbClr val="243B53"/>
            </a:solidFill>
            <a:prstDash val="solid"/>
            <a:tailEnd type="triangle"/>
          </a:ln>
        </p:spPr>
      </p:sp>
      <p:sp>
        <p:nvSpPr>
          <p:cNvPr id="12" name="Shape 10"/>
          <p:cNvSpPr/>
          <p:nvPr/>
        </p:nvSpPr>
        <p:spPr>
          <a:xfrm>
            <a:off x="1097280" y="4114800"/>
            <a:ext cx="2331720" cy="749808"/>
          </a:xfrm>
          <a:prstGeom prst="roundRect">
            <a:avLst>
              <a:gd name="adj" fmla="val 7317"/>
            </a:avLst>
          </a:prstGeom>
          <a:solidFill>
            <a:srgbClr val="D97706"/>
          </a:solidFill>
          <a:ln w="12700">
            <a:solidFill>
              <a:srgbClr val="FFFFFF"/>
            </a:solidFill>
            <a:prstDash val="solid"/>
          </a:ln>
        </p:spPr>
      </p:sp>
      <p:sp>
        <p:nvSpPr>
          <p:cNvPr id="13" name="Text 11"/>
          <p:cNvSpPr/>
          <p:nvPr/>
        </p:nvSpPr>
        <p:spPr>
          <a:xfrm>
            <a:off x="1188720" y="4224528"/>
            <a:ext cx="2148840" cy="164592"/>
          </a:xfrm>
          <a:prstGeom prst="rect">
            <a:avLst/>
          </a:prstGeom>
          <a:noFill/>
          <a:ln/>
        </p:spPr>
        <p:txBody>
          <a:bodyPr wrap="square" lIns="0" tIns="0" rIns="0" bIns="0" rtlCol="0" anchor="ctr"/>
          <a:lstStyle/>
          <a:p>
            <a:pPr marL="0" indent="0" algn="ctr">
              <a:buNone/>
            </a:pPr>
            <a:r>
              <a:rPr lang="en-US" sz="900" b="1" dirty="0">
                <a:solidFill>
                  <a:srgbClr val="FFFFFF"/>
                </a:solidFill>
              </a:rPr>
              <a:t>Cost pressure</a:t>
            </a:r>
            <a:endParaRPr lang="en-US" sz="900" dirty="0"/>
          </a:p>
        </p:txBody>
      </p:sp>
      <p:sp>
        <p:nvSpPr>
          <p:cNvPr id="14" name="Text 12"/>
          <p:cNvSpPr/>
          <p:nvPr/>
        </p:nvSpPr>
        <p:spPr>
          <a:xfrm>
            <a:off x="1188720" y="4462272"/>
            <a:ext cx="2148840" cy="256032"/>
          </a:xfrm>
          <a:prstGeom prst="rect">
            <a:avLst/>
          </a:prstGeom>
          <a:noFill/>
          <a:ln/>
        </p:spPr>
        <p:txBody>
          <a:bodyPr wrap="square" lIns="0" tIns="0" rIns="0" bIns="0" rtlCol="0" anchor="ctr">
            <a:normAutofit/>
          </a:bodyPr>
          <a:lstStyle/>
          <a:p>
            <a:pPr marL="0" indent="0" algn="ctr">
              <a:buNone/>
            </a:pPr>
            <a:r>
              <a:rPr lang="en-US" sz="770" dirty="0">
                <a:solidFill>
                  <a:srgbClr val="FFFFFF"/>
                </a:solidFill>
              </a:rPr>
              <a:t>Cost rose $5.3k → $5.9k</a:t>
            </a:r>
            <a:endParaRPr lang="en-US" sz="770" dirty="0"/>
          </a:p>
        </p:txBody>
      </p:sp>
      <p:sp>
        <p:nvSpPr>
          <p:cNvPr id="15" name="Shape 13"/>
          <p:cNvSpPr/>
          <p:nvPr/>
        </p:nvSpPr>
        <p:spPr>
          <a:xfrm>
            <a:off x="3429000" y="4489704"/>
            <a:ext cx="1417320" cy="0"/>
          </a:xfrm>
          <a:prstGeom prst="line">
            <a:avLst/>
          </a:prstGeom>
          <a:noFill/>
          <a:ln w="19050">
            <a:solidFill>
              <a:srgbClr val="243B53"/>
            </a:solidFill>
            <a:prstDash val="solid"/>
            <a:tailEnd type="triangle"/>
          </a:ln>
        </p:spPr>
      </p:sp>
      <p:sp>
        <p:nvSpPr>
          <p:cNvPr id="16" name="Shape 14"/>
          <p:cNvSpPr/>
          <p:nvPr/>
        </p:nvSpPr>
        <p:spPr>
          <a:xfrm>
            <a:off x="8503920" y="1371600"/>
            <a:ext cx="2331720" cy="749808"/>
          </a:xfrm>
          <a:prstGeom prst="roundRect">
            <a:avLst>
              <a:gd name="adj" fmla="val 7317"/>
            </a:avLst>
          </a:prstGeom>
          <a:solidFill>
            <a:srgbClr val="B91C1C"/>
          </a:solidFill>
          <a:ln w="12700">
            <a:solidFill>
              <a:srgbClr val="FFFFFF"/>
            </a:solidFill>
            <a:prstDash val="solid"/>
          </a:ln>
        </p:spPr>
      </p:sp>
      <p:sp>
        <p:nvSpPr>
          <p:cNvPr id="17" name="Text 15"/>
          <p:cNvSpPr/>
          <p:nvPr/>
        </p:nvSpPr>
        <p:spPr>
          <a:xfrm>
            <a:off x="8595360" y="1481328"/>
            <a:ext cx="2148840" cy="164592"/>
          </a:xfrm>
          <a:prstGeom prst="rect">
            <a:avLst/>
          </a:prstGeom>
          <a:noFill/>
          <a:ln/>
        </p:spPr>
        <p:txBody>
          <a:bodyPr wrap="square" lIns="0" tIns="0" rIns="0" bIns="0" rtlCol="0" anchor="ctr"/>
          <a:lstStyle/>
          <a:p>
            <a:pPr marL="0" indent="0" algn="ctr">
              <a:buNone/>
            </a:pPr>
            <a:r>
              <a:rPr lang="en-US" sz="900" b="1" dirty="0">
                <a:solidFill>
                  <a:srgbClr val="FFFFFF"/>
                </a:solidFill>
              </a:rPr>
              <a:t>Customer experience</a:t>
            </a:r>
            <a:endParaRPr lang="en-US" sz="900" dirty="0"/>
          </a:p>
        </p:txBody>
      </p:sp>
      <p:sp>
        <p:nvSpPr>
          <p:cNvPr id="18" name="Text 16"/>
          <p:cNvSpPr/>
          <p:nvPr/>
        </p:nvSpPr>
        <p:spPr>
          <a:xfrm>
            <a:off x="8595360" y="1719072"/>
            <a:ext cx="2148840" cy="256032"/>
          </a:xfrm>
          <a:prstGeom prst="rect">
            <a:avLst/>
          </a:prstGeom>
          <a:noFill/>
          <a:ln/>
        </p:spPr>
        <p:txBody>
          <a:bodyPr wrap="square" lIns="0" tIns="0" rIns="0" bIns="0" rtlCol="0" anchor="ctr">
            <a:normAutofit/>
          </a:bodyPr>
          <a:lstStyle/>
          <a:p>
            <a:pPr marL="0" indent="0" algn="ctr">
              <a:buNone/>
            </a:pPr>
            <a:r>
              <a:rPr lang="en-US" sz="770" dirty="0">
                <a:solidFill>
                  <a:srgbClr val="FFFFFF"/>
                </a:solidFill>
              </a:rPr>
              <a:t>Complaints 19 → 31</a:t>
            </a:r>
            <a:endParaRPr lang="en-US" sz="770" dirty="0"/>
          </a:p>
        </p:txBody>
      </p:sp>
      <p:sp>
        <p:nvSpPr>
          <p:cNvPr id="19" name="Shape 17"/>
          <p:cNvSpPr/>
          <p:nvPr/>
        </p:nvSpPr>
        <p:spPr>
          <a:xfrm>
            <a:off x="8503920" y="1746504"/>
            <a:ext cx="0" cy="822960"/>
          </a:xfrm>
          <a:prstGeom prst="line">
            <a:avLst/>
          </a:prstGeom>
          <a:noFill/>
          <a:ln w="19050">
            <a:solidFill>
              <a:srgbClr val="243B53"/>
            </a:solidFill>
            <a:prstDash val="solid"/>
            <a:tailEnd type="triangle"/>
          </a:ln>
        </p:spPr>
      </p:sp>
      <p:sp>
        <p:nvSpPr>
          <p:cNvPr id="20" name="Shape 18"/>
          <p:cNvSpPr/>
          <p:nvPr/>
        </p:nvSpPr>
        <p:spPr>
          <a:xfrm>
            <a:off x="8503920" y="3977640"/>
            <a:ext cx="2331720" cy="749808"/>
          </a:xfrm>
          <a:prstGeom prst="roundRect">
            <a:avLst>
              <a:gd name="adj" fmla="val 7317"/>
            </a:avLst>
          </a:prstGeom>
          <a:solidFill>
            <a:srgbClr val="2F5D8C"/>
          </a:solidFill>
          <a:ln w="12700">
            <a:solidFill>
              <a:srgbClr val="FFFFFF"/>
            </a:solidFill>
            <a:prstDash val="solid"/>
          </a:ln>
        </p:spPr>
      </p:sp>
      <p:sp>
        <p:nvSpPr>
          <p:cNvPr id="21" name="Text 19"/>
          <p:cNvSpPr/>
          <p:nvPr/>
        </p:nvSpPr>
        <p:spPr>
          <a:xfrm>
            <a:off x="8595360" y="4087368"/>
            <a:ext cx="2148840" cy="164592"/>
          </a:xfrm>
          <a:prstGeom prst="rect">
            <a:avLst/>
          </a:prstGeom>
          <a:noFill/>
          <a:ln/>
        </p:spPr>
        <p:txBody>
          <a:bodyPr wrap="square" lIns="0" tIns="0" rIns="0" bIns="0" rtlCol="0" anchor="ctr"/>
          <a:lstStyle/>
          <a:p>
            <a:pPr marL="0" indent="0" algn="ctr">
              <a:buNone/>
            </a:pPr>
            <a:r>
              <a:rPr lang="en-US" sz="900" b="1" dirty="0">
                <a:solidFill>
                  <a:srgbClr val="FFFFFF"/>
                </a:solidFill>
              </a:rPr>
              <a:t>Operational reliability</a:t>
            </a:r>
            <a:endParaRPr lang="en-US" sz="900" dirty="0"/>
          </a:p>
        </p:txBody>
      </p:sp>
      <p:sp>
        <p:nvSpPr>
          <p:cNvPr id="22" name="Text 20"/>
          <p:cNvSpPr/>
          <p:nvPr/>
        </p:nvSpPr>
        <p:spPr>
          <a:xfrm>
            <a:off x="8595360" y="4325112"/>
            <a:ext cx="2148840" cy="256032"/>
          </a:xfrm>
          <a:prstGeom prst="rect">
            <a:avLst/>
          </a:prstGeom>
          <a:noFill/>
          <a:ln/>
        </p:spPr>
        <p:txBody>
          <a:bodyPr wrap="square" lIns="0" tIns="0" rIns="0" bIns="0" rtlCol="0" anchor="ctr">
            <a:normAutofit/>
          </a:bodyPr>
          <a:lstStyle/>
          <a:p>
            <a:pPr marL="0" indent="0" algn="ctr">
              <a:buNone/>
            </a:pPr>
            <a:r>
              <a:rPr lang="en-US" sz="770" dirty="0">
                <a:solidFill>
                  <a:srgbClr val="FFFFFF"/>
                </a:solidFill>
              </a:rPr>
              <a:t>Stockouts 5 → 16</a:t>
            </a:r>
            <a:endParaRPr lang="en-US" sz="770" dirty="0"/>
          </a:p>
          <a:p>
            <a:pPr marL="0" indent="0" algn="ctr">
              <a:buNone/>
            </a:pPr>
            <a:r>
              <a:rPr lang="en-US" sz="770" dirty="0">
                <a:solidFill>
                  <a:srgbClr val="FFFFFF"/>
                </a:solidFill>
              </a:rPr>
              <a:t>Late deliveries 9 → 21</a:t>
            </a:r>
            <a:endParaRPr lang="en-US" sz="770" dirty="0"/>
          </a:p>
        </p:txBody>
      </p:sp>
      <p:sp>
        <p:nvSpPr>
          <p:cNvPr id="23" name="Shape 21"/>
          <p:cNvSpPr/>
          <p:nvPr/>
        </p:nvSpPr>
        <p:spPr>
          <a:xfrm>
            <a:off x="8503920" y="4352544"/>
            <a:ext cx="0" cy="0"/>
          </a:xfrm>
          <a:prstGeom prst="line">
            <a:avLst/>
          </a:prstGeom>
          <a:noFill/>
          <a:ln w="19050">
            <a:solidFill>
              <a:srgbClr val="243B53"/>
            </a:solidFill>
            <a:prstDash val="solid"/>
            <a:tailEnd type="triangle"/>
          </a:ln>
        </p:spPr>
      </p:sp>
      <p:sp>
        <p:nvSpPr>
          <p:cNvPr id="24" name="Shape 22"/>
          <p:cNvSpPr/>
          <p:nvPr/>
        </p:nvSpPr>
        <p:spPr>
          <a:xfrm>
            <a:off x="822960" y="5504688"/>
            <a:ext cx="10424160" cy="548640"/>
          </a:xfrm>
          <a:prstGeom prst="roundRect">
            <a:avLst>
              <a:gd name="adj" fmla="val 8333"/>
            </a:avLst>
          </a:prstGeom>
          <a:solidFill>
            <a:srgbClr val="F6E7C1"/>
          </a:solidFill>
          <a:ln w="8890">
            <a:solidFill>
              <a:srgbClr val="E3C56F"/>
            </a:solidFill>
            <a:prstDash val="solid"/>
          </a:ln>
        </p:spPr>
      </p:sp>
      <p:sp>
        <p:nvSpPr>
          <p:cNvPr id="25" name="Text 23"/>
          <p:cNvSpPr/>
          <p:nvPr/>
        </p:nvSpPr>
        <p:spPr>
          <a:xfrm>
            <a:off x="987552" y="5577840"/>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6" name="Text 24"/>
          <p:cNvSpPr/>
          <p:nvPr/>
        </p:nvSpPr>
        <p:spPr>
          <a:xfrm>
            <a:off x="987552" y="5769864"/>
            <a:ext cx="10094976" cy="237744"/>
          </a:xfrm>
          <a:prstGeom prst="rect">
            <a:avLst/>
          </a:prstGeom>
          <a:noFill/>
          <a:ln/>
        </p:spPr>
        <p:txBody>
          <a:bodyPr wrap="square" lIns="0" tIns="0" rIns="0" bIns="0" rtlCol="0" anchor="ctr">
            <a:normAutofit/>
          </a:bodyPr>
          <a:lstStyle/>
          <a:p>
            <a:pPr marL="0" indent="0">
              <a:buNone/>
            </a:pPr>
            <a:r>
              <a:rPr lang="en-US" sz="1050" dirty="0">
                <a:solidFill>
                  <a:srgbClr val="243B53"/>
                </a:solidFill>
              </a:rPr>
              <a:t>The most defensible root cause hypothesis is operational strain damaging customer experience and sales quality, while increasing cost.</a:t>
            </a:r>
            <a:endParaRPr lang="en-US" sz="1050" dirty="0"/>
          </a:p>
        </p:txBody>
      </p:sp>
      <p:sp>
        <p:nvSpPr>
          <p:cNvPr id="27"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EVIDENCE DISCIPLINE</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What the data tells us vs what it does not prove</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5</a:t>
            </a:r>
            <a:endParaRPr lang="en-US" sz="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85800" y="1234440"/>
          <a:ext cx="10789920" cy="3383280"/>
        </p:xfrm>
        <a:graphic>
          <a:graphicData uri="http://schemas.openxmlformats.org/drawingml/2006/table">
            <a:tbl>
              <a:tblPr/>
              <a:tblGrid>
                <a:gridCol w="539496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tblGrid>
              <a:tr h="563880">
                <a:tc>
                  <a:txBody>
                    <a:bodyPr/>
                    <a:lstStyle/>
                    <a:p>
                      <a:pPr marL="0" indent="0">
                        <a:buNone/>
                      </a:pPr>
                      <a:r>
                        <a:rPr lang="en-US" sz="1000" b="1" dirty="0">
                          <a:solidFill>
                            <a:srgbClr val="FFFFFF"/>
                          </a:solidFill>
                          <a:latin typeface="Aptos" pitchFamily="34" charset="0"/>
                          <a:ea typeface="Aptos" pitchFamily="34" charset="-122"/>
                          <a:cs typeface="Aptos" pitchFamily="34" charset="-120"/>
                        </a:rPr>
                        <a:t>The data tells us</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2E7D32"/>
                    </a:solidFill>
                  </a:tcPr>
                </a:tc>
                <a:tc>
                  <a:txBody>
                    <a:bodyPr/>
                    <a:lstStyle/>
                    <a:p>
                      <a:pPr marL="0" indent="0">
                        <a:buNone/>
                      </a:pPr>
                      <a:r>
                        <a:rPr lang="en-US" sz="1000" b="1" dirty="0">
                          <a:solidFill>
                            <a:srgbClr val="FFFFFF"/>
                          </a:solidFill>
                          <a:latin typeface="Aptos" pitchFamily="34" charset="0"/>
                          <a:ea typeface="Aptos" pitchFamily="34" charset="-122"/>
                          <a:cs typeface="Aptos" pitchFamily="34" charset="-120"/>
                        </a:rPr>
                        <a:t>The data does NOT prove yet</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B91C1C"/>
                    </a:solidFill>
                  </a:tcPr>
                </a:tc>
                <a:extLst>
                  <a:ext uri="{0D108BD9-81ED-4DB2-BD59-A6C34878D82A}">
                    <a16:rowId xmlns:a16="http://schemas.microsoft.com/office/drawing/2014/main" val="10000"/>
                  </a:ext>
                </a:extLst>
              </a:tr>
              <a:tr h="563880">
                <a:tc>
                  <a:txBody>
                    <a:bodyPr/>
                    <a:lstStyle/>
                    <a:p>
                      <a:pPr marL="0" indent="0">
                        <a:buNone/>
                      </a:pPr>
                      <a:r>
                        <a:rPr lang="en-US" sz="1000" dirty="0">
                          <a:solidFill>
                            <a:srgbClr val="243B53"/>
                          </a:solidFill>
                          <a:latin typeface="Aptos" pitchFamily="34" charset="0"/>
                          <a:ea typeface="Aptos" pitchFamily="34" charset="-122"/>
                          <a:cs typeface="Aptos" pitchFamily="34" charset="-120"/>
                        </a:rPr>
                        <a:t>May revenue fell and cost rose</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1000" dirty="0">
                          <a:solidFill>
                            <a:srgbClr val="243B53"/>
                          </a:solidFill>
                          <a:latin typeface="Aptos" pitchFamily="34" charset="0"/>
                          <a:ea typeface="Aptos" pitchFamily="34" charset="-122"/>
                          <a:cs typeface="Aptos" pitchFamily="34" charset="-120"/>
                        </a:rPr>
                        <a:t>That marketing alone caused the decline</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3880">
                <a:tc>
                  <a:txBody>
                    <a:bodyPr/>
                    <a:lstStyle/>
                    <a:p>
                      <a:pPr marL="0" indent="0">
                        <a:buNone/>
                      </a:pPr>
                      <a:r>
                        <a:rPr lang="en-US" sz="1000" dirty="0">
                          <a:solidFill>
                            <a:srgbClr val="243B53"/>
                          </a:solidFill>
                          <a:latin typeface="Aptos" pitchFamily="34" charset="0"/>
                          <a:ea typeface="Aptos" pitchFamily="34" charset="-122"/>
                          <a:cs typeface="Aptos" pitchFamily="34" charset="-120"/>
                        </a:rPr>
                        <a:t>Profit and margin deteriorated sharply</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1000" dirty="0">
                          <a:solidFill>
                            <a:srgbClr val="243B53"/>
                          </a:solidFill>
                          <a:latin typeface="Aptos" pitchFamily="34" charset="0"/>
                          <a:ea typeface="Aptos" pitchFamily="34" charset="-122"/>
                          <a:cs typeface="Aptos" pitchFamily="34" charset="-120"/>
                        </a:rPr>
                        <a:t>That June fully fixed the underlying problem</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3880">
                <a:tc>
                  <a:txBody>
                    <a:bodyPr/>
                    <a:lstStyle/>
                    <a:p>
                      <a:pPr marL="0" indent="0">
                        <a:buNone/>
                      </a:pPr>
                      <a:r>
                        <a:rPr lang="en-US" sz="1000" dirty="0">
                          <a:solidFill>
                            <a:srgbClr val="243B53"/>
                          </a:solidFill>
                          <a:latin typeface="Aptos" pitchFamily="34" charset="0"/>
                          <a:ea typeface="Aptos" pitchFamily="34" charset="-122"/>
                          <a:cs typeface="Aptos" pitchFamily="34" charset="-120"/>
                        </a:rPr>
                        <a:t>Complaints, stockouts, late deliveries, and cancellations rose</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1000" dirty="0">
                          <a:solidFill>
                            <a:srgbClr val="243B53"/>
                          </a:solidFill>
                          <a:latin typeface="Aptos" pitchFamily="34" charset="0"/>
                          <a:ea typeface="Aptos" pitchFamily="34" charset="-122"/>
                          <a:cs typeface="Aptos" pitchFamily="34" charset="-120"/>
                        </a:rPr>
                        <a:t>That every complaint came from stockouts or delivery</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3880">
                <a:tc>
                  <a:txBody>
                    <a:bodyPr/>
                    <a:lstStyle/>
                    <a:p>
                      <a:pPr marL="0" indent="0">
                        <a:buNone/>
                      </a:pPr>
                      <a:r>
                        <a:rPr lang="en-US" sz="1000" dirty="0">
                          <a:solidFill>
                            <a:srgbClr val="243B53"/>
                          </a:solidFill>
                          <a:latin typeface="Aptos" pitchFamily="34" charset="0"/>
                          <a:ea typeface="Aptos" pitchFamily="34" charset="-122"/>
                          <a:cs typeface="Aptos" pitchFamily="34" charset="-120"/>
                        </a:rPr>
                        <a:t>Repeat customer rate fell in May</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1000" dirty="0">
                          <a:solidFill>
                            <a:srgbClr val="243B53"/>
                          </a:solidFill>
                          <a:latin typeface="Aptos" pitchFamily="34" charset="0"/>
                          <a:ea typeface="Aptos" pitchFamily="34" charset="-122"/>
                          <a:cs typeface="Aptos" pitchFamily="34" charset="-120"/>
                        </a:rPr>
                        <a:t>That customers permanently left</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3880">
                <a:tc>
                  <a:txBody>
                    <a:bodyPr/>
                    <a:lstStyle/>
                    <a:p>
                      <a:pPr marL="0" indent="0">
                        <a:buNone/>
                      </a:pPr>
                      <a:r>
                        <a:rPr lang="en-US" sz="1000" dirty="0">
                          <a:solidFill>
                            <a:srgbClr val="243B53"/>
                          </a:solidFill>
                          <a:latin typeface="Aptos" pitchFamily="34" charset="0"/>
                          <a:ea typeface="Aptos" pitchFamily="34" charset="-122"/>
                          <a:cs typeface="Aptos" pitchFamily="34" charset="-120"/>
                        </a:rPr>
                        <a:t>June improved across many headline metrics</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1000" dirty="0">
                          <a:solidFill>
                            <a:srgbClr val="243B53"/>
                          </a:solidFill>
                          <a:latin typeface="Aptos" pitchFamily="34" charset="0"/>
                          <a:ea typeface="Aptos" pitchFamily="34" charset="-122"/>
                          <a:cs typeface="Aptos" pitchFamily="34" charset="-120"/>
                        </a:rPr>
                        <a:t>That the business should immediately increase ad spend</a:t>
                      </a:r>
                      <a:endParaRPr lang="en-US" sz="100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822960" y="5257800"/>
            <a:ext cx="10424160" cy="640080"/>
          </a:xfrm>
          <a:prstGeom prst="roundRect">
            <a:avLst>
              <a:gd name="adj" fmla="val 7143"/>
            </a:avLst>
          </a:prstGeom>
          <a:solidFill>
            <a:srgbClr val="F6E7C1"/>
          </a:solidFill>
          <a:ln w="8890">
            <a:solidFill>
              <a:srgbClr val="E3C56F"/>
            </a:solidFill>
            <a:prstDash val="solid"/>
          </a:ln>
        </p:spPr>
      </p:sp>
      <p:sp>
        <p:nvSpPr>
          <p:cNvPr id="7" name="Text 4"/>
          <p:cNvSpPr/>
          <p:nvPr/>
        </p:nvSpPr>
        <p:spPr>
          <a:xfrm>
            <a:off x="987552" y="533095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8" name="Text 5"/>
          <p:cNvSpPr/>
          <p:nvPr/>
        </p:nvSpPr>
        <p:spPr>
          <a:xfrm>
            <a:off x="987552" y="5522976"/>
            <a:ext cx="10094976" cy="329184"/>
          </a:xfrm>
          <a:prstGeom prst="rect">
            <a:avLst/>
          </a:prstGeom>
          <a:noFill/>
          <a:ln/>
        </p:spPr>
        <p:txBody>
          <a:bodyPr wrap="square" lIns="0" tIns="0" rIns="0" bIns="0" rtlCol="0" anchor="ctr">
            <a:normAutofit/>
          </a:bodyPr>
          <a:lstStyle/>
          <a:p>
            <a:pPr marL="0" indent="0">
              <a:buNone/>
            </a:pPr>
            <a:r>
              <a:rPr lang="en-US" sz="1050" dirty="0">
                <a:solidFill>
                  <a:srgbClr val="243B53"/>
                </a:solidFill>
              </a:rPr>
              <a:t>Good analysts are careful: they state what the evidence supports and what still requires confirmation.</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AVOIDING BAD DECISIONS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Common beginner mistakes in business analytics</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5</a:t>
            </a:r>
            <a:endParaRPr lang="en-US" sz="800" dirty="0"/>
          </a:p>
        </p:txBody>
      </p:sp>
      <p:sp>
        <p:nvSpPr>
          <p:cNvPr id="5" name="Shape 3"/>
          <p:cNvSpPr/>
          <p:nvPr/>
        </p:nvSpPr>
        <p:spPr>
          <a:xfrm>
            <a:off x="777240" y="1234440"/>
            <a:ext cx="3246120" cy="731520"/>
          </a:xfrm>
          <a:prstGeom prst="roundRect">
            <a:avLst>
              <a:gd name="adj" fmla="val 1000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914400" y="1417320"/>
            <a:ext cx="347472" cy="347472"/>
          </a:xfrm>
          <a:prstGeom prst="ellipse">
            <a:avLst/>
          </a:prstGeom>
          <a:solidFill>
            <a:srgbClr val="B91C1C"/>
          </a:solidFill>
          <a:ln w="12700">
            <a:solidFill>
              <a:srgbClr val="B91C1C"/>
            </a:solidFill>
            <a:prstDash val="solid"/>
          </a:ln>
        </p:spPr>
      </p:sp>
      <p:sp>
        <p:nvSpPr>
          <p:cNvPr id="7" name="Text 5"/>
          <p:cNvSpPr/>
          <p:nvPr/>
        </p:nvSpPr>
        <p:spPr>
          <a:xfrm>
            <a:off x="914400" y="1499616"/>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8" name="Text 6"/>
          <p:cNvSpPr/>
          <p:nvPr/>
        </p:nvSpPr>
        <p:spPr>
          <a:xfrm>
            <a:off x="1380744" y="1353312"/>
            <a:ext cx="2468880" cy="164592"/>
          </a:xfrm>
          <a:prstGeom prst="rect">
            <a:avLst/>
          </a:prstGeom>
          <a:noFill/>
          <a:ln/>
        </p:spPr>
        <p:txBody>
          <a:bodyPr wrap="square" lIns="0" tIns="0" rIns="0" bIns="0" rtlCol="0" anchor="ctr"/>
          <a:lstStyle/>
          <a:p>
            <a:pPr marL="0" indent="0">
              <a:buNone/>
            </a:pPr>
            <a:r>
              <a:rPr lang="en-US" sz="1000" b="1" dirty="0">
                <a:solidFill>
                  <a:srgbClr val="102A43"/>
                </a:solidFill>
              </a:rPr>
              <a:t>Judging by revenue alone</a:t>
            </a:r>
            <a:endParaRPr lang="en-US" sz="1000" dirty="0"/>
          </a:p>
        </p:txBody>
      </p:sp>
      <p:sp>
        <p:nvSpPr>
          <p:cNvPr id="9" name="Text 7"/>
          <p:cNvSpPr/>
          <p:nvPr/>
        </p:nvSpPr>
        <p:spPr>
          <a:xfrm>
            <a:off x="1380744" y="1581912"/>
            <a:ext cx="2468880" cy="164592"/>
          </a:xfrm>
          <a:prstGeom prst="rect">
            <a:avLst/>
          </a:prstGeom>
          <a:noFill/>
          <a:ln/>
        </p:spPr>
        <p:txBody>
          <a:bodyPr wrap="square" lIns="0" tIns="0" rIns="0" bIns="0" rtlCol="0" anchor="ctr"/>
          <a:lstStyle/>
          <a:p>
            <a:pPr marL="0" indent="0">
              <a:buNone/>
            </a:pPr>
            <a:r>
              <a:rPr lang="en-US" sz="800" dirty="0">
                <a:solidFill>
                  <a:srgbClr val="627D98"/>
                </a:solidFill>
              </a:rPr>
              <a:t>Revenue can rise while margin falls</a:t>
            </a:r>
            <a:endParaRPr lang="en-US" sz="800" dirty="0"/>
          </a:p>
        </p:txBody>
      </p:sp>
      <p:sp>
        <p:nvSpPr>
          <p:cNvPr id="10" name="Shape 8"/>
          <p:cNvSpPr/>
          <p:nvPr/>
        </p:nvSpPr>
        <p:spPr>
          <a:xfrm>
            <a:off x="777240" y="2194560"/>
            <a:ext cx="3246120" cy="731520"/>
          </a:xfrm>
          <a:prstGeom prst="roundRect">
            <a:avLst>
              <a:gd name="adj" fmla="val 1000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11" name="Shape 9"/>
          <p:cNvSpPr/>
          <p:nvPr/>
        </p:nvSpPr>
        <p:spPr>
          <a:xfrm>
            <a:off x="914400" y="2377440"/>
            <a:ext cx="347472" cy="347472"/>
          </a:xfrm>
          <a:prstGeom prst="ellipse">
            <a:avLst/>
          </a:prstGeom>
          <a:solidFill>
            <a:srgbClr val="B91C1C"/>
          </a:solidFill>
          <a:ln w="12700">
            <a:solidFill>
              <a:srgbClr val="B91C1C"/>
            </a:solidFill>
            <a:prstDash val="solid"/>
          </a:ln>
        </p:spPr>
      </p:sp>
      <p:sp>
        <p:nvSpPr>
          <p:cNvPr id="12" name="Text 10"/>
          <p:cNvSpPr/>
          <p:nvPr/>
        </p:nvSpPr>
        <p:spPr>
          <a:xfrm>
            <a:off x="914400" y="2459736"/>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3" name="Text 11"/>
          <p:cNvSpPr/>
          <p:nvPr/>
        </p:nvSpPr>
        <p:spPr>
          <a:xfrm>
            <a:off x="1380744" y="2313432"/>
            <a:ext cx="2468880" cy="164592"/>
          </a:xfrm>
          <a:prstGeom prst="rect">
            <a:avLst/>
          </a:prstGeom>
          <a:noFill/>
          <a:ln/>
        </p:spPr>
        <p:txBody>
          <a:bodyPr wrap="square" lIns="0" tIns="0" rIns="0" bIns="0" rtlCol="0" anchor="ctr"/>
          <a:lstStyle/>
          <a:p>
            <a:pPr marL="0" indent="0">
              <a:buNone/>
            </a:pPr>
            <a:r>
              <a:rPr lang="en-US" sz="1000" b="1" dirty="0">
                <a:solidFill>
                  <a:srgbClr val="102A43"/>
                </a:solidFill>
              </a:rPr>
              <a:t>Confusing correlation with proof</a:t>
            </a:r>
            <a:endParaRPr lang="en-US" sz="1000" dirty="0"/>
          </a:p>
        </p:txBody>
      </p:sp>
      <p:sp>
        <p:nvSpPr>
          <p:cNvPr id="14" name="Text 12"/>
          <p:cNvSpPr/>
          <p:nvPr/>
        </p:nvSpPr>
        <p:spPr>
          <a:xfrm>
            <a:off x="1380744" y="2542032"/>
            <a:ext cx="2468880" cy="164592"/>
          </a:xfrm>
          <a:prstGeom prst="rect">
            <a:avLst/>
          </a:prstGeom>
          <a:noFill/>
          <a:ln/>
        </p:spPr>
        <p:txBody>
          <a:bodyPr wrap="square" lIns="0" tIns="0" rIns="0" bIns="0" rtlCol="0" anchor="ctr"/>
          <a:lstStyle/>
          <a:p>
            <a:pPr marL="0" indent="0">
              <a:buNone/>
            </a:pPr>
            <a:r>
              <a:rPr lang="en-US" sz="800" dirty="0">
                <a:solidFill>
                  <a:srgbClr val="627D98"/>
                </a:solidFill>
              </a:rPr>
              <a:t>Related movements need validation</a:t>
            </a:r>
            <a:endParaRPr lang="en-US" sz="800" dirty="0"/>
          </a:p>
        </p:txBody>
      </p:sp>
      <p:sp>
        <p:nvSpPr>
          <p:cNvPr id="15" name="Shape 13"/>
          <p:cNvSpPr/>
          <p:nvPr/>
        </p:nvSpPr>
        <p:spPr>
          <a:xfrm>
            <a:off x="777240" y="3154680"/>
            <a:ext cx="3246120" cy="731520"/>
          </a:xfrm>
          <a:prstGeom prst="roundRect">
            <a:avLst>
              <a:gd name="adj" fmla="val 1000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16" name="Shape 14"/>
          <p:cNvSpPr/>
          <p:nvPr/>
        </p:nvSpPr>
        <p:spPr>
          <a:xfrm>
            <a:off x="914400" y="3337560"/>
            <a:ext cx="347472" cy="347472"/>
          </a:xfrm>
          <a:prstGeom prst="ellipse">
            <a:avLst/>
          </a:prstGeom>
          <a:solidFill>
            <a:srgbClr val="B91C1C"/>
          </a:solidFill>
          <a:ln w="12700">
            <a:solidFill>
              <a:srgbClr val="B91C1C"/>
            </a:solidFill>
            <a:prstDash val="solid"/>
          </a:ln>
        </p:spPr>
      </p:sp>
      <p:sp>
        <p:nvSpPr>
          <p:cNvPr id="17" name="Text 15"/>
          <p:cNvSpPr/>
          <p:nvPr/>
        </p:nvSpPr>
        <p:spPr>
          <a:xfrm>
            <a:off x="914400" y="3419856"/>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18" name="Text 16"/>
          <p:cNvSpPr/>
          <p:nvPr/>
        </p:nvSpPr>
        <p:spPr>
          <a:xfrm>
            <a:off x="1380744" y="3273552"/>
            <a:ext cx="2468880" cy="164592"/>
          </a:xfrm>
          <a:prstGeom prst="rect">
            <a:avLst/>
          </a:prstGeom>
          <a:noFill/>
          <a:ln/>
        </p:spPr>
        <p:txBody>
          <a:bodyPr wrap="square" lIns="0" tIns="0" rIns="0" bIns="0" rtlCol="0" anchor="ctr"/>
          <a:lstStyle/>
          <a:p>
            <a:pPr marL="0" indent="0">
              <a:buNone/>
            </a:pPr>
            <a:r>
              <a:rPr lang="en-US" sz="1000" b="1" dirty="0">
                <a:solidFill>
                  <a:srgbClr val="102A43"/>
                </a:solidFill>
              </a:rPr>
              <a:t>Ignoring operational drivers</a:t>
            </a:r>
            <a:endParaRPr lang="en-US" sz="1000" dirty="0"/>
          </a:p>
        </p:txBody>
      </p:sp>
      <p:sp>
        <p:nvSpPr>
          <p:cNvPr id="19" name="Text 17"/>
          <p:cNvSpPr/>
          <p:nvPr/>
        </p:nvSpPr>
        <p:spPr>
          <a:xfrm>
            <a:off x="1380744" y="3502152"/>
            <a:ext cx="2468880" cy="164592"/>
          </a:xfrm>
          <a:prstGeom prst="rect">
            <a:avLst/>
          </a:prstGeom>
          <a:noFill/>
          <a:ln/>
        </p:spPr>
        <p:txBody>
          <a:bodyPr wrap="square" lIns="0" tIns="0" rIns="0" bIns="0" rtlCol="0" anchor="ctr"/>
          <a:lstStyle/>
          <a:p>
            <a:pPr marL="0" indent="0">
              <a:buNone/>
            </a:pPr>
            <a:r>
              <a:rPr lang="en-US" sz="800" dirty="0">
                <a:solidFill>
                  <a:srgbClr val="627D98"/>
                </a:solidFill>
              </a:rPr>
              <a:t>Customer issues often start inside operations</a:t>
            </a:r>
            <a:endParaRPr lang="en-US" sz="800" dirty="0"/>
          </a:p>
        </p:txBody>
      </p:sp>
      <p:sp>
        <p:nvSpPr>
          <p:cNvPr id="20" name="Shape 18"/>
          <p:cNvSpPr/>
          <p:nvPr/>
        </p:nvSpPr>
        <p:spPr>
          <a:xfrm>
            <a:off x="4160520" y="4480560"/>
            <a:ext cx="3246120" cy="731520"/>
          </a:xfrm>
          <a:prstGeom prst="roundRect">
            <a:avLst>
              <a:gd name="adj" fmla="val 1000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21" name="Shape 19"/>
          <p:cNvSpPr/>
          <p:nvPr/>
        </p:nvSpPr>
        <p:spPr>
          <a:xfrm>
            <a:off x="4297680" y="4663440"/>
            <a:ext cx="347472" cy="347472"/>
          </a:xfrm>
          <a:prstGeom prst="ellipse">
            <a:avLst/>
          </a:prstGeom>
          <a:solidFill>
            <a:srgbClr val="B91C1C"/>
          </a:solidFill>
          <a:ln w="12700">
            <a:solidFill>
              <a:srgbClr val="B91C1C"/>
            </a:solidFill>
            <a:prstDash val="solid"/>
          </a:ln>
        </p:spPr>
      </p:sp>
      <p:sp>
        <p:nvSpPr>
          <p:cNvPr id="22" name="Text 20"/>
          <p:cNvSpPr/>
          <p:nvPr/>
        </p:nvSpPr>
        <p:spPr>
          <a:xfrm>
            <a:off x="4297680" y="4745736"/>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3" name="Text 21"/>
          <p:cNvSpPr/>
          <p:nvPr/>
        </p:nvSpPr>
        <p:spPr>
          <a:xfrm>
            <a:off x="4764024" y="4599432"/>
            <a:ext cx="2468880" cy="164592"/>
          </a:xfrm>
          <a:prstGeom prst="rect">
            <a:avLst/>
          </a:prstGeom>
          <a:noFill/>
          <a:ln/>
        </p:spPr>
        <p:txBody>
          <a:bodyPr wrap="square" lIns="0" tIns="0" rIns="0" bIns="0" rtlCol="0" anchor="ctr"/>
          <a:lstStyle/>
          <a:p>
            <a:pPr marL="0" indent="0">
              <a:buNone/>
            </a:pPr>
            <a:r>
              <a:rPr lang="en-US" sz="1000" b="1" dirty="0">
                <a:solidFill>
                  <a:srgbClr val="102A43"/>
                </a:solidFill>
              </a:rPr>
              <a:t>Using charts without comparison</a:t>
            </a:r>
            <a:endParaRPr lang="en-US" sz="1000" dirty="0"/>
          </a:p>
        </p:txBody>
      </p:sp>
      <p:sp>
        <p:nvSpPr>
          <p:cNvPr id="24" name="Text 22"/>
          <p:cNvSpPr/>
          <p:nvPr/>
        </p:nvSpPr>
        <p:spPr>
          <a:xfrm>
            <a:off x="4764024" y="4828032"/>
            <a:ext cx="2468880" cy="164592"/>
          </a:xfrm>
          <a:prstGeom prst="rect">
            <a:avLst/>
          </a:prstGeom>
          <a:noFill/>
          <a:ln/>
        </p:spPr>
        <p:txBody>
          <a:bodyPr wrap="square" lIns="0" tIns="0" rIns="0" bIns="0" rtlCol="0" anchor="ctr"/>
          <a:lstStyle/>
          <a:p>
            <a:pPr marL="0" indent="0">
              <a:buNone/>
            </a:pPr>
            <a:r>
              <a:rPr lang="en-US" sz="800" dirty="0">
                <a:solidFill>
                  <a:srgbClr val="627D98"/>
                </a:solidFill>
              </a:rPr>
              <a:t>A number needs a baseline</a:t>
            </a:r>
            <a:endParaRPr lang="en-US" sz="800" dirty="0"/>
          </a:p>
        </p:txBody>
      </p:sp>
      <p:sp>
        <p:nvSpPr>
          <p:cNvPr id="25" name="Shape 23"/>
          <p:cNvSpPr/>
          <p:nvPr/>
        </p:nvSpPr>
        <p:spPr>
          <a:xfrm>
            <a:off x="7818120" y="4480560"/>
            <a:ext cx="3246120" cy="731520"/>
          </a:xfrm>
          <a:prstGeom prst="roundRect">
            <a:avLst>
              <a:gd name="adj" fmla="val 10000"/>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26" name="Shape 24"/>
          <p:cNvSpPr/>
          <p:nvPr/>
        </p:nvSpPr>
        <p:spPr>
          <a:xfrm>
            <a:off x="7955280" y="4663440"/>
            <a:ext cx="347472" cy="347472"/>
          </a:xfrm>
          <a:prstGeom prst="ellipse">
            <a:avLst/>
          </a:prstGeom>
          <a:solidFill>
            <a:srgbClr val="B91C1C"/>
          </a:solidFill>
          <a:ln w="12700">
            <a:solidFill>
              <a:srgbClr val="B91C1C"/>
            </a:solidFill>
            <a:prstDash val="solid"/>
          </a:ln>
        </p:spPr>
      </p:sp>
      <p:sp>
        <p:nvSpPr>
          <p:cNvPr id="27" name="Text 25"/>
          <p:cNvSpPr/>
          <p:nvPr/>
        </p:nvSpPr>
        <p:spPr>
          <a:xfrm>
            <a:off x="7955280" y="4745736"/>
            <a:ext cx="347472" cy="109728"/>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28" name="Text 26"/>
          <p:cNvSpPr/>
          <p:nvPr/>
        </p:nvSpPr>
        <p:spPr>
          <a:xfrm>
            <a:off x="8421624" y="4599432"/>
            <a:ext cx="2468880" cy="164592"/>
          </a:xfrm>
          <a:prstGeom prst="rect">
            <a:avLst/>
          </a:prstGeom>
          <a:noFill/>
          <a:ln/>
        </p:spPr>
        <p:txBody>
          <a:bodyPr wrap="square" lIns="0" tIns="0" rIns="0" bIns="0" rtlCol="0" anchor="ctr"/>
          <a:lstStyle/>
          <a:p>
            <a:pPr marL="0" indent="0">
              <a:buNone/>
            </a:pPr>
            <a:r>
              <a:rPr lang="en-US" sz="1000" b="1" dirty="0">
                <a:solidFill>
                  <a:srgbClr val="102A43"/>
                </a:solidFill>
              </a:rPr>
              <a:t>Choosing action before diagnosis</a:t>
            </a:r>
            <a:endParaRPr lang="en-US" sz="1000" dirty="0"/>
          </a:p>
        </p:txBody>
      </p:sp>
      <p:sp>
        <p:nvSpPr>
          <p:cNvPr id="29" name="Text 27"/>
          <p:cNvSpPr/>
          <p:nvPr/>
        </p:nvSpPr>
        <p:spPr>
          <a:xfrm>
            <a:off x="8421624" y="4828032"/>
            <a:ext cx="2468880" cy="164592"/>
          </a:xfrm>
          <a:prstGeom prst="rect">
            <a:avLst/>
          </a:prstGeom>
          <a:noFill/>
          <a:ln/>
        </p:spPr>
        <p:txBody>
          <a:bodyPr wrap="square" lIns="0" tIns="0" rIns="0" bIns="0" rtlCol="0" anchor="ctr"/>
          <a:lstStyle/>
          <a:p>
            <a:pPr marL="0" indent="0">
              <a:buNone/>
            </a:pPr>
            <a:r>
              <a:rPr lang="en-US" sz="800" dirty="0">
                <a:solidFill>
                  <a:srgbClr val="627D98"/>
                </a:solidFill>
              </a:rPr>
              <a:t>More marketing can amplify a broken process</a:t>
            </a:r>
            <a:endParaRPr lang="en-US" sz="800" dirty="0"/>
          </a:p>
        </p:txBody>
      </p:sp>
      <p:sp>
        <p:nvSpPr>
          <p:cNvPr id="30" name="Shape 28"/>
          <p:cNvSpPr/>
          <p:nvPr/>
        </p:nvSpPr>
        <p:spPr>
          <a:xfrm>
            <a:off x="822960" y="5532120"/>
            <a:ext cx="10424160" cy="530352"/>
          </a:xfrm>
          <a:prstGeom prst="roundRect">
            <a:avLst>
              <a:gd name="adj" fmla="val 8621"/>
            </a:avLst>
          </a:prstGeom>
          <a:solidFill>
            <a:srgbClr val="F6E7C1"/>
          </a:solidFill>
          <a:ln w="8890">
            <a:solidFill>
              <a:srgbClr val="E3C56F"/>
            </a:solidFill>
            <a:prstDash val="solid"/>
          </a:ln>
        </p:spPr>
      </p:sp>
      <p:sp>
        <p:nvSpPr>
          <p:cNvPr id="31" name="Text 29"/>
          <p:cNvSpPr/>
          <p:nvPr/>
        </p:nvSpPr>
        <p:spPr>
          <a:xfrm>
            <a:off x="987552" y="560527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32" name="Text 30"/>
          <p:cNvSpPr/>
          <p:nvPr/>
        </p:nvSpPr>
        <p:spPr>
          <a:xfrm>
            <a:off x="987552" y="5797296"/>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Most analytics errors are thinking errors, not software errors. The danger is acting confidently on incomplete interpretation.</a:t>
            </a:r>
            <a:endParaRPr lang="en-US" sz="1050" dirty="0"/>
          </a:p>
        </p:txBody>
      </p:sp>
      <p:sp>
        <p:nvSpPr>
          <p:cNvPr id="33"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CHART QUALITY AND INTERPRETATION</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Bad chart vs better chart</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5</a:t>
            </a:r>
            <a:endParaRPr lang="en-US" sz="800" dirty="0"/>
          </a:p>
        </p:txBody>
      </p:sp>
      <p:sp>
        <p:nvSpPr>
          <p:cNvPr id="5" name="Shape 3"/>
          <p:cNvSpPr/>
          <p:nvPr/>
        </p:nvSpPr>
        <p:spPr>
          <a:xfrm>
            <a:off x="685800" y="1188720"/>
            <a:ext cx="5257800" cy="4160520"/>
          </a:xfrm>
          <a:prstGeom prst="roundRect">
            <a:avLst>
              <a:gd name="adj" fmla="val 1758"/>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Text 4"/>
          <p:cNvSpPr/>
          <p:nvPr/>
        </p:nvSpPr>
        <p:spPr>
          <a:xfrm>
            <a:off x="960120" y="1444752"/>
            <a:ext cx="2194560" cy="201168"/>
          </a:xfrm>
          <a:prstGeom prst="rect">
            <a:avLst/>
          </a:prstGeom>
          <a:noFill/>
          <a:ln/>
        </p:spPr>
        <p:txBody>
          <a:bodyPr wrap="square" lIns="0" tIns="0" rIns="0" bIns="0" rtlCol="0" anchor="ctr"/>
          <a:lstStyle/>
          <a:p>
            <a:pPr marL="0" indent="0">
              <a:buNone/>
            </a:pPr>
            <a:r>
              <a:rPr lang="en-US" sz="1200" b="1" dirty="0">
                <a:solidFill>
                  <a:srgbClr val="B91C1C"/>
                </a:solidFill>
              </a:rPr>
              <a:t>Bad chart: revenue only</a:t>
            </a:r>
            <a:endParaRPr lang="en-US" sz="1200" dirty="0"/>
          </a:p>
        </p:txBody>
      </p:sp>
      <p:sp>
        <p:nvSpPr>
          <p:cNvPr id="7" name="Shape 5"/>
          <p:cNvSpPr/>
          <p:nvPr/>
        </p:nvSpPr>
        <p:spPr>
          <a:xfrm>
            <a:off x="1051560" y="4297680"/>
            <a:ext cx="4526280" cy="0"/>
          </a:xfrm>
          <a:prstGeom prst="line">
            <a:avLst/>
          </a:prstGeom>
          <a:noFill/>
          <a:ln w="10160">
            <a:solidFill>
              <a:srgbClr val="A8A29E"/>
            </a:solidFill>
            <a:prstDash val="solid"/>
          </a:ln>
        </p:spPr>
      </p:sp>
      <p:sp>
        <p:nvSpPr>
          <p:cNvPr id="8" name="Shape 6"/>
          <p:cNvSpPr/>
          <p:nvPr/>
        </p:nvSpPr>
        <p:spPr>
          <a:xfrm>
            <a:off x="1051560" y="1965960"/>
            <a:ext cx="0" cy="2331720"/>
          </a:xfrm>
          <a:prstGeom prst="line">
            <a:avLst/>
          </a:prstGeom>
          <a:noFill/>
          <a:ln w="10160">
            <a:solidFill>
              <a:srgbClr val="A8A29E"/>
            </a:solidFill>
            <a:prstDash val="solid"/>
          </a:ln>
        </p:spPr>
      </p:sp>
      <p:sp>
        <p:nvSpPr>
          <p:cNvPr id="9" name="Shape 7"/>
          <p:cNvSpPr/>
          <p:nvPr/>
        </p:nvSpPr>
        <p:spPr>
          <a:xfrm>
            <a:off x="1197864" y="2881993"/>
            <a:ext cx="583692" cy="1415687"/>
          </a:xfrm>
          <a:prstGeom prst="rect">
            <a:avLst/>
          </a:prstGeom>
          <a:solidFill>
            <a:srgbClr val="E7E2DA"/>
          </a:solidFill>
          <a:ln w="12700">
            <a:solidFill>
              <a:srgbClr val="E7E2DA">
                <a:alpha val="0"/>
              </a:srgbClr>
            </a:solidFill>
            <a:prstDash val="solid"/>
          </a:ln>
        </p:spPr>
      </p:sp>
      <p:sp>
        <p:nvSpPr>
          <p:cNvPr id="10" name="Text 8"/>
          <p:cNvSpPr/>
          <p:nvPr/>
        </p:nvSpPr>
        <p:spPr>
          <a:xfrm>
            <a:off x="1106424" y="2671681"/>
            <a:ext cx="766572" cy="164592"/>
          </a:xfrm>
          <a:prstGeom prst="rect">
            <a:avLst/>
          </a:prstGeom>
          <a:noFill/>
          <a:ln/>
        </p:spPr>
        <p:txBody>
          <a:bodyPr wrap="square" lIns="0" tIns="0" rIns="0" bIns="0" rtlCol="0" anchor="ctr"/>
          <a:lstStyle/>
          <a:p>
            <a:pPr marL="0" indent="0" algn="ctr">
              <a:buNone/>
            </a:pPr>
            <a:r>
              <a:rPr lang="en-US" sz="700" b="1" dirty="0">
                <a:solidFill>
                  <a:srgbClr val="243B53"/>
                </a:solidFill>
              </a:rPr>
              <a:t>$8.5k</a:t>
            </a:r>
            <a:endParaRPr lang="en-US" sz="700" dirty="0"/>
          </a:p>
        </p:txBody>
      </p:sp>
      <p:sp>
        <p:nvSpPr>
          <p:cNvPr id="11" name="Text 9"/>
          <p:cNvSpPr/>
          <p:nvPr/>
        </p:nvSpPr>
        <p:spPr>
          <a:xfrm>
            <a:off x="1088136" y="4370832"/>
            <a:ext cx="8031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Jan</a:t>
            </a:r>
            <a:endParaRPr lang="en-US" sz="700" dirty="0"/>
          </a:p>
        </p:txBody>
      </p:sp>
      <p:sp>
        <p:nvSpPr>
          <p:cNvPr id="12" name="Shape 10"/>
          <p:cNvSpPr/>
          <p:nvPr/>
        </p:nvSpPr>
        <p:spPr>
          <a:xfrm>
            <a:off x="1927860" y="2765407"/>
            <a:ext cx="583692" cy="1532273"/>
          </a:xfrm>
          <a:prstGeom prst="rect">
            <a:avLst/>
          </a:prstGeom>
          <a:solidFill>
            <a:srgbClr val="E7E2DA"/>
          </a:solidFill>
          <a:ln w="12700">
            <a:solidFill>
              <a:srgbClr val="E7E2DA">
                <a:alpha val="0"/>
              </a:srgbClr>
            </a:solidFill>
            <a:prstDash val="solid"/>
          </a:ln>
        </p:spPr>
      </p:sp>
      <p:sp>
        <p:nvSpPr>
          <p:cNvPr id="13" name="Text 11"/>
          <p:cNvSpPr/>
          <p:nvPr/>
        </p:nvSpPr>
        <p:spPr>
          <a:xfrm>
            <a:off x="1836420" y="2555095"/>
            <a:ext cx="766572" cy="164592"/>
          </a:xfrm>
          <a:prstGeom prst="rect">
            <a:avLst/>
          </a:prstGeom>
          <a:noFill/>
          <a:ln/>
        </p:spPr>
        <p:txBody>
          <a:bodyPr wrap="square" lIns="0" tIns="0" rIns="0" bIns="0" rtlCol="0" anchor="ctr"/>
          <a:lstStyle/>
          <a:p>
            <a:pPr marL="0" indent="0" algn="ctr">
              <a:buNone/>
            </a:pPr>
            <a:r>
              <a:rPr lang="en-US" sz="700" b="1" dirty="0">
                <a:solidFill>
                  <a:srgbClr val="243B53"/>
                </a:solidFill>
              </a:rPr>
              <a:t>$9.2k</a:t>
            </a:r>
            <a:endParaRPr lang="en-US" sz="700" dirty="0"/>
          </a:p>
        </p:txBody>
      </p:sp>
      <p:sp>
        <p:nvSpPr>
          <p:cNvPr id="14" name="Text 12"/>
          <p:cNvSpPr/>
          <p:nvPr/>
        </p:nvSpPr>
        <p:spPr>
          <a:xfrm>
            <a:off x="1818132" y="4370832"/>
            <a:ext cx="8031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Feb</a:t>
            </a:r>
            <a:endParaRPr lang="en-US" sz="700" dirty="0"/>
          </a:p>
        </p:txBody>
      </p:sp>
      <p:sp>
        <p:nvSpPr>
          <p:cNvPr id="15" name="Shape 13"/>
          <p:cNvSpPr/>
          <p:nvPr/>
        </p:nvSpPr>
        <p:spPr>
          <a:xfrm>
            <a:off x="2657856" y="2615511"/>
            <a:ext cx="583692" cy="1682169"/>
          </a:xfrm>
          <a:prstGeom prst="rect">
            <a:avLst/>
          </a:prstGeom>
          <a:solidFill>
            <a:srgbClr val="E7E2DA"/>
          </a:solidFill>
          <a:ln w="12700">
            <a:solidFill>
              <a:srgbClr val="E7E2DA">
                <a:alpha val="0"/>
              </a:srgbClr>
            </a:solidFill>
            <a:prstDash val="solid"/>
          </a:ln>
        </p:spPr>
      </p:sp>
      <p:sp>
        <p:nvSpPr>
          <p:cNvPr id="16" name="Text 14"/>
          <p:cNvSpPr/>
          <p:nvPr/>
        </p:nvSpPr>
        <p:spPr>
          <a:xfrm>
            <a:off x="2566416" y="2405199"/>
            <a:ext cx="766572" cy="164592"/>
          </a:xfrm>
          <a:prstGeom prst="rect">
            <a:avLst/>
          </a:prstGeom>
          <a:noFill/>
          <a:ln/>
        </p:spPr>
        <p:txBody>
          <a:bodyPr wrap="square" lIns="0" tIns="0" rIns="0" bIns="0" rtlCol="0" anchor="ctr"/>
          <a:lstStyle/>
          <a:p>
            <a:pPr marL="0" indent="0" algn="ctr">
              <a:buNone/>
            </a:pPr>
            <a:r>
              <a:rPr lang="en-US" sz="700" b="1" dirty="0">
                <a:solidFill>
                  <a:srgbClr val="243B53"/>
                </a:solidFill>
              </a:rPr>
              <a:t>$10.1k</a:t>
            </a:r>
            <a:endParaRPr lang="en-US" sz="700" dirty="0"/>
          </a:p>
        </p:txBody>
      </p:sp>
      <p:sp>
        <p:nvSpPr>
          <p:cNvPr id="17" name="Text 15"/>
          <p:cNvSpPr/>
          <p:nvPr/>
        </p:nvSpPr>
        <p:spPr>
          <a:xfrm>
            <a:off x="2548128" y="4370832"/>
            <a:ext cx="8031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Mar</a:t>
            </a:r>
            <a:endParaRPr lang="en-US" sz="700" dirty="0"/>
          </a:p>
        </p:txBody>
      </p:sp>
      <p:sp>
        <p:nvSpPr>
          <p:cNvPr id="18" name="Shape 16"/>
          <p:cNvSpPr/>
          <p:nvPr/>
        </p:nvSpPr>
        <p:spPr>
          <a:xfrm>
            <a:off x="3387852" y="2398994"/>
            <a:ext cx="583692" cy="1898686"/>
          </a:xfrm>
          <a:prstGeom prst="rect">
            <a:avLst/>
          </a:prstGeom>
          <a:solidFill>
            <a:srgbClr val="E7E2DA"/>
          </a:solidFill>
          <a:ln w="12700">
            <a:solidFill>
              <a:srgbClr val="E7E2DA">
                <a:alpha val="0"/>
              </a:srgbClr>
            </a:solidFill>
            <a:prstDash val="solid"/>
          </a:ln>
        </p:spPr>
      </p:sp>
      <p:sp>
        <p:nvSpPr>
          <p:cNvPr id="19" name="Text 17"/>
          <p:cNvSpPr/>
          <p:nvPr/>
        </p:nvSpPr>
        <p:spPr>
          <a:xfrm>
            <a:off x="3296412" y="2188682"/>
            <a:ext cx="766572" cy="164592"/>
          </a:xfrm>
          <a:prstGeom prst="rect">
            <a:avLst/>
          </a:prstGeom>
          <a:noFill/>
          <a:ln/>
        </p:spPr>
        <p:txBody>
          <a:bodyPr wrap="square" lIns="0" tIns="0" rIns="0" bIns="0" rtlCol="0" anchor="ctr"/>
          <a:lstStyle/>
          <a:p>
            <a:pPr marL="0" indent="0" algn="ctr">
              <a:buNone/>
            </a:pPr>
            <a:r>
              <a:rPr lang="en-US" sz="700" b="1" dirty="0">
                <a:solidFill>
                  <a:srgbClr val="243B53"/>
                </a:solidFill>
              </a:rPr>
              <a:t>$11.4k</a:t>
            </a:r>
            <a:endParaRPr lang="en-US" sz="700" dirty="0"/>
          </a:p>
        </p:txBody>
      </p:sp>
      <p:sp>
        <p:nvSpPr>
          <p:cNvPr id="20" name="Text 18"/>
          <p:cNvSpPr/>
          <p:nvPr/>
        </p:nvSpPr>
        <p:spPr>
          <a:xfrm>
            <a:off x="3278124" y="4370832"/>
            <a:ext cx="8031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Apr</a:t>
            </a:r>
            <a:endParaRPr lang="en-US" sz="700" dirty="0"/>
          </a:p>
        </p:txBody>
      </p:sp>
      <p:sp>
        <p:nvSpPr>
          <p:cNvPr id="21" name="Shape 19"/>
          <p:cNvSpPr/>
          <p:nvPr/>
        </p:nvSpPr>
        <p:spPr>
          <a:xfrm>
            <a:off x="4117848" y="2498925"/>
            <a:ext cx="583692" cy="1798755"/>
          </a:xfrm>
          <a:prstGeom prst="rect">
            <a:avLst/>
          </a:prstGeom>
          <a:solidFill>
            <a:srgbClr val="B91C1C"/>
          </a:solidFill>
          <a:ln w="12700">
            <a:solidFill>
              <a:srgbClr val="B91C1C">
                <a:alpha val="0"/>
              </a:srgbClr>
            </a:solidFill>
            <a:prstDash val="solid"/>
          </a:ln>
        </p:spPr>
      </p:sp>
      <p:sp>
        <p:nvSpPr>
          <p:cNvPr id="22" name="Text 20"/>
          <p:cNvSpPr/>
          <p:nvPr/>
        </p:nvSpPr>
        <p:spPr>
          <a:xfrm>
            <a:off x="4026408" y="2288613"/>
            <a:ext cx="766572" cy="164592"/>
          </a:xfrm>
          <a:prstGeom prst="rect">
            <a:avLst/>
          </a:prstGeom>
          <a:noFill/>
          <a:ln/>
        </p:spPr>
        <p:txBody>
          <a:bodyPr wrap="square" lIns="0" tIns="0" rIns="0" bIns="0" rtlCol="0" anchor="ctr"/>
          <a:lstStyle/>
          <a:p>
            <a:pPr marL="0" indent="0" algn="ctr">
              <a:buNone/>
            </a:pPr>
            <a:r>
              <a:rPr lang="en-US" sz="700" b="1" dirty="0">
                <a:solidFill>
                  <a:srgbClr val="243B53"/>
                </a:solidFill>
              </a:rPr>
              <a:t>$10.8k</a:t>
            </a:r>
            <a:endParaRPr lang="en-US" sz="700" dirty="0"/>
          </a:p>
        </p:txBody>
      </p:sp>
      <p:sp>
        <p:nvSpPr>
          <p:cNvPr id="23" name="Text 21"/>
          <p:cNvSpPr/>
          <p:nvPr/>
        </p:nvSpPr>
        <p:spPr>
          <a:xfrm>
            <a:off x="4008120" y="4370832"/>
            <a:ext cx="8031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May</a:t>
            </a:r>
            <a:endParaRPr lang="en-US" sz="700" dirty="0"/>
          </a:p>
        </p:txBody>
      </p:sp>
      <p:sp>
        <p:nvSpPr>
          <p:cNvPr id="24" name="Shape 22"/>
          <p:cNvSpPr/>
          <p:nvPr/>
        </p:nvSpPr>
        <p:spPr>
          <a:xfrm>
            <a:off x="4847844" y="2199132"/>
            <a:ext cx="583692" cy="2098548"/>
          </a:xfrm>
          <a:prstGeom prst="rect">
            <a:avLst/>
          </a:prstGeom>
          <a:solidFill>
            <a:srgbClr val="E7E2DA"/>
          </a:solidFill>
          <a:ln w="12700">
            <a:solidFill>
              <a:srgbClr val="E7E2DA">
                <a:alpha val="0"/>
              </a:srgbClr>
            </a:solidFill>
            <a:prstDash val="solid"/>
          </a:ln>
        </p:spPr>
      </p:sp>
      <p:sp>
        <p:nvSpPr>
          <p:cNvPr id="25" name="Text 23"/>
          <p:cNvSpPr/>
          <p:nvPr/>
        </p:nvSpPr>
        <p:spPr>
          <a:xfrm>
            <a:off x="4756404" y="1988820"/>
            <a:ext cx="766572" cy="164592"/>
          </a:xfrm>
          <a:prstGeom prst="rect">
            <a:avLst/>
          </a:prstGeom>
          <a:noFill/>
          <a:ln/>
        </p:spPr>
        <p:txBody>
          <a:bodyPr wrap="square" lIns="0" tIns="0" rIns="0" bIns="0" rtlCol="0" anchor="ctr"/>
          <a:lstStyle/>
          <a:p>
            <a:pPr marL="0" indent="0" algn="ctr">
              <a:buNone/>
            </a:pPr>
            <a:r>
              <a:rPr lang="en-US" sz="700" b="1" dirty="0">
                <a:solidFill>
                  <a:srgbClr val="243B53"/>
                </a:solidFill>
              </a:rPr>
              <a:t>$12.6k</a:t>
            </a:r>
            <a:endParaRPr lang="en-US" sz="700" dirty="0"/>
          </a:p>
        </p:txBody>
      </p:sp>
      <p:sp>
        <p:nvSpPr>
          <p:cNvPr id="26" name="Text 24"/>
          <p:cNvSpPr/>
          <p:nvPr/>
        </p:nvSpPr>
        <p:spPr>
          <a:xfrm>
            <a:off x="4738116" y="4370832"/>
            <a:ext cx="803148" cy="256032"/>
          </a:xfrm>
          <a:prstGeom prst="rect">
            <a:avLst/>
          </a:prstGeom>
          <a:noFill/>
          <a:ln/>
        </p:spPr>
        <p:txBody>
          <a:bodyPr wrap="square" lIns="0" tIns="0" rIns="0" bIns="0" rtlCol="0" anchor="ctr">
            <a:normAutofit/>
          </a:bodyPr>
          <a:lstStyle/>
          <a:p>
            <a:pPr marL="0" indent="0" algn="ctr">
              <a:buNone/>
            </a:pPr>
            <a:r>
              <a:rPr lang="en-US" sz="700" dirty="0">
                <a:solidFill>
                  <a:srgbClr val="627D98"/>
                </a:solidFill>
              </a:rPr>
              <a:t>Jun</a:t>
            </a:r>
            <a:endParaRPr lang="en-US" sz="700" dirty="0"/>
          </a:p>
        </p:txBody>
      </p:sp>
      <p:sp>
        <p:nvSpPr>
          <p:cNvPr id="27" name="Text 25"/>
          <p:cNvSpPr/>
          <p:nvPr/>
        </p:nvSpPr>
        <p:spPr>
          <a:xfrm>
            <a:off x="1005840" y="4709160"/>
            <a:ext cx="4480560" cy="228600"/>
          </a:xfrm>
          <a:prstGeom prst="rect">
            <a:avLst/>
          </a:prstGeom>
          <a:noFill/>
          <a:ln/>
        </p:spPr>
        <p:txBody>
          <a:bodyPr wrap="square" lIns="0" tIns="0" rIns="0" bIns="0" rtlCol="0" anchor="ctr"/>
          <a:lstStyle/>
          <a:p>
            <a:pPr marL="0" indent="0" algn="ctr">
              <a:buNone/>
            </a:pPr>
            <a:r>
              <a:rPr lang="en-US" sz="950" dirty="0">
                <a:solidFill>
                  <a:srgbClr val="B91C1C"/>
                </a:solidFill>
              </a:rPr>
              <a:t>Risk: May looks like a small bump, not a system warning.</a:t>
            </a:r>
            <a:endParaRPr lang="en-US" sz="950" dirty="0"/>
          </a:p>
        </p:txBody>
      </p:sp>
      <p:sp>
        <p:nvSpPr>
          <p:cNvPr id="28" name="Shape 26"/>
          <p:cNvSpPr/>
          <p:nvPr/>
        </p:nvSpPr>
        <p:spPr>
          <a:xfrm>
            <a:off x="6263640" y="1188720"/>
            <a:ext cx="5257800" cy="4160520"/>
          </a:xfrm>
          <a:prstGeom prst="roundRect">
            <a:avLst>
              <a:gd name="adj" fmla="val 1758"/>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29" name="Text 27"/>
          <p:cNvSpPr/>
          <p:nvPr/>
        </p:nvSpPr>
        <p:spPr>
          <a:xfrm>
            <a:off x="6537960" y="1444752"/>
            <a:ext cx="3840480" cy="201168"/>
          </a:xfrm>
          <a:prstGeom prst="rect">
            <a:avLst/>
          </a:prstGeom>
          <a:noFill/>
          <a:ln/>
        </p:spPr>
        <p:txBody>
          <a:bodyPr wrap="square" lIns="0" tIns="0" rIns="0" bIns="0" rtlCol="0" anchor="ctr"/>
          <a:lstStyle/>
          <a:p>
            <a:pPr marL="0" indent="0">
              <a:buNone/>
            </a:pPr>
            <a:r>
              <a:rPr lang="en-US" sz="1200" b="1" dirty="0">
                <a:solidFill>
                  <a:srgbClr val="2E7D32"/>
                </a:solidFill>
              </a:rPr>
              <a:t>Better chart: revenue + profit + margin context</a:t>
            </a:r>
            <a:endParaRPr lang="en-US" sz="1200" dirty="0"/>
          </a:p>
        </p:txBody>
      </p:sp>
      <p:sp>
        <p:nvSpPr>
          <p:cNvPr id="30" name="Shape 28"/>
          <p:cNvSpPr/>
          <p:nvPr/>
        </p:nvSpPr>
        <p:spPr>
          <a:xfrm>
            <a:off x="6629400" y="4297680"/>
            <a:ext cx="4343400" cy="0"/>
          </a:xfrm>
          <a:prstGeom prst="line">
            <a:avLst/>
          </a:prstGeom>
          <a:noFill/>
          <a:ln w="10160">
            <a:solidFill>
              <a:srgbClr val="A8A29E"/>
            </a:solidFill>
            <a:prstDash val="solid"/>
          </a:ln>
        </p:spPr>
      </p:sp>
      <p:sp>
        <p:nvSpPr>
          <p:cNvPr id="31" name="Shape 29"/>
          <p:cNvSpPr/>
          <p:nvPr/>
        </p:nvSpPr>
        <p:spPr>
          <a:xfrm>
            <a:off x="6629400" y="1965960"/>
            <a:ext cx="0" cy="2331720"/>
          </a:xfrm>
          <a:prstGeom prst="line">
            <a:avLst/>
          </a:prstGeom>
          <a:noFill/>
          <a:ln w="10160">
            <a:solidFill>
              <a:srgbClr val="A8A29E"/>
            </a:solidFill>
            <a:prstDash val="solid"/>
          </a:ln>
        </p:spPr>
      </p:sp>
      <p:sp>
        <p:nvSpPr>
          <p:cNvPr id="32" name="Text 30"/>
          <p:cNvSpPr/>
          <p:nvPr/>
        </p:nvSpPr>
        <p:spPr>
          <a:xfrm>
            <a:off x="6492240" y="43708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Jan</a:t>
            </a:r>
            <a:endParaRPr lang="en-US" sz="700" dirty="0"/>
          </a:p>
        </p:txBody>
      </p:sp>
      <p:sp>
        <p:nvSpPr>
          <p:cNvPr id="33" name="Text 31"/>
          <p:cNvSpPr/>
          <p:nvPr/>
        </p:nvSpPr>
        <p:spPr>
          <a:xfrm>
            <a:off x="7360920" y="43708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Feb</a:t>
            </a:r>
            <a:endParaRPr lang="en-US" sz="700" dirty="0"/>
          </a:p>
        </p:txBody>
      </p:sp>
      <p:sp>
        <p:nvSpPr>
          <p:cNvPr id="34" name="Text 32"/>
          <p:cNvSpPr/>
          <p:nvPr/>
        </p:nvSpPr>
        <p:spPr>
          <a:xfrm>
            <a:off x="8229600" y="43708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Mar</a:t>
            </a:r>
            <a:endParaRPr lang="en-US" sz="700" dirty="0"/>
          </a:p>
        </p:txBody>
      </p:sp>
      <p:sp>
        <p:nvSpPr>
          <p:cNvPr id="35" name="Text 33"/>
          <p:cNvSpPr/>
          <p:nvPr/>
        </p:nvSpPr>
        <p:spPr>
          <a:xfrm>
            <a:off x="9098280" y="43708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Apr</a:t>
            </a:r>
            <a:endParaRPr lang="en-US" sz="700" dirty="0"/>
          </a:p>
        </p:txBody>
      </p:sp>
      <p:sp>
        <p:nvSpPr>
          <p:cNvPr id="36" name="Text 34"/>
          <p:cNvSpPr/>
          <p:nvPr/>
        </p:nvSpPr>
        <p:spPr>
          <a:xfrm>
            <a:off x="9966960" y="43708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May</a:t>
            </a:r>
            <a:endParaRPr lang="en-US" sz="700" dirty="0"/>
          </a:p>
        </p:txBody>
      </p:sp>
      <p:sp>
        <p:nvSpPr>
          <p:cNvPr id="37" name="Text 35"/>
          <p:cNvSpPr/>
          <p:nvPr/>
        </p:nvSpPr>
        <p:spPr>
          <a:xfrm>
            <a:off x="10835640" y="4370832"/>
            <a:ext cx="365760" cy="164592"/>
          </a:xfrm>
          <a:prstGeom prst="rect">
            <a:avLst/>
          </a:prstGeom>
          <a:noFill/>
          <a:ln/>
        </p:spPr>
        <p:txBody>
          <a:bodyPr wrap="square" lIns="0" tIns="0" rIns="0" bIns="0" rtlCol="0" anchor="ctr"/>
          <a:lstStyle/>
          <a:p>
            <a:pPr marL="0" indent="0" algn="ctr">
              <a:buNone/>
            </a:pPr>
            <a:r>
              <a:rPr lang="en-US" sz="700" dirty="0">
                <a:solidFill>
                  <a:srgbClr val="627D98"/>
                </a:solidFill>
              </a:rPr>
              <a:t>Jun</a:t>
            </a:r>
            <a:endParaRPr lang="en-US" sz="700" dirty="0"/>
          </a:p>
        </p:txBody>
      </p:sp>
      <p:sp>
        <p:nvSpPr>
          <p:cNvPr id="38" name="Shape 36"/>
          <p:cNvSpPr/>
          <p:nvPr/>
        </p:nvSpPr>
        <p:spPr>
          <a:xfrm>
            <a:off x="6629400" y="2881993"/>
            <a:ext cx="868680" cy="0"/>
          </a:xfrm>
          <a:prstGeom prst="line">
            <a:avLst/>
          </a:prstGeom>
          <a:noFill/>
          <a:ln w="25400">
            <a:solidFill>
              <a:srgbClr val="087E8B"/>
            </a:solidFill>
            <a:prstDash val="solid"/>
          </a:ln>
        </p:spPr>
      </p:sp>
      <p:sp>
        <p:nvSpPr>
          <p:cNvPr id="39" name="Shape 37"/>
          <p:cNvSpPr/>
          <p:nvPr/>
        </p:nvSpPr>
        <p:spPr>
          <a:xfrm>
            <a:off x="7498080" y="2765407"/>
            <a:ext cx="868680" cy="0"/>
          </a:xfrm>
          <a:prstGeom prst="line">
            <a:avLst/>
          </a:prstGeom>
          <a:noFill/>
          <a:ln w="25400">
            <a:solidFill>
              <a:srgbClr val="087E8B"/>
            </a:solidFill>
            <a:prstDash val="solid"/>
          </a:ln>
        </p:spPr>
      </p:sp>
      <p:sp>
        <p:nvSpPr>
          <p:cNvPr id="40" name="Shape 38"/>
          <p:cNvSpPr/>
          <p:nvPr/>
        </p:nvSpPr>
        <p:spPr>
          <a:xfrm>
            <a:off x="8366760" y="2615511"/>
            <a:ext cx="868680" cy="0"/>
          </a:xfrm>
          <a:prstGeom prst="line">
            <a:avLst/>
          </a:prstGeom>
          <a:noFill/>
          <a:ln w="25400">
            <a:solidFill>
              <a:srgbClr val="087E8B"/>
            </a:solidFill>
            <a:prstDash val="solid"/>
          </a:ln>
        </p:spPr>
      </p:sp>
      <p:sp>
        <p:nvSpPr>
          <p:cNvPr id="41" name="Shape 39"/>
          <p:cNvSpPr/>
          <p:nvPr/>
        </p:nvSpPr>
        <p:spPr>
          <a:xfrm>
            <a:off x="9235440" y="2398994"/>
            <a:ext cx="868680" cy="99931"/>
          </a:xfrm>
          <a:prstGeom prst="line">
            <a:avLst/>
          </a:prstGeom>
          <a:noFill/>
          <a:ln w="25400">
            <a:solidFill>
              <a:srgbClr val="087E8B"/>
            </a:solidFill>
            <a:prstDash val="solid"/>
          </a:ln>
        </p:spPr>
      </p:sp>
      <p:sp>
        <p:nvSpPr>
          <p:cNvPr id="42" name="Shape 40"/>
          <p:cNvSpPr/>
          <p:nvPr/>
        </p:nvSpPr>
        <p:spPr>
          <a:xfrm>
            <a:off x="10104120" y="2498925"/>
            <a:ext cx="868680" cy="0"/>
          </a:xfrm>
          <a:prstGeom prst="line">
            <a:avLst/>
          </a:prstGeom>
          <a:noFill/>
          <a:ln w="25400">
            <a:solidFill>
              <a:srgbClr val="087E8B"/>
            </a:solidFill>
            <a:prstDash val="solid"/>
          </a:ln>
        </p:spPr>
      </p:sp>
      <p:sp>
        <p:nvSpPr>
          <p:cNvPr id="43" name="Shape 41"/>
          <p:cNvSpPr/>
          <p:nvPr/>
        </p:nvSpPr>
        <p:spPr>
          <a:xfrm>
            <a:off x="6588252" y="2840845"/>
            <a:ext cx="82296" cy="82296"/>
          </a:xfrm>
          <a:prstGeom prst="ellipse">
            <a:avLst/>
          </a:prstGeom>
          <a:solidFill>
            <a:srgbClr val="087E8B"/>
          </a:solidFill>
          <a:ln w="7620">
            <a:solidFill>
              <a:srgbClr val="FFFFFF"/>
            </a:solidFill>
            <a:prstDash val="solid"/>
          </a:ln>
        </p:spPr>
      </p:sp>
      <p:sp>
        <p:nvSpPr>
          <p:cNvPr id="44" name="Shape 42"/>
          <p:cNvSpPr/>
          <p:nvPr/>
        </p:nvSpPr>
        <p:spPr>
          <a:xfrm>
            <a:off x="7456932" y="2724259"/>
            <a:ext cx="82296" cy="82296"/>
          </a:xfrm>
          <a:prstGeom prst="ellipse">
            <a:avLst/>
          </a:prstGeom>
          <a:solidFill>
            <a:srgbClr val="087E8B"/>
          </a:solidFill>
          <a:ln w="7620">
            <a:solidFill>
              <a:srgbClr val="FFFFFF"/>
            </a:solidFill>
            <a:prstDash val="solid"/>
          </a:ln>
        </p:spPr>
      </p:sp>
      <p:sp>
        <p:nvSpPr>
          <p:cNvPr id="45" name="Shape 43"/>
          <p:cNvSpPr/>
          <p:nvPr/>
        </p:nvSpPr>
        <p:spPr>
          <a:xfrm>
            <a:off x="8325612" y="2574363"/>
            <a:ext cx="82296" cy="82296"/>
          </a:xfrm>
          <a:prstGeom prst="ellipse">
            <a:avLst/>
          </a:prstGeom>
          <a:solidFill>
            <a:srgbClr val="087E8B"/>
          </a:solidFill>
          <a:ln w="7620">
            <a:solidFill>
              <a:srgbClr val="FFFFFF"/>
            </a:solidFill>
            <a:prstDash val="solid"/>
          </a:ln>
        </p:spPr>
      </p:sp>
      <p:sp>
        <p:nvSpPr>
          <p:cNvPr id="46" name="Shape 44"/>
          <p:cNvSpPr/>
          <p:nvPr/>
        </p:nvSpPr>
        <p:spPr>
          <a:xfrm>
            <a:off x="9194292" y="2357846"/>
            <a:ext cx="82296" cy="82296"/>
          </a:xfrm>
          <a:prstGeom prst="ellipse">
            <a:avLst/>
          </a:prstGeom>
          <a:solidFill>
            <a:srgbClr val="087E8B"/>
          </a:solidFill>
          <a:ln w="7620">
            <a:solidFill>
              <a:srgbClr val="FFFFFF"/>
            </a:solidFill>
            <a:prstDash val="solid"/>
          </a:ln>
        </p:spPr>
      </p:sp>
      <p:sp>
        <p:nvSpPr>
          <p:cNvPr id="47" name="Shape 45"/>
          <p:cNvSpPr/>
          <p:nvPr/>
        </p:nvSpPr>
        <p:spPr>
          <a:xfrm>
            <a:off x="10062972" y="2457777"/>
            <a:ext cx="82296" cy="82296"/>
          </a:xfrm>
          <a:prstGeom prst="ellipse">
            <a:avLst/>
          </a:prstGeom>
          <a:solidFill>
            <a:srgbClr val="087E8B"/>
          </a:solidFill>
          <a:ln w="7620">
            <a:solidFill>
              <a:srgbClr val="FFFFFF"/>
            </a:solidFill>
            <a:prstDash val="solid"/>
          </a:ln>
        </p:spPr>
      </p:sp>
      <p:sp>
        <p:nvSpPr>
          <p:cNvPr id="48" name="Shape 46"/>
          <p:cNvSpPr/>
          <p:nvPr/>
        </p:nvSpPr>
        <p:spPr>
          <a:xfrm>
            <a:off x="10931652" y="2157984"/>
            <a:ext cx="82296" cy="82296"/>
          </a:xfrm>
          <a:prstGeom prst="ellipse">
            <a:avLst/>
          </a:prstGeom>
          <a:solidFill>
            <a:srgbClr val="087E8B"/>
          </a:solidFill>
          <a:ln w="7620">
            <a:solidFill>
              <a:srgbClr val="FFFFFF"/>
            </a:solidFill>
            <a:prstDash val="solid"/>
          </a:ln>
        </p:spPr>
      </p:sp>
      <p:sp>
        <p:nvSpPr>
          <p:cNvPr id="49" name="Shape 47"/>
          <p:cNvSpPr/>
          <p:nvPr/>
        </p:nvSpPr>
        <p:spPr>
          <a:xfrm>
            <a:off x="6629400" y="3581509"/>
            <a:ext cx="868680" cy="0"/>
          </a:xfrm>
          <a:prstGeom prst="line">
            <a:avLst/>
          </a:prstGeom>
          <a:noFill/>
          <a:ln w="25400">
            <a:solidFill>
              <a:srgbClr val="2E7D32"/>
            </a:solidFill>
            <a:prstDash val="solid"/>
          </a:ln>
        </p:spPr>
      </p:sp>
      <p:sp>
        <p:nvSpPr>
          <p:cNvPr id="50" name="Shape 48"/>
          <p:cNvSpPr/>
          <p:nvPr/>
        </p:nvSpPr>
        <p:spPr>
          <a:xfrm>
            <a:off x="7498080" y="3531543"/>
            <a:ext cx="868680" cy="0"/>
          </a:xfrm>
          <a:prstGeom prst="line">
            <a:avLst/>
          </a:prstGeom>
          <a:noFill/>
          <a:ln w="25400">
            <a:solidFill>
              <a:srgbClr val="2E7D32"/>
            </a:solidFill>
            <a:prstDash val="solid"/>
          </a:ln>
        </p:spPr>
      </p:sp>
      <p:sp>
        <p:nvSpPr>
          <p:cNvPr id="51" name="Shape 49"/>
          <p:cNvSpPr/>
          <p:nvPr/>
        </p:nvSpPr>
        <p:spPr>
          <a:xfrm>
            <a:off x="8366760" y="3464923"/>
            <a:ext cx="868680" cy="0"/>
          </a:xfrm>
          <a:prstGeom prst="line">
            <a:avLst/>
          </a:prstGeom>
          <a:noFill/>
          <a:ln w="25400">
            <a:solidFill>
              <a:srgbClr val="2E7D32"/>
            </a:solidFill>
            <a:prstDash val="solid"/>
          </a:ln>
        </p:spPr>
      </p:sp>
      <p:sp>
        <p:nvSpPr>
          <p:cNvPr id="52" name="Shape 50"/>
          <p:cNvSpPr/>
          <p:nvPr/>
        </p:nvSpPr>
        <p:spPr>
          <a:xfrm>
            <a:off x="9235440" y="3281716"/>
            <a:ext cx="868680" cy="199862"/>
          </a:xfrm>
          <a:prstGeom prst="line">
            <a:avLst/>
          </a:prstGeom>
          <a:noFill/>
          <a:ln w="25400">
            <a:solidFill>
              <a:srgbClr val="2E7D32"/>
            </a:solidFill>
            <a:prstDash val="solid"/>
          </a:ln>
        </p:spPr>
      </p:sp>
      <p:sp>
        <p:nvSpPr>
          <p:cNvPr id="53" name="Shape 51"/>
          <p:cNvSpPr/>
          <p:nvPr/>
        </p:nvSpPr>
        <p:spPr>
          <a:xfrm>
            <a:off x="10104120" y="3481578"/>
            <a:ext cx="868680" cy="0"/>
          </a:xfrm>
          <a:prstGeom prst="line">
            <a:avLst/>
          </a:prstGeom>
          <a:noFill/>
          <a:ln w="25400">
            <a:solidFill>
              <a:srgbClr val="2E7D32"/>
            </a:solidFill>
            <a:prstDash val="solid"/>
          </a:ln>
        </p:spPr>
      </p:sp>
      <p:sp>
        <p:nvSpPr>
          <p:cNvPr id="54" name="Shape 52"/>
          <p:cNvSpPr/>
          <p:nvPr/>
        </p:nvSpPr>
        <p:spPr>
          <a:xfrm>
            <a:off x="6588252" y="3540361"/>
            <a:ext cx="82296" cy="82296"/>
          </a:xfrm>
          <a:prstGeom prst="ellipse">
            <a:avLst/>
          </a:prstGeom>
          <a:solidFill>
            <a:srgbClr val="2E7D32"/>
          </a:solidFill>
          <a:ln w="7620">
            <a:solidFill>
              <a:srgbClr val="FFFFFF"/>
            </a:solidFill>
            <a:prstDash val="solid"/>
          </a:ln>
        </p:spPr>
      </p:sp>
      <p:sp>
        <p:nvSpPr>
          <p:cNvPr id="55" name="Shape 53"/>
          <p:cNvSpPr/>
          <p:nvPr/>
        </p:nvSpPr>
        <p:spPr>
          <a:xfrm>
            <a:off x="7456932" y="3490395"/>
            <a:ext cx="82296" cy="82296"/>
          </a:xfrm>
          <a:prstGeom prst="ellipse">
            <a:avLst/>
          </a:prstGeom>
          <a:solidFill>
            <a:srgbClr val="2E7D32"/>
          </a:solidFill>
          <a:ln w="7620">
            <a:solidFill>
              <a:srgbClr val="FFFFFF"/>
            </a:solidFill>
            <a:prstDash val="solid"/>
          </a:ln>
        </p:spPr>
      </p:sp>
      <p:sp>
        <p:nvSpPr>
          <p:cNvPr id="56" name="Shape 54"/>
          <p:cNvSpPr/>
          <p:nvPr/>
        </p:nvSpPr>
        <p:spPr>
          <a:xfrm>
            <a:off x="8325612" y="3423775"/>
            <a:ext cx="82296" cy="82296"/>
          </a:xfrm>
          <a:prstGeom prst="ellipse">
            <a:avLst/>
          </a:prstGeom>
          <a:solidFill>
            <a:srgbClr val="2E7D32"/>
          </a:solidFill>
          <a:ln w="7620">
            <a:solidFill>
              <a:srgbClr val="FFFFFF"/>
            </a:solidFill>
            <a:prstDash val="solid"/>
          </a:ln>
        </p:spPr>
      </p:sp>
      <p:sp>
        <p:nvSpPr>
          <p:cNvPr id="57" name="Shape 55"/>
          <p:cNvSpPr/>
          <p:nvPr/>
        </p:nvSpPr>
        <p:spPr>
          <a:xfrm>
            <a:off x="9194292" y="3240568"/>
            <a:ext cx="82296" cy="82296"/>
          </a:xfrm>
          <a:prstGeom prst="ellipse">
            <a:avLst/>
          </a:prstGeom>
          <a:solidFill>
            <a:srgbClr val="2E7D32"/>
          </a:solidFill>
          <a:ln w="7620">
            <a:solidFill>
              <a:srgbClr val="FFFFFF"/>
            </a:solidFill>
            <a:prstDash val="solid"/>
          </a:ln>
        </p:spPr>
      </p:sp>
      <p:sp>
        <p:nvSpPr>
          <p:cNvPr id="58" name="Shape 56"/>
          <p:cNvSpPr/>
          <p:nvPr/>
        </p:nvSpPr>
        <p:spPr>
          <a:xfrm>
            <a:off x="10062972" y="3440430"/>
            <a:ext cx="82296" cy="82296"/>
          </a:xfrm>
          <a:prstGeom prst="ellipse">
            <a:avLst/>
          </a:prstGeom>
          <a:solidFill>
            <a:srgbClr val="2E7D32"/>
          </a:solidFill>
          <a:ln w="7620">
            <a:solidFill>
              <a:srgbClr val="FFFFFF"/>
            </a:solidFill>
            <a:prstDash val="solid"/>
          </a:ln>
        </p:spPr>
      </p:sp>
      <p:sp>
        <p:nvSpPr>
          <p:cNvPr id="59" name="Shape 57"/>
          <p:cNvSpPr/>
          <p:nvPr/>
        </p:nvSpPr>
        <p:spPr>
          <a:xfrm>
            <a:off x="10931652" y="3190603"/>
            <a:ext cx="82296" cy="82296"/>
          </a:xfrm>
          <a:prstGeom prst="ellipse">
            <a:avLst/>
          </a:prstGeom>
          <a:solidFill>
            <a:srgbClr val="2E7D32"/>
          </a:solidFill>
          <a:ln w="7620">
            <a:solidFill>
              <a:srgbClr val="FFFFFF"/>
            </a:solidFill>
            <a:prstDash val="solid"/>
          </a:ln>
        </p:spPr>
      </p:sp>
      <p:sp>
        <p:nvSpPr>
          <p:cNvPr id="60" name="Shape 58"/>
          <p:cNvSpPr/>
          <p:nvPr/>
        </p:nvSpPr>
        <p:spPr>
          <a:xfrm>
            <a:off x="6629400" y="1645920"/>
            <a:ext cx="137160" cy="137160"/>
          </a:xfrm>
          <a:prstGeom prst="rect">
            <a:avLst/>
          </a:prstGeom>
          <a:solidFill>
            <a:srgbClr val="087E8B"/>
          </a:solidFill>
          <a:ln w="12700">
            <a:solidFill>
              <a:srgbClr val="087E8B"/>
            </a:solidFill>
            <a:prstDash val="solid"/>
          </a:ln>
        </p:spPr>
      </p:sp>
      <p:sp>
        <p:nvSpPr>
          <p:cNvPr id="61" name="Text 59"/>
          <p:cNvSpPr/>
          <p:nvPr/>
        </p:nvSpPr>
        <p:spPr>
          <a:xfrm>
            <a:off x="6803136" y="1627632"/>
            <a:ext cx="1097280" cy="182880"/>
          </a:xfrm>
          <a:prstGeom prst="rect">
            <a:avLst/>
          </a:prstGeom>
          <a:noFill/>
          <a:ln/>
        </p:spPr>
        <p:txBody>
          <a:bodyPr wrap="square" lIns="0" tIns="0" rIns="0" bIns="0" rtlCol="0" anchor="ctr"/>
          <a:lstStyle/>
          <a:p>
            <a:pPr marL="0" indent="0">
              <a:buNone/>
            </a:pPr>
            <a:r>
              <a:rPr lang="en-US" sz="750" dirty="0">
                <a:solidFill>
                  <a:srgbClr val="243B53"/>
                </a:solidFill>
              </a:rPr>
              <a:t>Revenue</a:t>
            </a:r>
            <a:endParaRPr lang="en-US" sz="750" dirty="0"/>
          </a:p>
        </p:txBody>
      </p:sp>
      <p:sp>
        <p:nvSpPr>
          <p:cNvPr id="62" name="Shape 60"/>
          <p:cNvSpPr/>
          <p:nvPr/>
        </p:nvSpPr>
        <p:spPr>
          <a:xfrm>
            <a:off x="7680960" y="1645920"/>
            <a:ext cx="137160" cy="137160"/>
          </a:xfrm>
          <a:prstGeom prst="rect">
            <a:avLst/>
          </a:prstGeom>
          <a:solidFill>
            <a:srgbClr val="2E7D32"/>
          </a:solidFill>
          <a:ln w="12700">
            <a:solidFill>
              <a:srgbClr val="2E7D32"/>
            </a:solidFill>
            <a:prstDash val="solid"/>
          </a:ln>
        </p:spPr>
      </p:sp>
      <p:sp>
        <p:nvSpPr>
          <p:cNvPr id="63" name="Text 61"/>
          <p:cNvSpPr/>
          <p:nvPr/>
        </p:nvSpPr>
        <p:spPr>
          <a:xfrm>
            <a:off x="7854696" y="1627632"/>
            <a:ext cx="1097280" cy="182880"/>
          </a:xfrm>
          <a:prstGeom prst="rect">
            <a:avLst/>
          </a:prstGeom>
          <a:noFill/>
          <a:ln/>
        </p:spPr>
        <p:txBody>
          <a:bodyPr wrap="square" lIns="0" tIns="0" rIns="0" bIns="0" rtlCol="0" anchor="ctr"/>
          <a:lstStyle/>
          <a:p>
            <a:pPr marL="0" indent="0">
              <a:buNone/>
            </a:pPr>
            <a:r>
              <a:rPr lang="en-US" sz="750" dirty="0">
                <a:solidFill>
                  <a:srgbClr val="243B53"/>
                </a:solidFill>
              </a:rPr>
              <a:t>Profit</a:t>
            </a:r>
            <a:endParaRPr lang="en-US" sz="750" dirty="0"/>
          </a:p>
        </p:txBody>
      </p:sp>
      <p:sp>
        <p:nvSpPr>
          <p:cNvPr id="64" name="Text 62"/>
          <p:cNvSpPr/>
          <p:nvPr/>
        </p:nvSpPr>
        <p:spPr>
          <a:xfrm>
            <a:off x="6601968" y="4709160"/>
            <a:ext cx="4343400" cy="228600"/>
          </a:xfrm>
          <a:prstGeom prst="rect">
            <a:avLst/>
          </a:prstGeom>
          <a:noFill/>
          <a:ln/>
        </p:spPr>
        <p:txBody>
          <a:bodyPr wrap="square" lIns="0" tIns="0" rIns="0" bIns="0" rtlCol="0" anchor="ctr"/>
          <a:lstStyle/>
          <a:p>
            <a:pPr marL="0" indent="0" algn="ctr">
              <a:buNone/>
            </a:pPr>
            <a:r>
              <a:rPr lang="en-US" sz="950" dirty="0">
                <a:solidFill>
                  <a:srgbClr val="2E7D32"/>
                </a:solidFill>
              </a:rPr>
              <a:t>Better: shows May as revenue dip + profit deterioration.</a:t>
            </a:r>
            <a:endParaRPr lang="en-US" sz="950" dirty="0"/>
          </a:p>
        </p:txBody>
      </p:sp>
      <p:sp>
        <p:nvSpPr>
          <p:cNvPr id="65" name="Shape 63"/>
          <p:cNvSpPr/>
          <p:nvPr/>
        </p:nvSpPr>
        <p:spPr>
          <a:xfrm>
            <a:off x="822960" y="5504688"/>
            <a:ext cx="10424160" cy="530352"/>
          </a:xfrm>
          <a:prstGeom prst="roundRect">
            <a:avLst>
              <a:gd name="adj" fmla="val 8621"/>
            </a:avLst>
          </a:prstGeom>
          <a:solidFill>
            <a:srgbClr val="F6E7C1"/>
          </a:solidFill>
          <a:ln w="8890">
            <a:solidFill>
              <a:srgbClr val="E3C56F"/>
            </a:solidFill>
            <a:prstDash val="solid"/>
          </a:ln>
        </p:spPr>
      </p:sp>
      <p:sp>
        <p:nvSpPr>
          <p:cNvPr id="66" name="Text 64"/>
          <p:cNvSpPr/>
          <p:nvPr/>
        </p:nvSpPr>
        <p:spPr>
          <a:xfrm>
            <a:off x="987552" y="5577840"/>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67" name="Text 65"/>
          <p:cNvSpPr/>
          <p:nvPr/>
        </p:nvSpPr>
        <p:spPr>
          <a:xfrm>
            <a:off x="987552" y="5769864"/>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Better charts answer better questions. Add context when a single metric can mislead.</a:t>
            </a:r>
            <a:endParaRPr lang="en-US" sz="1050" dirty="0"/>
          </a:p>
        </p:txBody>
      </p:sp>
      <p:sp>
        <p:nvSpPr>
          <p:cNvPr id="68" name="Text 66"/>
          <p:cNvSpPr/>
          <p:nvPr/>
        </p:nvSpPr>
        <p:spPr>
          <a:xfrm>
            <a:off x="6675120" y="6510528"/>
            <a:ext cx="4480560" cy="201168"/>
          </a:xfrm>
          <a:prstGeom prst="rect">
            <a:avLst/>
          </a:prstGeom>
          <a:noFill/>
          <a:ln/>
        </p:spPr>
        <p:txBody>
          <a:bodyPr wrap="square" lIns="0" tIns="0" rIns="0" bIns="0" rtlCol="0" anchor="ctr"/>
          <a:lstStyle/>
          <a:p>
            <a:pPr marL="0" indent="0" algn="r">
              <a:buNone/>
            </a:pPr>
            <a:r>
              <a:rPr lang="en-US" sz="680" dirty="0">
                <a:solidFill>
                  <a:srgbClr val="627D98"/>
                </a:solidFill>
              </a:rPr>
              <a:t>Sample training data for GlowCare Beauty &amp; Retail. Figures are illustrative.</a:t>
            </a:r>
            <a:endParaRPr lang="en-US" sz="680" dirty="0"/>
          </a:p>
        </p:txBody>
      </p:sp>
      <p:sp>
        <p:nvSpPr>
          <p:cNvPr id="69"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TURNING NUMBERS INTO MEANING</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From observation to insight</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6</a:t>
            </a:r>
            <a:endParaRPr lang="en-US" sz="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85800" y="1234440"/>
          <a:ext cx="10835640" cy="3063240"/>
        </p:xfrm>
        <a:graphic>
          <a:graphicData uri="http://schemas.openxmlformats.org/drawingml/2006/table">
            <a:tbl>
              <a:tblPr/>
              <a:tblGrid>
                <a:gridCol w="361188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612648">
                <a:tc>
                  <a:txBody>
                    <a:bodyPr/>
                    <a:lstStyle/>
                    <a:p>
                      <a:pPr marL="0" indent="0">
                        <a:buNone/>
                      </a:pPr>
                      <a:r>
                        <a:rPr lang="en-US" sz="970" b="1" dirty="0">
                          <a:solidFill>
                            <a:srgbClr val="FFFFFF"/>
                          </a:solidFill>
                          <a:latin typeface="Aptos" pitchFamily="34" charset="0"/>
                          <a:ea typeface="Aptos" pitchFamily="34" charset="-122"/>
                          <a:cs typeface="Aptos" pitchFamily="34" charset="-120"/>
                        </a:rPr>
                        <a:t>Level</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70" b="1" dirty="0">
                          <a:solidFill>
                            <a:srgbClr val="FFFFFF"/>
                          </a:solidFill>
                          <a:latin typeface="Aptos" pitchFamily="34" charset="0"/>
                          <a:ea typeface="Aptos" pitchFamily="34" charset="-122"/>
                          <a:cs typeface="Aptos" pitchFamily="34" charset="-120"/>
                        </a:rPr>
                        <a:t>GlowCare example</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970" b="1" dirty="0">
                          <a:solidFill>
                            <a:srgbClr val="FFFFFF"/>
                          </a:solidFill>
                          <a:latin typeface="Aptos" pitchFamily="34" charset="0"/>
                          <a:ea typeface="Aptos" pitchFamily="34" charset="-122"/>
                          <a:cs typeface="Aptos" pitchFamily="34" charset="-120"/>
                        </a:rPr>
                        <a:t>Quality</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612648">
                <a:tc>
                  <a:txBody>
                    <a:bodyPr/>
                    <a:lstStyle/>
                    <a:p>
                      <a:pPr marL="0" indent="0">
                        <a:buNone/>
                      </a:pPr>
                      <a:r>
                        <a:rPr lang="en-US" sz="970" dirty="0">
                          <a:solidFill>
                            <a:srgbClr val="243B53"/>
                          </a:solidFill>
                          <a:latin typeface="Aptos" pitchFamily="34" charset="0"/>
                          <a:ea typeface="Aptos" pitchFamily="34" charset="-122"/>
                          <a:cs typeface="Aptos" pitchFamily="34" charset="-120"/>
                        </a:rPr>
                        <a:t>Observation</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May profit fell from $6,100 to $4,900</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Fact</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970" dirty="0">
                          <a:solidFill>
                            <a:srgbClr val="243B53"/>
                          </a:solidFill>
                          <a:latin typeface="Aptos" pitchFamily="34" charset="0"/>
                          <a:ea typeface="Aptos" pitchFamily="34" charset="-122"/>
                          <a:cs typeface="Aptos" pitchFamily="34" charset="-120"/>
                        </a:rPr>
                        <a:t>Pattern</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At the same time, cost, complaints, stockouts, and late deliveries rose</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Connected evidence</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970" dirty="0">
                          <a:solidFill>
                            <a:srgbClr val="243B53"/>
                          </a:solidFill>
                          <a:latin typeface="Aptos" pitchFamily="34" charset="0"/>
                          <a:ea typeface="Aptos" pitchFamily="34" charset="-122"/>
                          <a:cs typeface="Aptos" pitchFamily="34" charset="-120"/>
                        </a:rPr>
                        <a:t>Insight</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Operational strain likely reduced sales quality and customer trust while raising cost</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Business meaning</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2648">
                <a:tc>
                  <a:txBody>
                    <a:bodyPr/>
                    <a:lstStyle/>
                    <a:p>
                      <a:pPr marL="0" indent="0">
                        <a:buNone/>
                      </a:pPr>
                      <a:r>
                        <a:rPr lang="en-US" sz="970" dirty="0">
                          <a:solidFill>
                            <a:srgbClr val="243B53"/>
                          </a:solidFill>
                          <a:latin typeface="Aptos" pitchFamily="34" charset="0"/>
                          <a:ea typeface="Aptos" pitchFamily="34" charset="-122"/>
                          <a:cs typeface="Aptos" pitchFamily="34" charset="-120"/>
                        </a:rPr>
                        <a:t>Decision question</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Should we fix reliability before increasing demand?</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970" dirty="0">
                          <a:solidFill>
                            <a:srgbClr val="243B53"/>
                          </a:solidFill>
                          <a:latin typeface="Aptos" pitchFamily="34" charset="0"/>
                          <a:ea typeface="Aptos" pitchFamily="34" charset="-122"/>
                          <a:cs typeface="Aptos" pitchFamily="34" charset="-120"/>
                        </a:rPr>
                        <a:t>Action direction</a:t>
                      </a:r>
                      <a:endParaRPr lang="en-US" sz="9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822960" y="5257800"/>
            <a:ext cx="10424160" cy="658368"/>
          </a:xfrm>
          <a:prstGeom prst="roundRect">
            <a:avLst>
              <a:gd name="adj" fmla="val 6944"/>
            </a:avLst>
          </a:prstGeom>
          <a:solidFill>
            <a:srgbClr val="F6E7C1"/>
          </a:solidFill>
          <a:ln w="8890">
            <a:solidFill>
              <a:srgbClr val="E3C56F"/>
            </a:solidFill>
            <a:prstDash val="solid"/>
          </a:ln>
        </p:spPr>
      </p:sp>
      <p:sp>
        <p:nvSpPr>
          <p:cNvPr id="7" name="Text 4"/>
          <p:cNvSpPr/>
          <p:nvPr/>
        </p:nvSpPr>
        <p:spPr>
          <a:xfrm>
            <a:off x="987552" y="533095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8" name="Text 5"/>
          <p:cNvSpPr/>
          <p:nvPr/>
        </p:nvSpPr>
        <p:spPr>
          <a:xfrm>
            <a:off x="987552" y="5522976"/>
            <a:ext cx="10094976" cy="347472"/>
          </a:xfrm>
          <a:prstGeom prst="rect">
            <a:avLst/>
          </a:prstGeom>
          <a:noFill/>
          <a:ln/>
        </p:spPr>
        <p:txBody>
          <a:bodyPr wrap="square" lIns="0" tIns="0" rIns="0" bIns="0" rtlCol="0" anchor="ctr">
            <a:normAutofit/>
          </a:bodyPr>
          <a:lstStyle/>
          <a:p>
            <a:pPr marL="0" indent="0">
              <a:buNone/>
            </a:pPr>
            <a:r>
              <a:rPr lang="en-US" sz="1050" dirty="0">
                <a:solidFill>
                  <a:srgbClr val="243B53"/>
                </a:solidFill>
              </a:rPr>
              <a:t>An insight explains business meaning. It is stronger than an observation because it connects multiple pieces of evidence.</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RECOMMENDATION FRAMEWORK</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From insight to recommendation</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6</a:t>
            </a:r>
            <a:endParaRPr lang="en-US" sz="800" dirty="0"/>
          </a:p>
        </p:txBody>
      </p:sp>
      <p:sp>
        <p:nvSpPr>
          <p:cNvPr id="5" name="Shape 3"/>
          <p:cNvSpPr/>
          <p:nvPr/>
        </p:nvSpPr>
        <p:spPr>
          <a:xfrm>
            <a:off x="777240" y="1188720"/>
            <a:ext cx="10652760" cy="4297680"/>
          </a:xfrm>
          <a:prstGeom prst="roundRect">
            <a:avLst>
              <a:gd name="adj" fmla="val 1702"/>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Shape 4"/>
          <p:cNvSpPr/>
          <p:nvPr/>
        </p:nvSpPr>
        <p:spPr>
          <a:xfrm>
            <a:off x="1097280" y="1828800"/>
            <a:ext cx="2057400" cy="749808"/>
          </a:xfrm>
          <a:prstGeom prst="roundRect">
            <a:avLst>
              <a:gd name="adj" fmla="val 7317"/>
            </a:avLst>
          </a:prstGeom>
          <a:solidFill>
            <a:srgbClr val="2F5D8C"/>
          </a:solidFill>
          <a:ln w="12700">
            <a:solidFill>
              <a:srgbClr val="FFFFFF"/>
            </a:solidFill>
            <a:prstDash val="solid"/>
          </a:ln>
        </p:spPr>
      </p:sp>
      <p:sp>
        <p:nvSpPr>
          <p:cNvPr id="7" name="Text 5"/>
          <p:cNvSpPr/>
          <p:nvPr/>
        </p:nvSpPr>
        <p:spPr>
          <a:xfrm>
            <a:off x="1188720" y="1975104"/>
            <a:ext cx="1874520" cy="182880"/>
          </a:xfrm>
          <a:prstGeom prst="rect">
            <a:avLst/>
          </a:prstGeom>
          <a:noFill/>
          <a:ln/>
        </p:spPr>
        <p:txBody>
          <a:bodyPr wrap="square" lIns="0" tIns="0" rIns="0" bIns="0" rtlCol="0" anchor="ctr"/>
          <a:lstStyle/>
          <a:p>
            <a:pPr marL="0" indent="0" algn="ctr">
              <a:buNone/>
            </a:pPr>
            <a:r>
              <a:rPr lang="en-US" sz="1050" b="1" dirty="0">
                <a:solidFill>
                  <a:srgbClr val="FFFFFF"/>
                </a:solidFill>
              </a:rPr>
              <a:t>Observation</a:t>
            </a:r>
            <a:endParaRPr lang="en-US" sz="1050" dirty="0"/>
          </a:p>
        </p:txBody>
      </p:sp>
      <p:sp>
        <p:nvSpPr>
          <p:cNvPr id="8" name="Text 6"/>
          <p:cNvSpPr/>
          <p:nvPr/>
        </p:nvSpPr>
        <p:spPr>
          <a:xfrm>
            <a:off x="1188720" y="2212848"/>
            <a:ext cx="1874520" cy="164592"/>
          </a:xfrm>
          <a:prstGeom prst="rect">
            <a:avLst/>
          </a:prstGeom>
          <a:noFill/>
          <a:ln/>
        </p:spPr>
        <p:txBody>
          <a:bodyPr wrap="square" lIns="0" tIns="0" rIns="0" bIns="0" rtlCol="0" anchor="ctr"/>
          <a:lstStyle/>
          <a:p>
            <a:pPr marL="0" indent="0" algn="ctr">
              <a:buNone/>
            </a:pPr>
            <a:r>
              <a:rPr lang="en-US" sz="730" dirty="0">
                <a:solidFill>
                  <a:srgbClr val="FFFFFF"/>
                </a:solidFill>
              </a:rPr>
              <a:t>What changed?</a:t>
            </a:r>
            <a:endParaRPr lang="en-US" sz="730" dirty="0"/>
          </a:p>
        </p:txBody>
      </p:sp>
      <p:sp>
        <p:nvSpPr>
          <p:cNvPr id="9" name="Shape 7"/>
          <p:cNvSpPr/>
          <p:nvPr/>
        </p:nvSpPr>
        <p:spPr>
          <a:xfrm>
            <a:off x="3200400" y="2057400"/>
            <a:ext cx="411480" cy="274320"/>
          </a:xfrm>
          <a:prstGeom prst="rightArrow">
            <a:avLst/>
          </a:prstGeom>
          <a:solidFill>
            <a:srgbClr val="D7C9B6"/>
          </a:solidFill>
          <a:ln w="12700">
            <a:solidFill>
              <a:srgbClr val="D7C9B6"/>
            </a:solidFill>
            <a:prstDash val="solid"/>
          </a:ln>
        </p:spPr>
      </p:sp>
      <p:sp>
        <p:nvSpPr>
          <p:cNvPr id="10" name="Shape 8"/>
          <p:cNvSpPr/>
          <p:nvPr/>
        </p:nvSpPr>
        <p:spPr>
          <a:xfrm>
            <a:off x="3703320" y="1828800"/>
            <a:ext cx="2057400" cy="749808"/>
          </a:xfrm>
          <a:prstGeom prst="roundRect">
            <a:avLst>
              <a:gd name="adj" fmla="val 7317"/>
            </a:avLst>
          </a:prstGeom>
          <a:solidFill>
            <a:srgbClr val="087E8B"/>
          </a:solidFill>
          <a:ln w="12700">
            <a:solidFill>
              <a:srgbClr val="FFFFFF"/>
            </a:solidFill>
            <a:prstDash val="solid"/>
          </a:ln>
        </p:spPr>
      </p:sp>
      <p:sp>
        <p:nvSpPr>
          <p:cNvPr id="11" name="Text 9"/>
          <p:cNvSpPr/>
          <p:nvPr/>
        </p:nvSpPr>
        <p:spPr>
          <a:xfrm>
            <a:off x="3794760" y="1975104"/>
            <a:ext cx="1874520" cy="182880"/>
          </a:xfrm>
          <a:prstGeom prst="rect">
            <a:avLst/>
          </a:prstGeom>
          <a:noFill/>
          <a:ln/>
        </p:spPr>
        <p:txBody>
          <a:bodyPr wrap="square" lIns="0" tIns="0" rIns="0" bIns="0" rtlCol="0" anchor="ctr"/>
          <a:lstStyle/>
          <a:p>
            <a:pPr marL="0" indent="0" algn="ctr">
              <a:buNone/>
            </a:pPr>
            <a:r>
              <a:rPr lang="en-US" sz="1050" b="1" dirty="0">
                <a:solidFill>
                  <a:srgbClr val="FFFFFF"/>
                </a:solidFill>
              </a:rPr>
              <a:t>Insight</a:t>
            </a:r>
            <a:endParaRPr lang="en-US" sz="1050" dirty="0"/>
          </a:p>
        </p:txBody>
      </p:sp>
      <p:sp>
        <p:nvSpPr>
          <p:cNvPr id="12" name="Text 10"/>
          <p:cNvSpPr/>
          <p:nvPr/>
        </p:nvSpPr>
        <p:spPr>
          <a:xfrm>
            <a:off x="3794760" y="2212848"/>
            <a:ext cx="1874520" cy="164592"/>
          </a:xfrm>
          <a:prstGeom prst="rect">
            <a:avLst/>
          </a:prstGeom>
          <a:noFill/>
          <a:ln/>
        </p:spPr>
        <p:txBody>
          <a:bodyPr wrap="square" lIns="0" tIns="0" rIns="0" bIns="0" rtlCol="0" anchor="ctr"/>
          <a:lstStyle/>
          <a:p>
            <a:pPr marL="0" indent="0" algn="ctr">
              <a:buNone/>
            </a:pPr>
            <a:r>
              <a:rPr lang="en-US" sz="730" dirty="0">
                <a:solidFill>
                  <a:srgbClr val="FFFFFF"/>
                </a:solidFill>
              </a:rPr>
              <a:t>What does it mean?</a:t>
            </a:r>
            <a:endParaRPr lang="en-US" sz="730" dirty="0"/>
          </a:p>
        </p:txBody>
      </p:sp>
      <p:sp>
        <p:nvSpPr>
          <p:cNvPr id="13" name="Shape 11"/>
          <p:cNvSpPr/>
          <p:nvPr/>
        </p:nvSpPr>
        <p:spPr>
          <a:xfrm>
            <a:off x="5806440" y="2057400"/>
            <a:ext cx="411480" cy="274320"/>
          </a:xfrm>
          <a:prstGeom prst="rightArrow">
            <a:avLst/>
          </a:prstGeom>
          <a:solidFill>
            <a:srgbClr val="D7C9B6"/>
          </a:solidFill>
          <a:ln w="12700">
            <a:solidFill>
              <a:srgbClr val="D7C9B6"/>
            </a:solidFill>
            <a:prstDash val="solid"/>
          </a:ln>
        </p:spPr>
      </p:sp>
      <p:sp>
        <p:nvSpPr>
          <p:cNvPr id="14" name="Shape 12"/>
          <p:cNvSpPr/>
          <p:nvPr/>
        </p:nvSpPr>
        <p:spPr>
          <a:xfrm>
            <a:off x="6309360" y="1828800"/>
            <a:ext cx="2057400" cy="749808"/>
          </a:xfrm>
          <a:prstGeom prst="roundRect">
            <a:avLst>
              <a:gd name="adj" fmla="val 7317"/>
            </a:avLst>
          </a:prstGeom>
          <a:solidFill>
            <a:srgbClr val="B8860B"/>
          </a:solidFill>
          <a:ln w="12700">
            <a:solidFill>
              <a:srgbClr val="FFFFFF"/>
            </a:solidFill>
            <a:prstDash val="solid"/>
          </a:ln>
        </p:spPr>
      </p:sp>
      <p:sp>
        <p:nvSpPr>
          <p:cNvPr id="15" name="Text 13"/>
          <p:cNvSpPr/>
          <p:nvPr/>
        </p:nvSpPr>
        <p:spPr>
          <a:xfrm>
            <a:off x="6400800" y="1975104"/>
            <a:ext cx="1874520" cy="182880"/>
          </a:xfrm>
          <a:prstGeom prst="rect">
            <a:avLst/>
          </a:prstGeom>
          <a:noFill/>
          <a:ln/>
        </p:spPr>
        <p:txBody>
          <a:bodyPr wrap="square" lIns="0" tIns="0" rIns="0" bIns="0" rtlCol="0" anchor="ctr"/>
          <a:lstStyle/>
          <a:p>
            <a:pPr marL="0" indent="0" algn="ctr">
              <a:buNone/>
            </a:pPr>
            <a:r>
              <a:rPr lang="en-US" sz="1050" b="1" dirty="0">
                <a:solidFill>
                  <a:srgbClr val="FFFFFF"/>
                </a:solidFill>
              </a:rPr>
              <a:t>Recommendation</a:t>
            </a:r>
            <a:endParaRPr lang="en-US" sz="1050" dirty="0"/>
          </a:p>
        </p:txBody>
      </p:sp>
      <p:sp>
        <p:nvSpPr>
          <p:cNvPr id="16" name="Text 14"/>
          <p:cNvSpPr/>
          <p:nvPr/>
        </p:nvSpPr>
        <p:spPr>
          <a:xfrm>
            <a:off x="6400800" y="2212848"/>
            <a:ext cx="1874520" cy="164592"/>
          </a:xfrm>
          <a:prstGeom prst="rect">
            <a:avLst/>
          </a:prstGeom>
          <a:noFill/>
          <a:ln/>
        </p:spPr>
        <p:txBody>
          <a:bodyPr wrap="square" lIns="0" tIns="0" rIns="0" bIns="0" rtlCol="0" anchor="ctr"/>
          <a:lstStyle/>
          <a:p>
            <a:pPr marL="0" indent="0" algn="ctr">
              <a:buNone/>
            </a:pPr>
            <a:r>
              <a:rPr lang="en-US" sz="730" dirty="0">
                <a:solidFill>
                  <a:srgbClr val="FFFFFF"/>
                </a:solidFill>
              </a:rPr>
              <a:t>What should we do?</a:t>
            </a:r>
            <a:endParaRPr lang="en-US" sz="730" dirty="0"/>
          </a:p>
        </p:txBody>
      </p:sp>
      <p:sp>
        <p:nvSpPr>
          <p:cNvPr id="17" name="Shape 15"/>
          <p:cNvSpPr/>
          <p:nvPr/>
        </p:nvSpPr>
        <p:spPr>
          <a:xfrm>
            <a:off x="8412480" y="2057400"/>
            <a:ext cx="411480" cy="274320"/>
          </a:xfrm>
          <a:prstGeom prst="rightArrow">
            <a:avLst/>
          </a:prstGeom>
          <a:solidFill>
            <a:srgbClr val="D7C9B6"/>
          </a:solidFill>
          <a:ln w="12700">
            <a:solidFill>
              <a:srgbClr val="D7C9B6"/>
            </a:solidFill>
            <a:prstDash val="solid"/>
          </a:ln>
        </p:spPr>
      </p:sp>
      <p:sp>
        <p:nvSpPr>
          <p:cNvPr id="18" name="Shape 16"/>
          <p:cNvSpPr/>
          <p:nvPr/>
        </p:nvSpPr>
        <p:spPr>
          <a:xfrm>
            <a:off x="8915400" y="1828800"/>
            <a:ext cx="2057400" cy="749808"/>
          </a:xfrm>
          <a:prstGeom prst="roundRect">
            <a:avLst>
              <a:gd name="adj" fmla="val 7317"/>
            </a:avLst>
          </a:prstGeom>
          <a:solidFill>
            <a:srgbClr val="2E7D32"/>
          </a:solidFill>
          <a:ln w="12700">
            <a:solidFill>
              <a:srgbClr val="FFFFFF"/>
            </a:solidFill>
            <a:prstDash val="solid"/>
          </a:ln>
        </p:spPr>
      </p:sp>
      <p:sp>
        <p:nvSpPr>
          <p:cNvPr id="19" name="Text 17"/>
          <p:cNvSpPr/>
          <p:nvPr/>
        </p:nvSpPr>
        <p:spPr>
          <a:xfrm>
            <a:off x="9006840" y="1975104"/>
            <a:ext cx="1874520" cy="182880"/>
          </a:xfrm>
          <a:prstGeom prst="rect">
            <a:avLst/>
          </a:prstGeom>
          <a:noFill/>
          <a:ln/>
        </p:spPr>
        <p:txBody>
          <a:bodyPr wrap="square" lIns="0" tIns="0" rIns="0" bIns="0" rtlCol="0" anchor="ctr"/>
          <a:lstStyle/>
          <a:p>
            <a:pPr marL="0" indent="0" algn="ctr">
              <a:buNone/>
            </a:pPr>
            <a:r>
              <a:rPr lang="en-US" sz="1050" b="1" dirty="0">
                <a:solidFill>
                  <a:srgbClr val="FFFFFF"/>
                </a:solidFill>
              </a:rPr>
              <a:t>Metric to monitor</a:t>
            </a:r>
            <a:endParaRPr lang="en-US" sz="1050" dirty="0"/>
          </a:p>
        </p:txBody>
      </p:sp>
      <p:sp>
        <p:nvSpPr>
          <p:cNvPr id="20" name="Text 18"/>
          <p:cNvSpPr/>
          <p:nvPr/>
        </p:nvSpPr>
        <p:spPr>
          <a:xfrm>
            <a:off x="9006840" y="2212848"/>
            <a:ext cx="1874520" cy="164592"/>
          </a:xfrm>
          <a:prstGeom prst="rect">
            <a:avLst/>
          </a:prstGeom>
          <a:noFill/>
          <a:ln/>
        </p:spPr>
        <p:txBody>
          <a:bodyPr wrap="square" lIns="0" tIns="0" rIns="0" bIns="0" rtlCol="0" anchor="ctr"/>
          <a:lstStyle/>
          <a:p>
            <a:pPr marL="0" indent="0" algn="ctr">
              <a:buNone/>
            </a:pPr>
            <a:r>
              <a:rPr lang="en-US" sz="730" dirty="0">
                <a:solidFill>
                  <a:srgbClr val="FFFFFF"/>
                </a:solidFill>
              </a:rPr>
              <a:t>How will we know it worked?</a:t>
            </a:r>
            <a:endParaRPr lang="en-US" sz="730" dirty="0"/>
          </a:p>
        </p:txBody>
      </p:sp>
      <p:sp>
        <p:nvSpPr>
          <p:cNvPr id="21" name="Text 19"/>
          <p:cNvSpPr/>
          <p:nvPr/>
        </p:nvSpPr>
        <p:spPr>
          <a:xfrm>
            <a:off x="1143000" y="3246120"/>
            <a:ext cx="2926080" cy="228600"/>
          </a:xfrm>
          <a:prstGeom prst="rect">
            <a:avLst/>
          </a:prstGeom>
          <a:noFill/>
          <a:ln/>
        </p:spPr>
        <p:txBody>
          <a:bodyPr wrap="square" lIns="0" tIns="0" rIns="0" bIns="0" rtlCol="0" anchor="ctr"/>
          <a:lstStyle/>
          <a:p>
            <a:pPr marL="0" indent="0">
              <a:buNone/>
            </a:pPr>
            <a:r>
              <a:rPr lang="en-US" sz="1200" b="1" dirty="0">
                <a:solidFill>
                  <a:srgbClr val="102A43"/>
                </a:solidFill>
              </a:rPr>
              <a:t>Recommendation sentence structure</a:t>
            </a:r>
            <a:endParaRPr lang="en-US" sz="1200" dirty="0"/>
          </a:p>
        </p:txBody>
      </p:sp>
      <p:sp>
        <p:nvSpPr>
          <p:cNvPr id="22" name="Text 20"/>
          <p:cNvSpPr/>
          <p:nvPr/>
        </p:nvSpPr>
        <p:spPr>
          <a:xfrm>
            <a:off x="1143000" y="3611880"/>
            <a:ext cx="9326880" cy="347472"/>
          </a:xfrm>
          <a:prstGeom prst="rect">
            <a:avLst/>
          </a:prstGeom>
          <a:noFill/>
          <a:ln/>
        </p:spPr>
        <p:txBody>
          <a:bodyPr wrap="square" lIns="381" tIns="381" rIns="381" bIns="381" rtlCol="0" anchor="ctr">
            <a:normAutofit/>
          </a:bodyPr>
          <a:lstStyle/>
          <a:p>
            <a:pPr marL="0" indent="0" algn="ctr">
              <a:buNone/>
            </a:pPr>
            <a:r>
              <a:rPr lang="en-US" sz="1700" b="1" dirty="0">
                <a:solidFill>
                  <a:srgbClr val="243B53"/>
                </a:solidFill>
              </a:rPr>
              <a:t>“Because [evidence], I recommend [action] so that [business outcome], measured by [success metric].”</a:t>
            </a:r>
            <a:endParaRPr lang="en-US" sz="1700" dirty="0"/>
          </a:p>
        </p:txBody>
      </p:sp>
      <p:sp>
        <p:nvSpPr>
          <p:cNvPr id="23" name="Shape 21"/>
          <p:cNvSpPr/>
          <p:nvPr/>
        </p:nvSpPr>
        <p:spPr>
          <a:xfrm>
            <a:off x="822960" y="5532120"/>
            <a:ext cx="10424160" cy="530352"/>
          </a:xfrm>
          <a:prstGeom prst="roundRect">
            <a:avLst>
              <a:gd name="adj" fmla="val 8621"/>
            </a:avLst>
          </a:prstGeom>
          <a:solidFill>
            <a:srgbClr val="F6E7C1"/>
          </a:solidFill>
          <a:ln w="8890">
            <a:solidFill>
              <a:srgbClr val="E3C56F"/>
            </a:solidFill>
            <a:prstDash val="solid"/>
          </a:ln>
        </p:spPr>
      </p:sp>
      <p:sp>
        <p:nvSpPr>
          <p:cNvPr id="24" name="Text 22"/>
          <p:cNvSpPr/>
          <p:nvPr/>
        </p:nvSpPr>
        <p:spPr>
          <a:xfrm>
            <a:off x="987552" y="560527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5" name="Text 23"/>
          <p:cNvSpPr/>
          <p:nvPr/>
        </p:nvSpPr>
        <p:spPr>
          <a:xfrm>
            <a:off x="987552" y="5797296"/>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A recommendation is stronger when it names the evidence, the action, the expected outcome, and the metric that will prove progress.</a:t>
            </a:r>
            <a:endParaRPr lang="en-US" sz="1050" dirty="0"/>
          </a:p>
        </p:txBody>
      </p:sp>
      <p:sp>
        <p:nvSpPr>
          <p:cNvPr id="26"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DECISION TRADE-OFFS</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Decision matrix: choosing the best action</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6</a:t>
            </a:r>
            <a:endParaRPr lang="en-US" sz="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2560320"/>
        </p:xfrm>
        <a:graphic>
          <a:graphicData uri="http://schemas.openxmlformats.org/drawingml/2006/table">
            <a:tbl>
              <a:tblPr/>
              <a:tblGrid>
                <a:gridCol w="1394460">
                  <a:extLst>
                    <a:ext uri="{9D8B030D-6E8A-4147-A177-3AD203B41FA5}">
                      <a16:colId xmlns:a16="http://schemas.microsoft.com/office/drawing/2014/main" val="20000"/>
                    </a:ext>
                  </a:extLst>
                </a:gridCol>
                <a:gridCol w="1394460">
                  <a:extLst>
                    <a:ext uri="{9D8B030D-6E8A-4147-A177-3AD203B41FA5}">
                      <a16:colId xmlns:a16="http://schemas.microsoft.com/office/drawing/2014/main" val="20001"/>
                    </a:ext>
                  </a:extLst>
                </a:gridCol>
                <a:gridCol w="1394460">
                  <a:extLst>
                    <a:ext uri="{9D8B030D-6E8A-4147-A177-3AD203B41FA5}">
                      <a16:colId xmlns:a16="http://schemas.microsoft.com/office/drawing/2014/main" val="20002"/>
                    </a:ext>
                  </a:extLst>
                </a:gridCol>
                <a:gridCol w="1394460">
                  <a:extLst>
                    <a:ext uri="{9D8B030D-6E8A-4147-A177-3AD203B41FA5}">
                      <a16:colId xmlns:a16="http://schemas.microsoft.com/office/drawing/2014/main" val="20003"/>
                    </a:ext>
                  </a:extLst>
                </a:gridCol>
                <a:gridCol w="1394460">
                  <a:extLst>
                    <a:ext uri="{9D8B030D-6E8A-4147-A177-3AD203B41FA5}">
                      <a16:colId xmlns:a16="http://schemas.microsoft.com/office/drawing/2014/main" val="20004"/>
                    </a:ext>
                  </a:extLst>
                </a:gridCol>
                <a:gridCol w="1394460">
                  <a:extLst>
                    <a:ext uri="{9D8B030D-6E8A-4147-A177-3AD203B41FA5}">
                      <a16:colId xmlns:a16="http://schemas.microsoft.com/office/drawing/2014/main" val="20005"/>
                    </a:ext>
                  </a:extLst>
                </a:gridCol>
                <a:gridCol w="1394460">
                  <a:extLst>
                    <a:ext uri="{9D8B030D-6E8A-4147-A177-3AD203B41FA5}">
                      <a16:colId xmlns:a16="http://schemas.microsoft.com/office/drawing/2014/main" val="20006"/>
                    </a:ext>
                  </a:extLst>
                </a:gridCol>
                <a:gridCol w="1394460">
                  <a:extLst>
                    <a:ext uri="{9D8B030D-6E8A-4147-A177-3AD203B41FA5}">
                      <a16:colId xmlns:a16="http://schemas.microsoft.com/office/drawing/2014/main" val="20007"/>
                    </a:ext>
                  </a:extLst>
                </a:gridCol>
              </a:tblGrid>
              <a:tr h="512064">
                <a:tc>
                  <a:txBody>
                    <a:bodyPr/>
                    <a:lstStyle/>
                    <a:p>
                      <a:pPr marL="0" indent="0">
                        <a:buNone/>
                      </a:pPr>
                      <a:r>
                        <a:rPr lang="en-US" sz="880" b="1" dirty="0">
                          <a:solidFill>
                            <a:srgbClr val="FFFFFF"/>
                          </a:solidFill>
                          <a:latin typeface="Aptos" pitchFamily="34" charset="0"/>
                          <a:ea typeface="Aptos" pitchFamily="34" charset="-122"/>
                          <a:cs typeface="Aptos" pitchFamily="34" charset="-120"/>
                        </a:rPr>
                        <a:t>Option</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Revenue</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Profit</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Speed</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CX</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Cost control</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Risk</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Total</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512064">
                <a:tc>
                  <a:txBody>
                    <a:bodyPr/>
                    <a:lstStyle/>
                    <a:p>
                      <a:pPr marL="0" indent="0">
                        <a:buNone/>
                      </a:pPr>
                      <a:r>
                        <a:rPr lang="en-US" sz="880" dirty="0">
                          <a:solidFill>
                            <a:srgbClr val="243B53"/>
                          </a:solidFill>
                          <a:latin typeface="Aptos" pitchFamily="34" charset="0"/>
                          <a:ea typeface="Aptos" pitchFamily="34" charset="-122"/>
                          <a:cs typeface="Aptos" pitchFamily="34" charset="-120"/>
                        </a:rPr>
                        <a:t>A. Increase social media ads</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2</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2</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1</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2</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15</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880" dirty="0">
                          <a:solidFill>
                            <a:srgbClr val="243B53"/>
                          </a:solidFill>
                          <a:latin typeface="Aptos" pitchFamily="34" charset="0"/>
                          <a:ea typeface="Aptos" pitchFamily="34" charset="-122"/>
                          <a:cs typeface="Aptos" pitchFamily="34" charset="-120"/>
                        </a:rPr>
                        <a:t>B. Improve service + complaint response</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5</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21</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880" dirty="0">
                          <a:solidFill>
                            <a:srgbClr val="243B53"/>
                          </a:solidFill>
                          <a:latin typeface="Aptos" pitchFamily="34" charset="0"/>
                          <a:ea typeface="Aptos" pitchFamily="34" charset="-122"/>
                          <a:cs typeface="Aptos" pitchFamily="34" charset="-120"/>
                        </a:rPr>
                        <a:t>C. Fix stockouts + delivery reliability</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5</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5</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5</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26</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880" dirty="0">
                          <a:solidFill>
                            <a:srgbClr val="243B53"/>
                          </a:solidFill>
                          <a:latin typeface="Aptos" pitchFamily="34" charset="0"/>
                          <a:ea typeface="Aptos" pitchFamily="34" charset="-122"/>
                          <a:cs typeface="Aptos" pitchFamily="34" charset="-120"/>
                        </a:rPr>
                        <a:t>D. Bundle skincare + facials</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4</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3</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80" dirty="0">
                          <a:solidFill>
                            <a:srgbClr val="243B53"/>
                          </a:solidFill>
                          <a:latin typeface="Aptos" pitchFamily="34" charset="0"/>
                          <a:ea typeface="Aptos" pitchFamily="34" charset="-122"/>
                          <a:cs typeface="Aptos" pitchFamily="34" charset="-120"/>
                        </a:rPr>
                        <a:t>21</a:t>
                      </a:r>
                      <a:endParaRPr lang="en-US" sz="88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914400" y="4160520"/>
            <a:ext cx="10287000" cy="960120"/>
          </a:xfrm>
          <a:prstGeom prst="roundRect">
            <a:avLst>
              <a:gd name="adj" fmla="val 7619"/>
            </a:avLst>
          </a:prstGeom>
          <a:solidFill>
            <a:srgbClr val="E6F4EA"/>
          </a:solidFill>
          <a:ln w="8890">
            <a:solidFill>
              <a:srgbClr val="A8D5B3"/>
            </a:solidFill>
            <a:prstDash val="solid"/>
          </a:ln>
        </p:spPr>
      </p:sp>
      <p:sp>
        <p:nvSpPr>
          <p:cNvPr id="7" name="Text 4"/>
          <p:cNvSpPr/>
          <p:nvPr/>
        </p:nvSpPr>
        <p:spPr>
          <a:xfrm>
            <a:off x="1143000" y="4370832"/>
            <a:ext cx="9829800" cy="228600"/>
          </a:xfrm>
          <a:prstGeom prst="rect">
            <a:avLst/>
          </a:prstGeom>
          <a:noFill/>
          <a:ln/>
        </p:spPr>
        <p:txBody>
          <a:bodyPr wrap="square" lIns="0" tIns="0" rIns="0" bIns="0" rtlCol="0" anchor="ctr"/>
          <a:lstStyle/>
          <a:p>
            <a:pPr marL="0" indent="0" algn="ctr">
              <a:buNone/>
            </a:pPr>
            <a:r>
              <a:rPr lang="en-US" sz="1600" b="1" dirty="0">
                <a:solidFill>
                  <a:srgbClr val="2E7D32"/>
                </a:solidFill>
              </a:rPr>
              <a:t>Recommended first action: Option C — Fix stockouts and delivery reliability</a:t>
            </a:r>
            <a:endParaRPr lang="en-US" sz="1600" dirty="0"/>
          </a:p>
        </p:txBody>
      </p:sp>
      <p:sp>
        <p:nvSpPr>
          <p:cNvPr id="8" name="Text 5"/>
          <p:cNvSpPr/>
          <p:nvPr/>
        </p:nvSpPr>
        <p:spPr>
          <a:xfrm>
            <a:off x="1463040" y="4718304"/>
            <a:ext cx="9144000" cy="164592"/>
          </a:xfrm>
          <a:prstGeom prst="rect">
            <a:avLst/>
          </a:prstGeom>
          <a:noFill/>
          <a:ln/>
        </p:spPr>
        <p:txBody>
          <a:bodyPr wrap="square" lIns="0" tIns="0" rIns="0" bIns="0" rtlCol="0" anchor="ctr"/>
          <a:lstStyle/>
          <a:p>
            <a:pPr marL="0" indent="0" algn="ctr">
              <a:buNone/>
            </a:pPr>
            <a:r>
              <a:rPr lang="en-US" sz="950" dirty="0">
                <a:solidFill>
                  <a:srgbClr val="243B53"/>
                </a:solidFill>
              </a:rPr>
              <a:t>It scores highest because it addresses financial, customer, operational, and risk signals from the May diagnosis.</a:t>
            </a:r>
            <a:endParaRPr lang="en-US" sz="950" dirty="0"/>
          </a:p>
        </p:txBody>
      </p:sp>
      <p:sp>
        <p:nvSpPr>
          <p:cNvPr id="9" name="Shape 6"/>
          <p:cNvSpPr/>
          <p:nvPr/>
        </p:nvSpPr>
        <p:spPr>
          <a:xfrm>
            <a:off x="822960" y="5532120"/>
            <a:ext cx="10424160" cy="530352"/>
          </a:xfrm>
          <a:prstGeom prst="roundRect">
            <a:avLst>
              <a:gd name="adj" fmla="val 8621"/>
            </a:avLst>
          </a:prstGeom>
          <a:solidFill>
            <a:srgbClr val="F6E7C1"/>
          </a:solidFill>
          <a:ln w="8890">
            <a:solidFill>
              <a:srgbClr val="E3C56F"/>
            </a:solidFill>
            <a:prstDash val="solid"/>
          </a:ln>
        </p:spPr>
      </p:sp>
      <p:sp>
        <p:nvSpPr>
          <p:cNvPr id="10" name="Text 7"/>
          <p:cNvSpPr/>
          <p:nvPr/>
        </p:nvSpPr>
        <p:spPr>
          <a:xfrm>
            <a:off x="987552" y="560527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11" name="Text 8"/>
          <p:cNvSpPr/>
          <p:nvPr/>
        </p:nvSpPr>
        <p:spPr>
          <a:xfrm>
            <a:off x="987552" y="5797296"/>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The best decision is not simply the highest revenue idea. It is the best balanced action for profit, customer experience, cost control, and risk.</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DECISION-READY SUMMARY</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Executive recommendation for GlowCare</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6</a:t>
            </a:r>
            <a:endParaRPr lang="en-US" sz="800" dirty="0"/>
          </a:p>
        </p:txBody>
      </p:sp>
      <p:sp>
        <p:nvSpPr>
          <p:cNvPr id="5" name="Shape 3"/>
          <p:cNvSpPr/>
          <p:nvPr/>
        </p:nvSpPr>
        <p:spPr>
          <a:xfrm>
            <a:off x="777240" y="1143000"/>
            <a:ext cx="10972800" cy="4343400"/>
          </a:xfrm>
          <a:prstGeom prst="roundRect">
            <a:avLst>
              <a:gd name="adj" fmla="val 1684"/>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Text 4"/>
          <p:cNvSpPr/>
          <p:nvPr/>
        </p:nvSpPr>
        <p:spPr>
          <a:xfrm>
            <a:off x="1051560" y="1417320"/>
            <a:ext cx="2286000" cy="228600"/>
          </a:xfrm>
          <a:prstGeom prst="rect">
            <a:avLst/>
          </a:prstGeom>
          <a:noFill/>
          <a:ln/>
        </p:spPr>
        <p:txBody>
          <a:bodyPr wrap="square" lIns="0" tIns="0" rIns="0" bIns="0" rtlCol="0" anchor="ctr"/>
          <a:lstStyle/>
          <a:p>
            <a:pPr marL="0" indent="0">
              <a:buNone/>
            </a:pPr>
            <a:r>
              <a:rPr lang="en-US" sz="1200" b="1" dirty="0">
                <a:solidFill>
                  <a:srgbClr val="B8860B"/>
                </a:solidFill>
              </a:rPr>
              <a:t>Recommendation</a:t>
            </a:r>
            <a:endParaRPr lang="en-US" sz="1200" dirty="0"/>
          </a:p>
        </p:txBody>
      </p:sp>
      <p:sp>
        <p:nvSpPr>
          <p:cNvPr id="7" name="Text 5"/>
          <p:cNvSpPr/>
          <p:nvPr/>
        </p:nvSpPr>
        <p:spPr>
          <a:xfrm>
            <a:off x="1051560" y="1783080"/>
            <a:ext cx="10012680" cy="457200"/>
          </a:xfrm>
          <a:prstGeom prst="rect">
            <a:avLst/>
          </a:prstGeom>
          <a:noFill/>
          <a:ln/>
        </p:spPr>
        <p:txBody>
          <a:bodyPr wrap="square" lIns="0" tIns="0" rIns="0" bIns="0" rtlCol="0" anchor="ctr">
            <a:normAutofit/>
          </a:bodyPr>
          <a:lstStyle/>
          <a:p>
            <a:pPr marL="0" indent="0">
              <a:buNone/>
            </a:pPr>
            <a:r>
              <a:rPr lang="en-US" sz="2200" b="1" dirty="0">
                <a:solidFill>
                  <a:srgbClr val="102A43"/>
                </a:solidFill>
              </a:rPr>
              <a:t>Prioritize stock availability and delivery reliability before increasing customer acquisition spend.</a:t>
            </a:r>
            <a:endParaRPr lang="en-US" sz="2200" dirty="0"/>
          </a:p>
        </p:txBody>
      </p:sp>
      <p:sp>
        <p:nvSpPr>
          <p:cNvPr id="8" name="Shape 6"/>
          <p:cNvSpPr/>
          <p:nvPr/>
        </p:nvSpPr>
        <p:spPr>
          <a:xfrm>
            <a:off x="1097280" y="2651760"/>
            <a:ext cx="4800600" cy="749808"/>
          </a:xfrm>
          <a:prstGeom prst="roundRect">
            <a:avLst>
              <a:gd name="adj" fmla="val 9756"/>
            </a:avLst>
          </a:prstGeom>
          <a:solidFill>
            <a:srgbClr val="E7EEF7"/>
          </a:solidFill>
          <a:ln w="8890">
            <a:solidFill>
              <a:srgbClr val="D7C9B6"/>
            </a:solidFill>
            <a:prstDash val="solid"/>
          </a:ln>
        </p:spPr>
      </p:sp>
      <p:sp>
        <p:nvSpPr>
          <p:cNvPr id="9" name="Text 7"/>
          <p:cNvSpPr/>
          <p:nvPr/>
        </p:nvSpPr>
        <p:spPr>
          <a:xfrm>
            <a:off x="1234440" y="2761488"/>
            <a:ext cx="1005840" cy="164592"/>
          </a:xfrm>
          <a:prstGeom prst="rect">
            <a:avLst/>
          </a:prstGeom>
          <a:noFill/>
          <a:ln/>
        </p:spPr>
        <p:txBody>
          <a:bodyPr wrap="square" lIns="0" tIns="0" rIns="0" bIns="0" rtlCol="0" anchor="ctr"/>
          <a:lstStyle/>
          <a:p>
            <a:pPr marL="0" indent="0">
              <a:buNone/>
            </a:pPr>
            <a:r>
              <a:rPr lang="en-US" sz="850" b="1" dirty="0">
                <a:solidFill>
                  <a:srgbClr val="102A43"/>
                </a:solidFill>
              </a:rPr>
              <a:t>Evidence</a:t>
            </a:r>
            <a:endParaRPr lang="en-US" sz="850" dirty="0"/>
          </a:p>
        </p:txBody>
      </p:sp>
      <p:sp>
        <p:nvSpPr>
          <p:cNvPr id="10" name="Text 8"/>
          <p:cNvSpPr/>
          <p:nvPr/>
        </p:nvSpPr>
        <p:spPr>
          <a:xfrm>
            <a:off x="2240280" y="2743200"/>
            <a:ext cx="3474720" cy="347472"/>
          </a:xfrm>
          <a:prstGeom prst="rect">
            <a:avLst/>
          </a:prstGeom>
          <a:noFill/>
          <a:ln/>
        </p:spPr>
        <p:txBody>
          <a:bodyPr wrap="square" lIns="0" tIns="0" rIns="0" bIns="0" rtlCol="0" anchor="ctr">
            <a:normAutofit/>
          </a:bodyPr>
          <a:lstStyle/>
          <a:p>
            <a:pPr marL="0" indent="0">
              <a:buNone/>
            </a:pPr>
            <a:r>
              <a:rPr lang="en-US" sz="820" dirty="0">
                <a:solidFill>
                  <a:srgbClr val="243B53"/>
                </a:solidFill>
              </a:rPr>
              <a:t>May stockouts rose 5 → 16, late deliveries 9 → 21, complaints 19 → 31, repeat rate fell 37.7% → 29.8%.</a:t>
            </a:r>
            <a:endParaRPr lang="en-US" sz="820" dirty="0"/>
          </a:p>
        </p:txBody>
      </p:sp>
      <p:sp>
        <p:nvSpPr>
          <p:cNvPr id="11" name="Shape 9"/>
          <p:cNvSpPr/>
          <p:nvPr/>
        </p:nvSpPr>
        <p:spPr>
          <a:xfrm>
            <a:off x="6263640" y="2651760"/>
            <a:ext cx="4800600" cy="749808"/>
          </a:xfrm>
          <a:prstGeom prst="roundRect">
            <a:avLst>
              <a:gd name="adj" fmla="val 9756"/>
            </a:avLst>
          </a:prstGeom>
          <a:solidFill>
            <a:srgbClr val="FDE2E1"/>
          </a:solidFill>
          <a:ln w="8890">
            <a:solidFill>
              <a:srgbClr val="D7C9B6"/>
            </a:solidFill>
            <a:prstDash val="solid"/>
          </a:ln>
        </p:spPr>
      </p:sp>
      <p:sp>
        <p:nvSpPr>
          <p:cNvPr id="12" name="Text 10"/>
          <p:cNvSpPr/>
          <p:nvPr/>
        </p:nvSpPr>
        <p:spPr>
          <a:xfrm>
            <a:off x="6400800" y="2761488"/>
            <a:ext cx="1005840" cy="164592"/>
          </a:xfrm>
          <a:prstGeom prst="rect">
            <a:avLst/>
          </a:prstGeom>
          <a:noFill/>
          <a:ln/>
        </p:spPr>
        <p:txBody>
          <a:bodyPr wrap="square" lIns="0" tIns="0" rIns="0" bIns="0" rtlCol="0" anchor="ctr"/>
          <a:lstStyle/>
          <a:p>
            <a:pPr marL="0" indent="0">
              <a:buNone/>
            </a:pPr>
            <a:r>
              <a:rPr lang="en-US" sz="850" b="1" dirty="0">
                <a:solidFill>
                  <a:srgbClr val="102A43"/>
                </a:solidFill>
              </a:rPr>
              <a:t>Business risk</a:t>
            </a:r>
            <a:endParaRPr lang="en-US" sz="850" dirty="0"/>
          </a:p>
        </p:txBody>
      </p:sp>
      <p:sp>
        <p:nvSpPr>
          <p:cNvPr id="13" name="Text 11"/>
          <p:cNvSpPr/>
          <p:nvPr/>
        </p:nvSpPr>
        <p:spPr>
          <a:xfrm>
            <a:off x="7406640" y="2743200"/>
            <a:ext cx="3474720" cy="347472"/>
          </a:xfrm>
          <a:prstGeom prst="rect">
            <a:avLst/>
          </a:prstGeom>
          <a:noFill/>
          <a:ln/>
        </p:spPr>
        <p:txBody>
          <a:bodyPr wrap="square" lIns="0" tIns="0" rIns="0" bIns="0" rtlCol="0" anchor="ctr">
            <a:normAutofit/>
          </a:bodyPr>
          <a:lstStyle/>
          <a:p>
            <a:pPr marL="0" indent="0">
              <a:buNone/>
            </a:pPr>
            <a:r>
              <a:rPr lang="en-US" sz="820" dirty="0">
                <a:solidFill>
                  <a:srgbClr val="243B53"/>
                </a:solidFill>
              </a:rPr>
              <a:t>More advertising could increase demand before the experience is stable, creating more complaints and lower repeat sales.</a:t>
            </a:r>
            <a:endParaRPr lang="en-US" sz="820" dirty="0"/>
          </a:p>
        </p:txBody>
      </p:sp>
      <p:sp>
        <p:nvSpPr>
          <p:cNvPr id="14" name="Shape 12"/>
          <p:cNvSpPr/>
          <p:nvPr/>
        </p:nvSpPr>
        <p:spPr>
          <a:xfrm>
            <a:off x="1097280" y="3675888"/>
            <a:ext cx="4800600" cy="749808"/>
          </a:xfrm>
          <a:prstGeom prst="roundRect">
            <a:avLst>
              <a:gd name="adj" fmla="val 9756"/>
            </a:avLst>
          </a:prstGeom>
          <a:solidFill>
            <a:srgbClr val="F6E7C1"/>
          </a:solidFill>
          <a:ln w="8890">
            <a:solidFill>
              <a:srgbClr val="D7C9B6"/>
            </a:solidFill>
            <a:prstDash val="solid"/>
          </a:ln>
        </p:spPr>
      </p:sp>
      <p:sp>
        <p:nvSpPr>
          <p:cNvPr id="15" name="Text 13"/>
          <p:cNvSpPr/>
          <p:nvPr/>
        </p:nvSpPr>
        <p:spPr>
          <a:xfrm>
            <a:off x="1234440" y="3785616"/>
            <a:ext cx="1005840" cy="164592"/>
          </a:xfrm>
          <a:prstGeom prst="rect">
            <a:avLst/>
          </a:prstGeom>
          <a:noFill/>
          <a:ln/>
        </p:spPr>
        <p:txBody>
          <a:bodyPr wrap="square" lIns="0" tIns="0" rIns="0" bIns="0" rtlCol="0" anchor="ctr"/>
          <a:lstStyle/>
          <a:p>
            <a:pPr marL="0" indent="0">
              <a:buNone/>
            </a:pPr>
            <a:r>
              <a:rPr lang="en-US" sz="850" b="1" dirty="0">
                <a:solidFill>
                  <a:srgbClr val="102A43"/>
                </a:solidFill>
              </a:rPr>
              <a:t>30-day action</a:t>
            </a:r>
            <a:endParaRPr lang="en-US" sz="850" dirty="0"/>
          </a:p>
        </p:txBody>
      </p:sp>
      <p:sp>
        <p:nvSpPr>
          <p:cNvPr id="16" name="Text 14"/>
          <p:cNvSpPr/>
          <p:nvPr/>
        </p:nvSpPr>
        <p:spPr>
          <a:xfrm>
            <a:off x="2240280" y="3767328"/>
            <a:ext cx="3474720" cy="347472"/>
          </a:xfrm>
          <a:prstGeom prst="rect">
            <a:avLst/>
          </a:prstGeom>
          <a:noFill/>
          <a:ln/>
        </p:spPr>
        <p:txBody>
          <a:bodyPr wrap="square" lIns="0" tIns="0" rIns="0" bIns="0" rtlCol="0" anchor="ctr">
            <a:normAutofit/>
          </a:bodyPr>
          <a:lstStyle/>
          <a:p>
            <a:pPr marL="0" indent="0">
              <a:buNone/>
            </a:pPr>
            <a:r>
              <a:rPr lang="en-US" sz="820" dirty="0">
                <a:solidFill>
                  <a:srgbClr val="243B53"/>
                </a:solidFill>
              </a:rPr>
              <a:t>Set reorder alerts, prioritize high-value SKUs, audit delivery partners, create 24-hour complaint response rule.</a:t>
            </a:r>
            <a:endParaRPr lang="en-US" sz="820" dirty="0"/>
          </a:p>
        </p:txBody>
      </p:sp>
      <p:sp>
        <p:nvSpPr>
          <p:cNvPr id="17" name="Shape 15"/>
          <p:cNvSpPr/>
          <p:nvPr/>
        </p:nvSpPr>
        <p:spPr>
          <a:xfrm>
            <a:off x="6263640" y="3675888"/>
            <a:ext cx="4800600" cy="749808"/>
          </a:xfrm>
          <a:prstGeom prst="roundRect">
            <a:avLst>
              <a:gd name="adj" fmla="val 9756"/>
            </a:avLst>
          </a:prstGeom>
          <a:solidFill>
            <a:srgbClr val="E6F4EA"/>
          </a:solidFill>
          <a:ln w="8890">
            <a:solidFill>
              <a:srgbClr val="D7C9B6"/>
            </a:solidFill>
            <a:prstDash val="solid"/>
          </a:ln>
        </p:spPr>
      </p:sp>
      <p:sp>
        <p:nvSpPr>
          <p:cNvPr id="18" name="Text 16"/>
          <p:cNvSpPr/>
          <p:nvPr/>
        </p:nvSpPr>
        <p:spPr>
          <a:xfrm>
            <a:off x="6400800" y="3785616"/>
            <a:ext cx="1005840" cy="164592"/>
          </a:xfrm>
          <a:prstGeom prst="rect">
            <a:avLst/>
          </a:prstGeom>
          <a:noFill/>
          <a:ln/>
        </p:spPr>
        <p:txBody>
          <a:bodyPr wrap="square" lIns="0" tIns="0" rIns="0" bIns="0" rtlCol="0" anchor="ctr"/>
          <a:lstStyle/>
          <a:p>
            <a:pPr marL="0" indent="0">
              <a:buNone/>
            </a:pPr>
            <a:r>
              <a:rPr lang="en-US" sz="850" b="1" dirty="0">
                <a:solidFill>
                  <a:srgbClr val="102A43"/>
                </a:solidFill>
              </a:rPr>
              <a:t>Success metrics</a:t>
            </a:r>
            <a:endParaRPr lang="en-US" sz="850" dirty="0"/>
          </a:p>
        </p:txBody>
      </p:sp>
      <p:sp>
        <p:nvSpPr>
          <p:cNvPr id="19" name="Text 17"/>
          <p:cNvSpPr/>
          <p:nvPr/>
        </p:nvSpPr>
        <p:spPr>
          <a:xfrm>
            <a:off x="7406640" y="3767328"/>
            <a:ext cx="3474720" cy="347472"/>
          </a:xfrm>
          <a:prstGeom prst="rect">
            <a:avLst/>
          </a:prstGeom>
          <a:noFill/>
          <a:ln/>
        </p:spPr>
        <p:txBody>
          <a:bodyPr wrap="square" lIns="0" tIns="0" rIns="0" bIns="0" rtlCol="0" anchor="ctr">
            <a:normAutofit/>
          </a:bodyPr>
          <a:lstStyle/>
          <a:p>
            <a:pPr marL="0" indent="0">
              <a:buNone/>
            </a:pPr>
            <a:r>
              <a:rPr lang="en-US" sz="820" dirty="0">
                <a:solidFill>
                  <a:srgbClr val="243B53"/>
                </a:solidFill>
              </a:rPr>
              <a:t>Stockouts &lt; 8, late deliveries &lt; 10, complaints &lt; 20, margin &gt; 52%, repeat rate &gt; 37%.</a:t>
            </a:r>
            <a:endParaRPr lang="en-US" sz="820" dirty="0"/>
          </a:p>
        </p:txBody>
      </p:sp>
      <p:sp>
        <p:nvSpPr>
          <p:cNvPr id="20" name="Shape 18"/>
          <p:cNvSpPr/>
          <p:nvPr/>
        </p:nvSpPr>
        <p:spPr>
          <a:xfrm>
            <a:off x="822960" y="5532120"/>
            <a:ext cx="10424160" cy="530352"/>
          </a:xfrm>
          <a:prstGeom prst="roundRect">
            <a:avLst>
              <a:gd name="adj" fmla="val 8621"/>
            </a:avLst>
          </a:prstGeom>
          <a:solidFill>
            <a:srgbClr val="F6E7C1"/>
          </a:solidFill>
          <a:ln w="8890">
            <a:solidFill>
              <a:srgbClr val="E3C56F"/>
            </a:solidFill>
            <a:prstDash val="solid"/>
          </a:ln>
        </p:spPr>
      </p:sp>
      <p:sp>
        <p:nvSpPr>
          <p:cNvPr id="21" name="Text 19"/>
          <p:cNvSpPr/>
          <p:nvPr/>
        </p:nvSpPr>
        <p:spPr>
          <a:xfrm>
            <a:off x="987552" y="560527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2" name="Text 20"/>
          <p:cNvSpPr/>
          <p:nvPr/>
        </p:nvSpPr>
        <p:spPr>
          <a:xfrm>
            <a:off x="987552" y="5797296"/>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A strong executive recommendation gives evidence, risk, action, and measurable success criteria in one page.</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APPLY THE METHOD</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Learner practice: analyze the May drop</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6</a:t>
            </a:r>
            <a:endParaRPr lang="en-US" sz="800" dirty="0"/>
          </a:p>
        </p:txBody>
      </p:sp>
      <p:sp>
        <p:nvSpPr>
          <p:cNvPr id="5" name="Text 3"/>
          <p:cNvSpPr/>
          <p:nvPr/>
        </p:nvSpPr>
        <p:spPr>
          <a:xfrm>
            <a:off x="731520" y="1280160"/>
            <a:ext cx="5120640" cy="2560320"/>
          </a:xfrm>
          <a:prstGeom prst="rect">
            <a:avLst/>
          </a:prstGeom>
          <a:noFill/>
          <a:ln/>
        </p:spPr>
        <p:txBody>
          <a:bodyPr wrap="square" lIns="635" tIns="635" rIns="635" bIns="635" rtlCol="0" anchor="ctr">
            <a:normAutofit/>
          </a:bodyPr>
          <a:lstStyle/>
          <a:p>
            <a:pPr marL="152400" indent="-152400">
              <a:buSzPct val="100000"/>
              <a:buChar char="•"/>
            </a:pPr>
            <a:r>
              <a:rPr lang="en-US" sz="1420" dirty="0">
                <a:solidFill>
                  <a:srgbClr val="243B53"/>
                </a:solidFill>
              </a:rPr>
              <a:t>Use the April → May dataset snapshot</a:t>
            </a:r>
            <a:endParaRPr lang="en-US" sz="1420" dirty="0"/>
          </a:p>
          <a:p>
            <a:pPr marL="152400" indent="-152400">
              <a:buSzPct val="100000"/>
              <a:buChar char="•"/>
            </a:pPr>
            <a:r>
              <a:rPr lang="en-US" sz="1420" dirty="0">
                <a:solidFill>
                  <a:srgbClr val="243B53"/>
                </a:solidFill>
              </a:rPr>
              <a:t>Identify the three most important warning signs</a:t>
            </a:r>
            <a:endParaRPr lang="en-US" sz="1420" dirty="0"/>
          </a:p>
          <a:p>
            <a:pPr marL="152400" indent="-152400">
              <a:buSzPct val="100000"/>
              <a:buChar char="•"/>
            </a:pPr>
            <a:r>
              <a:rPr lang="en-US" sz="1420" dirty="0">
                <a:solidFill>
                  <a:srgbClr val="243B53"/>
                </a:solidFill>
              </a:rPr>
              <a:t>Explain how financial, customer, and operational signals may connect</a:t>
            </a:r>
            <a:endParaRPr lang="en-US" sz="1420" dirty="0"/>
          </a:p>
          <a:p>
            <a:pPr marL="152400" indent="-152400">
              <a:buSzPct val="100000"/>
              <a:buChar char="•"/>
            </a:pPr>
            <a:r>
              <a:rPr lang="en-US" sz="1420" dirty="0">
                <a:solidFill>
                  <a:srgbClr val="243B53"/>
                </a:solidFill>
              </a:rPr>
              <a:t>Choose one recommended first action and one success metric</a:t>
            </a:r>
            <a:endParaRPr lang="en-US" sz="142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080760" y="1234440"/>
          <a:ext cx="5257800" cy="3794760"/>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379476">
                <a:tc>
                  <a:txBody>
                    <a:bodyPr/>
                    <a:lstStyle/>
                    <a:p>
                      <a:pPr marL="0" indent="0">
                        <a:buNone/>
                      </a:pPr>
                      <a:r>
                        <a:rPr lang="en-US" sz="870" b="1" dirty="0">
                          <a:solidFill>
                            <a:srgbClr val="FFFFFF"/>
                          </a:solidFill>
                          <a:latin typeface="Aptos" pitchFamily="34" charset="0"/>
                          <a:ea typeface="Aptos" pitchFamily="34" charset="-122"/>
                          <a:cs typeface="Aptos" pitchFamily="34" charset="-120"/>
                        </a:rPr>
                        <a:t>Metric</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Apr</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May</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102A43"/>
                    </a:solidFill>
                  </a:tcPr>
                </a:tc>
                <a:extLst>
                  <a:ext uri="{0D108BD9-81ED-4DB2-BD59-A6C34878D82A}">
                    <a16:rowId xmlns:a16="http://schemas.microsoft.com/office/drawing/2014/main" val="10000"/>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Revenue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$11,400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$10,800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Cost</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$5,300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$5,900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Profit</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$6,100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$4,900</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Margin</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53.5%</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45.4%</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AOV</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$45</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$37</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Complaints</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19</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31</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Repeat rate</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37.7%</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29.8%</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Stockouts</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5</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16</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9476">
                <a:tc>
                  <a:txBody>
                    <a:bodyPr/>
                    <a:lstStyle/>
                    <a:p>
                      <a:pPr marL="0" indent="0">
                        <a:buNone/>
                      </a:pPr>
                      <a:r>
                        <a:rPr lang="en-US" sz="870" dirty="0">
                          <a:solidFill>
                            <a:srgbClr val="243B53"/>
                          </a:solidFill>
                          <a:latin typeface="Aptos" pitchFamily="34" charset="0"/>
                          <a:ea typeface="Aptos" pitchFamily="34" charset="-122"/>
                          <a:cs typeface="Aptos" pitchFamily="34" charset="-120"/>
                        </a:rPr>
                        <a:t>Late deliveries</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9</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tc>
                  <a:txBody>
                    <a:bodyPr/>
                    <a:lstStyle/>
                    <a:p>
                      <a:pPr marL="0" indent="0">
                        <a:buNone/>
                      </a:pPr>
                      <a:r>
                        <a:rPr lang="en-US" sz="870" dirty="0">
                          <a:solidFill>
                            <a:srgbClr val="243B53"/>
                          </a:solidFill>
                          <a:latin typeface="Aptos" pitchFamily="34" charset="0"/>
                          <a:ea typeface="Aptos" pitchFamily="34" charset="-122"/>
                          <a:cs typeface="Aptos" pitchFamily="34" charset="-120"/>
                        </a:rPr>
                        <a:t>21</a:t>
                      </a:r>
                      <a:endParaRPr lang="en-US" sz="870" dirty="0">
                        <a:latin typeface="Aptos" charset="0"/>
                        <a:ea typeface="Aptos" charset="0"/>
                        <a:cs typeface="Aptos" charset="0"/>
                      </a:endParaRPr>
                    </a:p>
                  </a:txBody>
                  <a:tcPr marL="45720" marR="45720">
                    <a:lnL w="7620" cap="flat" cmpd="sng" algn="ctr">
                      <a:solidFill>
                        <a:srgbClr val="D8CAB7"/>
                      </a:solidFill>
                      <a:prstDash val="solid"/>
                      <a:round/>
                      <a:headEnd type="none" w="med" len="med"/>
                      <a:tailEnd type="none" w="med" len="med"/>
                    </a:lnL>
                    <a:lnR w="7620" cap="flat" cmpd="sng" algn="ctr">
                      <a:solidFill>
                        <a:srgbClr val="D8CAB7"/>
                      </a:solidFill>
                      <a:prstDash val="solid"/>
                      <a:round/>
                      <a:headEnd type="none" w="med" len="med"/>
                      <a:tailEnd type="none" w="med" len="med"/>
                    </a:lnR>
                    <a:lnT w="7620" cap="flat" cmpd="sng" algn="ctr">
                      <a:solidFill>
                        <a:srgbClr val="D8CAB7"/>
                      </a:solidFill>
                      <a:prstDash val="solid"/>
                      <a:round/>
                      <a:headEnd type="none" w="med" len="med"/>
                      <a:tailEnd type="none" w="med" len="med"/>
                    </a:lnT>
                    <a:lnB w="7620" cap="flat" cmpd="sng" algn="ctr">
                      <a:solidFill>
                        <a:srgbClr val="D8CAB7"/>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hape 4"/>
          <p:cNvSpPr/>
          <p:nvPr/>
        </p:nvSpPr>
        <p:spPr>
          <a:xfrm>
            <a:off x="822960" y="5532120"/>
            <a:ext cx="10424160" cy="530352"/>
          </a:xfrm>
          <a:prstGeom prst="roundRect">
            <a:avLst>
              <a:gd name="adj" fmla="val 8621"/>
            </a:avLst>
          </a:prstGeom>
          <a:solidFill>
            <a:srgbClr val="F6E7C1"/>
          </a:solidFill>
          <a:ln w="8890">
            <a:solidFill>
              <a:srgbClr val="E3C56F"/>
            </a:solidFill>
            <a:prstDash val="solid"/>
          </a:ln>
        </p:spPr>
      </p:sp>
      <p:sp>
        <p:nvSpPr>
          <p:cNvPr id="8" name="Text 5"/>
          <p:cNvSpPr/>
          <p:nvPr/>
        </p:nvSpPr>
        <p:spPr>
          <a:xfrm>
            <a:off x="987552" y="560527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9" name="Text 6"/>
          <p:cNvSpPr/>
          <p:nvPr/>
        </p:nvSpPr>
        <p:spPr>
          <a:xfrm>
            <a:off x="987552" y="5797296"/>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Practice goal: produce a short recommendation that uses multiple metrics, not a single headline number.</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APPLICATION CHECK</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Mini quiz</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6</a:t>
            </a:r>
            <a:endParaRPr lang="en-US" sz="800" dirty="0"/>
          </a:p>
        </p:txBody>
      </p:sp>
      <p:sp>
        <p:nvSpPr>
          <p:cNvPr id="5" name="Shape 3"/>
          <p:cNvSpPr/>
          <p:nvPr/>
        </p:nvSpPr>
        <p:spPr>
          <a:xfrm>
            <a:off x="777240" y="1143000"/>
            <a:ext cx="10972800" cy="4434840"/>
          </a:xfrm>
          <a:prstGeom prst="roundRect">
            <a:avLst>
              <a:gd name="adj" fmla="val 1649"/>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Text 4"/>
          <p:cNvSpPr/>
          <p:nvPr/>
        </p:nvSpPr>
        <p:spPr>
          <a:xfrm>
            <a:off x="1097280" y="1554480"/>
            <a:ext cx="4572000" cy="292608"/>
          </a:xfrm>
          <a:prstGeom prst="rect">
            <a:avLst/>
          </a:prstGeom>
          <a:noFill/>
          <a:ln/>
        </p:spPr>
        <p:txBody>
          <a:bodyPr wrap="square" lIns="0" tIns="0" rIns="0" bIns="0" rtlCol="0" anchor="ctr">
            <a:normAutofit/>
          </a:bodyPr>
          <a:lstStyle/>
          <a:p>
            <a:pPr marL="0" indent="0">
              <a:buNone/>
            </a:pPr>
            <a:r>
              <a:rPr lang="en-US" sz="1120" b="1" dirty="0">
                <a:solidFill>
                  <a:srgbClr val="102A43"/>
                </a:solidFill>
              </a:rPr>
              <a:t>1. Revenue increased but margin fell. What should you check first?</a:t>
            </a:r>
            <a:endParaRPr lang="en-US" sz="1120" dirty="0"/>
          </a:p>
        </p:txBody>
      </p:sp>
      <p:sp>
        <p:nvSpPr>
          <p:cNvPr id="7" name="Text 5"/>
          <p:cNvSpPr/>
          <p:nvPr/>
        </p:nvSpPr>
        <p:spPr>
          <a:xfrm>
            <a:off x="1097280" y="1892808"/>
            <a:ext cx="4114800" cy="164592"/>
          </a:xfrm>
          <a:prstGeom prst="rect">
            <a:avLst/>
          </a:prstGeom>
          <a:noFill/>
          <a:ln/>
        </p:spPr>
        <p:txBody>
          <a:bodyPr wrap="square" lIns="0" tIns="0" rIns="0" bIns="0" rtlCol="0" anchor="ctr"/>
          <a:lstStyle/>
          <a:p>
            <a:pPr marL="0" indent="0">
              <a:buNone/>
            </a:pPr>
            <a:r>
              <a:rPr lang="en-US" sz="820" dirty="0">
                <a:solidFill>
                  <a:srgbClr val="627D98"/>
                </a:solidFill>
              </a:rPr>
              <a:t>Discuss or answer before viewing the answer key.</a:t>
            </a:r>
            <a:endParaRPr lang="en-US" sz="820" dirty="0"/>
          </a:p>
        </p:txBody>
      </p:sp>
      <p:sp>
        <p:nvSpPr>
          <p:cNvPr id="8" name="Text 6"/>
          <p:cNvSpPr/>
          <p:nvPr/>
        </p:nvSpPr>
        <p:spPr>
          <a:xfrm>
            <a:off x="1097280" y="2606040"/>
            <a:ext cx="4572000" cy="292608"/>
          </a:xfrm>
          <a:prstGeom prst="rect">
            <a:avLst/>
          </a:prstGeom>
          <a:noFill/>
          <a:ln/>
        </p:spPr>
        <p:txBody>
          <a:bodyPr wrap="square" lIns="0" tIns="0" rIns="0" bIns="0" rtlCol="0" anchor="ctr">
            <a:normAutofit/>
          </a:bodyPr>
          <a:lstStyle/>
          <a:p>
            <a:pPr marL="0" indent="0">
              <a:buNone/>
            </a:pPr>
            <a:r>
              <a:rPr lang="en-US" sz="1120" b="1" dirty="0">
                <a:solidFill>
                  <a:srgbClr val="102A43"/>
                </a:solidFill>
              </a:rPr>
              <a:t>2. Complaints rose and repeat rate fell. What is the next best question?</a:t>
            </a:r>
            <a:endParaRPr lang="en-US" sz="1120" dirty="0"/>
          </a:p>
        </p:txBody>
      </p:sp>
      <p:sp>
        <p:nvSpPr>
          <p:cNvPr id="9" name="Text 7"/>
          <p:cNvSpPr/>
          <p:nvPr/>
        </p:nvSpPr>
        <p:spPr>
          <a:xfrm>
            <a:off x="1097280" y="2944368"/>
            <a:ext cx="4114800" cy="164592"/>
          </a:xfrm>
          <a:prstGeom prst="rect">
            <a:avLst/>
          </a:prstGeom>
          <a:noFill/>
          <a:ln/>
        </p:spPr>
        <p:txBody>
          <a:bodyPr wrap="square" lIns="0" tIns="0" rIns="0" bIns="0" rtlCol="0" anchor="ctr"/>
          <a:lstStyle/>
          <a:p>
            <a:pPr marL="0" indent="0">
              <a:buNone/>
            </a:pPr>
            <a:r>
              <a:rPr lang="en-US" sz="820" dirty="0">
                <a:solidFill>
                  <a:srgbClr val="627D98"/>
                </a:solidFill>
              </a:rPr>
              <a:t>Discuss or answer before viewing the answer key.</a:t>
            </a:r>
            <a:endParaRPr lang="en-US" sz="820" dirty="0"/>
          </a:p>
        </p:txBody>
      </p:sp>
      <p:sp>
        <p:nvSpPr>
          <p:cNvPr id="10" name="Text 8"/>
          <p:cNvSpPr/>
          <p:nvPr/>
        </p:nvSpPr>
        <p:spPr>
          <a:xfrm>
            <a:off x="1097280" y="3657600"/>
            <a:ext cx="4572000" cy="292608"/>
          </a:xfrm>
          <a:prstGeom prst="rect">
            <a:avLst/>
          </a:prstGeom>
          <a:noFill/>
          <a:ln/>
        </p:spPr>
        <p:txBody>
          <a:bodyPr wrap="square" lIns="0" tIns="0" rIns="0" bIns="0" rtlCol="0" anchor="ctr">
            <a:normAutofit/>
          </a:bodyPr>
          <a:lstStyle/>
          <a:p>
            <a:pPr marL="0" indent="0">
              <a:buNone/>
            </a:pPr>
            <a:r>
              <a:rPr lang="en-US" sz="1120" b="1" dirty="0">
                <a:solidFill>
                  <a:srgbClr val="102A43"/>
                </a:solidFill>
              </a:rPr>
              <a:t>3. Why is May more than a simple sales problem?</a:t>
            </a:r>
            <a:endParaRPr lang="en-US" sz="1120" dirty="0"/>
          </a:p>
        </p:txBody>
      </p:sp>
      <p:sp>
        <p:nvSpPr>
          <p:cNvPr id="11" name="Text 9"/>
          <p:cNvSpPr/>
          <p:nvPr/>
        </p:nvSpPr>
        <p:spPr>
          <a:xfrm>
            <a:off x="1097280" y="3995928"/>
            <a:ext cx="4114800" cy="164592"/>
          </a:xfrm>
          <a:prstGeom prst="rect">
            <a:avLst/>
          </a:prstGeom>
          <a:noFill/>
          <a:ln/>
        </p:spPr>
        <p:txBody>
          <a:bodyPr wrap="square" lIns="0" tIns="0" rIns="0" bIns="0" rtlCol="0" anchor="ctr"/>
          <a:lstStyle/>
          <a:p>
            <a:pPr marL="0" indent="0">
              <a:buNone/>
            </a:pPr>
            <a:r>
              <a:rPr lang="en-US" sz="820" dirty="0">
                <a:solidFill>
                  <a:srgbClr val="627D98"/>
                </a:solidFill>
              </a:rPr>
              <a:t>Discuss or answer before viewing the answer key.</a:t>
            </a:r>
            <a:endParaRPr lang="en-US" sz="820" dirty="0"/>
          </a:p>
        </p:txBody>
      </p:sp>
      <p:sp>
        <p:nvSpPr>
          <p:cNvPr id="12" name="Text 10"/>
          <p:cNvSpPr/>
          <p:nvPr/>
        </p:nvSpPr>
        <p:spPr>
          <a:xfrm>
            <a:off x="6355080" y="1554480"/>
            <a:ext cx="4572000" cy="292608"/>
          </a:xfrm>
          <a:prstGeom prst="rect">
            <a:avLst/>
          </a:prstGeom>
          <a:noFill/>
          <a:ln/>
        </p:spPr>
        <p:txBody>
          <a:bodyPr wrap="square" lIns="0" tIns="0" rIns="0" bIns="0" rtlCol="0" anchor="ctr">
            <a:normAutofit/>
          </a:bodyPr>
          <a:lstStyle/>
          <a:p>
            <a:pPr marL="0" indent="0">
              <a:buNone/>
            </a:pPr>
            <a:r>
              <a:rPr lang="en-US" sz="1120" b="1" dirty="0">
                <a:solidFill>
                  <a:srgbClr val="102A43"/>
                </a:solidFill>
              </a:rPr>
              <a:t>4. Which action scored highest in the decision matrix?</a:t>
            </a:r>
            <a:endParaRPr lang="en-US" sz="1120" dirty="0"/>
          </a:p>
        </p:txBody>
      </p:sp>
      <p:sp>
        <p:nvSpPr>
          <p:cNvPr id="13" name="Text 11"/>
          <p:cNvSpPr/>
          <p:nvPr/>
        </p:nvSpPr>
        <p:spPr>
          <a:xfrm>
            <a:off x="6355080" y="1892808"/>
            <a:ext cx="4114800" cy="164592"/>
          </a:xfrm>
          <a:prstGeom prst="rect">
            <a:avLst/>
          </a:prstGeom>
          <a:noFill/>
          <a:ln/>
        </p:spPr>
        <p:txBody>
          <a:bodyPr wrap="square" lIns="0" tIns="0" rIns="0" bIns="0" rtlCol="0" anchor="ctr"/>
          <a:lstStyle/>
          <a:p>
            <a:pPr marL="0" indent="0">
              <a:buNone/>
            </a:pPr>
            <a:r>
              <a:rPr lang="en-US" sz="820" dirty="0">
                <a:solidFill>
                  <a:srgbClr val="627D98"/>
                </a:solidFill>
              </a:rPr>
              <a:t>Discuss or answer before viewing the answer key.</a:t>
            </a:r>
            <a:endParaRPr lang="en-US" sz="820" dirty="0"/>
          </a:p>
        </p:txBody>
      </p:sp>
      <p:sp>
        <p:nvSpPr>
          <p:cNvPr id="14" name="Text 12"/>
          <p:cNvSpPr/>
          <p:nvPr/>
        </p:nvSpPr>
        <p:spPr>
          <a:xfrm>
            <a:off x="6355080" y="2606040"/>
            <a:ext cx="4572000" cy="292608"/>
          </a:xfrm>
          <a:prstGeom prst="rect">
            <a:avLst/>
          </a:prstGeom>
          <a:noFill/>
          <a:ln/>
        </p:spPr>
        <p:txBody>
          <a:bodyPr wrap="square" lIns="0" tIns="0" rIns="0" bIns="0" rtlCol="0" anchor="ctr">
            <a:normAutofit/>
          </a:bodyPr>
          <a:lstStyle/>
          <a:p>
            <a:pPr marL="0" indent="0">
              <a:buNone/>
            </a:pPr>
            <a:r>
              <a:rPr lang="en-US" sz="1120" b="1" dirty="0">
                <a:solidFill>
                  <a:srgbClr val="102A43"/>
                </a:solidFill>
              </a:rPr>
              <a:t>5. What does a funnel help you locate?</a:t>
            </a:r>
            <a:endParaRPr lang="en-US" sz="1120" dirty="0"/>
          </a:p>
        </p:txBody>
      </p:sp>
      <p:sp>
        <p:nvSpPr>
          <p:cNvPr id="15" name="Text 13"/>
          <p:cNvSpPr/>
          <p:nvPr/>
        </p:nvSpPr>
        <p:spPr>
          <a:xfrm>
            <a:off x="6355080" y="2944368"/>
            <a:ext cx="4114800" cy="164592"/>
          </a:xfrm>
          <a:prstGeom prst="rect">
            <a:avLst/>
          </a:prstGeom>
          <a:noFill/>
          <a:ln/>
        </p:spPr>
        <p:txBody>
          <a:bodyPr wrap="square" lIns="0" tIns="0" rIns="0" bIns="0" rtlCol="0" anchor="ctr"/>
          <a:lstStyle/>
          <a:p>
            <a:pPr marL="0" indent="0">
              <a:buNone/>
            </a:pPr>
            <a:r>
              <a:rPr lang="en-US" sz="820" dirty="0">
                <a:solidFill>
                  <a:srgbClr val="627D98"/>
                </a:solidFill>
              </a:rPr>
              <a:t>Discuss or answer before viewing the answer key.</a:t>
            </a:r>
            <a:endParaRPr lang="en-US" sz="820" dirty="0"/>
          </a:p>
        </p:txBody>
      </p:sp>
      <p:sp>
        <p:nvSpPr>
          <p:cNvPr id="16" name="Text 14"/>
          <p:cNvSpPr/>
          <p:nvPr/>
        </p:nvSpPr>
        <p:spPr>
          <a:xfrm>
            <a:off x="6355080" y="3657600"/>
            <a:ext cx="4572000" cy="292608"/>
          </a:xfrm>
          <a:prstGeom prst="rect">
            <a:avLst/>
          </a:prstGeom>
          <a:noFill/>
          <a:ln/>
        </p:spPr>
        <p:txBody>
          <a:bodyPr wrap="square" lIns="0" tIns="0" rIns="0" bIns="0" rtlCol="0" anchor="ctr">
            <a:normAutofit/>
          </a:bodyPr>
          <a:lstStyle/>
          <a:p>
            <a:pPr marL="0" indent="0">
              <a:buNone/>
            </a:pPr>
            <a:r>
              <a:rPr lang="en-US" sz="1120" b="1" dirty="0">
                <a:solidFill>
                  <a:srgbClr val="102A43"/>
                </a:solidFill>
              </a:rPr>
              <a:t>6. Why can a dashboard mislead?</a:t>
            </a:r>
            <a:endParaRPr lang="en-US" sz="1120" dirty="0"/>
          </a:p>
        </p:txBody>
      </p:sp>
      <p:sp>
        <p:nvSpPr>
          <p:cNvPr id="17" name="Text 15"/>
          <p:cNvSpPr/>
          <p:nvPr/>
        </p:nvSpPr>
        <p:spPr>
          <a:xfrm>
            <a:off x="6355080" y="3995928"/>
            <a:ext cx="4114800" cy="164592"/>
          </a:xfrm>
          <a:prstGeom prst="rect">
            <a:avLst/>
          </a:prstGeom>
          <a:noFill/>
          <a:ln/>
        </p:spPr>
        <p:txBody>
          <a:bodyPr wrap="square" lIns="0" tIns="0" rIns="0" bIns="0" rtlCol="0" anchor="ctr"/>
          <a:lstStyle/>
          <a:p>
            <a:pPr marL="0" indent="0">
              <a:buNone/>
            </a:pPr>
            <a:r>
              <a:rPr lang="en-US" sz="820" dirty="0">
                <a:solidFill>
                  <a:srgbClr val="627D98"/>
                </a:solidFill>
              </a:rPr>
              <a:t>Discuss or answer before viewing the answer key.</a:t>
            </a:r>
            <a:endParaRPr lang="en-US" sz="820" dirty="0"/>
          </a:p>
        </p:txBody>
      </p:sp>
      <p:sp>
        <p:nvSpPr>
          <p:cNvPr id="18" name="Shape 16"/>
          <p:cNvSpPr/>
          <p:nvPr/>
        </p:nvSpPr>
        <p:spPr>
          <a:xfrm>
            <a:off x="822960" y="5532120"/>
            <a:ext cx="10424160" cy="530352"/>
          </a:xfrm>
          <a:prstGeom prst="roundRect">
            <a:avLst>
              <a:gd name="adj" fmla="val 8621"/>
            </a:avLst>
          </a:prstGeom>
          <a:solidFill>
            <a:srgbClr val="F6E7C1"/>
          </a:solidFill>
          <a:ln w="8890">
            <a:solidFill>
              <a:srgbClr val="E3C56F"/>
            </a:solidFill>
            <a:prstDash val="solid"/>
          </a:ln>
        </p:spPr>
      </p:sp>
      <p:sp>
        <p:nvSpPr>
          <p:cNvPr id="19" name="Text 17"/>
          <p:cNvSpPr/>
          <p:nvPr/>
        </p:nvSpPr>
        <p:spPr>
          <a:xfrm>
            <a:off x="987552" y="560527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0" name="Text 18"/>
          <p:cNvSpPr/>
          <p:nvPr/>
        </p:nvSpPr>
        <p:spPr>
          <a:xfrm>
            <a:off x="987552" y="5797296"/>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The quiz should test interpretation: what would you investigate, what can you conclude, and what action is defensible?</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21792" y="320040"/>
            <a:ext cx="4846320" cy="228600"/>
          </a:xfrm>
          <a:prstGeom prst="rect">
            <a:avLst/>
          </a:prstGeom>
          <a:noFill/>
          <a:ln/>
        </p:spPr>
        <p:txBody>
          <a:bodyPr wrap="square" lIns="0" tIns="0" rIns="0" bIns="0" rtlCol="0" anchor="ctr"/>
          <a:lstStyle/>
          <a:p>
            <a:pPr marL="0" indent="0">
              <a:buNone/>
            </a:pPr>
            <a:r>
              <a:rPr lang="en-US" sz="850" b="1" dirty="0">
                <a:solidFill>
                  <a:srgbClr val="B8860B"/>
                </a:solidFill>
              </a:rPr>
              <a:t>WHERE TO GO NEXT</a:t>
            </a:r>
            <a:endParaRPr lang="en-US" sz="850" dirty="0"/>
          </a:p>
        </p:txBody>
      </p:sp>
      <p:sp>
        <p:nvSpPr>
          <p:cNvPr id="3" name="Text 1"/>
          <p:cNvSpPr/>
          <p:nvPr/>
        </p:nvSpPr>
        <p:spPr>
          <a:xfrm>
            <a:off x="594360" y="566928"/>
            <a:ext cx="8138160" cy="566928"/>
          </a:xfrm>
          <a:prstGeom prst="rect">
            <a:avLst/>
          </a:prstGeom>
          <a:noFill/>
          <a:ln/>
        </p:spPr>
        <p:txBody>
          <a:bodyPr wrap="square" lIns="0" tIns="0" rIns="0" bIns="0" rtlCol="0" anchor="ctr">
            <a:normAutofit/>
          </a:bodyPr>
          <a:lstStyle/>
          <a:p>
            <a:pPr marL="0" indent="0">
              <a:buNone/>
            </a:pPr>
            <a:r>
              <a:rPr lang="en-US" sz="2400" b="1" dirty="0">
                <a:solidFill>
                  <a:srgbClr val="102A43"/>
                </a:solidFill>
                <a:latin typeface="Aptos Display" pitchFamily="34" charset="0"/>
                <a:ea typeface="Aptos Display" pitchFamily="34" charset="-122"/>
                <a:cs typeface="Aptos Display" pitchFamily="34" charset="-120"/>
              </a:rPr>
              <a:t>Final recap and analytics roadmap</a:t>
            </a:r>
            <a:endParaRPr lang="en-US" sz="2400" dirty="0"/>
          </a:p>
        </p:txBody>
      </p:sp>
      <p:sp>
        <p:nvSpPr>
          <p:cNvPr id="4" name="Text 2"/>
          <p:cNvSpPr/>
          <p:nvPr/>
        </p:nvSpPr>
        <p:spPr>
          <a:xfrm>
            <a:off x="9418320" y="320040"/>
            <a:ext cx="2103120" cy="256032"/>
          </a:xfrm>
          <a:prstGeom prst="rect">
            <a:avLst/>
          </a:prstGeom>
          <a:noFill/>
          <a:ln/>
        </p:spPr>
        <p:txBody>
          <a:bodyPr wrap="square" lIns="0" tIns="0" rIns="0" bIns="0" rtlCol="0" anchor="ctr"/>
          <a:lstStyle/>
          <a:p>
            <a:pPr marL="0" indent="0" algn="r">
              <a:buNone/>
            </a:pPr>
            <a:r>
              <a:rPr lang="en-US" sz="800" b="1" dirty="0">
                <a:solidFill>
                  <a:srgbClr val="087E8B"/>
                </a:solidFill>
              </a:rPr>
              <a:t>Section 6</a:t>
            </a:r>
            <a:endParaRPr lang="en-US" sz="800" dirty="0"/>
          </a:p>
        </p:txBody>
      </p:sp>
      <p:sp>
        <p:nvSpPr>
          <p:cNvPr id="5" name="Shape 3"/>
          <p:cNvSpPr/>
          <p:nvPr/>
        </p:nvSpPr>
        <p:spPr>
          <a:xfrm>
            <a:off x="685800" y="1143000"/>
            <a:ext cx="5394960" cy="4297680"/>
          </a:xfrm>
          <a:prstGeom prst="roundRect">
            <a:avLst>
              <a:gd name="adj" fmla="val 1702"/>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6" name="Text 4"/>
          <p:cNvSpPr/>
          <p:nvPr/>
        </p:nvSpPr>
        <p:spPr>
          <a:xfrm>
            <a:off x="960120" y="1508760"/>
            <a:ext cx="4846320" cy="3108960"/>
          </a:xfrm>
          <a:prstGeom prst="rect">
            <a:avLst/>
          </a:prstGeom>
          <a:noFill/>
          <a:ln/>
        </p:spPr>
        <p:txBody>
          <a:bodyPr wrap="square" lIns="635" tIns="635" rIns="635" bIns="635" rtlCol="0" anchor="ctr">
            <a:normAutofit/>
          </a:bodyPr>
          <a:lstStyle/>
          <a:p>
            <a:pPr marL="152400" indent="-152400">
              <a:buSzPct val="100000"/>
              <a:buChar char="•"/>
            </a:pPr>
            <a:r>
              <a:rPr lang="en-US" sz="1500" dirty="0">
                <a:solidFill>
                  <a:srgbClr val="243B53"/>
                </a:solidFill>
              </a:rPr>
              <a:t>Start with a decision question</a:t>
            </a:r>
            <a:endParaRPr lang="en-US" sz="1500" dirty="0"/>
          </a:p>
          <a:p>
            <a:pPr marL="152400" indent="-152400">
              <a:buSzPct val="100000"/>
              <a:buChar char="•"/>
            </a:pPr>
            <a:r>
              <a:rPr lang="en-US" sz="1500" dirty="0">
                <a:solidFill>
                  <a:srgbClr val="243B53"/>
                </a:solidFill>
              </a:rPr>
              <a:t>Read related metrics together</a:t>
            </a:r>
            <a:endParaRPr lang="en-US" sz="1500" dirty="0"/>
          </a:p>
          <a:p>
            <a:pPr marL="152400" indent="-152400">
              <a:buSzPct val="100000"/>
              <a:buChar char="•"/>
            </a:pPr>
            <a:r>
              <a:rPr lang="en-US" sz="1500" dirty="0">
                <a:solidFill>
                  <a:srgbClr val="243B53"/>
                </a:solidFill>
              </a:rPr>
              <a:t>Compare periods to quantify change</a:t>
            </a:r>
            <a:endParaRPr lang="en-US" sz="1500" dirty="0"/>
          </a:p>
          <a:p>
            <a:pPr marL="152400" indent="-152400">
              <a:buSzPct val="100000"/>
              <a:buChar char="•"/>
            </a:pPr>
            <a:r>
              <a:rPr lang="en-US" sz="1500" dirty="0">
                <a:solidFill>
                  <a:srgbClr val="243B53"/>
                </a:solidFill>
              </a:rPr>
              <a:t>Separate evidence from assumptions</a:t>
            </a:r>
            <a:endParaRPr lang="en-US" sz="1500" dirty="0"/>
          </a:p>
          <a:p>
            <a:pPr marL="152400" indent="-152400">
              <a:buSzPct val="100000"/>
              <a:buChar char="•"/>
            </a:pPr>
            <a:r>
              <a:rPr lang="en-US" sz="1500" dirty="0">
                <a:solidFill>
                  <a:srgbClr val="243B53"/>
                </a:solidFill>
              </a:rPr>
              <a:t>Recommend action with success metrics</a:t>
            </a:r>
            <a:endParaRPr lang="en-US" sz="1500" dirty="0"/>
          </a:p>
        </p:txBody>
      </p:sp>
      <p:sp>
        <p:nvSpPr>
          <p:cNvPr id="7" name="Shape 5"/>
          <p:cNvSpPr/>
          <p:nvPr/>
        </p:nvSpPr>
        <p:spPr>
          <a:xfrm>
            <a:off x="6446520" y="1143000"/>
            <a:ext cx="4846320" cy="4297680"/>
          </a:xfrm>
          <a:prstGeom prst="roundRect">
            <a:avLst>
              <a:gd name="adj" fmla="val 1702"/>
            </a:avLst>
          </a:prstGeom>
          <a:solidFill>
            <a:srgbClr val="FFFFFF"/>
          </a:solidFill>
          <a:ln w="8890">
            <a:solidFill>
              <a:srgbClr val="D7C9B6"/>
            </a:solidFill>
            <a:prstDash val="solid"/>
          </a:ln>
          <a:effectLst>
            <a:outerShdw blurRad="12700" dist="50800" dir="2700000" algn="bl" rotWithShape="0">
              <a:srgbClr val="000000">
                <a:alpha val="12000"/>
              </a:srgbClr>
            </a:outerShdw>
          </a:effectLst>
        </p:spPr>
      </p:sp>
      <p:sp>
        <p:nvSpPr>
          <p:cNvPr id="8" name="Shape 6"/>
          <p:cNvSpPr/>
          <p:nvPr/>
        </p:nvSpPr>
        <p:spPr>
          <a:xfrm>
            <a:off x="6812280" y="1508760"/>
            <a:ext cx="3977640" cy="384048"/>
          </a:xfrm>
          <a:prstGeom prst="roundRect">
            <a:avLst>
              <a:gd name="adj" fmla="val 11905"/>
            </a:avLst>
          </a:prstGeom>
          <a:solidFill>
            <a:srgbClr val="E7EEF7"/>
          </a:solidFill>
          <a:ln w="12700">
            <a:solidFill>
              <a:srgbClr val="D7C9B6"/>
            </a:solidFill>
            <a:prstDash val="solid"/>
          </a:ln>
        </p:spPr>
      </p:sp>
      <p:sp>
        <p:nvSpPr>
          <p:cNvPr id="9" name="Text 7"/>
          <p:cNvSpPr/>
          <p:nvPr/>
        </p:nvSpPr>
        <p:spPr>
          <a:xfrm>
            <a:off x="6995160" y="1618488"/>
            <a:ext cx="3566160" cy="109728"/>
          </a:xfrm>
          <a:prstGeom prst="rect">
            <a:avLst/>
          </a:prstGeom>
          <a:noFill/>
          <a:ln/>
        </p:spPr>
        <p:txBody>
          <a:bodyPr wrap="square" lIns="0" tIns="0" rIns="0" bIns="0" rtlCol="0" anchor="ctr"/>
          <a:lstStyle/>
          <a:p>
            <a:pPr marL="0" indent="0">
              <a:buNone/>
            </a:pPr>
            <a:r>
              <a:rPr lang="en-US" sz="1020" b="1" dirty="0">
                <a:solidFill>
                  <a:srgbClr val="102A43"/>
                </a:solidFill>
              </a:rPr>
              <a:t>1. Excel/Sheets analysis</a:t>
            </a:r>
            <a:endParaRPr lang="en-US" sz="1020" dirty="0"/>
          </a:p>
        </p:txBody>
      </p:sp>
      <p:sp>
        <p:nvSpPr>
          <p:cNvPr id="10" name="Shape 8"/>
          <p:cNvSpPr/>
          <p:nvPr/>
        </p:nvSpPr>
        <p:spPr>
          <a:xfrm>
            <a:off x="6812280" y="2130552"/>
            <a:ext cx="3977640" cy="384048"/>
          </a:xfrm>
          <a:prstGeom prst="roundRect">
            <a:avLst>
              <a:gd name="adj" fmla="val 11905"/>
            </a:avLst>
          </a:prstGeom>
          <a:solidFill>
            <a:srgbClr val="DFF3F5"/>
          </a:solidFill>
          <a:ln w="12700">
            <a:solidFill>
              <a:srgbClr val="D7C9B6"/>
            </a:solidFill>
            <a:prstDash val="solid"/>
          </a:ln>
        </p:spPr>
      </p:sp>
      <p:sp>
        <p:nvSpPr>
          <p:cNvPr id="11" name="Text 9"/>
          <p:cNvSpPr/>
          <p:nvPr/>
        </p:nvSpPr>
        <p:spPr>
          <a:xfrm>
            <a:off x="6995160" y="2240280"/>
            <a:ext cx="3566160" cy="109728"/>
          </a:xfrm>
          <a:prstGeom prst="rect">
            <a:avLst/>
          </a:prstGeom>
          <a:noFill/>
          <a:ln/>
        </p:spPr>
        <p:txBody>
          <a:bodyPr wrap="square" lIns="0" tIns="0" rIns="0" bIns="0" rtlCol="0" anchor="ctr"/>
          <a:lstStyle/>
          <a:p>
            <a:pPr marL="0" indent="0">
              <a:buNone/>
            </a:pPr>
            <a:r>
              <a:rPr lang="en-US" sz="1020" b="1" dirty="0">
                <a:solidFill>
                  <a:srgbClr val="102A43"/>
                </a:solidFill>
              </a:rPr>
              <a:t>2. Dashboard design</a:t>
            </a:r>
            <a:endParaRPr lang="en-US" sz="1020" dirty="0"/>
          </a:p>
        </p:txBody>
      </p:sp>
      <p:sp>
        <p:nvSpPr>
          <p:cNvPr id="12" name="Shape 10"/>
          <p:cNvSpPr/>
          <p:nvPr/>
        </p:nvSpPr>
        <p:spPr>
          <a:xfrm>
            <a:off x="6812280" y="2752344"/>
            <a:ext cx="3977640" cy="384048"/>
          </a:xfrm>
          <a:prstGeom prst="roundRect">
            <a:avLst>
              <a:gd name="adj" fmla="val 11905"/>
            </a:avLst>
          </a:prstGeom>
          <a:solidFill>
            <a:srgbClr val="F6E7C1"/>
          </a:solidFill>
          <a:ln w="12700">
            <a:solidFill>
              <a:srgbClr val="D7C9B6"/>
            </a:solidFill>
            <a:prstDash val="solid"/>
          </a:ln>
        </p:spPr>
      </p:sp>
      <p:sp>
        <p:nvSpPr>
          <p:cNvPr id="13" name="Text 11"/>
          <p:cNvSpPr/>
          <p:nvPr/>
        </p:nvSpPr>
        <p:spPr>
          <a:xfrm>
            <a:off x="6995160" y="2862072"/>
            <a:ext cx="3566160" cy="109728"/>
          </a:xfrm>
          <a:prstGeom prst="rect">
            <a:avLst/>
          </a:prstGeom>
          <a:noFill/>
          <a:ln/>
        </p:spPr>
        <p:txBody>
          <a:bodyPr wrap="square" lIns="0" tIns="0" rIns="0" bIns="0" rtlCol="0" anchor="ctr"/>
          <a:lstStyle/>
          <a:p>
            <a:pPr marL="0" indent="0">
              <a:buNone/>
            </a:pPr>
            <a:r>
              <a:rPr lang="en-US" sz="1020" b="1" dirty="0">
                <a:solidFill>
                  <a:srgbClr val="102A43"/>
                </a:solidFill>
              </a:rPr>
              <a:t>3. Customer analytics</a:t>
            </a:r>
            <a:endParaRPr lang="en-US" sz="1020" dirty="0"/>
          </a:p>
        </p:txBody>
      </p:sp>
      <p:sp>
        <p:nvSpPr>
          <p:cNvPr id="14" name="Shape 12"/>
          <p:cNvSpPr/>
          <p:nvPr/>
        </p:nvSpPr>
        <p:spPr>
          <a:xfrm>
            <a:off x="6812280" y="3374136"/>
            <a:ext cx="3977640" cy="384048"/>
          </a:xfrm>
          <a:prstGeom prst="roundRect">
            <a:avLst>
              <a:gd name="adj" fmla="val 11905"/>
            </a:avLst>
          </a:prstGeom>
          <a:solidFill>
            <a:srgbClr val="E6F4EA"/>
          </a:solidFill>
          <a:ln w="12700">
            <a:solidFill>
              <a:srgbClr val="D7C9B6"/>
            </a:solidFill>
            <a:prstDash val="solid"/>
          </a:ln>
        </p:spPr>
      </p:sp>
      <p:sp>
        <p:nvSpPr>
          <p:cNvPr id="15" name="Text 13"/>
          <p:cNvSpPr/>
          <p:nvPr/>
        </p:nvSpPr>
        <p:spPr>
          <a:xfrm>
            <a:off x="6995160" y="3483864"/>
            <a:ext cx="3566160" cy="109728"/>
          </a:xfrm>
          <a:prstGeom prst="rect">
            <a:avLst/>
          </a:prstGeom>
          <a:noFill/>
          <a:ln/>
        </p:spPr>
        <p:txBody>
          <a:bodyPr wrap="square" lIns="0" tIns="0" rIns="0" bIns="0" rtlCol="0" anchor="ctr"/>
          <a:lstStyle/>
          <a:p>
            <a:pPr marL="0" indent="0">
              <a:buNone/>
            </a:pPr>
            <a:r>
              <a:rPr lang="en-US" sz="1020" b="1" dirty="0">
                <a:solidFill>
                  <a:srgbClr val="102A43"/>
                </a:solidFill>
              </a:rPr>
              <a:t>4. Finance for managers</a:t>
            </a:r>
            <a:endParaRPr lang="en-US" sz="1020" dirty="0"/>
          </a:p>
        </p:txBody>
      </p:sp>
      <p:sp>
        <p:nvSpPr>
          <p:cNvPr id="16" name="Shape 14"/>
          <p:cNvSpPr/>
          <p:nvPr/>
        </p:nvSpPr>
        <p:spPr>
          <a:xfrm>
            <a:off x="6812280" y="3995928"/>
            <a:ext cx="3977640" cy="384048"/>
          </a:xfrm>
          <a:prstGeom prst="roundRect">
            <a:avLst>
              <a:gd name="adj" fmla="val 11905"/>
            </a:avLst>
          </a:prstGeom>
          <a:solidFill>
            <a:srgbClr val="F1E7D8"/>
          </a:solidFill>
          <a:ln w="12700">
            <a:solidFill>
              <a:srgbClr val="D7C9B6"/>
            </a:solidFill>
            <a:prstDash val="solid"/>
          </a:ln>
        </p:spPr>
      </p:sp>
      <p:sp>
        <p:nvSpPr>
          <p:cNvPr id="17" name="Text 15"/>
          <p:cNvSpPr/>
          <p:nvPr/>
        </p:nvSpPr>
        <p:spPr>
          <a:xfrm>
            <a:off x="6995160" y="4105656"/>
            <a:ext cx="3566160" cy="109728"/>
          </a:xfrm>
          <a:prstGeom prst="rect">
            <a:avLst/>
          </a:prstGeom>
          <a:noFill/>
          <a:ln/>
        </p:spPr>
        <p:txBody>
          <a:bodyPr wrap="square" lIns="0" tIns="0" rIns="0" bIns="0" rtlCol="0" anchor="ctr"/>
          <a:lstStyle/>
          <a:p>
            <a:pPr marL="0" indent="0">
              <a:buNone/>
            </a:pPr>
            <a:r>
              <a:rPr lang="en-US" sz="1020" b="1" dirty="0">
                <a:solidFill>
                  <a:srgbClr val="102A43"/>
                </a:solidFill>
              </a:rPr>
              <a:t>5. SQL and BI tools</a:t>
            </a:r>
            <a:endParaRPr lang="en-US" sz="1020" dirty="0"/>
          </a:p>
        </p:txBody>
      </p:sp>
      <p:sp>
        <p:nvSpPr>
          <p:cNvPr id="18" name="Shape 16"/>
          <p:cNvSpPr/>
          <p:nvPr/>
        </p:nvSpPr>
        <p:spPr>
          <a:xfrm>
            <a:off x="822960" y="5532120"/>
            <a:ext cx="10424160" cy="530352"/>
          </a:xfrm>
          <a:prstGeom prst="roundRect">
            <a:avLst>
              <a:gd name="adj" fmla="val 8621"/>
            </a:avLst>
          </a:prstGeom>
          <a:solidFill>
            <a:srgbClr val="F6E7C1"/>
          </a:solidFill>
          <a:ln w="8890">
            <a:solidFill>
              <a:srgbClr val="E3C56F"/>
            </a:solidFill>
            <a:prstDash val="solid"/>
          </a:ln>
        </p:spPr>
      </p:sp>
      <p:sp>
        <p:nvSpPr>
          <p:cNvPr id="19" name="Text 17"/>
          <p:cNvSpPr/>
          <p:nvPr/>
        </p:nvSpPr>
        <p:spPr>
          <a:xfrm>
            <a:off x="987552" y="5605272"/>
            <a:ext cx="10094976" cy="164592"/>
          </a:xfrm>
          <a:prstGeom prst="rect">
            <a:avLst/>
          </a:prstGeom>
          <a:noFill/>
          <a:ln/>
        </p:spPr>
        <p:txBody>
          <a:bodyPr wrap="square" lIns="0" tIns="0" rIns="0" bIns="0" rtlCol="0" anchor="ctr"/>
          <a:lstStyle/>
          <a:p>
            <a:pPr marL="0" indent="0">
              <a:buNone/>
            </a:pPr>
            <a:r>
              <a:rPr lang="en-US" sz="750" b="1" dirty="0">
                <a:solidFill>
                  <a:srgbClr val="B8860B"/>
                </a:solidFill>
              </a:rPr>
              <a:t>Business interpretation</a:t>
            </a:r>
            <a:endParaRPr lang="en-US" sz="750" dirty="0"/>
          </a:p>
        </p:txBody>
      </p:sp>
      <p:sp>
        <p:nvSpPr>
          <p:cNvPr id="20" name="Text 18"/>
          <p:cNvSpPr/>
          <p:nvPr/>
        </p:nvSpPr>
        <p:spPr>
          <a:xfrm>
            <a:off x="987552" y="5797296"/>
            <a:ext cx="10094976" cy="219456"/>
          </a:xfrm>
          <a:prstGeom prst="rect">
            <a:avLst/>
          </a:prstGeom>
          <a:noFill/>
          <a:ln/>
        </p:spPr>
        <p:txBody>
          <a:bodyPr wrap="square" lIns="0" tIns="0" rIns="0" bIns="0" rtlCol="0" anchor="ctr">
            <a:normAutofit/>
          </a:bodyPr>
          <a:lstStyle/>
          <a:p>
            <a:pPr marL="0" indent="0">
              <a:buNone/>
            </a:pPr>
            <a:r>
              <a:rPr lang="en-US" sz="1050" dirty="0">
                <a:solidFill>
                  <a:srgbClr val="243B53"/>
                </a:solidFill>
              </a:rPr>
              <a:t>Business analytics is a habit: ask better questions, compare carefully, connect evidence, and make a decision that can be measured.</a:t>
            </a:r>
            <a:endParaRPr lang="en-US" sz="1050" dirty="0"/>
          </a:p>
        </p:txBody>
      </p:sp>
      <p:sp>
        <p:nvSpPr>
          <p:cNvPr id="25" name="Slide Number Placeholder 0"/>
          <p:cNvSpPr>
            <a:spLocks noGrp="1"/>
          </p:cNvSpPr>
          <p:nvPr>
            <p:ph type="sldNum" sz="quarter" idx="4294967295"/>
          </p:nvPr>
        </p:nvSpPr>
        <p:spPr>
          <a:xfrm>
            <a:off x="112928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720">
                <a:solidFill>
                  <a:srgbClr val="6B6258"/>
                </a:solidFill>
                <a:latin typeface="Aptos"/>
                <a:ea typeface="Aptos"/>
                <a:cs typeface="Aptos"/>
              </a:defRPr>
            </a:lvl1pPr>
          </a:lstStyle>
          <a:p>
            <a:pPr algn="l"/>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11870</Words>
  <Application>Microsoft Macintosh PowerPoint</Application>
  <PresentationFormat>Widescreen</PresentationFormat>
  <Paragraphs>1168</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Jifunze.ai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Analytics for Decision-Making: Turning Data Into Actionable Business Insight</dc:title>
  <dc:subject>Business Analytics for Decision-Making</dc:subject>
  <dc:creator>Jifunze.ai</dc:creator>
  <cp:lastModifiedBy>maseno.2719@gmail.com</cp:lastModifiedBy>
  <cp:revision>2</cp:revision>
  <dcterms:created xsi:type="dcterms:W3CDTF">2026-05-09T20:25:13Z</dcterms:created>
  <dcterms:modified xsi:type="dcterms:W3CDTF">2026-05-09T20:29:30Z</dcterms:modified>
</cp:coreProperties>
</file>