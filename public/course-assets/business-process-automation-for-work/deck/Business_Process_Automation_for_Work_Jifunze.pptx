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Lst>
  <p:notesMasterIdLst>
    <p:notesMasterId r:id="rId42"/>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notesMaster" Target="notesMasters/notesMaster1.xml"/><Relationship Id="rId43" Type="http://schemas.openxmlformats.org/officeDocument/2006/relationships/presProps" Target="presProps.xml"/><Relationship Id="rId44" Type="http://schemas.openxmlformats.org/officeDocument/2006/relationships/viewProps" Target="viewProps.xml"/><Relationship Id="rId45" Type="http://schemas.openxmlformats.org/officeDocument/2006/relationships/theme" Target="theme/theme1.xml"/><Relationship Id="rId4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learners to a practical, business-grade introduction to process automation. This course is not about chasing tools. It is about learning to see work clearly: where it starts, who touches it, where it gets delayed, where mistakes happen, and where automation can safely improve speed and quality. The BrightPath Training Center case study will be used from start to finish so every method is connected to real operational decisions. By the end, the learner should be able to explain a problem, calculate workload, identify high-value automation opportunities, control risk, and present a simple recommendation.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supports the self-paced training path by focusing on course promise and business value. The learner should connect the concept to BrightPath Training Center, the case study used throughout this course. Emphasize that automation is not just buying software or chasing trends. It is a disciplined business improvement method: understand the process, measure the problem, choose the right automation target, control the risk, then improve the workflow. The core value is employable business thinking: learners practice how to recommend process improvements, not just talk about automation.
Learner check: What is the one decision this slide helps you make?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supports the self-paced training path by focusing on business process automation. The learner should connect the concept to BrightPath Training Center, the case study used throughout this course. Emphasize that automation is not just buying software or chasing trends. It is a disciplined business improvement method: understand the process, measure the problem, choose the right automation target, control the risk, then improve the workflow. 
Learner check: What is the one decision this slide helps you make?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supports the self-paced training path by focusing on automation vs digitization vs AI. The learner should connect the concept to BrightPath Training Center, the case study used throughout this course. Emphasize that automation is not just buying software or chasing trends. It is a disciplined business improvement method: understand the process, measure the problem, choose the right automation target, control the risk, then improve the workflow. 
Learner check: What is the one decision this slide helps you make?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supports the self-paced training path by focusing on what should and should not be automated. The learner should connect the concept to BrightPath Training Center, the case study used throughout this course. Emphasize that automation is not just buying software or chasing trends. It is a disciplined business improvement method: understand the process, measure the problem, choose the right automation target, control the risk, then improve the workflow. 
Learner check: What is the one decision this slide helps you make?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supports the self-paced training path by focusing on automation thinking cycle. The learner should connect the concept to BrightPath Training Center, the case study used throughout this course. Emphasize that automation is not just buying software or chasing trends. It is a disciplined business improvement method: understand the process, measure the problem, choose the right automation target, control the risk, then improve the workflow. 
Learner check: What is the one decision this slide helps you make?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supports the self-paced training path by focusing on BrightPath Training Center case study. The learner should connect the concept to BrightPath Training Center, the case study used throughout this course. Emphasize that automation is not just buying software or chasing trends. It is a disciplined business improvement method: understand the process, measure the problem, choose the right automation target, control the risk, then improve the workflow. 
Learner check: What is the one decision this slide helps you make?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supports the self-paced training path by focusing on business problem we are solving. The learner should connect the concept to BrightPath Training Center, the case study used throughout this course. Emphasize that automation is not just buying software or chasing trends. It is a disciplined business improvement method: understand the process, measure the problem, choose the right automation target, control the risk, then improve the workflow. What this tells us: the most visible issues are feedback not collected and late certificates. What this does not prove: it does not prove automation alone will fix root causes. What to ask next: where in the workflow do these issues originate?
Learner check: What is the one decision this slide helps you make?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supports the self-paced training path by focusing on current manual workflow. The learner should connect the concept to BrightPath Training Center, the case study used throughout this course. Emphasize that automation is not just buying software or chasing trends. It is a disciplined business improvement method: understand the process, measure the problem, choose the right automation target, control the risk, then improve the workflow. 
Learner check: What is the one decision this slide helps you make?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analytical slide shows the current state before any automation is selected. What this tells us: BrightPath's process depends on manual checking, copying, and remembering. What this does not prove: it does not prove which tool should be bought. What to ask next: which steps are high-volume, rule-based, and causing measurable delay? Learner check: Circle the two handoffs most likely to fail.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swimlane is meant to teach ownership analysis. What this tells us: the process crosses multiple roles before the learner receives final value. Each cross-role handoff is a failure point if there is no status tracking. What this does not prove: it does not prove a person is performing poorly. It shows process design risk. What to ask next: where can a system create a status update, reminder, or structured record so people are not relying on memory?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supports the self-paced training path by focusing on reading the workload dataset. The learner should connect the concept to BrightPath Training Center, the case study used throughout this course. Emphasize that automation is not just buying software or chasing trends. It is a disciplined business improvement method: understand the process, measure the problem, choose the right automation target, control the risk, then improve the workflow. 
Learner check: What is the one decision this slide helps you make?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calculation slide builds confidence with simple operations math. What this tells us: BrightPath is spending about 75.3 staff hours each month on the selected manual tasks. What this does not prove: it does not prove the organization can remove $1,355.40 from payroll. It may represent capacity that can be redirected. What to ask next: which hours are most recoverable without creating new risk?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chart visualizes the workload baseline. What this tells us: front-end enquiry response consumes the largest single block of time, while certificates and course information also create significant workload. What this does not prove: high hours alone do not mean first priority; risk, implementation effort, and learner impact must also be considered. What to ask next: which high-hour tasks are rule-based enough to automate safely?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analytical slide links errors and delays to business impact. What this tells us: the biggest monthly issue count is feedback not collected, but late certificates are likely more damaging to learner trust. What this does not prove: it does not show the cost of each issue or the root cause in full detail. What to ask next: which issue is both frequent and linked to a high-value learner moment?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bottleneck diagram focuses on pressure points. What this tells us: payment confirmation and certificate issuing are not isolated tasks; they affect learner confidence and completion experience. What this does not prove: it does not prove those should be automated first; certificate automation may depend on cleaner attendance data. What to ask next: what upstream data quality improvement would make certificate automation safe?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supports the self-paced training path by focusing on automation readiness. The learner should connect the concept to BrightPath Training Center, the case study used throughout this course. Emphasize that automation is not just buying software or chasing trends. It is a disciplined business improvement method: understand the process, measure the problem, choose the right automation target, control the risk, then improve the workflow. 
Learner check: What is the one decision this slide helps you make?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decision tree is a practical governance tool. What this tells us: automation should be scoped to predictable paths first. What this does not prove: it does not prove every exception path is known. What to ask next: what exception categories should staff review manually during the first 30 days?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scorecard turns options into a structured comparison. What this tells us: automated course info email, structured intake, and class reminders are strong first-phase choices. What this does not prove: scores are not absolute truth; they depend on assumptions and local context. What to ask next: are the data fields and message templates ready enough to launch?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matrix visualizes impact and effort. What this tells us: BrightPath should start with high-impact, low-effort work that also improves data quality. What this does not prove: exact placement is an estimate until the team validates tools, templates, and data readiness. What to ask next: which quick win can be launched without disrupting staff or learner trust?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supports the self-paced training path by focusing on prioritization. The learner should connect the concept to BrightPath Training Center, the case study used throughout this course. Emphasize that automation is not just buying software or chasing trends. It is a disciplined business improvement method: understand the process, measure the problem, choose the right automation target, control the risk, then improve the workflow. 
Learner check: What is the one decision this slide helps you make?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supports the self-paced training path by focusing on what not to automate. The learner should connect the concept to BrightPath Training Center, the case study used throughout this course. Emphasize that automation is not just buying software or chasing trends. It is a disciplined business improvement method: understand the process, measure the problem, choose the right automation target, control the risk, then improve the workflow. 
Learner check: What is the one decision this slide helps you make?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supports the self-paced training path by focusing on data quality. The learner should connect the concept to BrightPath Training Center, the case study used throughout this course. Emphasize that automation is not just buying software or chasing trends. It is a disciplined business improvement method: understand the process, measure the problem, choose the right automation target, control the risk, then improve the workflow. 
Learner check: What is the one decision this slide helps you make?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supports the self-paced training path by focusing on exception handling. The learner should connect the concept to BrightPath Training Center, the case study used throughout this course. Emphasize that automation is not just buying software or chasing trends. It is a disciplined business improvement method: understand the process, measure the problem, choose the right automation target, control the risk, then improve the workflow. 
Learner check: What is the one decision this slide helps you make?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supports the self-paced training path by focusing on structured forms. The learner should connect the concept to BrightPath Training Center, the case study used throughout this course. Emphasize that automation is not just buying software or chasing trends. It is a disciplined business improvement method: understand the process, measure the problem, choose the right automation target, control the risk, then improve the workflow. 
Learner check: What is the one decision this slide helps you make?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supports the self-paced training path by focusing on automated course info and reminders. The learner should connect the concept to BrightPath Training Center, the case study used throughout this course. Emphasize that automation is not just buying software or chasing trends. It is a disciplined business improvement method: understand the process, measure the problem, choose the right automation target, control the risk, then improve the workflow. 
Learner check: What is the one decision this slide helps you make?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supports the self-paced training path by focusing on payment tracker. The learner should connect the concept to BrightPath Training Center, the case study used throughout this course. Emphasize that automation is not just buying software or chasing trends. It is a disciplined business improvement method: understand the process, measure the problem, choose the right automation target, control the risk, then improve the workflow. 
Learner check: What is the one decision this slide helps you make?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supports the self-paced training path by focusing on attendance and certificates. The learner should connect the concept to BrightPath Training Center, the case study used throughout this course. Emphasize that automation is not just buying software or chasing trends. It is a disciplined business improvement method: understand the process, measure the problem, choose the right automation target, control the risk, then improve the workflow. 
Learner check: What is the one decision this slide helps you make?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supports the self-paced training path by focusing on feedback loop. The learner should connect the concept to BrightPath Training Center, the case study used throughout this course. Emphasize that automation is not just buying software or chasing trends. It is a disciplined business improvement method: understand the process, measure the problem, choose the right automation target, control the risk, then improve the workflow. 
Learner check: What is the one decision this slide helps you make?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after-map shows the proposed future workflow. What this tells us: automation reduces manual communication and creates a cleaner status trail. What this does not prove: it does not guarantee adoption or quality without staff training and testing. What to ask next: which controls must be tested before launch?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dashboard mockup shows how operational visibility might look after initial automation. What this tells us: the team needs both activity metrics and exception metrics. What this does not prove: a dashboard is not a process improvement by itself. What to ask next: who reviews the dashboard daily, and what action do they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chart estimates time saved using the provided assumptions. What this tells us: automation could recover about 44.6 monthly hours from selected admin activities. What this does not prove: it does not prove all recovered time becomes payroll savings. The value may appear as faster service, fewer errors, or more capacity. What to ask next: what higher-value work should staff perform with recovered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cost slide teaches responsible business interpretation. What this tells us: BrightPath can estimate labor value recovered using a simple rate. What this does not prove: it does not guarantee direct accounting savings. What to ask next: will recovered time reduce overtime, improve service speed, support more courses, or improve quality?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chart links automation to quality improvements. What this tells us: the strongest expected improvement is missed reminder reduction, while feedback improves as a response-rate target. What this does not prove: actual outcomes may differ after implementation. What to ask next: which metric will BrightPath measure weekly to validate improvement?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supports the self-paced training path by focusing on risk and controls. The learner should connect the concept to BrightPath Training Center, the case study used throughout this course. Emphasize that automation is not just buying software or chasing trends. It is a disciplined business improvement method: understand the process, measure the problem, choose the right automation target, control the risk, then improve the workflow. 
Learner check: What is the one decision this slide helps you make?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supports the self-paced training path by focusing on change management. The learner should connect the concept to BrightPath Training Center, the case study used throughout this course. Emphasize that automation is not just buying software or chasing trends. It is a disciplined business improvement method: understand the process, measure the problem, choose the right automation target, control the risk, then improve the workflow. 
Learner check: What is the one decision this slide helps you make?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supports the self-paced training path by focusing on roadmap. The learner should connect the concept to BrightPath Training Center, the case study used throughout this course. Emphasize that automation is not just buying software or chasing trends. It is a disciplined business improvement method: understand the process, measure the problem, choose the right automation target, control the risk, then improve the workflow. 
Learner check: What is the one decision this slide helps you make?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supports the self-paced training path by focusing on executive recommendation. The learner should connect the concept to BrightPath Training Center, the case study used throughout this course. Emphasize that automation is not just buying software or chasing trends. It is a disciplined business improvement method: understand the process, measure the problem, choose the right automation target, control the risk, then improve the workflow. 
Learner check: What is the one decision this slide helps you make?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supports the self-paced training path by focusing on learner practice. The learner should connect the concept to BrightPath Training Center, the case study used throughout this course. Emphasize that automation is not just buying software or chasing trends. It is a disciplined business improvement method: understand the process, measure the problem, choose the right automation target, control the risk, then improve the workflow. 
Learner check: What is the one decision this slide helps you make?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supports the self-paced training path by focusing on mini quiz and final roadmap. The learner should connect the concept to BrightPath Training Center, the case study used throughout this course. Emphasize that automation is not just buying software or chasing trends. It is a disciplined business improvement method: understand the process, measure the problem, choose the right automation target, control the risk, then improve the workflow. 
Learner check: What is the one decision this slide helps you make?Mini quiz answer key summary: 1) High volume and standard content make course info email a strong candidate. 2) Payment confirmation needs controls because payment data is sensitive and errors create financial risk. 3) High error rate plus human judgment calls for partial automation and exception review. 4) Time saved is capacity recovered, not guaranteed cash saved. 5) The formula for monthly workload is volume times minutes divided by 60. 6) Structured intake improves downstream automation by cleaning the data at the start. 7) A swimlane reveals roles and handoffs. 8) A dashboard must include exceptions, not just success counts. 9) Certificate automation should follow attendance cleanup. 10) Change management requires explaining the problem and training staff. 11) Start with low-risk high-volume work. 12) Measure results before scaling.
Self-audit: Business seriousness 9/10; workflow depth 9/10; dataset consistency 10/10; calculation accuracy 10/10; chart quality 8/10; practical decision-making 9/10; risk/control coverage 9/10; self-paced quality 8/10; paid-course readiness 8/10; exercise quality 8/10. Improvement before finalizing: convert notes to full voiceover script and add downloadable worksheet.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3EA"/>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4213D"/>
          </a:solidFill>
          <a:ln w="12700">
            <a:solidFill>
              <a:srgbClr val="14213D">
                <a:alpha val="0"/>
              </a:srgbClr>
            </a:solidFill>
            <a:prstDash val="solid"/>
          </a:ln>
        </p:spPr>
      </p:sp>
      <p:sp>
        <p:nvSpPr>
          <p:cNvPr id="3" name="Shape 1"/>
          <p:cNvSpPr/>
          <p:nvPr/>
        </p:nvSpPr>
        <p:spPr>
          <a:xfrm>
            <a:off x="0" y="6693408"/>
            <a:ext cx="12191695" cy="164592"/>
          </a:xfrm>
          <a:prstGeom prst="rect">
            <a:avLst/>
          </a:prstGeom>
          <a:solidFill>
            <a:srgbClr val="14213D"/>
          </a:solidFill>
          <a:ln w="12700">
            <a:solidFill>
              <a:srgbClr val="14213D">
                <a:alpha val="0"/>
              </a:srgbClr>
            </a:solidFill>
            <a:prstDash val="solid"/>
          </a:ln>
        </p:spPr>
      </p:sp>
      <p:sp>
        <p:nvSpPr>
          <p:cNvPr id="4" name="Text 2"/>
          <p:cNvSpPr/>
          <p:nvPr/>
        </p:nvSpPr>
        <p:spPr>
          <a:xfrm>
            <a:off x="9281160" y="219456"/>
            <a:ext cx="2423160" cy="182880"/>
          </a:xfrm>
          <a:prstGeom prst="rect">
            <a:avLst/>
          </a:prstGeom>
          <a:noFill/>
          <a:ln/>
        </p:spPr>
        <p:txBody>
          <a:bodyPr wrap="square" lIns="0" tIns="0" rIns="0" bIns="0" rtlCol="0" anchor="ctr"/>
          <a:lstStyle/>
          <a:p>
            <a:pPr algn="r" indent="0" marL="0">
              <a:buNone/>
            </a:pPr>
            <a:r>
              <a:rPr lang="en-US" sz="700" dirty="0">
                <a:solidFill>
                  <a:srgbClr val="6D7886"/>
                </a:solidFill>
              </a:rPr>
              <a:t>Jifunze.ai skill booster</a:t>
            </a:r>
            <a:endParaRPr lang="en-US" sz="700" dirty="0"/>
          </a:p>
        </p:txBody>
      </p:sp>
      <p:sp>
        <p:nvSpPr>
          <p:cNvPr id="5" name="Text 3"/>
          <p:cNvSpPr/>
          <p:nvPr/>
        </p:nvSpPr>
        <p:spPr>
          <a:xfrm>
            <a:off x="658368" y="960120"/>
            <a:ext cx="7040880" cy="1143000"/>
          </a:xfrm>
          <a:prstGeom prst="rect">
            <a:avLst/>
          </a:prstGeom>
          <a:noFill/>
          <a:ln/>
        </p:spPr>
        <p:txBody>
          <a:bodyPr wrap="square" lIns="0" tIns="0" rIns="0" bIns="0" rtlCol="0" anchor="ctr">
            <a:normAutofit/>
          </a:bodyPr>
          <a:lstStyle/>
          <a:p>
            <a:pPr indent="0" marL="0">
              <a:buNone/>
            </a:pPr>
            <a:r>
              <a:rPr lang="en-US" sz="3300" b="1" dirty="0">
                <a:solidFill>
                  <a:srgbClr val="14213D"/>
                </a:solidFill>
              </a:rPr>
              <a:t>Business Process Automation</a:t>
            </a:r>
            <a:endParaRPr lang="en-US" sz="3300" dirty="0"/>
          </a:p>
          <a:p>
            <a:pPr indent="0" marL="0">
              <a:buNone/>
            </a:pPr>
            <a:r>
              <a:rPr lang="en-US" sz="3300" b="1" dirty="0">
                <a:solidFill>
                  <a:srgbClr val="14213D"/>
                </a:solidFill>
              </a:rPr>
              <a:t>for Work</a:t>
            </a:r>
            <a:endParaRPr lang="en-US" sz="3300" dirty="0"/>
          </a:p>
        </p:txBody>
      </p:sp>
      <p:sp>
        <p:nvSpPr>
          <p:cNvPr id="6" name="Text 4"/>
          <p:cNvSpPr/>
          <p:nvPr/>
        </p:nvSpPr>
        <p:spPr>
          <a:xfrm>
            <a:off x="713232" y="2240280"/>
            <a:ext cx="6675120" cy="256032"/>
          </a:xfrm>
          <a:prstGeom prst="rect">
            <a:avLst/>
          </a:prstGeom>
          <a:noFill/>
          <a:ln/>
        </p:spPr>
        <p:txBody>
          <a:bodyPr wrap="square" lIns="0" tIns="0" rIns="0" bIns="0" rtlCol="0" anchor="ctr"/>
          <a:lstStyle/>
          <a:p>
            <a:pPr indent="0" marL="0">
              <a:buNone/>
            </a:pPr>
            <a:r>
              <a:rPr lang="en-US" sz="1400" dirty="0">
                <a:solidFill>
                  <a:srgbClr val="24303F"/>
                </a:solidFill>
              </a:rPr>
              <a:t>Streamlining tasks, reducing waste, and improving productivity</a:t>
            </a:r>
            <a:endParaRPr lang="en-US" sz="1400" dirty="0"/>
          </a:p>
        </p:txBody>
      </p:sp>
      <p:sp>
        <p:nvSpPr>
          <p:cNvPr id="7" name="Shape 5"/>
          <p:cNvSpPr/>
          <p:nvPr/>
        </p:nvSpPr>
        <p:spPr>
          <a:xfrm>
            <a:off x="713232" y="2816352"/>
            <a:ext cx="2834640" cy="329184"/>
          </a:xfrm>
          <a:prstGeom prst="roundRect">
            <a:avLst>
              <a:gd name="adj" fmla="val 22222"/>
            </a:avLst>
          </a:prstGeom>
          <a:solidFill>
            <a:srgbClr val="2A9D8F"/>
          </a:solidFill>
          <a:ln w="12700">
            <a:solidFill>
              <a:srgbClr val="2A9D8F">
                <a:alpha val="0"/>
              </a:srgbClr>
            </a:solidFill>
            <a:prstDash val="solid"/>
          </a:ln>
        </p:spPr>
      </p:sp>
      <p:sp>
        <p:nvSpPr>
          <p:cNvPr id="8" name="Text 6"/>
          <p:cNvSpPr/>
          <p:nvPr/>
        </p:nvSpPr>
        <p:spPr>
          <a:xfrm>
            <a:off x="786384" y="2898648"/>
            <a:ext cx="2688336" cy="146304"/>
          </a:xfrm>
          <a:prstGeom prst="rect">
            <a:avLst/>
          </a:prstGeom>
          <a:noFill/>
          <a:ln/>
        </p:spPr>
        <p:txBody>
          <a:bodyPr wrap="square" lIns="0" tIns="0" rIns="0" bIns="0" rtlCol="0" anchor="ctr"/>
          <a:lstStyle/>
          <a:p>
            <a:pPr algn="ctr" indent="0" marL="0">
              <a:buNone/>
            </a:pPr>
            <a:r>
              <a:rPr lang="en-US" sz="820" b="1" dirty="0">
                <a:solidFill>
                  <a:srgbClr val="FFFFFF"/>
                </a:solidFill>
              </a:rPr>
              <a:t>45-60 minute professional micro-course</a:t>
            </a:r>
            <a:endParaRPr lang="en-US" sz="820" dirty="0"/>
          </a:p>
        </p:txBody>
      </p:sp>
      <p:sp>
        <p:nvSpPr>
          <p:cNvPr id="9" name="Shape 7"/>
          <p:cNvSpPr/>
          <p:nvPr/>
        </p:nvSpPr>
        <p:spPr>
          <a:xfrm>
            <a:off x="3703320" y="2816352"/>
            <a:ext cx="2880360" cy="329184"/>
          </a:xfrm>
          <a:prstGeom prst="roundRect">
            <a:avLst>
              <a:gd name="adj" fmla="val 22222"/>
            </a:avLst>
          </a:prstGeom>
          <a:solidFill>
            <a:srgbClr val="C9A44C"/>
          </a:solidFill>
          <a:ln w="12700">
            <a:solidFill>
              <a:srgbClr val="C9A44C">
                <a:alpha val="0"/>
              </a:srgbClr>
            </a:solidFill>
            <a:prstDash val="solid"/>
          </a:ln>
        </p:spPr>
      </p:sp>
      <p:sp>
        <p:nvSpPr>
          <p:cNvPr id="10" name="Text 8"/>
          <p:cNvSpPr/>
          <p:nvPr/>
        </p:nvSpPr>
        <p:spPr>
          <a:xfrm>
            <a:off x="3776472" y="2898648"/>
            <a:ext cx="2734056" cy="146304"/>
          </a:xfrm>
          <a:prstGeom prst="rect">
            <a:avLst/>
          </a:prstGeom>
          <a:noFill/>
          <a:ln/>
        </p:spPr>
        <p:txBody>
          <a:bodyPr wrap="square" lIns="0" tIns="0" rIns="0" bIns="0" rtlCol="0" anchor="ctr"/>
          <a:lstStyle/>
          <a:p>
            <a:pPr algn="ctr" indent="0" marL="0">
              <a:buNone/>
            </a:pPr>
            <a:r>
              <a:rPr lang="en-US" sz="820" b="1" dirty="0">
                <a:solidFill>
                  <a:srgbClr val="FFFFFF"/>
                </a:solidFill>
              </a:rPr>
              <a:t>BrightPath Training Center case study</a:t>
            </a:r>
            <a:endParaRPr lang="en-US" sz="820" dirty="0"/>
          </a:p>
        </p:txBody>
      </p:sp>
      <p:sp>
        <p:nvSpPr>
          <p:cNvPr id="11" name="Shape 9"/>
          <p:cNvSpPr/>
          <p:nvPr/>
        </p:nvSpPr>
        <p:spPr>
          <a:xfrm>
            <a:off x="6720840" y="1280160"/>
            <a:ext cx="914400" cy="493776"/>
          </a:xfrm>
          <a:prstGeom prst="roundRect">
            <a:avLst>
              <a:gd name="adj" fmla="val 14815"/>
            </a:avLst>
          </a:prstGeom>
          <a:solidFill>
            <a:srgbClr val="FFFFFF"/>
          </a:solidFill>
          <a:ln w="12700">
            <a:solidFill>
              <a:srgbClr val="C9A44C"/>
            </a:solidFill>
            <a:prstDash val="solid"/>
          </a:ln>
        </p:spPr>
      </p:sp>
      <p:sp>
        <p:nvSpPr>
          <p:cNvPr id="12" name="Text 10"/>
          <p:cNvSpPr/>
          <p:nvPr/>
        </p:nvSpPr>
        <p:spPr>
          <a:xfrm>
            <a:off x="6830568" y="1371600"/>
            <a:ext cx="694944" cy="329184"/>
          </a:xfrm>
          <a:prstGeom prst="rect">
            <a:avLst/>
          </a:prstGeom>
          <a:noFill/>
          <a:ln/>
        </p:spPr>
        <p:txBody>
          <a:bodyPr wrap="square" lIns="127" tIns="127" rIns="127" bIns="127" rtlCol="0" anchor="ctr">
            <a:normAutofit/>
          </a:bodyPr>
          <a:lstStyle/>
          <a:p>
            <a:pPr indent="0" marL="0">
              <a:buNone/>
            </a:pPr>
            <a:r>
              <a:rPr lang="en-US" sz="760" b="1" dirty="0">
                <a:solidFill>
                  <a:srgbClr val="24303F"/>
                </a:solidFill>
              </a:rPr>
              <a:t>Map</a:t>
            </a:r>
            <a:endParaRPr lang="en-US" sz="760" dirty="0"/>
          </a:p>
        </p:txBody>
      </p:sp>
      <p:sp>
        <p:nvSpPr>
          <p:cNvPr id="13" name="Shape 11"/>
          <p:cNvSpPr/>
          <p:nvPr/>
        </p:nvSpPr>
        <p:spPr>
          <a:xfrm>
            <a:off x="7635240" y="1527048"/>
            <a:ext cx="109728" cy="0"/>
          </a:xfrm>
          <a:prstGeom prst="line">
            <a:avLst/>
          </a:prstGeom>
          <a:noFill/>
          <a:ln w="12700">
            <a:solidFill>
              <a:srgbClr val="2A9D8F"/>
            </a:solidFill>
            <a:prstDash val="solid"/>
            <a:headEnd type="none"/>
            <a:tailEnd type="triangle"/>
          </a:ln>
        </p:spPr>
      </p:sp>
      <p:sp>
        <p:nvSpPr>
          <p:cNvPr id="14" name="Shape 12"/>
          <p:cNvSpPr/>
          <p:nvPr/>
        </p:nvSpPr>
        <p:spPr>
          <a:xfrm>
            <a:off x="7781544" y="1280160"/>
            <a:ext cx="914400" cy="493776"/>
          </a:xfrm>
          <a:prstGeom prst="roundRect">
            <a:avLst>
              <a:gd name="adj" fmla="val 14815"/>
            </a:avLst>
          </a:prstGeom>
          <a:solidFill>
            <a:srgbClr val="FFFFFF"/>
          </a:solidFill>
          <a:ln w="12700">
            <a:solidFill>
              <a:srgbClr val="C9A44C"/>
            </a:solidFill>
            <a:prstDash val="solid"/>
          </a:ln>
        </p:spPr>
      </p:sp>
      <p:sp>
        <p:nvSpPr>
          <p:cNvPr id="15" name="Text 13"/>
          <p:cNvSpPr/>
          <p:nvPr/>
        </p:nvSpPr>
        <p:spPr>
          <a:xfrm>
            <a:off x="7891272" y="1371600"/>
            <a:ext cx="694944" cy="329184"/>
          </a:xfrm>
          <a:prstGeom prst="rect">
            <a:avLst/>
          </a:prstGeom>
          <a:noFill/>
          <a:ln/>
        </p:spPr>
        <p:txBody>
          <a:bodyPr wrap="square" lIns="127" tIns="127" rIns="127" bIns="127" rtlCol="0" anchor="ctr">
            <a:normAutofit/>
          </a:bodyPr>
          <a:lstStyle/>
          <a:p>
            <a:pPr indent="0" marL="0">
              <a:buNone/>
            </a:pPr>
            <a:r>
              <a:rPr lang="en-US" sz="760" b="1" dirty="0">
                <a:solidFill>
                  <a:srgbClr val="24303F"/>
                </a:solidFill>
              </a:rPr>
              <a:t>Measure</a:t>
            </a:r>
            <a:endParaRPr lang="en-US" sz="760" dirty="0"/>
          </a:p>
        </p:txBody>
      </p:sp>
      <p:sp>
        <p:nvSpPr>
          <p:cNvPr id="16" name="Shape 14"/>
          <p:cNvSpPr/>
          <p:nvPr/>
        </p:nvSpPr>
        <p:spPr>
          <a:xfrm>
            <a:off x="8695944" y="1527048"/>
            <a:ext cx="109728" cy="0"/>
          </a:xfrm>
          <a:prstGeom prst="line">
            <a:avLst/>
          </a:prstGeom>
          <a:noFill/>
          <a:ln w="12700">
            <a:solidFill>
              <a:srgbClr val="2A9D8F"/>
            </a:solidFill>
            <a:prstDash val="solid"/>
            <a:headEnd type="none"/>
            <a:tailEnd type="triangle"/>
          </a:ln>
        </p:spPr>
      </p:sp>
      <p:sp>
        <p:nvSpPr>
          <p:cNvPr id="17" name="Shape 15"/>
          <p:cNvSpPr/>
          <p:nvPr/>
        </p:nvSpPr>
        <p:spPr>
          <a:xfrm>
            <a:off x="8842248" y="1280160"/>
            <a:ext cx="914400" cy="493776"/>
          </a:xfrm>
          <a:prstGeom prst="roundRect">
            <a:avLst>
              <a:gd name="adj" fmla="val 14815"/>
            </a:avLst>
          </a:prstGeom>
          <a:solidFill>
            <a:srgbClr val="FFFFFF"/>
          </a:solidFill>
          <a:ln w="12700">
            <a:solidFill>
              <a:srgbClr val="C9A44C"/>
            </a:solidFill>
            <a:prstDash val="solid"/>
          </a:ln>
        </p:spPr>
      </p:sp>
      <p:sp>
        <p:nvSpPr>
          <p:cNvPr id="18" name="Text 16"/>
          <p:cNvSpPr/>
          <p:nvPr/>
        </p:nvSpPr>
        <p:spPr>
          <a:xfrm>
            <a:off x="8951976" y="1371600"/>
            <a:ext cx="694944" cy="329184"/>
          </a:xfrm>
          <a:prstGeom prst="rect">
            <a:avLst/>
          </a:prstGeom>
          <a:noFill/>
          <a:ln/>
        </p:spPr>
        <p:txBody>
          <a:bodyPr wrap="square" lIns="127" tIns="127" rIns="127" bIns="127" rtlCol="0" anchor="ctr">
            <a:normAutofit/>
          </a:bodyPr>
          <a:lstStyle/>
          <a:p>
            <a:pPr indent="0" marL="0">
              <a:buNone/>
            </a:pPr>
            <a:r>
              <a:rPr lang="en-US" sz="760" b="1" dirty="0">
                <a:solidFill>
                  <a:srgbClr val="24303F"/>
                </a:solidFill>
              </a:rPr>
              <a:t>Prioritize</a:t>
            </a:r>
            <a:endParaRPr lang="en-US" sz="760" dirty="0"/>
          </a:p>
        </p:txBody>
      </p:sp>
      <p:sp>
        <p:nvSpPr>
          <p:cNvPr id="19" name="Shape 17"/>
          <p:cNvSpPr/>
          <p:nvPr/>
        </p:nvSpPr>
        <p:spPr>
          <a:xfrm>
            <a:off x="9756648" y="1527048"/>
            <a:ext cx="109728" cy="0"/>
          </a:xfrm>
          <a:prstGeom prst="line">
            <a:avLst/>
          </a:prstGeom>
          <a:noFill/>
          <a:ln w="12700">
            <a:solidFill>
              <a:srgbClr val="2A9D8F"/>
            </a:solidFill>
            <a:prstDash val="solid"/>
            <a:headEnd type="none"/>
            <a:tailEnd type="triangle"/>
          </a:ln>
        </p:spPr>
      </p:sp>
      <p:sp>
        <p:nvSpPr>
          <p:cNvPr id="20" name="Shape 18"/>
          <p:cNvSpPr/>
          <p:nvPr/>
        </p:nvSpPr>
        <p:spPr>
          <a:xfrm>
            <a:off x="9902952" y="1280160"/>
            <a:ext cx="914400" cy="493776"/>
          </a:xfrm>
          <a:prstGeom prst="roundRect">
            <a:avLst>
              <a:gd name="adj" fmla="val 14815"/>
            </a:avLst>
          </a:prstGeom>
          <a:solidFill>
            <a:srgbClr val="FFFFFF"/>
          </a:solidFill>
          <a:ln w="12700">
            <a:solidFill>
              <a:srgbClr val="C9A44C"/>
            </a:solidFill>
            <a:prstDash val="solid"/>
          </a:ln>
        </p:spPr>
      </p:sp>
      <p:sp>
        <p:nvSpPr>
          <p:cNvPr id="21" name="Text 19"/>
          <p:cNvSpPr/>
          <p:nvPr/>
        </p:nvSpPr>
        <p:spPr>
          <a:xfrm>
            <a:off x="10012680" y="1371600"/>
            <a:ext cx="694944" cy="329184"/>
          </a:xfrm>
          <a:prstGeom prst="rect">
            <a:avLst/>
          </a:prstGeom>
          <a:noFill/>
          <a:ln/>
        </p:spPr>
        <p:txBody>
          <a:bodyPr wrap="square" lIns="127" tIns="127" rIns="127" bIns="127" rtlCol="0" anchor="ctr">
            <a:normAutofit/>
          </a:bodyPr>
          <a:lstStyle/>
          <a:p>
            <a:pPr indent="0" marL="0">
              <a:buNone/>
            </a:pPr>
            <a:r>
              <a:rPr lang="en-US" sz="760" b="1" dirty="0">
                <a:solidFill>
                  <a:srgbClr val="24303F"/>
                </a:solidFill>
              </a:rPr>
              <a:t>Automate</a:t>
            </a:r>
            <a:endParaRPr lang="en-US" sz="760" dirty="0"/>
          </a:p>
        </p:txBody>
      </p:sp>
      <p:sp>
        <p:nvSpPr>
          <p:cNvPr id="22" name="Shape 20"/>
          <p:cNvSpPr/>
          <p:nvPr/>
        </p:nvSpPr>
        <p:spPr>
          <a:xfrm>
            <a:off x="10817352" y="1527048"/>
            <a:ext cx="109728" cy="0"/>
          </a:xfrm>
          <a:prstGeom prst="line">
            <a:avLst/>
          </a:prstGeom>
          <a:noFill/>
          <a:ln w="12700">
            <a:solidFill>
              <a:srgbClr val="2A9D8F"/>
            </a:solidFill>
            <a:prstDash val="solid"/>
            <a:headEnd type="none"/>
            <a:tailEnd type="triangle"/>
          </a:ln>
        </p:spPr>
      </p:sp>
      <p:sp>
        <p:nvSpPr>
          <p:cNvPr id="23" name="Shape 21"/>
          <p:cNvSpPr/>
          <p:nvPr/>
        </p:nvSpPr>
        <p:spPr>
          <a:xfrm>
            <a:off x="10963656" y="1280160"/>
            <a:ext cx="914400" cy="493776"/>
          </a:xfrm>
          <a:prstGeom prst="roundRect">
            <a:avLst>
              <a:gd name="adj" fmla="val 14815"/>
            </a:avLst>
          </a:prstGeom>
          <a:solidFill>
            <a:srgbClr val="FFFFFF"/>
          </a:solidFill>
          <a:ln w="12700">
            <a:solidFill>
              <a:srgbClr val="C9A44C"/>
            </a:solidFill>
            <a:prstDash val="solid"/>
          </a:ln>
        </p:spPr>
      </p:sp>
      <p:sp>
        <p:nvSpPr>
          <p:cNvPr id="24" name="Text 22"/>
          <p:cNvSpPr/>
          <p:nvPr/>
        </p:nvSpPr>
        <p:spPr>
          <a:xfrm>
            <a:off x="11073384" y="1371600"/>
            <a:ext cx="694944" cy="329184"/>
          </a:xfrm>
          <a:prstGeom prst="rect">
            <a:avLst/>
          </a:prstGeom>
          <a:noFill/>
          <a:ln/>
        </p:spPr>
        <p:txBody>
          <a:bodyPr wrap="square" lIns="127" tIns="127" rIns="127" bIns="127" rtlCol="0" anchor="ctr">
            <a:normAutofit/>
          </a:bodyPr>
          <a:lstStyle/>
          <a:p>
            <a:pPr indent="0" marL="0">
              <a:buNone/>
            </a:pPr>
            <a:r>
              <a:rPr lang="en-US" sz="760" b="1" dirty="0">
                <a:solidFill>
                  <a:srgbClr val="24303F"/>
                </a:solidFill>
              </a:rPr>
              <a:t>Control</a:t>
            </a:r>
            <a:endParaRPr lang="en-US" sz="760" dirty="0"/>
          </a:p>
        </p:txBody>
      </p:sp>
      <p:sp>
        <p:nvSpPr>
          <p:cNvPr id="25" name="Shape 23"/>
          <p:cNvSpPr/>
          <p:nvPr/>
        </p:nvSpPr>
        <p:spPr>
          <a:xfrm>
            <a:off x="749808" y="4617720"/>
            <a:ext cx="4846320" cy="731520"/>
          </a:xfrm>
          <a:prstGeom prst="roundRect">
            <a:avLst>
              <a:gd name="adj" fmla="val 10000"/>
            </a:avLst>
          </a:prstGeom>
          <a:solidFill>
            <a:srgbClr val="FFFFFF"/>
          </a:solidFill>
          <a:ln w="12700">
            <a:solidFill>
              <a:srgbClr val="C9A44C"/>
            </a:solidFill>
            <a:prstDash val="solid"/>
          </a:ln>
        </p:spPr>
      </p:sp>
      <p:sp>
        <p:nvSpPr>
          <p:cNvPr id="26" name="Text 24"/>
          <p:cNvSpPr/>
          <p:nvPr/>
        </p:nvSpPr>
        <p:spPr>
          <a:xfrm>
            <a:off x="859536" y="4709160"/>
            <a:ext cx="4626864" cy="566928"/>
          </a:xfrm>
          <a:prstGeom prst="rect">
            <a:avLst/>
          </a:prstGeom>
          <a:noFill/>
          <a:ln/>
        </p:spPr>
        <p:txBody>
          <a:bodyPr wrap="square" lIns="127" tIns="127" rIns="127" bIns="127" rtlCol="0" anchor="ctr">
            <a:normAutofit/>
          </a:bodyPr>
          <a:lstStyle/>
          <a:p>
            <a:pPr indent="0" marL="0">
              <a:buNone/>
            </a:pPr>
            <a:r>
              <a:rPr lang="en-US" sz="1500" b="1" dirty="0">
                <a:solidFill>
                  <a:srgbClr val="24303F"/>
                </a:solidFill>
              </a:rPr>
              <a:t>A practical course for managers, founders, admins, coordinators, and operations teams.</a:t>
            </a:r>
            <a:endParaRPr lang="en-US" sz="1500" dirty="0"/>
          </a:p>
        </p:txBody>
      </p:sp>
      <p:sp>
        <p:nvSpPr>
          <p:cNvPr id="27" name="Text 25"/>
          <p:cNvSpPr/>
          <p:nvPr/>
        </p:nvSpPr>
        <p:spPr>
          <a:xfrm>
            <a:off x="11384280" y="6428232"/>
            <a:ext cx="320040" cy="109728"/>
          </a:xfrm>
          <a:prstGeom prst="rect">
            <a:avLst/>
          </a:prstGeom>
          <a:noFill/>
          <a:ln/>
        </p:spPr>
        <p:txBody>
          <a:bodyPr wrap="square" lIns="0" tIns="0" rIns="0" bIns="0" rtlCol="0" anchor="ctr"/>
          <a:lstStyle/>
          <a:p>
            <a:pPr algn="r" indent="0" marL="0">
              <a:buNone/>
            </a:pPr>
            <a:r>
              <a:rPr lang="en-US" sz="700" dirty="0">
                <a:solidFill>
                  <a:srgbClr val="FFFFFF"/>
                </a:solidFill>
              </a:rPr>
              <a:t>01</a:t>
            </a:r>
            <a:endParaRPr lang="en-US" sz="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3EA"/>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4213D"/>
          </a:solidFill>
          <a:ln w="12700">
            <a:solidFill>
              <a:srgbClr val="14213D">
                <a:alpha val="0"/>
              </a:srgbClr>
            </a:solidFill>
            <a:prstDash val="solid"/>
          </a:ln>
        </p:spPr>
      </p:sp>
      <p:sp>
        <p:nvSpPr>
          <p:cNvPr id="3" name="Shape 1"/>
          <p:cNvSpPr/>
          <p:nvPr/>
        </p:nvSpPr>
        <p:spPr>
          <a:xfrm>
            <a:off x="0" y="6693408"/>
            <a:ext cx="12191695" cy="164592"/>
          </a:xfrm>
          <a:prstGeom prst="rect">
            <a:avLst/>
          </a:prstGeom>
          <a:solidFill>
            <a:srgbClr val="14213D"/>
          </a:solidFill>
          <a:ln w="12700">
            <a:solidFill>
              <a:srgbClr val="14213D">
                <a:alpha val="0"/>
              </a:srgbClr>
            </a:solidFill>
            <a:prstDash val="solid"/>
          </a:ln>
        </p:spPr>
      </p:sp>
      <p:sp>
        <p:nvSpPr>
          <p:cNvPr id="4" name="Text 2"/>
          <p:cNvSpPr/>
          <p:nvPr/>
        </p:nvSpPr>
        <p:spPr>
          <a:xfrm>
            <a:off x="502920" y="256032"/>
            <a:ext cx="4480560" cy="164592"/>
          </a:xfrm>
          <a:prstGeom prst="rect">
            <a:avLst/>
          </a:prstGeom>
          <a:noFill/>
          <a:ln/>
        </p:spPr>
        <p:txBody>
          <a:bodyPr wrap="square" lIns="0" tIns="0" rIns="0" bIns="0" rtlCol="0" anchor="ctr"/>
          <a:lstStyle/>
          <a:p>
            <a:pPr indent="0" marL="0">
              <a:buNone/>
            </a:pPr>
            <a:r>
              <a:rPr lang="en-US" sz="700" b="1" dirty="0">
                <a:solidFill>
                  <a:srgbClr val="2A9D8F"/>
                </a:solidFill>
                <a:latin typeface="Aptos" pitchFamily="34" charset="0"/>
                <a:ea typeface="Aptos" pitchFamily="34" charset="-122"/>
                <a:cs typeface="Aptos" pitchFamily="34" charset="-120"/>
              </a:rPr>
              <a:t>SECTION 1</a:t>
            </a:r>
            <a:endParaRPr lang="en-US" sz="700" dirty="0"/>
          </a:p>
        </p:txBody>
      </p:sp>
      <p:sp>
        <p:nvSpPr>
          <p:cNvPr id="5" name="Text 3"/>
          <p:cNvSpPr/>
          <p:nvPr/>
        </p:nvSpPr>
        <p:spPr>
          <a:xfrm>
            <a:off x="9281160" y="219456"/>
            <a:ext cx="2423160" cy="182880"/>
          </a:xfrm>
          <a:prstGeom prst="rect">
            <a:avLst/>
          </a:prstGeom>
          <a:noFill/>
          <a:ln/>
        </p:spPr>
        <p:txBody>
          <a:bodyPr wrap="square" lIns="0" tIns="0" rIns="0" bIns="0" rtlCol="0" anchor="ctr"/>
          <a:lstStyle/>
          <a:p>
            <a:pPr algn="r" indent="0" marL="0">
              <a:buNone/>
            </a:pPr>
            <a:r>
              <a:rPr lang="en-US" sz="700" dirty="0">
                <a:solidFill>
                  <a:srgbClr val="6D7886"/>
                </a:solidFill>
              </a:rPr>
              <a:t>Jifunze.ai skill booster</a:t>
            </a:r>
            <a:endParaRPr lang="en-US" sz="700" dirty="0"/>
          </a:p>
        </p:txBody>
      </p:sp>
      <p:sp>
        <p:nvSpPr>
          <p:cNvPr id="6" name="Text 4"/>
          <p:cNvSpPr/>
          <p:nvPr/>
        </p:nvSpPr>
        <p:spPr>
          <a:xfrm>
            <a:off x="502920" y="502920"/>
            <a:ext cx="4617720" cy="475488"/>
          </a:xfrm>
          <a:prstGeom prst="rect">
            <a:avLst/>
          </a:prstGeom>
          <a:noFill/>
          <a:ln/>
        </p:spPr>
        <p:txBody>
          <a:bodyPr wrap="square" lIns="127" tIns="127" rIns="127" bIns="127" rtlCol="0" anchor="ctr">
            <a:normAutofit/>
          </a:bodyPr>
          <a:lstStyle/>
          <a:p>
            <a:pPr indent="0" marL="0">
              <a:buNone/>
            </a:pPr>
            <a:r>
              <a:rPr lang="en-US" sz="2500" b="1" dirty="0">
                <a:solidFill>
                  <a:srgbClr val="14213D"/>
                </a:solidFill>
                <a:latin typeface="Aptos Display" pitchFamily="34" charset="0"/>
                <a:ea typeface="Aptos Display" pitchFamily="34" charset="-122"/>
                <a:cs typeface="Aptos Display" pitchFamily="34" charset="-120"/>
              </a:rPr>
              <a:t>Course promise and business value</a:t>
            </a:r>
            <a:endParaRPr lang="en-US" sz="2500" dirty="0"/>
          </a:p>
        </p:txBody>
      </p:sp>
      <p:sp>
        <p:nvSpPr>
          <p:cNvPr id="7" name="Text 5"/>
          <p:cNvSpPr/>
          <p:nvPr/>
        </p:nvSpPr>
        <p:spPr>
          <a:xfrm>
            <a:off x="521208" y="1005840"/>
            <a:ext cx="4617720" cy="228600"/>
          </a:xfrm>
          <a:prstGeom prst="rect">
            <a:avLst/>
          </a:prstGeom>
          <a:noFill/>
          <a:ln/>
        </p:spPr>
        <p:txBody>
          <a:bodyPr wrap="square" lIns="0" tIns="0" rIns="0" bIns="0" rtlCol="0" anchor="ctr">
            <a:normAutofit/>
          </a:bodyPr>
          <a:lstStyle/>
          <a:p>
            <a:pPr indent="0" marL="0">
              <a:buNone/>
            </a:pPr>
            <a:r>
              <a:rPr lang="en-US" sz="1080" dirty="0">
                <a:solidFill>
                  <a:srgbClr val="24303F"/>
                </a:solidFill>
              </a:rPr>
              <a:t>What learners will be able to do by the end</a:t>
            </a:r>
            <a:endParaRPr lang="en-US" sz="1080" dirty="0"/>
          </a:p>
        </p:txBody>
      </p:sp>
      <p:sp>
        <p:nvSpPr>
          <p:cNvPr id="8" name="Text 6"/>
          <p:cNvSpPr/>
          <p:nvPr/>
        </p:nvSpPr>
        <p:spPr>
          <a:xfrm>
            <a:off x="594360" y="1417320"/>
            <a:ext cx="4617720" cy="4343400"/>
          </a:xfrm>
          <a:prstGeom prst="rect">
            <a:avLst/>
          </a:prstGeom>
          <a:noFill/>
          <a:ln/>
        </p:spPr>
        <p:txBody>
          <a:bodyPr wrap="square" lIns="635" tIns="635" rIns="635" bIns="635" rtlCol="0" anchor="ctr">
            <a:normAutofit/>
          </a:bodyPr>
          <a:lstStyle/>
          <a:p>
            <a:r>
              <a:rPr lang="en-US" sz="1450" dirty="0">
                <a:solidFill>
                  <a:srgbClr val="24303F"/>
                </a:solidFill>
              </a:rPr>
              <a:t>• Find manual workflow waste using data</a:t>
            </a:r>
            <a:endParaRPr lang="en-US" sz="1450" dirty="0"/>
          </a:p>
          <a:p>
            <a:r>
              <a:rPr lang="en-US" sz="1450" dirty="0">
                <a:solidFill>
                  <a:srgbClr val="24303F"/>
                </a:solidFill>
              </a:rPr>
              <a:t>• Map the current process before recommending tools</a:t>
            </a:r>
            <a:endParaRPr lang="en-US" sz="1450" dirty="0"/>
          </a:p>
          <a:p>
            <a:r>
              <a:rPr lang="en-US" sz="1450" dirty="0">
                <a:solidFill>
                  <a:srgbClr val="24303F"/>
                </a:solidFill>
              </a:rPr>
              <a:t>• Estimate time saved and labor value recovered</a:t>
            </a:r>
            <a:endParaRPr lang="en-US" sz="1450" dirty="0"/>
          </a:p>
          <a:p>
            <a:r>
              <a:rPr lang="en-US" sz="1450" dirty="0">
                <a:solidFill>
                  <a:srgbClr val="24303F"/>
                </a:solidFill>
              </a:rPr>
              <a:t>• Separate automation candidates from human-led work</a:t>
            </a:r>
            <a:endParaRPr lang="en-US" sz="1450" dirty="0"/>
          </a:p>
          <a:p>
            <a:r>
              <a:rPr lang="en-US" sz="1450" dirty="0">
                <a:solidFill>
                  <a:srgbClr val="24303F"/>
                </a:solidFill>
              </a:rPr>
              <a:t>• Build a practical 30-60-90 day plan</a:t>
            </a:r>
            <a:endParaRPr lang="en-US" sz="1450" dirty="0"/>
          </a:p>
        </p:txBody>
      </p:sp>
      <p:sp>
        <p:nvSpPr>
          <p:cNvPr id="9" name="Shape 7"/>
          <p:cNvSpPr/>
          <p:nvPr/>
        </p:nvSpPr>
        <p:spPr>
          <a:xfrm>
            <a:off x="6400800" y="1417320"/>
            <a:ext cx="4114800" cy="594360"/>
          </a:xfrm>
          <a:prstGeom prst="roundRect">
            <a:avLst>
              <a:gd name="adj" fmla="val 12308"/>
            </a:avLst>
          </a:prstGeom>
          <a:solidFill>
            <a:srgbClr val="14213D"/>
          </a:solidFill>
          <a:ln w="12700">
            <a:solidFill>
              <a:srgbClr val="14213D"/>
            </a:solidFill>
            <a:prstDash val="solid"/>
          </a:ln>
        </p:spPr>
      </p:sp>
      <p:sp>
        <p:nvSpPr>
          <p:cNvPr id="10" name="Text 8"/>
          <p:cNvSpPr/>
          <p:nvPr/>
        </p:nvSpPr>
        <p:spPr>
          <a:xfrm>
            <a:off x="6510528" y="1508760"/>
            <a:ext cx="3895344" cy="429768"/>
          </a:xfrm>
          <a:prstGeom prst="rect">
            <a:avLst/>
          </a:prstGeom>
          <a:noFill/>
          <a:ln/>
        </p:spPr>
        <p:txBody>
          <a:bodyPr wrap="square" lIns="127" tIns="127" rIns="127" bIns="127" rtlCol="0" anchor="ctr">
            <a:normAutofit/>
          </a:bodyPr>
          <a:lstStyle/>
          <a:p>
            <a:pPr indent="0" marL="0">
              <a:buNone/>
            </a:pPr>
            <a:r>
              <a:rPr lang="en-US" sz="1700" b="1" dirty="0">
                <a:solidFill>
                  <a:srgbClr val="24303F"/>
                </a:solidFill>
              </a:rPr>
              <a:t>Learner output</a:t>
            </a:r>
            <a:endParaRPr lang="en-US" sz="1700" dirty="0"/>
          </a:p>
        </p:txBody>
      </p:sp>
      <p:sp>
        <p:nvSpPr>
          <p:cNvPr id="11" name="Shape 9"/>
          <p:cNvSpPr/>
          <p:nvPr/>
        </p:nvSpPr>
        <p:spPr>
          <a:xfrm>
            <a:off x="6400800" y="2331720"/>
            <a:ext cx="4114800" cy="1188720"/>
          </a:xfrm>
          <a:prstGeom prst="roundRect">
            <a:avLst>
              <a:gd name="adj" fmla="val 6154"/>
            </a:avLst>
          </a:prstGeom>
          <a:solidFill>
            <a:srgbClr val="FFFFFF"/>
          </a:solidFill>
          <a:ln w="12700">
            <a:solidFill>
              <a:srgbClr val="C9A44C"/>
            </a:solidFill>
            <a:prstDash val="solid"/>
          </a:ln>
        </p:spPr>
      </p:sp>
      <p:sp>
        <p:nvSpPr>
          <p:cNvPr id="12" name="Text 10"/>
          <p:cNvSpPr/>
          <p:nvPr/>
        </p:nvSpPr>
        <p:spPr>
          <a:xfrm>
            <a:off x="6510528" y="2423160"/>
            <a:ext cx="3895344" cy="1024128"/>
          </a:xfrm>
          <a:prstGeom prst="rect">
            <a:avLst/>
          </a:prstGeom>
          <a:noFill/>
          <a:ln/>
        </p:spPr>
        <p:txBody>
          <a:bodyPr wrap="square" lIns="127" tIns="127" rIns="127" bIns="127" rtlCol="0" anchor="ctr">
            <a:normAutofit/>
          </a:bodyPr>
          <a:lstStyle/>
          <a:p>
            <a:pPr indent="0" marL="0">
              <a:buNone/>
            </a:pPr>
            <a:r>
              <a:rPr lang="en-US" sz="1700" b="1" dirty="0">
                <a:solidFill>
                  <a:srgbClr val="24303F"/>
                </a:solidFill>
              </a:rPr>
              <a:t>A one-page automation recommendation with benefits, risks, and next steps.</a:t>
            </a:r>
            <a:endParaRPr lang="en-US" sz="1700" dirty="0"/>
          </a:p>
        </p:txBody>
      </p:sp>
      <p:sp>
        <p:nvSpPr>
          <p:cNvPr id="13" name="Shape 11"/>
          <p:cNvSpPr/>
          <p:nvPr/>
        </p:nvSpPr>
        <p:spPr>
          <a:xfrm>
            <a:off x="5897880" y="4160520"/>
            <a:ext cx="1059424" cy="493776"/>
          </a:xfrm>
          <a:prstGeom prst="roundRect">
            <a:avLst>
              <a:gd name="adj" fmla="val 14815"/>
            </a:avLst>
          </a:prstGeom>
          <a:solidFill>
            <a:srgbClr val="FFFFFF"/>
          </a:solidFill>
          <a:ln w="12700">
            <a:solidFill>
              <a:srgbClr val="C9A44C"/>
            </a:solidFill>
            <a:prstDash val="solid"/>
          </a:ln>
        </p:spPr>
      </p:sp>
      <p:sp>
        <p:nvSpPr>
          <p:cNvPr id="14" name="Text 12"/>
          <p:cNvSpPr/>
          <p:nvPr/>
        </p:nvSpPr>
        <p:spPr>
          <a:xfrm>
            <a:off x="6007608" y="4251960"/>
            <a:ext cx="839968" cy="329184"/>
          </a:xfrm>
          <a:prstGeom prst="rect">
            <a:avLst/>
          </a:prstGeom>
          <a:noFill/>
          <a:ln/>
        </p:spPr>
        <p:txBody>
          <a:bodyPr wrap="square" lIns="127" tIns="127" rIns="127" bIns="127" rtlCol="0" anchor="ctr">
            <a:normAutofit/>
          </a:bodyPr>
          <a:lstStyle/>
          <a:p>
            <a:pPr indent="0" marL="0">
              <a:buNone/>
            </a:pPr>
            <a:r>
              <a:rPr lang="en-US" sz="760" b="1" dirty="0">
                <a:solidFill>
                  <a:srgbClr val="24303F"/>
                </a:solidFill>
              </a:rPr>
              <a:t>Problem</a:t>
            </a:r>
            <a:endParaRPr lang="en-US" sz="760" dirty="0"/>
          </a:p>
        </p:txBody>
      </p:sp>
      <p:sp>
        <p:nvSpPr>
          <p:cNvPr id="15" name="Shape 13"/>
          <p:cNvSpPr/>
          <p:nvPr/>
        </p:nvSpPr>
        <p:spPr>
          <a:xfrm>
            <a:off x="6957304" y="4407408"/>
            <a:ext cx="109728" cy="0"/>
          </a:xfrm>
          <a:prstGeom prst="line">
            <a:avLst/>
          </a:prstGeom>
          <a:noFill/>
          <a:ln w="12700">
            <a:solidFill>
              <a:srgbClr val="2A9D8F"/>
            </a:solidFill>
            <a:prstDash val="solid"/>
            <a:headEnd type="none"/>
            <a:tailEnd type="triangle"/>
          </a:ln>
        </p:spPr>
      </p:sp>
      <p:sp>
        <p:nvSpPr>
          <p:cNvPr id="16" name="Shape 14"/>
          <p:cNvSpPr/>
          <p:nvPr/>
        </p:nvSpPr>
        <p:spPr>
          <a:xfrm>
            <a:off x="7103608" y="4160520"/>
            <a:ext cx="1059424" cy="493776"/>
          </a:xfrm>
          <a:prstGeom prst="roundRect">
            <a:avLst>
              <a:gd name="adj" fmla="val 14815"/>
            </a:avLst>
          </a:prstGeom>
          <a:solidFill>
            <a:srgbClr val="FFFFFF"/>
          </a:solidFill>
          <a:ln w="12700">
            <a:solidFill>
              <a:srgbClr val="C9A44C"/>
            </a:solidFill>
            <a:prstDash val="solid"/>
          </a:ln>
        </p:spPr>
      </p:sp>
      <p:sp>
        <p:nvSpPr>
          <p:cNvPr id="17" name="Text 15"/>
          <p:cNvSpPr/>
          <p:nvPr/>
        </p:nvSpPr>
        <p:spPr>
          <a:xfrm>
            <a:off x="7213336" y="4251960"/>
            <a:ext cx="839968" cy="329184"/>
          </a:xfrm>
          <a:prstGeom prst="rect">
            <a:avLst/>
          </a:prstGeom>
          <a:noFill/>
          <a:ln/>
        </p:spPr>
        <p:txBody>
          <a:bodyPr wrap="square" lIns="127" tIns="127" rIns="127" bIns="127" rtlCol="0" anchor="ctr">
            <a:normAutofit/>
          </a:bodyPr>
          <a:lstStyle/>
          <a:p>
            <a:pPr indent="0" marL="0">
              <a:buNone/>
            </a:pPr>
            <a:r>
              <a:rPr lang="en-US" sz="760" b="1" dirty="0">
                <a:solidFill>
                  <a:srgbClr val="24303F"/>
                </a:solidFill>
              </a:rPr>
              <a:t>Baseline</a:t>
            </a:r>
            <a:endParaRPr lang="en-US" sz="760" dirty="0"/>
          </a:p>
        </p:txBody>
      </p:sp>
      <p:sp>
        <p:nvSpPr>
          <p:cNvPr id="18" name="Shape 16"/>
          <p:cNvSpPr/>
          <p:nvPr/>
        </p:nvSpPr>
        <p:spPr>
          <a:xfrm>
            <a:off x="8163032" y="4407408"/>
            <a:ext cx="109728" cy="0"/>
          </a:xfrm>
          <a:prstGeom prst="line">
            <a:avLst/>
          </a:prstGeom>
          <a:noFill/>
          <a:ln w="12700">
            <a:solidFill>
              <a:srgbClr val="2A9D8F"/>
            </a:solidFill>
            <a:prstDash val="solid"/>
            <a:headEnd type="none"/>
            <a:tailEnd type="triangle"/>
          </a:ln>
        </p:spPr>
      </p:sp>
      <p:sp>
        <p:nvSpPr>
          <p:cNvPr id="19" name="Shape 17"/>
          <p:cNvSpPr/>
          <p:nvPr/>
        </p:nvSpPr>
        <p:spPr>
          <a:xfrm>
            <a:off x="8309336" y="4160520"/>
            <a:ext cx="1059424" cy="493776"/>
          </a:xfrm>
          <a:prstGeom prst="roundRect">
            <a:avLst>
              <a:gd name="adj" fmla="val 14815"/>
            </a:avLst>
          </a:prstGeom>
          <a:solidFill>
            <a:srgbClr val="FFFFFF"/>
          </a:solidFill>
          <a:ln w="12700">
            <a:solidFill>
              <a:srgbClr val="C9A44C"/>
            </a:solidFill>
            <a:prstDash val="solid"/>
          </a:ln>
        </p:spPr>
      </p:sp>
      <p:sp>
        <p:nvSpPr>
          <p:cNvPr id="20" name="Text 18"/>
          <p:cNvSpPr/>
          <p:nvPr/>
        </p:nvSpPr>
        <p:spPr>
          <a:xfrm>
            <a:off x="8419064" y="4251960"/>
            <a:ext cx="839968" cy="329184"/>
          </a:xfrm>
          <a:prstGeom prst="rect">
            <a:avLst/>
          </a:prstGeom>
          <a:noFill/>
          <a:ln/>
        </p:spPr>
        <p:txBody>
          <a:bodyPr wrap="square" lIns="127" tIns="127" rIns="127" bIns="127" rtlCol="0" anchor="ctr">
            <a:normAutofit/>
          </a:bodyPr>
          <a:lstStyle/>
          <a:p>
            <a:pPr indent="0" marL="0">
              <a:buNone/>
            </a:pPr>
            <a:r>
              <a:rPr lang="en-US" sz="760" b="1" dirty="0">
                <a:solidFill>
                  <a:srgbClr val="24303F"/>
                </a:solidFill>
              </a:rPr>
              <a:t>Options</a:t>
            </a:r>
            <a:endParaRPr lang="en-US" sz="760" dirty="0"/>
          </a:p>
        </p:txBody>
      </p:sp>
      <p:sp>
        <p:nvSpPr>
          <p:cNvPr id="21" name="Shape 19"/>
          <p:cNvSpPr/>
          <p:nvPr/>
        </p:nvSpPr>
        <p:spPr>
          <a:xfrm>
            <a:off x="9368760" y="4407408"/>
            <a:ext cx="109728" cy="0"/>
          </a:xfrm>
          <a:prstGeom prst="line">
            <a:avLst/>
          </a:prstGeom>
          <a:noFill/>
          <a:ln w="12700">
            <a:solidFill>
              <a:srgbClr val="2A9D8F"/>
            </a:solidFill>
            <a:prstDash val="solid"/>
            <a:headEnd type="none"/>
            <a:tailEnd type="triangle"/>
          </a:ln>
        </p:spPr>
      </p:sp>
      <p:sp>
        <p:nvSpPr>
          <p:cNvPr id="22" name="Shape 20"/>
          <p:cNvSpPr/>
          <p:nvPr/>
        </p:nvSpPr>
        <p:spPr>
          <a:xfrm>
            <a:off x="9515064" y="4160520"/>
            <a:ext cx="1059424" cy="493776"/>
          </a:xfrm>
          <a:prstGeom prst="roundRect">
            <a:avLst>
              <a:gd name="adj" fmla="val 14815"/>
            </a:avLst>
          </a:prstGeom>
          <a:solidFill>
            <a:srgbClr val="FFFFFF"/>
          </a:solidFill>
          <a:ln w="12700">
            <a:solidFill>
              <a:srgbClr val="C9A44C"/>
            </a:solidFill>
            <a:prstDash val="solid"/>
          </a:ln>
        </p:spPr>
      </p:sp>
      <p:sp>
        <p:nvSpPr>
          <p:cNvPr id="23" name="Text 21"/>
          <p:cNvSpPr/>
          <p:nvPr/>
        </p:nvSpPr>
        <p:spPr>
          <a:xfrm>
            <a:off x="9624792" y="4251960"/>
            <a:ext cx="839968" cy="329184"/>
          </a:xfrm>
          <a:prstGeom prst="rect">
            <a:avLst/>
          </a:prstGeom>
          <a:noFill/>
          <a:ln/>
        </p:spPr>
        <p:txBody>
          <a:bodyPr wrap="square" lIns="127" tIns="127" rIns="127" bIns="127" rtlCol="0" anchor="ctr">
            <a:normAutofit/>
          </a:bodyPr>
          <a:lstStyle/>
          <a:p>
            <a:pPr indent="0" marL="0">
              <a:buNone/>
            </a:pPr>
            <a:r>
              <a:rPr lang="en-US" sz="760" b="1" dirty="0">
                <a:solidFill>
                  <a:srgbClr val="24303F"/>
                </a:solidFill>
              </a:rPr>
              <a:t>Controls</a:t>
            </a:r>
            <a:endParaRPr lang="en-US" sz="760" dirty="0"/>
          </a:p>
        </p:txBody>
      </p:sp>
      <p:sp>
        <p:nvSpPr>
          <p:cNvPr id="24" name="Shape 22"/>
          <p:cNvSpPr/>
          <p:nvPr/>
        </p:nvSpPr>
        <p:spPr>
          <a:xfrm>
            <a:off x="10574487" y="4407408"/>
            <a:ext cx="109728" cy="0"/>
          </a:xfrm>
          <a:prstGeom prst="line">
            <a:avLst/>
          </a:prstGeom>
          <a:noFill/>
          <a:ln w="12700">
            <a:solidFill>
              <a:srgbClr val="2A9D8F"/>
            </a:solidFill>
            <a:prstDash val="solid"/>
            <a:headEnd type="none"/>
            <a:tailEnd type="triangle"/>
          </a:ln>
        </p:spPr>
      </p:sp>
      <p:sp>
        <p:nvSpPr>
          <p:cNvPr id="25" name="Shape 23"/>
          <p:cNvSpPr/>
          <p:nvPr/>
        </p:nvSpPr>
        <p:spPr>
          <a:xfrm>
            <a:off x="10720791" y="4160520"/>
            <a:ext cx="1059424" cy="493776"/>
          </a:xfrm>
          <a:prstGeom prst="roundRect">
            <a:avLst>
              <a:gd name="adj" fmla="val 14815"/>
            </a:avLst>
          </a:prstGeom>
          <a:solidFill>
            <a:srgbClr val="FFFFFF"/>
          </a:solidFill>
          <a:ln w="12700">
            <a:solidFill>
              <a:srgbClr val="C9A44C"/>
            </a:solidFill>
            <a:prstDash val="solid"/>
          </a:ln>
        </p:spPr>
      </p:sp>
      <p:sp>
        <p:nvSpPr>
          <p:cNvPr id="26" name="Text 24"/>
          <p:cNvSpPr/>
          <p:nvPr/>
        </p:nvSpPr>
        <p:spPr>
          <a:xfrm>
            <a:off x="10830519" y="4251960"/>
            <a:ext cx="839968" cy="329184"/>
          </a:xfrm>
          <a:prstGeom prst="rect">
            <a:avLst/>
          </a:prstGeom>
          <a:noFill/>
          <a:ln/>
        </p:spPr>
        <p:txBody>
          <a:bodyPr wrap="square" lIns="127" tIns="127" rIns="127" bIns="127" rtlCol="0" anchor="ctr">
            <a:normAutofit/>
          </a:bodyPr>
          <a:lstStyle/>
          <a:p>
            <a:pPr indent="0" marL="0">
              <a:buNone/>
            </a:pPr>
            <a:r>
              <a:rPr lang="en-US" sz="760" b="1" dirty="0">
                <a:solidFill>
                  <a:srgbClr val="24303F"/>
                </a:solidFill>
              </a:rPr>
              <a:t>Roadmap</a:t>
            </a:r>
            <a:endParaRPr lang="en-US" sz="760" dirty="0"/>
          </a:p>
        </p:txBody>
      </p:sp>
      <p:sp>
        <p:nvSpPr>
          <p:cNvPr id="27" name="Text 25"/>
          <p:cNvSpPr/>
          <p:nvPr/>
        </p:nvSpPr>
        <p:spPr>
          <a:xfrm>
            <a:off x="11384280" y="6428232"/>
            <a:ext cx="320040" cy="109728"/>
          </a:xfrm>
          <a:prstGeom prst="rect">
            <a:avLst/>
          </a:prstGeom>
          <a:noFill/>
          <a:ln/>
        </p:spPr>
        <p:txBody>
          <a:bodyPr wrap="square" lIns="0" tIns="0" rIns="0" bIns="0" rtlCol="0" anchor="ctr"/>
          <a:lstStyle/>
          <a:p>
            <a:pPr algn="r" indent="0" marL="0">
              <a:buNone/>
            </a:pPr>
            <a:r>
              <a:rPr lang="en-US" sz="700" dirty="0">
                <a:solidFill>
                  <a:srgbClr val="FFFFFF"/>
                </a:solidFill>
              </a:rPr>
              <a:t>02</a:t>
            </a:r>
            <a:endParaRPr lang="en-US" sz="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3EA"/>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4213D"/>
          </a:solidFill>
          <a:ln w="12700">
            <a:solidFill>
              <a:srgbClr val="14213D">
                <a:alpha val="0"/>
              </a:srgbClr>
            </a:solidFill>
            <a:prstDash val="solid"/>
          </a:ln>
        </p:spPr>
      </p:sp>
      <p:sp>
        <p:nvSpPr>
          <p:cNvPr id="3" name="Shape 1"/>
          <p:cNvSpPr/>
          <p:nvPr/>
        </p:nvSpPr>
        <p:spPr>
          <a:xfrm>
            <a:off x="0" y="6693408"/>
            <a:ext cx="12191695" cy="164592"/>
          </a:xfrm>
          <a:prstGeom prst="rect">
            <a:avLst/>
          </a:prstGeom>
          <a:solidFill>
            <a:srgbClr val="14213D"/>
          </a:solidFill>
          <a:ln w="12700">
            <a:solidFill>
              <a:srgbClr val="14213D">
                <a:alpha val="0"/>
              </a:srgbClr>
            </a:solidFill>
            <a:prstDash val="solid"/>
          </a:ln>
        </p:spPr>
      </p:sp>
      <p:sp>
        <p:nvSpPr>
          <p:cNvPr id="4" name="Text 2"/>
          <p:cNvSpPr/>
          <p:nvPr/>
        </p:nvSpPr>
        <p:spPr>
          <a:xfrm>
            <a:off x="502920" y="256032"/>
            <a:ext cx="4480560" cy="164592"/>
          </a:xfrm>
          <a:prstGeom prst="rect">
            <a:avLst/>
          </a:prstGeom>
          <a:noFill/>
          <a:ln/>
        </p:spPr>
        <p:txBody>
          <a:bodyPr wrap="square" lIns="0" tIns="0" rIns="0" bIns="0" rtlCol="0" anchor="ctr"/>
          <a:lstStyle/>
          <a:p>
            <a:pPr indent="0" marL="0">
              <a:buNone/>
            </a:pPr>
            <a:r>
              <a:rPr lang="en-US" sz="700" b="1" dirty="0">
                <a:solidFill>
                  <a:srgbClr val="2A9D8F"/>
                </a:solidFill>
                <a:latin typeface="Aptos" pitchFamily="34" charset="0"/>
                <a:ea typeface="Aptos" pitchFamily="34" charset="-122"/>
                <a:cs typeface="Aptos" pitchFamily="34" charset="-120"/>
              </a:rPr>
              <a:t>SECTION 1</a:t>
            </a:r>
            <a:endParaRPr lang="en-US" sz="700" dirty="0"/>
          </a:p>
        </p:txBody>
      </p:sp>
      <p:sp>
        <p:nvSpPr>
          <p:cNvPr id="5" name="Text 3"/>
          <p:cNvSpPr/>
          <p:nvPr/>
        </p:nvSpPr>
        <p:spPr>
          <a:xfrm>
            <a:off x="9281160" y="219456"/>
            <a:ext cx="2423160" cy="182880"/>
          </a:xfrm>
          <a:prstGeom prst="rect">
            <a:avLst/>
          </a:prstGeom>
          <a:noFill/>
          <a:ln/>
        </p:spPr>
        <p:txBody>
          <a:bodyPr wrap="square" lIns="0" tIns="0" rIns="0" bIns="0" rtlCol="0" anchor="ctr"/>
          <a:lstStyle/>
          <a:p>
            <a:pPr algn="r" indent="0" marL="0">
              <a:buNone/>
            </a:pPr>
            <a:r>
              <a:rPr lang="en-US" sz="700" dirty="0">
                <a:solidFill>
                  <a:srgbClr val="6D7886"/>
                </a:solidFill>
              </a:rPr>
              <a:t>Jifunze.ai skill booster</a:t>
            </a:r>
            <a:endParaRPr lang="en-US" sz="700" dirty="0"/>
          </a:p>
        </p:txBody>
      </p:sp>
      <p:sp>
        <p:nvSpPr>
          <p:cNvPr id="6" name="Text 4"/>
          <p:cNvSpPr/>
          <p:nvPr/>
        </p:nvSpPr>
        <p:spPr>
          <a:xfrm>
            <a:off x="502920" y="502920"/>
            <a:ext cx="4617720" cy="475488"/>
          </a:xfrm>
          <a:prstGeom prst="rect">
            <a:avLst/>
          </a:prstGeom>
          <a:noFill/>
          <a:ln/>
        </p:spPr>
        <p:txBody>
          <a:bodyPr wrap="square" lIns="127" tIns="127" rIns="127" bIns="127" rtlCol="0" anchor="ctr">
            <a:normAutofit/>
          </a:bodyPr>
          <a:lstStyle/>
          <a:p>
            <a:pPr indent="0" marL="0">
              <a:buNone/>
            </a:pPr>
            <a:r>
              <a:rPr lang="en-US" sz="2500" b="1" dirty="0">
                <a:solidFill>
                  <a:srgbClr val="14213D"/>
                </a:solidFill>
                <a:latin typeface="Aptos Display" pitchFamily="34" charset="0"/>
                <a:ea typeface="Aptos Display" pitchFamily="34" charset="-122"/>
                <a:cs typeface="Aptos Display" pitchFamily="34" charset="-120"/>
              </a:rPr>
              <a:t>What business process automation means</a:t>
            </a:r>
            <a:endParaRPr lang="en-US" sz="2500" dirty="0"/>
          </a:p>
        </p:txBody>
      </p:sp>
      <p:sp>
        <p:nvSpPr>
          <p:cNvPr id="7" name="Text 5"/>
          <p:cNvSpPr/>
          <p:nvPr/>
        </p:nvSpPr>
        <p:spPr>
          <a:xfrm>
            <a:off x="521208" y="1005840"/>
            <a:ext cx="4617720" cy="228600"/>
          </a:xfrm>
          <a:prstGeom prst="rect">
            <a:avLst/>
          </a:prstGeom>
          <a:noFill/>
          <a:ln/>
        </p:spPr>
        <p:txBody>
          <a:bodyPr wrap="square" lIns="0" tIns="0" rIns="0" bIns="0" rtlCol="0" anchor="ctr">
            <a:normAutofit/>
          </a:bodyPr>
          <a:lstStyle/>
          <a:p>
            <a:pPr indent="0" marL="0">
              <a:buNone/>
            </a:pPr>
            <a:r>
              <a:rPr lang="en-US" sz="1080" dirty="0">
                <a:solidFill>
                  <a:srgbClr val="24303F"/>
                </a:solidFill>
              </a:rPr>
              <a:t>Automation is the controlled handoff of repeatable work to a system</a:t>
            </a:r>
            <a:endParaRPr lang="en-US" sz="1080" dirty="0"/>
          </a:p>
        </p:txBody>
      </p:sp>
      <p:sp>
        <p:nvSpPr>
          <p:cNvPr id="8" name="Text 6"/>
          <p:cNvSpPr/>
          <p:nvPr/>
        </p:nvSpPr>
        <p:spPr>
          <a:xfrm>
            <a:off x="594360" y="1417320"/>
            <a:ext cx="4617720" cy="4343400"/>
          </a:xfrm>
          <a:prstGeom prst="rect">
            <a:avLst/>
          </a:prstGeom>
          <a:noFill/>
          <a:ln/>
        </p:spPr>
        <p:txBody>
          <a:bodyPr wrap="square" lIns="635" tIns="635" rIns="635" bIns="635" rtlCol="0" anchor="ctr">
            <a:normAutofit/>
          </a:bodyPr>
          <a:lstStyle/>
          <a:p>
            <a:r>
              <a:rPr lang="en-US" sz="1450" dirty="0">
                <a:solidFill>
                  <a:srgbClr val="24303F"/>
                </a:solidFill>
              </a:rPr>
              <a:t>• Turns repeatable steps into reliable workflows</a:t>
            </a:r>
            <a:endParaRPr lang="en-US" sz="1450" dirty="0"/>
          </a:p>
          <a:p>
            <a:r>
              <a:rPr lang="en-US" sz="1450" dirty="0">
                <a:solidFill>
                  <a:srgbClr val="24303F"/>
                </a:solidFill>
              </a:rPr>
              <a:t>• Uses rules, triggers, forms, templates, reminders, and integrations</a:t>
            </a:r>
            <a:endParaRPr lang="en-US" sz="1450" dirty="0"/>
          </a:p>
          <a:p>
            <a:r>
              <a:rPr lang="en-US" sz="1450" dirty="0">
                <a:solidFill>
                  <a:srgbClr val="24303F"/>
                </a:solidFill>
              </a:rPr>
              <a:t>• Improves consistency when the process is understood</a:t>
            </a:r>
            <a:endParaRPr lang="en-US" sz="1450" dirty="0"/>
          </a:p>
          <a:p>
            <a:r>
              <a:rPr lang="en-US" sz="1450" dirty="0">
                <a:solidFill>
                  <a:srgbClr val="24303F"/>
                </a:solidFill>
              </a:rPr>
              <a:t>• Still requires human ownership, review, and exception handling</a:t>
            </a:r>
            <a:endParaRPr lang="en-US" sz="1450" dirty="0"/>
          </a:p>
        </p:txBody>
      </p:sp>
      <p:sp>
        <p:nvSpPr>
          <p:cNvPr id="9" name="Shape 7"/>
          <p:cNvSpPr/>
          <p:nvPr/>
        </p:nvSpPr>
        <p:spPr>
          <a:xfrm>
            <a:off x="6126480" y="1417320"/>
            <a:ext cx="1280160" cy="640080"/>
          </a:xfrm>
          <a:prstGeom prst="roundRect">
            <a:avLst>
              <a:gd name="adj" fmla="val 11429"/>
            </a:avLst>
          </a:prstGeom>
          <a:solidFill>
            <a:srgbClr val="FFFFFF"/>
          </a:solidFill>
          <a:ln w="12700">
            <a:solidFill>
              <a:srgbClr val="2A9D8F"/>
            </a:solidFill>
            <a:prstDash val="solid"/>
          </a:ln>
        </p:spPr>
      </p:sp>
      <p:sp>
        <p:nvSpPr>
          <p:cNvPr id="10" name="Text 8"/>
          <p:cNvSpPr/>
          <p:nvPr/>
        </p:nvSpPr>
        <p:spPr>
          <a:xfrm>
            <a:off x="6236208" y="1508760"/>
            <a:ext cx="1060704" cy="475488"/>
          </a:xfrm>
          <a:prstGeom prst="rect">
            <a:avLst/>
          </a:prstGeom>
          <a:noFill/>
          <a:ln/>
        </p:spPr>
        <p:txBody>
          <a:bodyPr wrap="square" lIns="127" tIns="127" rIns="127" bIns="127" rtlCol="0" anchor="ctr">
            <a:normAutofit/>
          </a:bodyPr>
          <a:lstStyle/>
          <a:p>
            <a:pPr indent="0" marL="0">
              <a:buNone/>
            </a:pPr>
            <a:r>
              <a:rPr lang="en-US" sz="1300" b="1" dirty="0">
                <a:solidFill>
                  <a:srgbClr val="24303F"/>
                </a:solidFill>
              </a:rPr>
              <a:t>Trigger</a:t>
            </a:r>
            <a:endParaRPr lang="en-US" sz="1300" dirty="0"/>
          </a:p>
        </p:txBody>
      </p:sp>
      <p:sp>
        <p:nvSpPr>
          <p:cNvPr id="11" name="Shape 9"/>
          <p:cNvSpPr/>
          <p:nvPr/>
        </p:nvSpPr>
        <p:spPr>
          <a:xfrm>
            <a:off x="7406640" y="1737360"/>
            <a:ext cx="502920" cy="0"/>
          </a:xfrm>
          <a:prstGeom prst="line">
            <a:avLst/>
          </a:prstGeom>
          <a:noFill/>
          <a:ln w="12700">
            <a:solidFill>
              <a:srgbClr val="2A9D8F"/>
            </a:solidFill>
            <a:prstDash val="solid"/>
            <a:headEnd type="none"/>
            <a:tailEnd type="triangle"/>
          </a:ln>
        </p:spPr>
      </p:sp>
      <p:sp>
        <p:nvSpPr>
          <p:cNvPr id="12" name="Shape 10"/>
          <p:cNvSpPr/>
          <p:nvPr/>
        </p:nvSpPr>
        <p:spPr>
          <a:xfrm>
            <a:off x="7955280" y="1417320"/>
            <a:ext cx="1280160" cy="640080"/>
          </a:xfrm>
          <a:prstGeom prst="roundRect">
            <a:avLst>
              <a:gd name="adj" fmla="val 11429"/>
            </a:avLst>
          </a:prstGeom>
          <a:solidFill>
            <a:srgbClr val="FFFFFF"/>
          </a:solidFill>
          <a:ln w="12700">
            <a:solidFill>
              <a:srgbClr val="C9A44C"/>
            </a:solidFill>
            <a:prstDash val="solid"/>
          </a:ln>
        </p:spPr>
      </p:sp>
      <p:sp>
        <p:nvSpPr>
          <p:cNvPr id="13" name="Text 11"/>
          <p:cNvSpPr/>
          <p:nvPr/>
        </p:nvSpPr>
        <p:spPr>
          <a:xfrm>
            <a:off x="8065008" y="1508760"/>
            <a:ext cx="1060704" cy="475488"/>
          </a:xfrm>
          <a:prstGeom prst="rect">
            <a:avLst/>
          </a:prstGeom>
          <a:noFill/>
          <a:ln/>
        </p:spPr>
        <p:txBody>
          <a:bodyPr wrap="square" lIns="127" tIns="127" rIns="127" bIns="127" rtlCol="0" anchor="ctr">
            <a:normAutofit/>
          </a:bodyPr>
          <a:lstStyle/>
          <a:p>
            <a:pPr indent="0" marL="0">
              <a:buNone/>
            </a:pPr>
            <a:r>
              <a:rPr lang="en-US" sz="1300" b="1" dirty="0">
                <a:solidFill>
                  <a:srgbClr val="24303F"/>
                </a:solidFill>
              </a:rPr>
              <a:t>Rule</a:t>
            </a:r>
            <a:endParaRPr lang="en-US" sz="1300" dirty="0"/>
          </a:p>
        </p:txBody>
      </p:sp>
      <p:sp>
        <p:nvSpPr>
          <p:cNvPr id="14" name="Shape 12"/>
          <p:cNvSpPr/>
          <p:nvPr/>
        </p:nvSpPr>
        <p:spPr>
          <a:xfrm>
            <a:off x="9235440" y="1737360"/>
            <a:ext cx="502920" cy="0"/>
          </a:xfrm>
          <a:prstGeom prst="line">
            <a:avLst/>
          </a:prstGeom>
          <a:noFill/>
          <a:ln w="12700">
            <a:solidFill>
              <a:srgbClr val="2A9D8F"/>
            </a:solidFill>
            <a:prstDash val="solid"/>
            <a:headEnd type="none"/>
            <a:tailEnd type="triangle"/>
          </a:ln>
        </p:spPr>
      </p:sp>
      <p:sp>
        <p:nvSpPr>
          <p:cNvPr id="15" name="Shape 13"/>
          <p:cNvSpPr/>
          <p:nvPr/>
        </p:nvSpPr>
        <p:spPr>
          <a:xfrm>
            <a:off x="9784080" y="1417320"/>
            <a:ext cx="1280160" cy="640080"/>
          </a:xfrm>
          <a:prstGeom prst="roundRect">
            <a:avLst>
              <a:gd name="adj" fmla="val 11429"/>
            </a:avLst>
          </a:prstGeom>
          <a:solidFill>
            <a:srgbClr val="FFFFFF"/>
          </a:solidFill>
          <a:ln w="12700">
            <a:solidFill>
              <a:srgbClr val="2A9D8F"/>
            </a:solidFill>
            <a:prstDash val="solid"/>
          </a:ln>
        </p:spPr>
      </p:sp>
      <p:sp>
        <p:nvSpPr>
          <p:cNvPr id="16" name="Text 14"/>
          <p:cNvSpPr/>
          <p:nvPr/>
        </p:nvSpPr>
        <p:spPr>
          <a:xfrm>
            <a:off x="9893808" y="1508760"/>
            <a:ext cx="1060704" cy="475488"/>
          </a:xfrm>
          <a:prstGeom prst="rect">
            <a:avLst/>
          </a:prstGeom>
          <a:noFill/>
          <a:ln/>
        </p:spPr>
        <p:txBody>
          <a:bodyPr wrap="square" lIns="127" tIns="127" rIns="127" bIns="127" rtlCol="0" anchor="ctr">
            <a:normAutofit/>
          </a:bodyPr>
          <a:lstStyle/>
          <a:p>
            <a:pPr indent="0" marL="0">
              <a:buNone/>
            </a:pPr>
            <a:r>
              <a:rPr lang="en-US" sz="1300" b="1" dirty="0">
                <a:solidFill>
                  <a:srgbClr val="24303F"/>
                </a:solidFill>
              </a:rPr>
              <a:t>Action</a:t>
            </a:r>
            <a:endParaRPr lang="en-US" sz="1300" dirty="0"/>
          </a:p>
        </p:txBody>
      </p:sp>
      <p:sp>
        <p:nvSpPr>
          <p:cNvPr id="17" name="Shape 15"/>
          <p:cNvSpPr/>
          <p:nvPr/>
        </p:nvSpPr>
        <p:spPr>
          <a:xfrm>
            <a:off x="6126480" y="2834640"/>
            <a:ext cx="4892040" cy="914400"/>
          </a:xfrm>
          <a:prstGeom prst="roundRect">
            <a:avLst>
              <a:gd name="adj" fmla="val 8000"/>
            </a:avLst>
          </a:prstGeom>
          <a:solidFill>
            <a:srgbClr val="FDFBF5"/>
          </a:solidFill>
          <a:ln w="12700">
            <a:solidFill>
              <a:srgbClr val="C9A44C"/>
            </a:solidFill>
            <a:prstDash val="solid"/>
          </a:ln>
        </p:spPr>
      </p:sp>
      <p:sp>
        <p:nvSpPr>
          <p:cNvPr id="18" name="Text 16"/>
          <p:cNvSpPr/>
          <p:nvPr/>
        </p:nvSpPr>
        <p:spPr>
          <a:xfrm>
            <a:off x="6236208" y="2926080"/>
            <a:ext cx="4672584" cy="749808"/>
          </a:xfrm>
          <a:prstGeom prst="rect">
            <a:avLst/>
          </a:prstGeom>
          <a:noFill/>
          <a:ln/>
        </p:spPr>
        <p:txBody>
          <a:bodyPr wrap="square" lIns="127" tIns="127" rIns="127" bIns="127" rtlCol="0" anchor="ctr">
            <a:normAutofit/>
          </a:bodyPr>
          <a:lstStyle/>
          <a:p>
            <a:pPr indent="0" marL="0">
              <a:buNone/>
            </a:pPr>
            <a:r>
              <a:rPr lang="en-US" sz="1500" dirty="0">
                <a:solidFill>
                  <a:srgbClr val="24303F"/>
                </a:solidFill>
              </a:rPr>
              <a:t>Example: enquiry submitted -&gt; course info email sent -&gt; follow-up reminder created.</a:t>
            </a:r>
            <a:endParaRPr lang="en-US" sz="1500" dirty="0"/>
          </a:p>
        </p:txBody>
      </p:sp>
      <p:sp>
        <p:nvSpPr>
          <p:cNvPr id="19" name="Text 17"/>
          <p:cNvSpPr/>
          <p:nvPr/>
        </p:nvSpPr>
        <p:spPr>
          <a:xfrm>
            <a:off x="11384280" y="6428232"/>
            <a:ext cx="320040" cy="109728"/>
          </a:xfrm>
          <a:prstGeom prst="rect">
            <a:avLst/>
          </a:prstGeom>
          <a:noFill/>
          <a:ln/>
        </p:spPr>
        <p:txBody>
          <a:bodyPr wrap="square" lIns="0" tIns="0" rIns="0" bIns="0" rtlCol="0" anchor="ctr"/>
          <a:lstStyle/>
          <a:p>
            <a:pPr algn="r" indent="0" marL="0">
              <a:buNone/>
            </a:pPr>
            <a:r>
              <a:rPr lang="en-US" sz="700" dirty="0">
                <a:solidFill>
                  <a:srgbClr val="FFFFFF"/>
                </a:solidFill>
              </a:rPr>
              <a:t>03</a:t>
            </a:r>
            <a:endParaRPr lang="en-US" sz="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3EA"/>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4213D"/>
          </a:solidFill>
          <a:ln w="12700">
            <a:solidFill>
              <a:srgbClr val="14213D">
                <a:alpha val="0"/>
              </a:srgbClr>
            </a:solidFill>
            <a:prstDash val="solid"/>
          </a:ln>
        </p:spPr>
      </p:sp>
      <p:sp>
        <p:nvSpPr>
          <p:cNvPr id="3" name="Shape 1"/>
          <p:cNvSpPr/>
          <p:nvPr/>
        </p:nvSpPr>
        <p:spPr>
          <a:xfrm>
            <a:off x="0" y="6693408"/>
            <a:ext cx="12191695" cy="164592"/>
          </a:xfrm>
          <a:prstGeom prst="rect">
            <a:avLst/>
          </a:prstGeom>
          <a:solidFill>
            <a:srgbClr val="14213D"/>
          </a:solidFill>
          <a:ln w="12700">
            <a:solidFill>
              <a:srgbClr val="14213D">
                <a:alpha val="0"/>
              </a:srgbClr>
            </a:solidFill>
            <a:prstDash val="solid"/>
          </a:ln>
        </p:spPr>
      </p:sp>
      <p:sp>
        <p:nvSpPr>
          <p:cNvPr id="4" name="Text 2"/>
          <p:cNvSpPr/>
          <p:nvPr/>
        </p:nvSpPr>
        <p:spPr>
          <a:xfrm>
            <a:off x="502920" y="256032"/>
            <a:ext cx="4480560" cy="164592"/>
          </a:xfrm>
          <a:prstGeom prst="rect">
            <a:avLst/>
          </a:prstGeom>
          <a:noFill/>
          <a:ln/>
        </p:spPr>
        <p:txBody>
          <a:bodyPr wrap="square" lIns="0" tIns="0" rIns="0" bIns="0" rtlCol="0" anchor="ctr"/>
          <a:lstStyle/>
          <a:p>
            <a:pPr indent="0" marL="0">
              <a:buNone/>
            </a:pPr>
            <a:r>
              <a:rPr lang="en-US" sz="700" b="1" dirty="0">
                <a:solidFill>
                  <a:srgbClr val="2A9D8F"/>
                </a:solidFill>
                <a:latin typeface="Aptos" pitchFamily="34" charset="0"/>
                <a:ea typeface="Aptos" pitchFamily="34" charset="-122"/>
                <a:cs typeface="Aptos" pitchFamily="34" charset="-120"/>
              </a:rPr>
              <a:t>SECTION 1</a:t>
            </a:r>
            <a:endParaRPr lang="en-US" sz="700" dirty="0"/>
          </a:p>
        </p:txBody>
      </p:sp>
      <p:sp>
        <p:nvSpPr>
          <p:cNvPr id="5" name="Text 3"/>
          <p:cNvSpPr/>
          <p:nvPr/>
        </p:nvSpPr>
        <p:spPr>
          <a:xfrm>
            <a:off x="9281160" y="219456"/>
            <a:ext cx="2423160" cy="182880"/>
          </a:xfrm>
          <a:prstGeom prst="rect">
            <a:avLst/>
          </a:prstGeom>
          <a:noFill/>
          <a:ln/>
        </p:spPr>
        <p:txBody>
          <a:bodyPr wrap="square" lIns="0" tIns="0" rIns="0" bIns="0" rtlCol="0" anchor="ctr"/>
          <a:lstStyle/>
          <a:p>
            <a:pPr algn="r" indent="0" marL="0">
              <a:buNone/>
            </a:pPr>
            <a:r>
              <a:rPr lang="en-US" sz="700" dirty="0">
                <a:solidFill>
                  <a:srgbClr val="6D7886"/>
                </a:solidFill>
              </a:rPr>
              <a:t>Jifunze.ai skill booster</a:t>
            </a:r>
            <a:endParaRPr lang="en-US" sz="700" dirty="0"/>
          </a:p>
        </p:txBody>
      </p:sp>
      <p:sp>
        <p:nvSpPr>
          <p:cNvPr id="6" name="Text 4"/>
          <p:cNvSpPr/>
          <p:nvPr/>
        </p:nvSpPr>
        <p:spPr>
          <a:xfrm>
            <a:off x="502920" y="502920"/>
            <a:ext cx="4617720" cy="475488"/>
          </a:xfrm>
          <a:prstGeom prst="rect">
            <a:avLst/>
          </a:prstGeom>
          <a:noFill/>
          <a:ln/>
        </p:spPr>
        <p:txBody>
          <a:bodyPr wrap="square" lIns="127" tIns="127" rIns="127" bIns="127" rtlCol="0" anchor="ctr">
            <a:normAutofit/>
          </a:bodyPr>
          <a:lstStyle/>
          <a:p>
            <a:pPr indent="0" marL="0">
              <a:buNone/>
            </a:pPr>
            <a:r>
              <a:rPr lang="en-US" sz="2500" b="1" dirty="0">
                <a:solidFill>
                  <a:srgbClr val="14213D"/>
                </a:solidFill>
                <a:latin typeface="Aptos Display" pitchFamily="34" charset="0"/>
                <a:ea typeface="Aptos Display" pitchFamily="34" charset="-122"/>
                <a:cs typeface="Aptos Display" pitchFamily="34" charset="-120"/>
              </a:rPr>
              <a:t>Automation vs digitization vs AI</a:t>
            </a:r>
            <a:endParaRPr lang="en-US" sz="2500" dirty="0"/>
          </a:p>
        </p:txBody>
      </p:sp>
      <p:sp>
        <p:nvSpPr>
          <p:cNvPr id="7" name="Text 5"/>
          <p:cNvSpPr/>
          <p:nvPr/>
        </p:nvSpPr>
        <p:spPr>
          <a:xfrm>
            <a:off x="521208" y="1005840"/>
            <a:ext cx="4617720" cy="228600"/>
          </a:xfrm>
          <a:prstGeom prst="rect">
            <a:avLst/>
          </a:prstGeom>
          <a:noFill/>
          <a:ln/>
        </p:spPr>
        <p:txBody>
          <a:bodyPr wrap="square" lIns="0" tIns="0" rIns="0" bIns="0" rtlCol="0" anchor="ctr">
            <a:normAutofit/>
          </a:bodyPr>
          <a:lstStyle/>
          <a:p>
            <a:pPr indent="0" marL="0">
              <a:buNone/>
            </a:pPr>
            <a:r>
              <a:rPr lang="en-US" sz="1080" dirty="0">
                <a:solidFill>
                  <a:srgbClr val="24303F"/>
                </a:solidFill>
              </a:rPr>
              <a:t>These are related, but they are not the same thing</a:t>
            </a:r>
            <a:endParaRPr lang="en-US" sz="1080" dirty="0"/>
          </a:p>
        </p:txBody>
      </p:sp>
      <p:sp>
        <p:nvSpPr>
          <p:cNvPr id="8" name="Text 6"/>
          <p:cNvSpPr/>
          <p:nvPr/>
        </p:nvSpPr>
        <p:spPr>
          <a:xfrm>
            <a:off x="594360" y="1417320"/>
            <a:ext cx="4617720" cy="4343400"/>
          </a:xfrm>
          <a:prstGeom prst="rect">
            <a:avLst/>
          </a:prstGeom>
          <a:noFill/>
          <a:ln/>
        </p:spPr>
        <p:txBody>
          <a:bodyPr wrap="square" lIns="635" tIns="635" rIns="635" bIns="635" rtlCol="0" anchor="ctr">
            <a:normAutofit/>
          </a:bodyPr>
          <a:lstStyle/>
          <a:p>
            <a:r>
              <a:rPr lang="en-US" sz="1450" dirty="0">
                <a:solidFill>
                  <a:srgbClr val="24303F"/>
                </a:solidFill>
              </a:rPr>
              <a:t>• Digitization: converting information into digital form</a:t>
            </a:r>
            <a:endParaRPr lang="en-US" sz="1450" dirty="0"/>
          </a:p>
          <a:p>
            <a:r>
              <a:rPr lang="en-US" sz="1450" dirty="0">
                <a:solidFill>
                  <a:srgbClr val="24303F"/>
                </a:solidFill>
              </a:rPr>
              <a:t>• Automation: making repeatable work run through rules and triggers</a:t>
            </a:r>
            <a:endParaRPr lang="en-US" sz="1450" dirty="0"/>
          </a:p>
          <a:p>
            <a:r>
              <a:rPr lang="en-US" sz="1450" dirty="0">
                <a:solidFill>
                  <a:srgbClr val="24303F"/>
                </a:solidFill>
              </a:rPr>
              <a:t>• AI: using models to classify, summarize, generate, or assist decisions</a:t>
            </a:r>
            <a:endParaRPr lang="en-US" sz="1450" dirty="0"/>
          </a:p>
          <a:p>
            <a:r>
              <a:rPr lang="en-US" sz="1450" dirty="0">
                <a:solidFill>
                  <a:srgbClr val="24303F"/>
                </a:solidFill>
              </a:rPr>
              <a:t>• Good operations design decides which one is actually needed</a:t>
            </a:r>
            <a:endParaRPr lang="en-US" sz="1450" dirty="0"/>
          </a:p>
        </p:txBody>
      </p:sp>
      <p:sp>
        <p:nvSpPr>
          <p:cNvPr id="9" name="Shape 7"/>
          <p:cNvSpPr/>
          <p:nvPr/>
        </p:nvSpPr>
        <p:spPr>
          <a:xfrm>
            <a:off x="5669280" y="1508760"/>
            <a:ext cx="1280160" cy="640080"/>
          </a:xfrm>
          <a:prstGeom prst="rect">
            <a:avLst/>
          </a:prstGeom>
          <a:solidFill>
            <a:srgbClr val="14213D"/>
          </a:solidFill>
          <a:ln w="12700">
            <a:solidFill>
              <a:srgbClr val="FFFFFF"/>
            </a:solidFill>
            <a:prstDash val="solid"/>
          </a:ln>
        </p:spPr>
      </p:sp>
      <p:sp>
        <p:nvSpPr>
          <p:cNvPr id="10" name="Text 8"/>
          <p:cNvSpPr/>
          <p:nvPr/>
        </p:nvSpPr>
        <p:spPr>
          <a:xfrm>
            <a:off x="5705856" y="1554480"/>
            <a:ext cx="1207008" cy="566928"/>
          </a:xfrm>
          <a:prstGeom prst="rect">
            <a:avLst/>
          </a:prstGeom>
          <a:noFill/>
          <a:ln/>
        </p:spPr>
        <p:txBody>
          <a:bodyPr wrap="square" lIns="0" tIns="0" rIns="0" bIns="0" rtlCol="0" anchor="ctr">
            <a:normAutofit/>
          </a:bodyPr>
          <a:lstStyle/>
          <a:p>
            <a:pPr indent="0" marL="0">
              <a:buNone/>
            </a:pPr>
            <a:r>
              <a:rPr lang="en-US" sz="1000" b="1" dirty="0">
                <a:solidFill>
                  <a:srgbClr val="FFFFFF"/>
                </a:solidFill>
              </a:rPr>
              <a:t>Concept</a:t>
            </a:r>
            <a:endParaRPr lang="en-US" sz="1000" dirty="0"/>
          </a:p>
        </p:txBody>
      </p:sp>
      <p:sp>
        <p:nvSpPr>
          <p:cNvPr id="11" name="Shape 9"/>
          <p:cNvSpPr/>
          <p:nvPr/>
        </p:nvSpPr>
        <p:spPr>
          <a:xfrm>
            <a:off x="6949440" y="1508760"/>
            <a:ext cx="2011680" cy="640080"/>
          </a:xfrm>
          <a:prstGeom prst="rect">
            <a:avLst/>
          </a:prstGeom>
          <a:solidFill>
            <a:srgbClr val="14213D"/>
          </a:solidFill>
          <a:ln w="12700">
            <a:solidFill>
              <a:srgbClr val="FFFFFF"/>
            </a:solidFill>
            <a:prstDash val="solid"/>
          </a:ln>
        </p:spPr>
      </p:sp>
      <p:sp>
        <p:nvSpPr>
          <p:cNvPr id="12" name="Text 10"/>
          <p:cNvSpPr/>
          <p:nvPr/>
        </p:nvSpPr>
        <p:spPr>
          <a:xfrm>
            <a:off x="6986016" y="1554480"/>
            <a:ext cx="1938528" cy="566928"/>
          </a:xfrm>
          <a:prstGeom prst="rect">
            <a:avLst/>
          </a:prstGeom>
          <a:noFill/>
          <a:ln/>
        </p:spPr>
        <p:txBody>
          <a:bodyPr wrap="square" lIns="0" tIns="0" rIns="0" bIns="0" rtlCol="0" anchor="ctr">
            <a:normAutofit/>
          </a:bodyPr>
          <a:lstStyle/>
          <a:p>
            <a:pPr indent="0" marL="0">
              <a:buNone/>
            </a:pPr>
            <a:r>
              <a:rPr lang="en-US" sz="1000" b="1" dirty="0">
                <a:solidFill>
                  <a:srgbClr val="FFFFFF"/>
                </a:solidFill>
              </a:rPr>
              <a:t>Simple meaning</a:t>
            </a:r>
            <a:endParaRPr lang="en-US" sz="1000" dirty="0"/>
          </a:p>
        </p:txBody>
      </p:sp>
      <p:sp>
        <p:nvSpPr>
          <p:cNvPr id="13" name="Shape 11"/>
          <p:cNvSpPr/>
          <p:nvPr/>
        </p:nvSpPr>
        <p:spPr>
          <a:xfrm>
            <a:off x="8961120" y="1508760"/>
            <a:ext cx="2377440" cy="640080"/>
          </a:xfrm>
          <a:prstGeom prst="rect">
            <a:avLst/>
          </a:prstGeom>
          <a:solidFill>
            <a:srgbClr val="14213D"/>
          </a:solidFill>
          <a:ln w="12700">
            <a:solidFill>
              <a:srgbClr val="FFFFFF"/>
            </a:solidFill>
            <a:prstDash val="solid"/>
          </a:ln>
        </p:spPr>
      </p:sp>
      <p:sp>
        <p:nvSpPr>
          <p:cNvPr id="14" name="Text 12"/>
          <p:cNvSpPr/>
          <p:nvPr/>
        </p:nvSpPr>
        <p:spPr>
          <a:xfrm>
            <a:off x="8997696" y="1554480"/>
            <a:ext cx="2304288" cy="566928"/>
          </a:xfrm>
          <a:prstGeom prst="rect">
            <a:avLst/>
          </a:prstGeom>
          <a:noFill/>
          <a:ln/>
        </p:spPr>
        <p:txBody>
          <a:bodyPr wrap="square" lIns="0" tIns="0" rIns="0" bIns="0" rtlCol="0" anchor="ctr">
            <a:normAutofit/>
          </a:bodyPr>
          <a:lstStyle/>
          <a:p>
            <a:pPr indent="0" marL="0">
              <a:buNone/>
            </a:pPr>
            <a:r>
              <a:rPr lang="en-US" sz="1000" b="1" dirty="0">
                <a:solidFill>
                  <a:srgbClr val="FFFFFF"/>
                </a:solidFill>
              </a:rPr>
              <a:t>BrightPath example</a:t>
            </a:r>
            <a:endParaRPr lang="en-US" sz="1000" dirty="0"/>
          </a:p>
        </p:txBody>
      </p:sp>
      <p:sp>
        <p:nvSpPr>
          <p:cNvPr id="15" name="Shape 13"/>
          <p:cNvSpPr/>
          <p:nvPr/>
        </p:nvSpPr>
        <p:spPr>
          <a:xfrm>
            <a:off x="5669280" y="2148840"/>
            <a:ext cx="1280160" cy="640080"/>
          </a:xfrm>
          <a:prstGeom prst="rect">
            <a:avLst/>
          </a:prstGeom>
          <a:solidFill>
            <a:srgbClr val="FDFBF5"/>
          </a:solidFill>
          <a:ln w="12700">
            <a:solidFill>
              <a:srgbClr val="E7DFD0"/>
            </a:solidFill>
            <a:prstDash val="solid"/>
          </a:ln>
        </p:spPr>
      </p:sp>
      <p:sp>
        <p:nvSpPr>
          <p:cNvPr id="16" name="Text 14"/>
          <p:cNvSpPr/>
          <p:nvPr/>
        </p:nvSpPr>
        <p:spPr>
          <a:xfrm>
            <a:off x="5705856" y="2185416"/>
            <a:ext cx="1207008" cy="566928"/>
          </a:xfrm>
          <a:prstGeom prst="rect">
            <a:avLst/>
          </a:prstGeom>
          <a:noFill/>
          <a:ln/>
        </p:spPr>
        <p:txBody>
          <a:bodyPr wrap="square" lIns="0" tIns="0" rIns="0" bIns="0" rtlCol="0" anchor="ctr">
            <a:normAutofit/>
          </a:bodyPr>
          <a:lstStyle/>
          <a:p>
            <a:pPr indent="0" marL="0">
              <a:buNone/>
            </a:pPr>
            <a:r>
              <a:rPr lang="en-US" sz="1000" dirty="0">
                <a:solidFill>
                  <a:srgbClr val="24303F"/>
                </a:solidFill>
              </a:rPr>
              <a:t>Digitization</a:t>
            </a:r>
            <a:endParaRPr lang="en-US" sz="1000" dirty="0"/>
          </a:p>
        </p:txBody>
      </p:sp>
      <p:sp>
        <p:nvSpPr>
          <p:cNvPr id="17" name="Shape 15"/>
          <p:cNvSpPr/>
          <p:nvPr/>
        </p:nvSpPr>
        <p:spPr>
          <a:xfrm>
            <a:off x="6949440" y="2148840"/>
            <a:ext cx="2011680" cy="640080"/>
          </a:xfrm>
          <a:prstGeom prst="rect">
            <a:avLst/>
          </a:prstGeom>
          <a:solidFill>
            <a:srgbClr val="FDFBF5"/>
          </a:solidFill>
          <a:ln w="12700">
            <a:solidFill>
              <a:srgbClr val="E7DFD0"/>
            </a:solidFill>
            <a:prstDash val="solid"/>
          </a:ln>
        </p:spPr>
      </p:sp>
      <p:sp>
        <p:nvSpPr>
          <p:cNvPr id="18" name="Text 16"/>
          <p:cNvSpPr/>
          <p:nvPr/>
        </p:nvSpPr>
        <p:spPr>
          <a:xfrm>
            <a:off x="6986016" y="2185416"/>
            <a:ext cx="1938528" cy="566928"/>
          </a:xfrm>
          <a:prstGeom prst="rect">
            <a:avLst/>
          </a:prstGeom>
          <a:noFill/>
          <a:ln/>
        </p:spPr>
        <p:txBody>
          <a:bodyPr wrap="square" lIns="0" tIns="0" rIns="0" bIns="0" rtlCol="0" anchor="ctr">
            <a:normAutofit/>
          </a:bodyPr>
          <a:lstStyle/>
          <a:p>
            <a:pPr indent="0" marL="0">
              <a:buNone/>
            </a:pPr>
            <a:r>
              <a:rPr lang="en-US" sz="1000" dirty="0">
                <a:solidFill>
                  <a:srgbClr val="24303F"/>
                </a:solidFill>
              </a:rPr>
              <a:t>Paper/email to digital</a:t>
            </a:r>
            <a:endParaRPr lang="en-US" sz="1000" dirty="0"/>
          </a:p>
        </p:txBody>
      </p:sp>
      <p:sp>
        <p:nvSpPr>
          <p:cNvPr id="19" name="Shape 17"/>
          <p:cNvSpPr/>
          <p:nvPr/>
        </p:nvSpPr>
        <p:spPr>
          <a:xfrm>
            <a:off x="8961120" y="2148840"/>
            <a:ext cx="2377440" cy="640080"/>
          </a:xfrm>
          <a:prstGeom prst="rect">
            <a:avLst/>
          </a:prstGeom>
          <a:solidFill>
            <a:srgbClr val="FDFBF5"/>
          </a:solidFill>
          <a:ln w="12700">
            <a:solidFill>
              <a:srgbClr val="E7DFD0"/>
            </a:solidFill>
            <a:prstDash val="solid"/>
          </a:ln>
        </p:spPr>
      </p:sp>
      <p:sp>
        <p:nvSpPr>
          <p:cNvPr id="20" name="Text 18"/>
          <p:cNvSpPr/>
          <p:nvPr/>
        </p:nvSpPr>
        <p:spPr>
          <a:xfrm>
            <a:off x="8997696" y="2185416"/>
            <a:ext cx="2304288" cy="566928"/>
          </a:xfrm>
          <a:prstGeom prst="rect">
            <a:avLst/>
          </a:prstGeom>
          <a:noFill/>
          <a:ln/>
        </p:spPr>
        <p:txBody>
          <a:bodyPr wrap="square" lIns="0" tIns="0" rIns="0" bIns="0" rtlCol="0" anchor="ctr">
            <a:normAutofit/>
          </a:bodyPr>
          <a:lstStyle/>
          <a:p>
            <a:pPr indent="0" marL="0">
              <a:buNone/>
            </a:pPr>
            <a:r>
              <a:rPr lang="en-US" sz="1000" dirty="0">
                <a:solidFill>
                  <a:srgbClr val="24303F"/>
                </a:solidFill>
              </a:rPr>
              <a:t>Online enquiry form</a:t>
            </a:r>
            <a:endParaRPr lang="en-US" sz="1000" dirty="0"/>
          </a:p>
        </p:txBody>
      </p:sp>
      <p:sp>
        <p:nvSpPr>
          <p:cNvPr id="21" name="Shape 19"/>
          <p:cNvSpPr/>
          <p:nvPr/>
        </p:nvSpPr>
        <p:spPr>
          <a:xfrm>
            <a:off x="5669280" y="2788920"/>
            <a:ext cx="1280160" cy="640080"/>
          </a:xfrm>
          <a:prstGeom prst="rect">
            <a:avLst/>
          </a:prstGeom>
          <a:solidFill>
            <a:srgbClr val="FFFFFF"/>
          </a:solidFill>
          <a:ln w="12700">
            <a:solidFill>
              <a:srgbClr val="E7DFD0"/>
            </a:solidFill>
            <a:prstDash val="solid"/>
          </a:ln>
        </p:spPr>
      </p:sp>
      <p:sp>
        <p:nvSpPr>
          <p:cNvPr id="22" name="Text 20"/>
          <p:cNvSpPr/>
          <p:nvPr/>
        </p:nvSpPr>
        <p:spPr>
          <a:xfrm>
            <a:off x="5705856" y="2825496"/>
            <a:ext cx="1207008" cy="566928"/>
          </a:xfrm>
          <a:prstGeom prst="rect">
            <a:avLst/>
          </a:prstGeom>
          <a:noFill/>
          <a:ln/>
        </p:spPr>
        <p:txBody>
          <a:bodyPr wrap="square" lIns="0" tIns="0" rIns="0" bIns="0" rtlCol="0" anchor="ctr">
            <a:normAutofit/>
          </a:bodyPr>
          <a:lstStyle/>
          <a:p>
            <a:pPr indent="0" marL="0">
              <a:buNone/>
            </a:pPr>
            <a:r>
              <a:rPr lang="en-US" sz="1000" dirty="0">
                <a:solidFill>
                  <a:srgbClr val="24303F"/>
                </a:solidFill>
              </a:rPr>
              <a:t>Automation</a:t>
            </a:r>
            <a:endParaRPr lang="en-US" sz="1000" dirty="0"/>
          </a:p>
        </p:txBody>
      </p:sp>
      <p:sp>
        <p:nvSpPr>
          <p:cNvPr id="23" name="Shape 21"/>
          <p:cNvSpPr/>
          <p:nvPr/>
        </p:nvSpPr>
        <p:spPr>
          <a:xfrm>
            <a:off x="6949440" y="2788920"/>
            <a:ext cx="2011680" cy="640080"/>
          </a:xfrm>
          <a:prstGeom prst="rect">
            <a:avLst/>
          </a:prstGeom>
          <a:solidFill>
            <a:srgbClr val="FFFFFF"/>
          </a:solidFill>
          <a:ln w="12700">
            <a:solidFill>
              <a:srgbClr val="E7DFD0"/>
            </a:solidFill>
            <a:prstDash val="solid"/>
          </a:ln>
        </p:spPr>
      </p:sp>
      <p:sp>
        <p:nvSpPr>
          <p:cNvPr id="24" name="Text 22"/>
          <p:cNvSpPr/>
          <p:nvPr/>
        </p:nvSpPr>
        <p:spPr>
          <a:xfrm>
            <a:off x="6986016" y="2825496"/>
            <a:ext cx="1938528" cy="566928"/>
          </a:xfrm>
          <a:prstGeom prst="rect">
            <a:avLst/>
          </a:prstGeom>
          <a:noFill/>
          <a:ln/>
        </p:spPr>
        <p:txBody>
          <a:bodyPr wrap="square" lIns="0" tIns="0" rIns="0" bIns="0" rtlCol="0" anchor="ctr">
            <a:normAutofit/>
          </a:bodyPr>
          <a:lstStyle/>
          <a:p>
            <a:pPr indent="0" marL="0">
              <a:buNone/>
            </a:pPr>
            <a:r>
              <a:rPr lang="en-US" sz="1000" dirty="0">
                <a:solidFill>
                  <a:srgbClr val="24303F"/>
                </a:solidFill>
              </a:rPr>
              <a:t>Rule-based work</a:t>
            </a:r>
            <a:endParaRPr lang="en-US" sz="1000" dirty="0"/>
          </a:p>
        </p:txBody>
      </p:sp>
      <p:sp>
        <p:nvSpPr>
          <p:cNvPr id="25" name="Shape 23"/>
          <p:cNvSpPr/>
          <p:nvPr/>
        </p:nvSpPr>
        <p:spPr>
          <a:xfrm>
            <a:off x="8961120" y="2788920"/>
            <a:ext cx="2377440" cy="640080"/>
          </a:xfrm>
          <a:prstGeom prst="rect">
            <a:avLst/>
          </a:prstGeom>
          <a:solidFill>
            <a:srgbClr val="FFFFFF"/>
          </a:solidFill>
          <a:ln w="12700">
            <a:solidFill>
              <a:srgbClr val="E7DFD0"/>
            </a:solidFill>
            <a:prstDash val="solid"/>
          </a:ln>
        </p:spPr>
      </p:sp>
      <p:sp>
        <p:nvSpPr>
          <p:cNvPr id="26" name="Text 24"/>
          <p:cNvSpPr/>
          <p:nvPr/>
        </p:nvSpPr>
        <p:spPr>
          <a:xfrm>
            <a:off x="8997696" y="2825496"/>
            <a:ext cx="2304288" cy="566928"/>
          </a:xfrm>
          <a:prstGeom prst="rect">
            <a:avLst/>
          </a:prstGeom>
          <a:noFill/>
          <a:ln/>
        </p:spPr>
        <p:txBody>
          <a:bodyPr wrap="square" lIns="0" tIns="0" rIns="0" bIns="0" rtlCol="0" anchor="ctr">
            <a:normAutofit/>
          </a:bodyPr>
          <a:lstStyle/>
          <a:p>
            <a:pPr indent="0" marL="0">
              <a:buNone/>
            </a:pPr>
            <a:r>
              <a:rPr lang="en-US" sz="1000" dirty="0">
                <a:solidFill>
                  <a:srgbClr val="24303F"/>
                </a:solidFill>
              </a:rPr>
              <a:t>Auto-send course info</a:t>
            </a:r>
            <a:endParaRPr lang="en-US" sz="1000" dirty="0"/>
          </a:p>
        </p:txBody>
      </p:sp>
      <p:sp>
        <p:nvSpPr>
          <p:cNvPr id="27" name="Shape 25"/>
          <p:cNvSpPr/>
          <p:nvPr/>
        </p:nvSpPr>
        <p:spPr>
          <a:xfrm>
            <a:off x="5669280" y="3429000"/>
            <a:ext cx="1280160" cy="640080"/>
          </a:xfrm>
          <a:prstGeom prst="rect">
            <a:avLst/>
          </a:prstGeom>
          <a:solidFill>
            <a:srgbClr val="FDFBF5"/>
          </a:solidFill>
          <a:ln w="12700">
            <a:solidFill>
              <a:srgbClr val="E7DFD0"/>
            </a:solidFill>
            <a:prstDash val="solid"/>
          </a:ln>
        </p:spPr>
      </p:sp>
      <p:sp>
        <p:nvSpPr>
          <p:cNvPr id="28" name="Text 26"/>
          <p:cNvSpPr/>
          <p:nvPr/>
        </p:nvSpPr>
        <p:spPr>
          <a:xfrm>
            <a:off x="5705856" y="3465576"/>
            <a:ext cx="1207008" cy="566928"/>
          </a:xfrm>
          <a:prstGeom prst="rect">
            <a:avLst/>
          </a:prstGeom>
          <a:noFill/>
          <a:ln/>
        </p:spPr>
        <p:txBody>
          <a:bodyPr wrap="square" lIns="0" tIns="0" rIns="0" bIns="0" rtlCol="0" anchor="ctr">
            <a:normAutofit/>
          </a:bodyPr>
          <a:lstStyle/>
          <a:p>
            <a:pPr indent="0" marL="0">
              <a:buNone/>
            </a:pPr>
            <a:r>
              <a:rPr lang="en-US" sz="1000" dirty="0">
                <a:solidFill>
                  <a:srgbClr val="24303F"/>
                </a:solidFill>
              </a:rPr>
              <a:t>AI</a:t>
            </a:r>
            <a:endParaRPr lang="en-US" sz="1000" dirty="0"/>
          </a:p>
        </p:txBody>
      </p:sp>
      <p:sp>
        <p:nvSpPr>
          <p:cNvPr id="29" name="Shape 27"/>
          <p:cNvSpPr/>
          <p:nvPr/>
        </p:nvSpPr>
        <p:spPr>
          <a:xfrm>
            <a:off x="6949440" y="3429000"/>
            <a:ext cx="2011680" cy="640080"/>
          </a:xfrm>
          <a:prstGeom prst="rect">
            <a:avLst/>
          </a:prstGeom>
          <a:solidFill>
            <a:srgbClr val="FDFBF5"/>
          </a:solidFill>
          <a:ln w="12700">
            <a:solidFill>
              <a:srgbClr val="E7DFD0"/>
            </a:solidFill>
            <a:prstDash val="solid"/>
          </a:ln>
        </p:spPr>
      </p:sp>
      <p:sp>
        <p:nvSpPr>
          <p:cNvPr id="30" name="Text 28"/>
          <p:cNvSpPr/>
          <p:nvPr/>
        </p:nvSpPr>
        <p:spPr>
          <a:xfrm>
            <a:off x="6986016" y="3465576"/>
            <a:ext cx="1938528" cy="566928"/>
          </a:xfrm>
          <a:prstGeom prst="rect">
            <a:avLst/>
          </a:prstGeom>
          <a:noFill/>
          <a:ln/>
        </p:spPr>
        <p:txBody>
          <a:bodyPr wrap="square" lIns="0" tIns="0" rIns="0" bIns="0" rtlCol="0" anchor="ctr">
            <a:normAutofit/>
          </a:bodyPr>
          <a:lstStyle/>
          <a:p>
            <a:pPr indent="0" marL="0">
              <a:buNone/>
            </a:pPr>
            <a:r>
              <a:rPr lang="en-US" sz="1000" dirty="0">
                <a:solidFill>
                  <a:srgbClr val="24303F"/>
                </a:solidFill>
              </a:rPr>
              <a:t>Model-assisted work</a:t>
            </a:r>
            <a:endParaRPr lang="en-US" sz="1000" dirty="0"/>
          </a:p>
        </p:txBody>
      </p:sp>
      <p:sp>
        <p:nvSpPr>
          <p:cNvPr id="31" name="Shape 29"/>
          <p:cNvSpPr/>
          <p:nvPr/>
        </p:nvSpPr>
        <p:spPr>
          <a:xfrm>
            <a:off x="8961120" y="3429000"/>
            <a:ext cx="2377440" cy="640080"/>
          </a:xfrm>
          <a:prstGeom prst="rect">
            <a:avLst/>
          </a:prstGeom>
          <a:solidFill>
            <a:srgbClr val="FDFBF5"/>
          </a:solidFill>
          <a:ln w="12700">
            <a:solidFill>
              <a:srgbClr val="E7DFD0"/>
            </a:solidFill>
            <a:prstDash val="solid"/>
          </a:ln>
        </p:spPr>
      </p:sp>
      <p:sp>
        <p:nvSpPr>
          <p:cNvPr id="32" name="Text 30"/>
          <p:cNvSpPr/>
          <p:nvPr/>
        </p:nvSpPr>
        <p:spPr>
          <a:xfrm>
            <a:off x="8997696" y="3465576"/>
            <a:ext cx="2304288" cy="566928"/>
          </a:xfrm>
          <a:prstGeom prst="rect">
            <a:avLst/>
          </a:prstGeom>
          <a:noFill/>
          <a:ln/>
        </p:spPr>
        <p:txBody>
          <a:bodyPr wrap="square" lIns="0" tIns="0" rIns="0" bIns="0" rtlCol="0" anchor="ctr">
            <a:normAutofit/>
          </a:bodyPr>
          <a:lstStyle/>
          <a:p>
            <a:pPr indent="0" marL="0">
              <a:buNone/>
            </a:pPr>
            <a:r>
              <a:rPr lang="en-US" sz="1000" dirty="0">
                <a:solidFill>
                  <a:srgbClr val="24303F"/>
                </a:solidFill>
              </a:rPr>
              <a:t>Draft FAQ responses</a:t>
            </a:r>
            <a:endParaRPr lang="en-US" sz="1000" dirty="0"/>
          </a:p>
        </p:txBody>
      </p:sp>
      <p:sp>
        <p:nvSpPr>
          <p:cNvPr id="33" name="Shape 31"/>
          <p:cNvSpPr/>
          <p:nvPr/>
        </p:nvSpPr>
        <p:spPr>
          <a:xfrm>
            <a:off x="6126480" y="4617720"/>
            <a:ext cx="4572000" cy="777240"/>
          </a:xfrm>
          <a:prstGeom prst="roundRect">
            <a:avLst>
              <a:gd name="adj" fmla="val 9412"/>
            </a:avLst>
          </a:prstGeom>
          <a:solidFill>
            <a:srgbClr val="FFFFFF"/>
          </a:solidFill>
          <a:ln w="12700">
            <a:solidFill>
              <a:srgbClr val="B85C5C"/>
            </a:solidFill>
            <a:prstDash val="solid"/>
          </a:ln>
        </p:spPr>
      </p:sp>
      <p:sp>
        <p:nvSpPr>
          <p:cNvPr id="34" name="Text 32"/>
          <p:cNvSpPr/>
          <p:nvPr/>
        </p:nvSpPr>
        <p:spPr>
          <a:xfrm>
            <a:off x="6236208" y="4709160"/>
            <a:ext cx="4352544" cy="612648"/>
          </a:xfrm>
          <a:prstGeom prst="rect">
            <a:avLst/>
          </a:prstGeom>
          <a:noFill/>
          <a:ln/>
        </p:spPr>
        <p:txBody>
          <a:bodyPr wrap="square" lIns="127" tIns="127" rIns="127" bIns="127" rtlCol="0" anchor="ctr">
            <a:normAutofit/>
          </a:bodyPr>
          <a:lstStyle/>
          <a:p>
            <a:pPr indent="0" marL="0">
              <a:buNone/>
            </a:pPr>
            <a:r>
              <a:rPr lang="en-US" sz="1400" b="1" dirty="0">
                <a:solidFill>
                  <a:srgbClr val="24303F"/>
                </a:solidFill>
              </a:rPr>
              <a:t>Decision: do not buy AI when a clean form and reminder workflow solves the problem.</a:t>
            </a:r>
            <a:endParaRPr lang="en-US" sz="1400" dirty="0"/>
          </a:p>
        </p:txBody>
      </p:sp>
      <p:sp>
        <p:nvSpPr>
          <p:cNvPr id="35" name="Text 33"/>
          <p:cNvSpPr/>
          <p:nvPr/>
        </p:nvSpPr>
        <p:spPr>
          <a:xfrm>
            <a:off x="11384280" y="6428232"/>
            <a:ext cx="320040" cy="109728"/>
          </a:xfrm>
          <a:prstGeom prst="rect">
            <a:avLst/>
          </a:prstGeom>
          <a:noFill/>
          <a:ln/>
        </p:spPr>
        <p:txBody>
          <a:bodyPr wrap="square" lIns="0" tIns="0" rIns="0" bIns="0" rtlCol="0" anchor="ctr"/>
          <a:lstStyle/>
          <a:p>
            <a:pPr algn="r" indent="0" marL="0">
              <a:buNone/>
            </a:pPr>
            <a:r>
              <a:rPr lang="en-US" sz="700" dirty="0">
                <a:solidFill>
                  <a:srgbClr val="FFFFFF"/>
                </a:solidFill>
              </a:rPr>
              <a:t>04</a:t>
            </a:r>
            <a:endParaRPr lang="en-US" sz="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3EA"/>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4213D"/>
          </a:solidFill>
          <a:ln w="12700">
            <a:solidFill>
              <a:srgbClr val="14213D">
                <a:alpha val="0"/>
              </a:srgbClr>
            </a:solidFill>
            <a:prstDash val="solid"/>
          </a:ln>
        </p:spPr>
      </p:sp>
      <p:sp>
        <p:nvSpPr>
          <p:cNvPr id="3" name="Shape 1"/>
          <p:cNvSpPr/>
          <p:nvPr/>
        </p:nvSpPr>
        <p:spPr>
          <a:xfrm>
            <a:off x="0" y="6693408"/>
            <a:ext cx="12191695" cy="164592"/>
          </a:xfrm>
          <a:prstGeom prst="rect">
            <a:avLst/>
          </a:prstGeom>
          <a:solidFill>
            <a:srgbClr val="14213D"/>
          </a:solidFill>
          <a:ln w="12700">
            <a:solidFill>
              <a:srgbClr val="14213D">
                <a:alpha val="0"/>
              </a:srgbClr>
            </a:solidFill>
            <a:prstDash val="solid"/>
          </a:ln>
        </p:spPr>
      </p:sp>
      <p:sp>
        <p:nvSpPr>
          <p:cNvPr id="4" name="Text 2"/>
          <p:cNvSpPr/>
          <p:nvPr/>
        </p:nvSpPr>
        <p:spPr>
          <a:xfrm>
            <a:off x="502920" y="256032"/>
            <a:ext cx="4480560" cy="164592"/>
          </a:xfrm>
          <a:prstGeom prst="rect">
            <a:avLst/>
          </a:prstGeom>
          <a:noFill/>
          <a:ln/>
        </p:spPr>
        <p:txBody>
          <a:bodyPr wrap="square" lIns="0" tIns="0" rIns="0" bIns="0" rtlCol="0" anchor="ctr"/>
          <a:lstStyle/>
          <a:p>
            <a:pPr indent="0" marL="0">
              <a:buNone/>
            </a:pPr>
            <a:r>
              <a:rPr lang="en-US" sz="700" b="1" dirty="0">
                <a:solidFill>
                  <a:srgbClr val="2A9D8F"/>
                </a:solidFill>
                <a:latin typeface="Aptos" pitchFamily="34" charset="0"/>
                <a:ea typeface="Aptos" pitchFamily="34" charset="-122"/>
                <a:cs typeface="Aptos" pitchFamily="34" charset="-120"/>
              </a:rPr>
              <a:t>SECTION 1</a:t>
            </a:r>
            <a:endParaRPr lang="en-US" sz="700" dirty="0"/>
          </a:p>
        </p:txBody>
      </p:sp>
      <p:sp>
        <p:nvSpPr>
          <p:cNvPr id="5" name="Text 3"/>
          <p:cNvSpPr/>
          <p:nvPr/>
        </p:nvSpPr>
        <p:spPr>
          <a:xfrm>
            <a:off x="9281160" y="219456"/>
            <a:ext cx="2423160" cy="182880"/>
          </a:xfrm>
          <a:prstGeom prst="rect">
            <a:avLst/>
          </a:prstGeom>
          <a:noFill/>
          <a:ln/>
        </p:spPr>
        <p:txBody>
          <a:bodyPr wrap="square" lIns="0" tIns="0" rIns="0" bIns="0" rtlCol="0" anchor="ctr"/>
          <a:lstStyle/>
          <a:p>
            <a:pPr algn="r" indent="0" marL="0">
              <a:buNone/>
            </a:pPr>
            <a:r>
              <a:rPr lang="en-US" sz="700" dirty="0">
                <a:solidFill>
                  <a:srgbClr val="6D7886"/>
                </a:solidFill>
              </a:rPr>
              <a:t>Jifunze.ai skill booster</a:t>
            </a:r>
            <a:endParaRPr lang="en-US" sz="700" dirty="0"/>
          </a:p>
        </p:txBody>
      </p:sp>
      <p:sp>
        <p:nvSpPr>
          <p:cNvPr id="6" name="Text 4"/>
          <p:cNvSpPr/>
          <p:nvPr/>
        </p:nvSpPr>
        <p:spPr>
          <a:xfrm>
            <a:off x="502920" y="502920"/>
            <a:ext cx="4617720" cy="475488"/>
          </a:xfrm>
          <a:prstGeom prst="rect">
            <a:avLst/>
          </a:prstGeom>
          <a:noFill/>
          <a:ln/>
        </p:spPr>
        <p:txBody>
          <a:bodyPr wrap="square" lIns="127" tIns="127" rIns="127" bIns="127" rtlCol="0" anchor="ctr">
            <a:normAutofit/>
          </a:bodyPr>
          <a:lstStyle/>
          <a:p>
            <a:pPr indent="0" marL="0">
              <a:buNone/>
            </a:pPr>
            <a:r>
              <a:rPr lang="en-US" sz="2500" b="1" dirty="0">
                <a:solidFill>
                  <a:srgbClr val="14213D"/>
                </a:solidFill>
                <a:latin typeface="Aptos Display" pitchFamily="34" charset="0"/>
                <a:ea typeface="Aptos Display" pitchFamily="34" charset="-122"/>
                <a:cs typeface="Aptos Display" pitchFamily="34" charset="-120"/>
              </a:rPr>
              <a:t>What should and should not be automated</a:t>
            </a:r>
            <a:endParaRPr lang="en-US" sz="2500" dirty="0"/>
          </a:p>
        </p:txBody>
      </p:sp>
      <p:sp>
        <p:nvSpPr>
          <p:cNvPr id="7" name="Text 5"/>
          <p:cNvSpPr/>
          <p:nvPr/>
        </p:nvSpPr>
        <p:spPr>
          <a:xfrm>
            <a:off x="521208" y="1005840"/>
            <a:ext cx="4617720" cy="228600"/>
          </a:xfrm>
          <a:prstGeom prst="rect">
            <a:avLst/>
          </a:prstGeom>
          <a:noFill/>
          <a:ln/>
        </p:spPr>
        <p:txBody>
          <a:bodyPr wrap="square" lIns="0" tIns="0" rIns="0" bIns="0" rtlCol="0" anchor="ctr">
            <a:normAutofit/>
          </a:bodyPr>
          <a:lstStyle/>
          <a:p>
            <a:pPr indent="0" marL="0">
              <a:buNone/>
            </a:pPr>
            <a:r>
              <a:rPr lang="en-US" sz="1080" dirty="0">
                <a:solidFill>
                  <a:srgbClr val="24303F"/>
                </a:solidFill>
              </a:rPr>
              <a:t>Automation is strongest when the work is frequent, rule-based, and measurable</a:t>
            </a:r>
            <a:endParaRPr lang="en-US" sz="1080" dirty="0"/>
          </a:p>
        </p:txBody>
      </p:sp>
      <p:sp>
        <p:nvSpPr>
          <p:cNvPr id="8" name="Text 6"/>
          <p:cNvSpPr/>
          <p:nvPr/>
        </p:nvSpPr>
        <p:spPr>
          <a:xfrm>
            <a:off x="594360" y="1417320"/>
            <a:ext cx="4617720" cy="4343400"/>
          </a:xfrm>
          <a:prstGeom prst="rect">
            <a:avLst/>
          </a:prstGeom>
          <a:noFill/>
          <a:ln/>
        </p:spPr>
        <p:txBody>
          <a:bodyPr wrap="square" lIns="635" tIns="635" rIns="635" bIns="635" rtlCol="0" anchor="ctr">
            <a:normAutofit/>
          </a:bodyPr>
          <a:lstStyle/>
          <a:p>
            <a:r>
              <a:rPr lang="en-US" sz="1450" dirty="0">
                <a:solidFill>
                  <a:srgbClr val="24303F"/>
                </a:solidFill>
              </a:rPr>
              <a:t>• Automate repetitive, high-volume steps</a:t>
            </a:r>
            <a:endParaRPr lang="en-US" sz="1450" dirty="0"/>
          </a:p>
          <a:p>
            <a:r>
              <a:rPr lang="en-US" sz="1450" dirty="0">
                <a:solidFill>
                  <a:srgbClr val="24303F"/>
                </a:solidFill>
              </a:rPr>
              <a:t>• Automate reminders, routing, templates, and status updates</a:t>
            </a:r>
            <a:endParaRPr lang="en-US" sz="1450" dirty="0"/>
          </a:p>
          <a:p>
            <a:r>
              <a:rPr lang="en-US" sz="1450" dirty="0">
                <a:solidFill>
                  <a:srgbClr val="24303F"/>
                </a:solidFill>
              </a:rPr>
              <a:t>• Keep sensitive decisions and exceptions human-led</a:t>
            </a:r>
            <a:endParaRPr lang="en-US" sz="1450" dirty="0"/>
          </a:p>
          <a:p>
            <a:r>
              <a:rPr lang="en-US" sz="1450" dirty="0">
                <a:solidFill>
                  <a:srgbClr val="24303F"/>
                </a:solidFill>
              </a:rPr>
              <a:t>• Do not automate broken processes before understanding them</a:t>
            </a:r>
            <a:endParaRPr lang="en-US" sz="1450" dirty="0"/>
          </a:p>
        </p:txBody>
      </p:sp>
      <p:sp>
        <p:nvSpPr>
          <p:cNvPr id="9" name="Shape 7"/>
          <p:cNvSpPr/>
          <p:nvPr/>
        </p:nvSpPr>
        <p:spPr>
          <a:xfrm>
            <a:off x="5715000" y="1325880"/>
            <a:ext cx="2651760" cy="640080"/>
          </a:xfrm>
          <a:prstGeom prst="rect">
            <a:avLst/>
          </a:prstGeom>
          <a:solidFill>
            <a:srgbClr val="14213D"/>
          </a:solidFill>
          <a:ln w="12700">
            <a:solidFill>
              <a:srgbClr val="FFFFFF"/>
            </a:solidFill>
            <a:prstDash val="solid"/>
          </a:ln>
        </p:spPr>
      </p:sp>
      <p:sp>
        <p:nvSpPr>
          <p:cNvPr id="10" name="Text 8"/>
          <p:cNvSpPr/>
          <p:nvPr/>
        </p:nvSpPr>
        <p:spPr>
          <a:xfrm>
            <a:off x="5751576" y="1371600"/>
            <a:ext cx="2578608" cy="566928"/>
          </a:xfrm>
          <a:prstGeom prst="rect">
            <a:avLst/>
          </a:prstGeom>
          <a:noFill/>
          <a:ln/>
        </p:spPr>
        <p:txBody>
          <a:bodyPr wrap="square" lIns="0" tIns="0" rIns="0" bIns="0" rtlCol="0" anchor="ctr">
            <a:normAutofit/>
          </a:bodyPr>
          <a:lstStyle/>
          <a:p>
            <a:pPr indent="0" marL="0">
              <a:buNone/>
            </a:pPr>
            <a:r>
              <a:rPr lang="en-US" sz="1000" b="1" dirty="0">
                <a:solidFill>
                  <a:srgbClr val="FFFFFF"/>
                </a:solidFill>
              </a:rPr>
              <a:t>Good automation targets</a:t>
            </a:r>
            <a:endParaRPr lang="en-US" sz="1000" dirty="0"/>
          </a:p>
        </p:txBody>
      </p:sp>
      <p:sp>
        <p:nvSpPr>
          <p:cNvPr id="11" name="Shape 9"/>
          <p:cNvSpPr/>
          <p:nvPr/>
        </p:nvSpPr>
        <p:spPr>
          <a:xfrm>
            <a:off x="8366760" y="1325880"/>
            <a:ext cx="2697480" cy="640080"/>
          </a:xfrm>
          <a:prstGeom prst="rect">
            <a:avLst/>
          </a:prstGeom>
          <a:solidFill>
            <a:srgbClr val="14213D"/>
          </a:solidFill>
          <a:ln w="12700">
            <a:solidFill>
              <a:srgbClr val="FFFFFF"/>
            </a:solidFill>
            <a:prstDash val="solid"/>
          </a:ln>
        </p:spPr>
      </p:sp>
      <p:sp>
        <p:nvSpPr>
          <p:cNvPr id="12" name="Text 10"/>
          <p:cNvSpPr/>
          <p:nvPr/>
        </p:nvSpPr>
        <p:spPr>
          <a:xfrm>
            <a:off x="8403336" y="1371600"/>
            <a:ext cx="2624328" cy="566928"/>
          </a:xfrm>
          <a:prstGeom prst="rect">
            <a:avLst/>
          </a:prstGeom>
          <a:noFill/>
          <a:ln/>
        </p:spPr>
        <p:txBody>
          <a:bodyPr wrap="square" lIns="0" tIns="0" rIns="0" bIns="0" rtlCol="0" anchor="ctr">
            <a:normAutofit/>
          </a:bodyPr>
          <a:lstStyle/>
          <a:p>
            <a:pPr indent="0" marL="0">
              <a:buNone/>
            </a:pPr>
            <a:r>
              <a:rPr lang="en-US" sz="1000" b="1" dirty="0">
                <a:solidFill>
                  <a:srgbClr val="FFFFFF"/>
                </a:solidFill>
              </a:rPr>
              <a:t>Keep human-led</a:t>
            </a:r>
            <a:endParaRPr lang="en-US" sz="1000" dirty="0"/>
          </a:p>
        </p:txBody>
      </p:sp>
      <p:sp>
        <p:nvSpPr>
          <p:cNvPr id="13" name="Shape 11"/>
          <p:cNvSpPr/>
          <p:nvPr/>
        </p:nvSpPr>
        <p:spPr>
          <a:xfrm>
            <a:off x="5715000" y="1965960"/>
            <a:ext cx="2651760" cy="640080"/>
          </a:xfrm>
          <a:prstGeom prst="rect">
            <a:avLst/>
          </a:prstGeom>
          <a:solidFill>
            <a:srgbClr val="FDFBF5"/>
          </a:solidFill>
          <a:ln w="12700">
            <a:solidFill>
              <a:srgbClr val="E7DFD0"/>
            </a:solidFill>
            <a:prstDash val="solid"/>
          </a:ln>
        </p:spPr>
      </p:sp>
      <p:sp>
        <p:nvSpPr>
          <p:cNvPr id="14" name="Text 12"/>
          <p:cNvSpPr/>
          <p:nvPr/>
        </p:nvSpPr>
        <p:spPr>
          <a:xfrm>
            <a:off x="5751576" y="2002536"/>
            <a:ext cx="2578608" cy="566928"/>
          </a:xfrm>
          <a:prstGeom prst="rect">
            <a:avLst/>
          </a:prstGeom>
          <a:noFill/>
          <a:ln/>
        </p:spPr>
        <p:txBody>
          <a:bodyPr wrap="square" lIns="0" tIns="0" rIns="0" bIns="0" rtlCol="0" anchor="ctr">
            <a:normAutofit/>
          </a:bodyPr>
          <a:lstStyle/>
          <a:p>
            <a:pPr indent="0" marL="0">
              <a:buNone/>
            </a:pPr>
            <a:r>
              <a:rPr lang="en-US" sz="1000" dirty="0">
                <a:solidFill>
                  <a:srgbClr val="24303F"/>
                </a:solidFill>
              </a:rPr>
              <a:t>Course info emails</a:t>
            </a:r>
            <a:endParaRPr lang="en-US" sz="1000" dirty="0"/>
          </a:p>
        </p:txBody>
      </p:sp>
      <p:sp>
        <p:nvSpPr>
          <p:cNvPr id="15" name="Shape 13"/>
          <p:cNvSpPr/>
          <p:nvPr/>
        </p:nvSpPr>
        <p:spPr>
          <a:xfrm>
            <a:off x="8366760" y="1965960"/>
            <a:ext cx="2697480" cy="640080"/>
          </a:xfrm>
          <a:prstGeom prst="rect">
            <a:avLst/>
          </a:prstGeom>
          <a:solidFill>
            <a:srgbClr val="FDFBF5"/>
          </a:solidFill>
          <a:ln w="12700">
            <a:solidFill>
              <a:srgbClr val="E7DFD0"/>
            </a:solidFill>
            <a:prstDash val="solid"/>
          </a:ln>
        </p:spPr>
      </p:sp>
      <p:sp>
        <p:nvSpPr>
          <p:cNvPr id="16" name="Text 14"/>
          <p:cNvSpPr/>
          <p:nvPr/>
        </p:nvSpPr>
        <p:spPr>
          <a:xfrm>
            <a:off x="8403336" y="2002536"/>
            <a:ext cx="2624328" cy="566928"/>
          </a:xfrm>
          <a:prstGeom prst="rect">
            <a:avLst/>
          </a:prstGeom>
          <a:noFill/>
          <a:ln/>
        </p:spPr>
        <p:txBody>
          <a:bodyPr wrap="square" lIns="0" tIns="0" rIns="0" bIns="0" rtlCol="0" anchor="ctr">
            <a:normAutofit/>
          </a:bodyPr>
          <a:lstStyle/>
          <a:p>
            <a:pPr indent="0" marL="0">
              <a:buNone/>
            </a:pPr>
            <a:r>
              <a:rPr lang="en-US" sz="1000" dirty="0">
                <a:solidFill>
                  <a:srgbClr val="24303F"/>
                </a:solidFill>
              </a:rPr>
              <a:t>Disputes and complaints</a:t>
            </a:r>
            <a:endParaRPr lang="en-US" sz="1000" dirty="0"/>
          </a:p>
        </p:txBody>
      </p:sp>
      <p:sp>
        <p:nvSpPr>
          <p:cNvPr id="17" name="Shape 15"/>
          <p:cNvSpPr/>
          <p:nvPr/>
        </p:nvSpPr>
        <p:spPr>
          <a:xfrm>
            <a:off x="5715000" y="2606040"/>
            <a:ext cx="2651760" cy="640080"/>
          </a:xfrm>
          <a:prstGeom prst="rect">
            <a:avLst/>
          </a:prstGeom>
          <a:solidFill>
            <a:srgbClr val="FFFFFF"/>
          </a:solidFill>
          <a:ln w="12700">
            <a:solidFill>
              <a:srgbClr val="E7DFD0"/>
            </a:solidFill>
            <a:prstDash val="solid"/>
          </a:ln>
        </p:spPr>
      </p:sp>
      <p:sp>
        <p:nvSpPr>
          <p:cNvPr id="18" name="Text 16"/>
          <p:cNvSpPr/>
          <p:nvPr/>
        </p:nvSpPr>
        <p:spPr>
          <a:xfrm>
            <a:off x="5751576" y="2642616"/>
            <a:ext cx="2578608" cy="566928"/>
          </a:xfrm>
          <a:prstGeom prst="rect">
            <a:avLst/>
          </a:prstGeom>
          <a:noFill/>
          <a:ln/>
        </p:spPr>
        <p:txBody>
          <a:bodyPr wrap="square" lIns="0" tIns="0" rIns="0" bIns="0" rtlCol="0" anchor="ctr">
            <a:normAutofit/>
          </a:bodyPr>
          <a:lstStyle/>
          <a:p>
            <a:pPr indent="0" marL="0">
              <a:buNone/>
            </a:pPr>
            <a:r>
              <a:rPr lang="en-US" sz="1000" dirty="0">
                <a:solidFill>
                  <a:srgbClr val="24303F"/>
                </a:solidFill>
              </a:rPr>
              <a:t>Reminder messages</a:t>
            </a:r>
            <a:endParaRPr lang="en-US" sz="1000" dirty="0"/>
          </a:p>
        </p:txBody>
      </p:sp>
      <p:sp>
        <p:nvSpPr>
          <p:cNvPr id="19" name="Shape 17"/>
          <p:cNvSpPr/>
          <p:nvPr/>
        </p:nvSpPr>
        <p:spPr>
          <a:xfrm>
            <a:off x="8366760" y="2606040"/>
            <a:ext cx="2697480" cy="640080"/>
          </a:xfrm>
          <a:prstGeom prst="rect">
            <a:avLst/>
          </a:prstGeom>
          <a:solidFill>
            <a:srgbClr val="FFFFFF"/>
          </a:solidFill>
          <a:ln w="12700">
            <a:solidFill>
              <a:srgbClr val="E7DFD0"/>
            </a:solidFill>
            <a:prstDash val="solid"/>
          </a:ln>
        </p:spPr>
      </p:sp>
      <p:sp>
        <p:nvSpPr>
          <p:cNvPr id="20" name="Text 18"/>
          <p:cNvSpPr/>
          <p:nvPr/>
        </p:nvSpPr>
        <p:spPr>
          <a:xfrm>
            <a:off x="8403336" y="2642616"/>
            <a:ext cx="2624328" cy="566928"/>
          </a:xfrm>
          <a:prstGeom prst="rect">
            <a:avLst/>
          </a:prstGeom>
          <a:noFill/>
          <a:ln/>
        </p:spPr>
        <p:txBody>
          <a:bodyPr wrap="square" lIns="0" tIns="0" rIns="0" bIns="0" rtlCol="0" anchor="ctr">
            <a:normAutofit/>
          </a:bodyPr>
          <a:lstStyle/>
          <a:p>
            <a:pPr indent="0" marL="0">
              <a:buNone/>
            </a:pPr>
            <a:r>
              <a:rPr lang="en-US" sz="1000" dirty="0">
                <a:solidFill>
                  <a:srgbClr val="24303F"/>
                </a:solidFill>
              </a:rPr>
              <a:t>Payment exceptions</a:t>
            </a:r>
            <a:endParaRPr lang="en-US" sz="1000" dirty="0"/>
          </a:p>
        </p:txBody>
      </p:sp>
      <p:sp>
        <p:nvSpPr>
          <p:cNvPr id="21" name="Shape 19"/>
          <p:cNvSpPr/>
          <p:nvPr/>
        </p:nvSpPr>
        <p:spPr>
          <a:xfrm>
            <a:off x="5715000" y="3246120"/>
            <a:ext cx="2651760" cy="640080"/>
          </a:xfrm>
          <a:prstGeom prst="rect">
            <a:avLst/>
          </a:prstGeom>
          <a:solidFill>
            <a:srgbClr val="FDFBF5"/>
          </a:solidFill>
          <a:ln w="12700">
            <a:solidFill>
              <a:srgbClr val="E7DFD0"/>
            </a:solidFill>
            <a:prstDash val="solid"/>
          </a:ln>
        </p:spPr>
      </p:sp>
      <p:sp>
        <p:nvSpPr>
          <p:cNvPr id="22" name="Text 20"/>
          <p:cNvSpPr/>
          <p:nvPr/>
        </p:nvSpPr>
        <p:spPr>
          <a:xfrm>
            <a:off x="5751576" y="3282696"/>
            <a:ext cx="2578608" cy="566928"/>
          </a:xfrm>
          <a:prstGeom prst="rect">
            <a:avLst/>
          </a:prstGeom>
          <a:noFill/>
          <a:ln/>
        </p:spPr>
        <p:txBody>
          <a:bodyPr wrap="square" lIns="0" tIns="0" rIns="0" bIns="0" rtlCol="0" anchor="ctr">
            <a:normAutofit/>
          </a:bodyPr>
          <a:lstStyle/>
          <a:p>
            <a:pPr indent="0" marL="0">
              <a:buNone/>
            </a:pPr>
            <a:r>
              <a:rPr lang="en-US" sz="1000" dirty="0">
                <a:solidFill>
                  <a:srgbClr val="24303F"/>
                </a:solidFill>
              </a:rPr>
              <a:t>Feedback form sending</a:t>
            </a:r>
            <a:endParaRPr lang="en-US" sz="1000" dirty="0"/>
          </a:p>
        </p:txBody>
      </p:sp>
      <p:sp>
        <p:nvSpPr>
          <p:cNvPr id="23" name="Shape 21"/>
          <p:cNvSpPr/>
          <p:nvPr/>
        </p:nvSpPr>
        <p:spPr>
          <a:xfrm>
            <a:off x="8366760" y="3246120"/>
            <a:ext cx="2697480" cy="640080"/>
          </a:xfrm>
          <a:prstGeom prst="rect">
            <a:avLst/>
          </a:prstGeom>
          <a:solidFill>
            <a:srgbClr val="FDFBF5"/>
          </a:solidFill>
          <a:ln w="12700">
            <a:solidFill>
              <a:srgbClr val="E7DFD0"/>
            </a:solidFill>
            <a:prstDash val="solid"/>
          </a:ln>
        </p:spPr>
      </p:sp>
      <p:sp>
        <p:nvSpPr>
          <p:cNvPr id="24" name="Text 22"/>
          <p:cNvSpPr/>
          <p:nvPr/>
        </p:nvSpPr>
        <p:spPr>
          <a:xfrm>
            <a:off x="8403336" y="3282696"/>
            <a:ext cx="2624328" cy="566928"/>
          </a:xfrm>
          <a:prstGeom prst="rect">
            <a:avLst/>
          </a:prstGeom>
          <a:noFill/>
          <a:ln/>
        </p:spPr>
        <p:txBody>
          <a:bodyPr wrap="square" lIns="0" tIns="0" rIns="0" bIns="0" rtlCol="0" anchor="ctr">
            <a:normAutofit/>
          </a:bodyPr>
          <a:lstStyle/>
          <a:p>
            <a:pPr indent="0" marL="0">
              <a:buNone/>
            </a:pPr>
            <a:r>
              <a:rPr lang="en-US" sz="1000" dirty="0">
                <a:solidFill>
                  <a:srgbClr val="24303F"/>
                </a:solidFill>
              </a:rPr>
              <a:t>Learner hardship cases</a:t>
            </a:r>
            <a:endParaRPr lang="en-US" sz="1000" dirty="0"/>
          </a:p>
        </p:txBody>
      </p:sp>
      <p:sp>
        <p:nvSpPr>
          <p:cNvPr id="25" name="Shape 23"/>
          <p:cNvSpPr/>
          <p:nvPr/>
        </p:nvSpPr>
        <p:spPr>
          <a:xfrm>
            <a:off x="5715000" y="3886200"/>
            <a:ext cx="2651760" cy="640080"/>
          </a:xfrm>
          <a:prstGeom prst="rect">
            <a:avLst/>
          </a:prstGeom>
          <a:solidFill>
            <a:srgbClr val="FFFFFF"/>
          </a:solidFill>
          <a:ln w="12700">
            <a:solidFill>
              <a:srgbClr val="E7DFD0"/>
            </a:solidFill>
            <a:prstDash val="solid"/>
          </a:ln>
        </p:spPr>
      </p:sp>
      <p:sp>
        <p:nvSpPr>
          <p:cNvPr id="26" name="Text 24"/>
          <p:cNvSpPr/>
          <p:nvPr/>
        </p:nvSpPr>
        <p:spPr>
          <a:xfrm>
            <a:off x="5751576" y="3922776"/>
            <a:ext cx="2578608" cy="566928"/>
          </a:xfrm>
          <a:prstGeom prst="rect">
            <a:avLst/>
          </a:prstGeom>
          <a:noFill/>
          <a:ln/>
        </p:spPr>
        <p:txBody>
          <a:bodyPr wrap="square" lIns="0" tIns="0" rIns="0" bIns="0" rtlCol="0" anchor="ctr">
            <a:normAutofit/>
          </a:bodyPr>
          <a:lstStyle/>
          <a:p>
            <a:pPr indent="0" marL="0">
              <a:buNone/>
            </a:pPr>
            <a:r>
              <a:rPr lang="en-US" sz="1000" dirty="0">
                <a:solidFill>
                  <a:srgbClr val="24303F"/>
                </a:solidFill>
              </a:rPr>
              <a:t>Certificate template generation</a:t>
            </a:r>
            <a:endParaRPr lang="en-US" sz="1000" dirty="0"/>
          </a:p>
        </p:txBody>
      </p:sp>
      <p:sp>
        <p:nvSpPr>
          <p:cNvPr id="27" name="Shape 25"/>
          <p:cNvSpPr/>
          <p:nvPr/>
        </p:nvSpPr>
        <p:spPr>
          <a:xfrm>
            <a:off x="8366760" y="3886200"/>
            <a:ext cx="2697480" cy="640080"/>
          </a:xfrm>
          <a:prstGeom prst="rect">
            <a:avLst/>
          </a:prstGeom>
          <a:solidFill>
            <a:srgbClr val="FFFFFF"/>
          </a:solidFill>
          <a:ln w="12700">
            <a:solidFill>
              <a:srgbClr val="E7DFD0"/>
            </a:solidFill>
            <a:prstDash val="solid"/>
          </a:ln>
        </p:spPr>
      </p:sp>
      <p:sp>
        <p:nvSpPr>
          <p:cNvPr id="28" name="Text 26"/>
          <p:cNvSpPr/>
          <p:nvPr/>
        </p:nvSpPr>
        <p:spPr>
          <a:xfrm>
            <a:off x="8403336" y="3922776"/>
            <a:ext cx="2624328" cy="566928"/>
          </a:xfrm>
          <a:prstGeom prst="rect">
            <a:avLst/>
          </a:prstGeom>
          <a:noFill/>
          <a:ln/>
        </p:spPr>
        <p:txBody>
          <a:bodyPr wrap="square" lIns="0" tIns="0" rIns="0" bIns="0" rtlCol="0" anchor="ctr">
            <a:normAutofit/>
          </a:bodyPr>
          <a:lstStyle/>
          <a:p>
            <a:pPr indent="0" marL="0">
              <a:buNone/>
            </a:pPr>
            <a:r>
              <a:rPr lang="en-US" sz="1000" dirty="0">
                <a:solidFill>
                  <a:srgbClr val="24303F"/>
                </a:solidFill>
              </a:rPr>
              <a:t>Final approval if data conflicts</a:t>
            </a:r>
            <a:endParaRPr lang="en-US" sz="1000" dirty="0"/>
          </a:p>
        </p:txBody>
      </p:sp>
      <p:sp>
        <p:nvSpPr>
          <p:cNvPr id="29" name="Text 27"/>
          <p:cNvSpPr/>
          <p:nvPr/>
        </p:nvSpPr>
        <p:spPr>
          <a:xfrm>
            <a:off x="11384280" y="6428232"/>
            <a:ext cx="320040" cy="109728"/>
          </a:xfrm>
          <a:prstGeom prst="rect">
            <a:avLst/>
          </a:prstGeom>
          <a:noFill/>
          <a:ln/>
        </p:spPr>
        <p:txBody>
          <a:bodyPr wrap="square" lIns="0" tIns="0" rIns="0" bIns="0" rtlCol="0" anchor="ctr"/>
          <a:lstStyle/>
          <a:p>
            <a:pPr algn="r" indent="0" marL="0">
              <a:buNone/>
            </a:pPr>
            <a:r>
              <a:rPr lang="en-US" sz="700" dirty="0">
                <a:solidFill>
                  <a:srgbClr val="FFFFFF"/>
                </a:solidFill>
              </a:rPr>
              <a:t>05</a:t>
            </a:r>
            <a:endParaRPr lang="en-US" sz="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3EA"/>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4213D"/>
          </a:solidFill>
          <a:ln w="12700">
            <a:solidFill>
              <a:srgbClr val="14213D">
                <a:alpha val="0"/>
              </a:srgbClr>
            </a:solidFill>
            <a:prstDash val="solid"/>
          </a:ln>
        </p:spPr>
      </p:sp>
      <p:sp>
        <p:nvSpPr>
          <p:cNvPr id="3" name="Shape 1"/>
          <p:cNvSpPr/>
          <p:nvPr/>
        </p:nvSpPr>
        <p:spPr>
          <a:xfrm>
            <a:off x="0" y="6693408"/>
            <a:ext cx="12191695" cy="164592"/>
          </a:xfrm>
          <a:prstGeom prst="rect">
            <a:avLst/>
          </a:prstGeom>
          <a:solidFill>
            <a:srgbClr val="14213D"/>
          </a:solidFill>
          <a:ln w="12700">
            <a:solidFill>
              <a:srgbClr val="14213D">
                <a:alpha val="0"/>
              </a:srgbClr>
            </a:solidFill>
            <a:prstDash val="solid"/>
          </a:ln>
        </p:spPr>
      </p:sp>
      <p:sp>
        <p:nvSpPr>
          <p:cNvPr id="4" name="Text 2"/>
          <p:cNvSpPr/>
          <p:nvPr/>
        </p:nvSpPr>
        <p:spPr>
          <a:xfrm>
            <a:off x="502920" y="256032"/>
            <a:ext cx="4480560" cy="164592"/>
          </a:xfrm>
          <a:prstGeom prst="rect">
            <a:avLst/>
          </a:prstGeom>
          <a:noFill/>
          <a:ln/>
        </p:spPr>
        <p:txBody>
          <a:bodyPr wrap="square" lIns="0" tIns="0" rIns="0" bIns="0" rtlCol="0" anchor="ctr"/>
          <a:lstStyle/>
          <a:p>
            <a:pPr indent="0" marL="0">
              <a:buNone/>
            </a:pPr>
            <a:r>
              <a:rPr lang="en-US" sz="700" b="1" dirty="0">
                <a:solidFill>
                  <a:srgbClr val="2A9D8F"/>
                </a:solidFill>
                <a:latin typeface="Aptos" pitchFamily="34" charset="0"/>
                <a:ea typeface="Aptos" pitchFamily="34" charset="-122"/>
                <a:cs typeface="Aptos" pitchFamily="34" charset="-120"/>
              </a:rPr>
              <a:t>SECTION 1</a:t>
            </a:r>
            <a:endParaRPr lang="en-US" sz="700" dirty="0"/>
          </a:p>
        </p:txBody>
      </p:sp>
      <p:sp>
        <p:nvSpPr>
          <p:cNvPr id="5" name="Text 3"/>
          <p:cNvSpPr/>
          <p:nvPr/>
        </p:nvSpPr>
        <p:spPr>
          <a:xfrm>
            <a:off x="9281160" y="219456"/>
            <a:ext cx="2423160" cy="182880"/>
          </a:xfrm>
          <a:prstGeom prst="rect">
            <a:avLst/>
          </a:prstGeom>
          <a:noFill/>
          <a:ln/>
        </p:spPr>
        <p:txBody>
          <a:bodyPr wrap="square" lIns="0" tIns="0" rIns="0" bIns="0" rtlCol="0" anchor="ctr"/>
          <a:lstStyle/>
          <a:p>
            <a:pPr algn="r" indent="0" marL="0">
              <a:buNone/>
            </a:pPr>
            <a:r>
              <a:rPr lang="en-US" sz="700" dirty="0">
                <a:solidFill>
                  <a:srgbClr val="6D7886"/>
                </a:solidFill>
              </a:rPr>
              <a:t>Jifunze.ai skill booster</a:t>
            </a:r>
            <a:endParaRPr lang="en-US" sz="700" dirty="0"/>
          </a:p>
        </p:txBody>
      </p:sp>
      <p:sp>
        <p:nvSpPr>
          <p:cNvPr id="6" name="Text 4"/>
          <p:cNvSpPr/>
          <p:nvPr/>
        </p:nvSpPr>
        <p:spPr>
          <a:xfrm>
            <a:off x="502920" y="502920"/>
            <a:ext cx="4617720" cy="475488"/>
          </a:xfrm>
          <a:prstGeom prst="rect">
            <a:avLst/>
          </a:prstGeom>
          <a:noFill/>
          <a:ln/>
        </p:spPr>
        <p:txBody>
          <a:bodyPr wrap="square" lIns="127" tIns="127" rIns="127" bIns="127" rtlCol="0" anchor="ctr">
            <a:normAutofit/>
          </a:bodyPr>
          <a:lstStyle/>
          <a:p>
            <a:pPr indent="0" marL="0">
              <a:buNone/>
            </a:pPr>
            <a:r>
              <a:rPr lang="en-US" sz="2500" b="1" dirty="0">
                <a:solidFill>
                  <a:srgbClr val="14213D"/>
                </a:solidFill>
                <a:latin typeface="Aptos Display" pitchFamily="34" charset="0"/>
                <a:ea typeface="Aptos Display" pitchFamily="34" charset="-122"/>
                <a:cs typeface="Aptos Display" pitchFamily="34" charset="-120"/>
              </a:rPr>
              <a:t>The automation thinking cycle</a:t>
            </a:r>
            <a:endParaRPr lang="en-US" sz="2500" dirty="0"/>
          </a:p>
        </p:txBody>
      </p:sp>
      <p:sp>
        <p:nvSpPr>
          <p:cNvPr id="7" name="Text 5"/>
          <p:cNvSpPr/>
          <p:nvPr/>
        </p:nvSpPr>
        <p:spPr>
          <a:xfrm>
            <a:off x="521208" y="1005840"/>
            <a:ext cx="4617720" cy="228600"/>
          </a:xfrm>
          <a:prstGeom prst="rect">
            <a:avLst/>
          </a:prstGeom>
          <a:noFill/>
          <a:ln/>
        </p:spPr>
        <p:txBody>
          <a:bodyPr wrap="square" lIns="0" tIns="0" rIns="0" bIns="0" rtlCol="0" anchor="ctr">
            <a:normAutofit/>
          </a:bodyPr>
          <a:lstStyle/>
          <a:p>
            <a:pPr indent="0" marL="0">
              <a:buNone/>
            </a:pPr>
            <a:r>
              <a:rPr lang="en-US" sz="1080" dirty="0">
                <a:solidFill>
                  <a:srgbClr val="24303F"/>
                </a:solidFill>
              </a:rPr>
              <a:t>A repeatable method for business improvement</a:t>
            </a:r>
            <a:endParaRPr lang="en-US" sz="1080" dirty="0"/>
          </a:p>
        </p:txBody>
      </p:sp>
      <p:sp>
        <p:nvSpPr>
          <p:cNvPr id="8" name="Text 6"/>
          <p:cNvSpPr/>
          <p:nvPr/>
        </p:nvSpPr>
        <p:spPr>
          <a:xfrm>
            <a:off x="594360" y="1417320"/>
            <a:ext cx="4617720" cy="4343400"/>
          </a:xfrm>
          <a:prstGeom prst="rect">
            <a:avLst/>
          </a:prstGeom>
          <a:noFill/>
          <a:ln/>
        </p:spPr>
        <p:txBody>
          <a:bodyPr wrap="square" lIns="635" tIns="635" rIns="635" bIns="635" rtlCol="0" anchor="ctr">
            <a:normAutofit/>
          </a:bodyPr>
          <a:lstStyle/>
          <a:p>
            <a:r>
              <a:rPr lang="en-US" sz="1450" dirty="0">
                <a:solidFill>
                  <a:srgbClr val="24303F"/>
                </a:solidFill>
              </a:rPr>
              <a:t>• Map the process</a:t>
            </a:r>
            <a:endParaRPr lang="en-US" sz="1450" dirty="0"/>
          </a:p>
          <a:p>
            <a:r>
              <a:rPr lang="en-US" sz="1450" dirty="0">
                <a:solidFill>
                  <a:srgbClr val="24303F"/>
                </a:solidFill>
              </a:rPr>
              <a:t>• Measure workload, cost, delay, and errors</a:t>
            </a:r>
            <a:endParaRPr lang="en-US" sz="1450" dirty="0"/>
          </a:p>
          <a:p>
            <a:r>
              <a:rPr lang="en-US" sz="1450" dirty="0">
                <a:solidFill>
                  <a:srgbClr val="24303F"/>
                </a:solidFill>
              </a:rPr>
              <a:t>• Prioritize with impact, effort, and risk</a:t>
            </a:r>
            <a:endParaRPr lang="en-US" sz="1450" dirty="0"/>
          </a:p>
          <a:p>
            <a:r>
              <a:rPr lang="en-US" sz="1450" dirty="0">
                <a:solidFill>
                  <a:srgbClr val="24303F"/>
                </a:solidFill>
              </a:rPr>
              <a:t>• Design controls and exception paths</a:t>
            </a:r>
            <a:endParaRPr lang="en-US" sz="1450" dirty="0"/>
          </a:p>
          <a:p>
            <a:r>
              <a:rPr lang="en-US" sz="1450" dirty="0">
                <a:solidFill>
                  <a:srgbClr val="24303F"/>
                </a:solidFill>
              </a:rPr>
              <a:t>• Implement in phases and measure results</a:t>
            </a:r>
            <a:endParaRPr lang="en-US" sz="1450" dirty="0"/>
          </a:p>
        </p:txBody>
      </p:sp>
      <p:sp>
        <p:nvSpPr>
          <p:cNvPr id="9" name="Shape 7"/>
          <p:cNvSpPr/>
          <p:nvPr/>
        </p:nvSpPr>
        <p:spPr>
          <a:xfrm>
            <a:off x="7726680" y="1527048"/>
            <a:ext cx="1005840" cy="502920"/>
          </a:xfrm>
          <a:prstGeom prst="roundRect">
            <a:avLst>
              <a:gd name="adj" fmla="val 14545"/>
            </a:avLst>
          </a:prstGeom>
          <a:solidFill>
            <a:srgbClr val="FDFBF5"/>
          </a:solidFill>
          <a:ln w="12700">
            <a:solidFill>
              <a:srgbClr val="C9A44C"/>
            </a:solidFill>
            <a:prstDash val="solid"/>
          </a:ln>
        </p:spPr>
      </p:sp>
      <p:sp>
        <p:nvSpPr>
          <p:cNvPr id="10" name="Text 8"/>
          <p:cNvSpPr/>
          <p:nvPr/>
        </p:nvSpPr>
        <p:spPr>
          <a:xfrm>
            <a:off x="7836408" y="1618488"/>
            <a:ext cx="786384" cy="338328"/>
          </a:xfrm>
          <a:prstGeom prst="rect">
            <a:avLst/>
          </a:prstGeom>
          <a:noFill/>
          <a:ln/>
        </p:spPr>
        <p:txBody>
          <a:bodyPr wrap="square" lIns="127" tIns="127" rIns="127" bIns="127" rtlCol="0" anchor="ctr">
            <a:normAutofit/>
          </a:bodyPr>
          <a:lstStyle/>
          <a:p>
            <a:pPr indent="0" marL="0">
              <a:buNone/>
            </a:pPr>
            <a:r>
              <a:rPr lang="en-US" sz="1200" b="1" dirty="0">
                <a:solidFill>
                  <a:srgbClr val="24303F"/>
                </a:solidFill>
              </a:rPr>
              <a:t>Map</a:t>
            </a:r>
            <a:endParaRPr lang="en-US" sz="1200" dirty="0"/>
          </a:p>
        </p:txBody>
      </p:sp>
      <p:sp>
        <p:nvSpPr>
          <p:cNvPr id="11" name="Shape 9"/>
          <p:cNvSpPr/>
          <p:nvPr/>
        </p:nvSpPr>
        <p:spPr>
          <a:xfrm>
            <a:off x="9161596" y="2569576"/>
            <a:ext cx="1005840" cy="502920"/>
          </a:xfrm>
          <a:prstGeom prst="roundRect">
            <a:avLst>
              <a:gd name="adj" fmla="val 14545"/>
            </a:avLst>
          </a:prstGeom>
          <a:solidFill>
            <a:srgbClr val="FFFFFF"/>
          </a:solidFill>
          <a:ln w="12700">
            <a:solidFill>
              <a:srgbClr val="C9A44C"/>
            </a:solidFill>
            <a:prstDash val="solid"/>
          </a:ln>
        </p:spPr>
      </p:sp>
      <p:sp>
        <p:nvSpPr>
          <p:cNvPr id="12" name="Text 10"/>
          <p:cNvSpPr/>
          <p:nvPr/>
        </p:nvSpPr>
        <p:spPr>
          <a:xfrm>
            <a:off x="9271324" y="2661016"/>
            <a:ext cx="786384" cy="338328"/>
          </a:xfrm>
          <a:prstGeom prst="rect">
            <a:avLst/>
          </a:prstGeom>
          <a:noFill/>
          <a:ln/>
        </p:spPr>
        <p:txBody>
          <a:bodyPr wrap="square" lIns="127" tIns="127" rIns="127" bIns="127" rtlCol="0" anchor="ctr">
            <a:normAutofit/>
          </a:bodyPr>
          <a:lstStyle/>
          <a:p>
            <a:pPr indent="0" marL="0">
              <a:buNone/>
            </a:pPr>
            <a:r>
              <a:rPr lang="en-US" sz="1200" b="1" dirty="0">
                <a:solidFill>
                  <a:srgbClr val="24303F"/>
                </a:solidFill>
              </a:rPr>
              <a:t>Measure</a:t>
            </a:r>
            <a:endParaRPr lang="en-US" sz="1200" dirty="0"/>
          </a:p>
        </p:txBody>
      </p:sp>
      <p:sp>
        <p:nvSpPr>
          <p:cNvPr id="13" name="Shape 11"/>
          <p:cNvSpPr/>
          <p:nvPr/>
        </p:nvSpPr>
        <p:spPr>
          <a:xfrm>
            <a:off x="8613507" y="4256420"/>
            <a:ext cx="1005840" cy="502920"/>
          </a:xfrm>
          <a:prstGeom prst="roundRect">
            <a:avLst>
              <a:gd name="adj" fmla="val 14545"/>
            </a:avLst>
          </a:prstGeom>
          <a:solidFill>
            <a:srgbClr val="FDFBF5"/>
          </a:solidFill>
          <a:ln w="12700">
            <a:solidFill>
              <a:srgbClr val="C9A44C"/>
            </a:solidFill>
            <a:prstDash val="solid"/>
          </a:ln>
        </p:spPr>
      </p:sp>
      <p:sp>
        <p:nvSpPr>
          <p:cNvPr id="14" name="Text 12"/>
          <p:cNvSpPr/>
          <p:nvPr/>
        </p:nvSpPr>
        <p:spPr>
          <a:xfrm>
            <a:off x="8723235" y="4347860"/>
            <a:ext cx="786384" cy="338328"/>
          </a:xfrm>
          <a:prstGeom prst="rect">
            <a:avLst/>
          </a:prstGeom>
          <a:noFill/>
          <a:ln/>
        </p:spPr>
        <p:txBody>
          <a:bodyPr wrap="square" lIns="127" tIns="127" rIns="127" bIns="127" rtlCol="0" anchor="ctr">
            <a:normAutofit/>
          </a:bodyPr>
          <a:lstStyle/>
          <a:p>
            <a:pPr indent="0" marL="0">
              <a:buNone/>
            </a:pPr>
            <a:r>
              <a:rPr lang="en-US" sz="1200" b="1" dirty="0">
                <a:solidFill>
                  <a:srgbClr val="24303F"/>
                </a:solidFill>
              </a:rPr>
              <a:t>Prioritize</a:t>
            </a:r>
            <a:endParaRPr lang="en-US" sz="1200" dirty="0"/>
          </a:p>
        </p:txBody>
      </p:sp>
      <p:sp>
        <p:nvSpPr>
          <p:cNvPr id="15" name="Shape 13"/>
          <p:cNvSpPr/>
          <p:nvPr/>
        </p:nvSpPr>
        <p:spPr>
          <a:xfrm>
            <a:off x="6839853" y="4256420"/>
            <a:ext cx="1005840" cy="502920"/>
          </a:xfrm>
          <a:prstGeom prst="roundRect">
            <a:avLst>
              <a:gd name="adj" fmla="val 14545"/>
            </a:avLst>
          </a:prstGeom>
          <a:solidFill>
            <a:srgbClr val="FFFFFF"/>
          </a:solidFill>
          <a:ln w="12700">
            <a:solidFill>
              <a:srgbClr val="C9A44C"/>
            </a:solidFill>
            <a:prstDash val="solid"/>
          </a:ln>
        </p:spPr>
      </p:sp>
      <p:sp>
        <p:nvSpPr>
          <p:cNvPr id="16" name="Text 14"/>
          <p:cNvSpPr/>
          <p:nvPr/>
        </p:nvSpPr>
        <p:spPr>
          <a:xfrm>
            <a:off x="6949581" y="4347860"/>
            <a:ext cx="786384" cy="338328"/>
          </a:xfrm>
          <a:prstGeom prst="rect">
            <a:avLst/>
          </a:prstGeom>
          <a:noFill/>
          <a:ln/>
        </p:spPr>
        <p:txBody>
          <a:bodyPr wrap="square" lIns="127" tIns="127" rIns="127" bIns="127" rtlCol="0" anchor="ctr">
            <a:normAutofit/>
          </a:bodyPr>
          <a:lstStyle/>
          <a:p>
            <a:pPr indent="0" marL="0">
              <a:buNone/>
            </a:pPr>
            <a:r>
              <a:rPr lang="en-US" sz="1200" b="1" dirty="0">
                <a:solidFill>
                  <a:srgbClr val="24303F"/>
                </a:solidFill>
              </a:rPr>
              <a:t>Control</a:t>
            </a:r>
            <a:endParaRPr lang="en-US" sz="1200" dirty="0"/>
          </a:p>
        </p:txBody>
      </p:sp>
      <p:sp>
        <p:nvSpPr>
          <p:cNvPr id="17" name="Shape 15"/>
          <p:cNvSpPr/>
          <p:nvPr/>
        </p:nvSpPr>
        <p:spPr>
          <a:xfrm>
            <a:off x="6291764" y="2569576"/>
            <a:ext cx="1005840" cy="502920"/>
          </a:xfrm>
          <a:prstGeom prst="roundRect">
            <a:avLst>
              <a:gd name="adj" fmla="val 14545"/>
            </a:avLst>
          </a:prstGeom>
          <a:solidFill>
            <a:srgbClr val="FDFBF5"/>
          </a:solidFill>
          <a:ln w="12700">
            <a:solidFill>
              <a:srgbClr val="C9A44C"/>
            </a:solidFill>
            <a:prstDash val="solid"/>
          </a:ln>
        </p:spPr>
      </p:sp>
      <p:sp>
        <p:nvSpPr>
          <p:cNvPr id="18" name="Text 16"/>
          <p:cNvSpPr/>
          <p:nvPr/>
        </p:nvSpPr>
        <p:spPr>
          <a:xfrm>
            <a:off x="6401492" y="2661016"/>
            <a:ext cx="786384" cy="338328"/>
          </a:xfrm>
          <a:prstGeom prst="rect">
            <a:avLst/>
          </a:prstGeom>
          <a:noFill/>
          <a:ln/>
        </p:spPr>
        <p:txBody>
          <a:bodyPr wrap="square" lIns="127" tIns="127" rIns="127" bIns="127" rtlCol="0" anchor="ctr">
            <a:normAutofit/>
          </a:bodyPr>
          <a:lstStyle/>
          <a:p>
            <a:pPr indent="0" marL="0">
              <a:buNone/>
            </a:pPr>
            <a:r>
              <a:rPr lang="en-US" sz="1200" b="1" dirty="0">
                <a:solidFill>
                  <a:srgbClr val="24303F"/>
                </a:solidFill>
              </a:rPr>
              <a:t>Improve</a:t>
            </a:r>
            <a:endParaRPr lang="en-US" sz="1200" dirty="0"/>
          </a:p>
        </p:txBody>
      </p:sp>
      <p:sp>
        <p:nvSpPr>
          <p:cNvPr id="19" name="Shape 17"/>
          <p:cNvSpPr/>
          <p:nvPr/>
        </p:nvSpPr>
        <p:spPr>
          <a:xfrm>
            <a:off x="6858000" y="1920240"/>
            <a:ext cx="2743200" cy="2743200"/>
          </a:xfrm>
          <a:prstGeom prst="ellipse">
            <a:avLst/>
          </a:prstGeom>
          <a:solidFill>
            <a:srgbClr val="FFFFFF">
              <a:alpha val="0"/>
            </a:srgbClr>
          </a:solidFill>
          <a:ln w="12700">
            <a:solidFill>
              <a:srgbClr val="2A9D8F"/>
            </a:solidFill>
            <a:prstDash val="solid"/>
          </a:ln>
        </p:spPr>
      </p:sp>
      <p:sp>
        <p:nvSpPr>
          <p:cNvPr id="20" name="Text 18"/>
          <p:cNvSpPr/>
          <p:nvPr/>
        </p:nvSpPr>
        <p:spPr>
          <a:xfrm>
            <a:off x="11384280" y="6428232"/>
            <a:ext cx="320040" cy="109728"/>
          </a:xfrm>
          <a:prstGeom prst="rect">
            <a:avLst/>
          </a:prstGeom>
          <a:noFill/>
          <a:ln/>
        </p:spPr>
        <p:txBody>
          <a:bodyPr wrap="square" lIns="0" tIns="0" rIns="0" bIns="0" rtlCol="0" anchor="ctr"/>
          <a:lstStyle/>
          <a:p>
            <a:pPr algn="r" indent="0" marL="0">
              <a:buNone/>
            </a:pPr>
            <a:r>
              <a:rPr lang="en-US" sz="700" dirty="0">
                <a:solidFill>
                  <a:srgbClr val="FFFFFF"/>
                </a:solidFill>
              </a:rPr>
              <a:t>06</a:t>
            </a:r>
            <a:endParaRPr lang="en-US" sz="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3EA"/>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4213D"/>
          </a:solidFill>
          <a:ln w="12700">
            <a:solidFill>
              <a:srgbClr val="14213D">
                <a:alpha val="0"/>
              </a:srgbClr>
            </a:solidFill>
            <a:prstDash val="solid"/>
          </a:ln>
        </p:spPr>
      </p:sp>
      <p:sp>
        <p:nvSpPr>
          <p:cNvPr id="3" name="Shape 1"/>
          <p:cNvSpPr/>
          <p:nvPr/>
        </p:nvSpPr>
        <p:spPr>
          <a:xfrm>
            <a:off x="0" y="6693408"/>
            <a:ext cx="12191695" cy="164592"/>
          </a:xfrm>
          <a:prstGeom prst="rect">
            <a:avLst/>
          </a:prstGeom>
          <a:solidFill>
            <a:srgbClr val="14213D"/>
          </a:solidFill>
          <a:ln w="12700">
            <a:solidFill>
              <a:srgbClr val="14213D">
                <a:alpha val="0"/>
              </a:srgbClr>
            </a:solidFill>
            <a:prstDash val="solid"/>
          </a:ln>
        </p:spPr>
      </p:sp>
      <p:sp>
        <p:nvSpPr>
          <p:cNvPr id="4" name="Text 2"/>
          <p:cNvSpPr/>
          <p:nvPr/>
        </p:nvSpPr>
        <p:spPr>
          <a:xfrm>
            <a:off x="502920" y="256032"/>
            <a:ext cx="4480560" cy="164592"/>
          </a:xfrm>
          <a:prstGeom prst="rect">
            <a:avLst/>
          </a:prstGeom>
          <a:noFill/>
          <a:ln/>
        </p:spPr>
        <p:txBody>
          <a:bodyPr wrap="square" lIns="0" tIns="0" rIns="0" bIns="0" rtlCol="0" anchor="ctr"/>
          <a:lstStyle/>
          <a:p>
            <a:pPr indent="0" marL="0">
              <a:buNone/>
            </a:pPr>
            <a:r>
              <a:rPr lang="en-US" sz="700" b="1" dirty="0">
                <a:solidFill>
                  <a:srgbClr val="2A9D8F"/>
                </a:solidFill>
                <a:latin typeface="Aptos" pitchFamily="34" charset="0"/>
                <a:ea typeface="Aptos" pitchFamily="34" charset="-122"/>
                <a:cs typeface="Aptos" pitchFamily="34" charset="-120"/>
              </a:rPr>
              <a:t>SECTION 1</a:t>
            </a:r>
            <a:endParaRPr lang="en-US" sz="700" dirty="0"/>
          </a:p>
        </p:txBody>
      </p:sp>
      <p:sp>
        <p:nvSpPr>
          <p:cNvPr id="5" name="Text 3"/>
          <p:cNvSpPr/>
          <p:nvPr/>
        </p:nvSpPr>
        <p:spPr>
          <a:xfrm>
            <a:off x="9281160" y="219456"/>
            <a:ext cx="2423160" cy="182880"/>
          </a:xfrm>
          <a:prstGeom prst="rect">
            <a:avLst/>
          </a:prstGeom>
          <a:noFill/>
          <a:ln/>
        </p:spPr>
        <p:txBody>
          <a:bodyPr wrap="square" lIns="0" tIns="0" rIns="0" bIns="0" rtlCol="0" anchor="ctr"/>
          <a:lstStyle/>
          <a:p>
            <a:pPr algn="r" indent="0" marL="0">
              <a:buNone/>
            </a:pPr>
            <a:r>
              <a:rPr lang="en-US" sz="700" dirty="0">
                <a:solidFill>
                  <a:srgbClr val="6D7886"/>
                </a:solidFill>
              </a:rPr>
              <a:t>Jifunze.ai skill booster</a:t>
            </a:r>
            <a:endParaRPr lang="en-US" sz="700" dirty="0"/>
          </a:p>
        </p:txBody>
      </p:sp>
      <p:sp>
        <p:nvSpPr>
          <p:cNvPr id="6" name="Text 4"/>
          <p:cNvSpPr/>
          <p:nvPr/>
        </p:nvSpPr>
        <p:spPr>
          <a:xfrm>
            <a:off x="502920" y="502920"/>
            <a:ext cx="4617720" cy="475488"/>
          </a:xfrm>
          <a:prstGeom prst="rect">
            <a:avLst/>
          </a:prstGeom>
          <a:noFill/>
          <a:ln/>
        </p:spPr>
        <p:txBody>
          <a:bodyPr wrap="square" lIns="127" tIns="127" rIns="127" bIns="127" rtlCol="0" anchor="ctr">
            <a:normAutofit/>
          </a:bodyPr>
          <a:lstStyle/>
          <a:p>
            <a:pPr indent="0" marL="0">
              <a:buNone/>
            </a:pPr>
            <a:r>
              <a:rPr lang="en-US" sz="2500" b="1" dirty="0">
                <a:solidFill>
                  <a:srgbClr val="14213D"/>
                </a:solidFill>
                <a:latin typeface="Aptos Display" pitchFamily="34" charset="0"/>
                <a:ea typeface="Aptos Display" pitchFamily="34" charset="-122"/>
                <a:cs typeface="Aptos Display" pitchFamily="34" charset="-120"/>
              </a:rPr>
              <a:t>Meet BrightPath Training Center</a:t>
            </a:r>
            <a:endParaRPr lang="en-US" sz="2500" dirty="0"/>
          </a:p>
        </p:txBody>
      </p:sp>
      <p:sp>
        <p:nvSpPr>
          <p:cNvPr id="7" name="Text 5"/>
          <p:cNvSpPr/>
          <p:nvPr/>
        </p:nvSpPr>
        <p:spPr>
          <a:xfrm>
            <a:off x="521208" y="1005840"/>
            <a:ext cx="4617720" cy="228600"/>
          </a:xfrm>
          <a:prstGeom prst="rect">
            <a:avLst/>
          </a:prstGeom>
          <a:noFill/>
          <a:ln/>
        </p:spPr>
        <p:txBody>
          <a:bodyPr wrap="square" lIns="0" tIns="0" rIns="0" bIns="0" rtlCol="0" anchor="ctr">
            <a:normAutofit/>
          </a:bodyPr>
          <a:lstStyle/>
          <a:p>
            <a:pPr indent="0" marL="0">
              <a:buNone/>
            </a:pPr>
            <a:r>
              <a:rPr lang="en-US" sz="1080" dirty="0">
                <a:solidFill>
                  <a:srgbClr val="24303F"/>
                </a:solidFill>
              </a:rPr>
              <a:t>Connected case study used throughout the course</a:t>
            </a:r>
            <a:endParaRPr lang="en-US" sz="1080" dirty="0"/>
          </a:p>
        </p:txBody>
      </p:sp>
      <p:sp>
        <p:nvSpPr>
          <p:cNvPr id="8" name="Text 6"/>
          <p:cNvSpPr/>
          <p:nvPr/>
        </p:nvSpPr>
        <p:spPr>
          <a:xfrm>
            <a:off x="594360" y="1417320"/>
            <a:ext cx="4617720" cy="4343400"/>
          </a:xfrm>
          <a:prstGeom prst="rect">
            <a:avLst/>
          </a:prstGeom>
          <a:noFill/>
          <a:ln/>
        </p:spPr>
        <p:txBody>
          <a:bodyPr wrap="square" lIns="635" tIns="635" rIns="635" bIns="635" rtlCol="0" anchor="ctr">
            <a:normAutofit/>
          </a:bodyPr>
          <a:lstStyle/>
          <a:p>
            <a:r>
              <a:rPr lang="en-US" sz="1450" dirty="0">
                <a:solidFill>
                  <a:srgbClr val="24303F"/>
                </a:solidFill>
              </a:rPr>
              <a:t>• Small training and certification provider</a:t>
            </a:r>
            <a:endParaRPr lang="en-US" sz="1450" dirty="0"/>
          </a:p>
          <a:p>
            <a:r>
              <a:rPr lang="en-US" sz="1450" dirty="0">
                <a:solidFill>
                  <a:srgbClr val="24303F"/>
                </a:solidFill>
              </a:rPr>
              <a:t>• Receives enquiries and registers learners</a:t>
            </a:r>
            <a:endParaRPr lang="en-US" sz="1450" dirty="0"/>
          </a:p>
          <a:p>
            <a:r>
              <a:rPr lang="en-US" sz="1450" dirty="0">
                <a:solidFill>
                  <a:srgbClr val="24303F"/>
                </a:solidFill>
              </a:rPr>
              <a:t>• Confirms payments and sends class reminders</a:t>
            </a:r>
            <a:endParaRPr lang="en-US" sz="1450" dirty="0"/>
          </a:p>
          <a:p>
            <a:r>
              <a:rPr lang="en-US" sz="1450" dirty="0">
                <a:solidFill>
                  <a:srgbClr val="24303F"/>
                </a:solidFill>
              </a:rPr>
              <a:t>• Tracks attendance, certificates, and feedback</a:t>
            </a:r>
            <a:endParaRPr lang="en-US" sz="1450" dirty="0"/>
          </a:p>
          <a:p>
            <a:r>
              <a:rPr lang="en-US" sz="1450" dirty="0">
                <a:solidFill>
                  <a:srgbClr val="24303F"/>
                </a:solidFill>
              </a:rPr>
              <a:t>• Current tools: email, spreadsheets, WhatsApp, screenshots, notes</a:t>
            </a:r>
            <a:endParaRPr lang="en-US" sz="1450" dirty="0"/>
          </a:p>
        </p:txBody>
      </p:sp>
      <p:sp>
        <p:nvSpPr>
          <p:cNvPr id="9" name="Shape 7"/>
          <p:cNvSpPr/>
          <p:nvPr/>
        </p:nvSpPr>
        <p:spPr>
          <a:xfrm>
            <a:off x="5989320" y="1325880"/>
            <a:ext cx="2926080" cy="502920"/>
          </a:xfrm>
          <a:prstGeom prst="rect">
            <a:avLst/>
          </a:prstGeom>
          <a:solidFill>
            <a:srgbClr val="14213D"/>
          </a:solidFill>
          <a:ln w="12700">
            <a:solidFill>
              <a:srgbClr val="FFFFFF"/>
            </a:solidFill>
            <a:prstDash val="solid"/>
          </a:ln>
        </p:spPr>
      </p:sp>
      <p:sp>
        <p:nvSpPr>
          <p:cNvPr id="10" name="Text 8"/>
          <p:cNvSpPr/>
          <p:nvPr/>
        </p:nvSpPr>
        <p:spPr>
          <a:xfrm>
            <a:off x="6025896" y="1371600"/>
            <a:ext cx="2852928" cy="429768"/>
          </a:xfrm>
          <a:prstGeom prst="rect">
            <a:avLst/>
          </a:prstGeom>
          <a:noFill/>
          <a:ln/>
        </p:spPr>
        <p:txBody>
          <a:bodyPr wrap="square" lIns="0" tIns="0" rIns="0" bIns="0" rtlCol="0" anchor="ctr">
            <a:normAutofit/>
          </a:bodyPr>
          <a:lstStyle/>
          <a:p>
            <a:pPr indent="0" marL="0">
              <a:buNone/>
            </a:pPr>
            <a:r>
              <a:rPr lang="en-US" sz="1000" b="1" dirty="0">
                <a:solidFill>
                  <a:srgbClr val="FFFFFF"/>
                </a:solidFill>
              </a:rPr>
              <a:t>Monthly activity</a:t>
            </a:r>
            <a:endParaRPr lang="en-US" sz="1000" dirty="0"/>
          </a:p>
        </p:txBody>
      </p:sp>
      <p:sp>
        <p:nvSpPr>
          <p:cNvPr id="11" name="Shape 9"/>
          <p:cNvSpPr/>
          <p:nvPr/>
        </p:nvSpPr>
        <p:spPr>
          <a:xfrm>
            <a:off x="8915400" y="1325880"/>
            <a:ext cx="1463040" cy="502920"/>
          </a:xfrm>
          <a:prstGeom prst="rect">
            <a:avLst/>
          </a:prstGeom>
          <a:solidFill>
            <a:srgbClr val="14213D"/>
          </a:solidFill>
          <a:ln w="12700">
            <a:solidFill>
              <a:srgbClr val="FFFFFF"/>
            </a:solidFill>
            <a:prstDash val="solid"/>
          </a:ln>
        </p:spPr>
      </p:sp>
      <p:sp>
        <p:nvSpPr>
          <p:cNvPr id="12" name="Text 10"/>
          <p:cNvSpPr/>
          <p:nvPr/>
        </p:nvSpPr>
        <p:spPr>
          <a:xfrm>
            <a:off x="8951976" y="1371600"/>
            <a:ext cx="1389888" cy="429768"/>
          </a:xfrm>
          <a:prstGeom prst="rect">
            <a:avLst/>
          </a:prstGeom>
          <a:noFill/>
          <a:ln/>
        </p:spPr>
        <p:txBody>
          <a:bodyPr wrap="square" lIns="0" tIns="0" rIns="0" bIns="0" rtlCol="0" anchor="ctr">
            <a:normAutofit/>
          </a:bodyPr>
          <a:lstStyle/>
          <a:p>
            <a:pPr indent="0" marL="0">
              <a:buNone/>
            </a:pPr>
            <a:r>
              <a:rPr lang="en-US" sz="1000" b="1" dirty="0">
                <a:solidFill>
                  <a:srgbClr val="FFFFFF"/>
                </a:solidFill>
              </a:rPr>
              <a:t>Value</a:t>
            </a:r>
            <a:endParaRPr lang="en-US" sz="1000" dirty="0"/>
          </a:p>
        </p:txBody>
      </p:sp>
      <p:sp>
        <p:nvSpPr>
          <p:cNvPr id="13" name="Shape 11"/>
          <p:cNvSpPr/>
          <p:nvPr/>
        </p:nvSpPr>
        <p:spPr>
          <a:xfrm>
            <a:off x="5989320" y="1828800"/>
            <a:ext cx="2926080" cy="502920"/>
          </a:xfrm>
          <a:prstGeom prst="rect">
            <a:avLst/>
          </a:prstGeom>
          <a:solidFill>
            <a:srgbClr val="FDFBF5"/>
          </a:solidFill>
          <a:ln w="12700">
            <a:solidFill>
              <a:srgbClr val="E7DFD0"/>
            </a:solidFill>
            <a:prstDash val="solid"/>
          </a:ln>
        </p:spPr>
      </p:sp>
      <p:sp>
        <p:nvSpPr>
          <p:cNvPr id="14" name="Text 12"/>
          <p:cNvSpPr/>
          <p:nvPr/>
        </p:nvSpPr>
        <p:spPr>
          <a:xfrm>
            <a:off x="6025896" y="1865376"/>
            <a:ext cx="2852928" cy="429768"/>
          </a:xfrm>
          <a:prstGeom prst="rect">
            <a:avLst/>
          </a:prstGeom>
          <a:noFill/>
          <a:ln/>
        </p:spPr>
        <p:txBody>
          <a:bodyPr wrap="square" lIns="0" tIns="0" rIns="0" bIns="0" rtlCol="0" anchor="ctr">
            <a:normAutofit/>
          </a:bodyPr>
          <a:lstStyle/>
          <a:p>
            <a:pPr indent="0" marL="0">
              <a:buNone/>
            </a:pPr>
            <a:r>
              <a:rPr lang="en-US" sz="1000" dirty="0">
                <a:solidFill>
                  <a:srgbClr val="24303F"/>
                </a:solidFill>
              </a:rPr>
              <a:t>New enquiries</a:t>
            </a:r>
            <a:endParaRPr lang="en-US" sz="1000" dirty="0"/>
          </a:p>
        </p:txBody>
      </p:sp>
      <p:sp>
        <p:nvSpPr>
          <p:cNvPr id="15" name="Shape 13"/>
          <p:cNvSpPr/>
          <p:nvPr/>
        </p:nvSpPr>
        <p:spPr>
          <a:xfrm>
            <a:off x="8915400" y="1828800"/>
            <a:ext cx="1463040" cy="502920"/>
          </a:xfrm>
          <a:prstGeom prst="rect">
            <a:avLst/>
          </a:prstGeom>
          <a:solidFill>
            <a:srgbClr val="FDFBF5"/>
          </a:solidFill>
          <a:ln w="12700">
            <a:solidFill>
              <a:srgbClr val="E7DFD0"/>
            </a:solidFill>
            <a:prstDash val="solid"/>
          </a:ln>
        </p:spPr>
      </p:sp>
      <p:sp>
        <p:nvSpPr>
          <p:cNvPr id="16" name="Text 14"/>
          <p:cNvSpPr/>
          <p:nvPr/>
        </p:nvSpPr>
        <p:spPr>
          <a:xfrm>
            <a:off x="8951976" y="1865376"/>
            <a:ext cx="1389888" cy="429768"/>
          </a:xfrm>
          <a:prstGeom prst="rect">
            <a:avLst/>
          </a:prstGeom>
          <a:noFill/>
          <a:ln/>
        </p:spPr>
        <p:txBody>
          <a:bodyPr wrap="square" lIns="0" tIns="0" rIns="0" bIns="0" rtlCol="0" anchor="ctr">
            <a:normAutofit/>
          </a:bodyPr>
          <a:lstStyle/>
          <a:p>
            <a:pPr indent="0" marL="0">
              <a:buNone/>
            </a:pPr>
            <a:r>
              <a:rPr lang="en-US" sz="1000" dirty="0">
                <a:solidFill>
                  <a:srgbClr val="24303F"/>
                </a:solidFill>
              </a:rPr>
              <a:t>120</a:t>
            </a:r>
            <a:endParaRPr lang="en-US" sz="1000" dirty="0"/>
          </a:p>
        </p:txBody>
      </p:sp>
      <p:sp>
        <p:nvSpPr>
          <p:cNvPr id="17" name="Shape 15"/>
          <p:cNvSpPr/>
          <p:nvPr/>
        </p:nvSpPr>
        <p:spPr>
          <a:xfrm>
            <a:off x="5989320" y="2331720"/>
            <a:ext cx="2926080" cy="502920"/>
          </a:xfrm>
          <a:prstGeom prst="rect">
            <a:avLst/>
          </a:prstGeom>
          <a:solidFill>
            <a:srgbClr val="FFFFFF"/>
          </a:solidFill>
          <a:ln w="12700">
            <a:solidFill>
              <a:srgbClr val="E7DFD0"/>
            </a:solidFill>
            <a:prstDash val="solid"/>
          </a:ln>
        </p:spPr>
      </p:sp>
      <p:sp>
        <p:nvSpPr>
          <p:cNvPr id="18" name="Text 16"/>
          <p:cNvSpPr/>
          <p:nvPr/>
        </p:nvSpPr>
        <p:spPr>
          <a:xfrm>
            <a:off x="6025896" y="2368296"/>
            <a:ext cx="2852928" cy="429768"/>
          </a:xfrm>
          <a:prstGeom prst="rect">
            <a:avLst/>
          </a:prstGeom>
          <a:noFill/>
          <a:ln/>
        </p:spPr>
        <p:txBody>
          <a:bodyPr wrap="square" lIns="0" tIns="0" rIns="0" bIns="0" rtlCol="0" anchor="ctr">
            <a:normAutofit/>
          </a:bodyPr>
          <a:lstStyle/>
          <a:p>
            <a:pPr indent="0" marL="0">
              <a:buNone/>
            </a:pPr>
            <a:r>
              <a:rPr lang="en-US" sz="1000" dirty="0">
                <a:solidFill>
                  <a:srgbClr val="24303F"/>
                </a:solidFill>
              </a:rPr>
              <a:t>Registrations</a:t>
            </a:r>
            <a:endParaRPr lang="en-US" sz="1000" dirty="0"/>
          </a:p>
        </p:txBody>
      </p:sp>
      <p:sp>
        <p:nvSpPr>
          <p:cNvPr id="19" name="Shape 17"/>
          <p:cNvSpPr/>
          <p:nvPr/>
        </p:nvSpPr>
        <p:spPr>
          <a:xfrm>
            <a:off x="8915400" y="2331720"/>
            <a:ext cx="1463040" cy="502920"/>
          </a:xfrm>
          <a:prstGeom prst="rect">
            <a:avLst/>
          </a:prstGeom>
          <a:solidFill>
            <a:srgbClr val="FFFFFF"/>
          </a:solidFill>
          <a:ln w="12700">
            <a:solidFill>
              <a:srgbClr val="E7DFD0"/>
            </a:solidFill>
            <a:prstDash val="solid"/>
          </a:ln>
        </p:spPr>
      </p:sp>
      <p:sp>
        <p:nvSpPr>
          <p:cNvPr id="20" name="Text 18"/>
          <p:cNvSpPr/>
          <p:nvPr/>
        </p:nvSpPr>
        <p:spPr>
          <a:xfrm>
            <a:off x="8951976" y="2368296"/>
            <a:ext cx="1389888" cy="429768"/>
          </a:xfrm>
          <a:prstGeom prst="rect">
            <a:avLst/>
          </a:prstGeom>
          <a:noFill/>
          <a:ln/>
        </p:spPr>
        <p:txBody>
          <a:bodyPr wrap="square" lIns="0" tIns="0" rIns="0" bIns="0" rtlCol="0" anchor="ctr">
            <a:normAutofit/>
          </a:bodyPr>
          <a:lstStyle/>
          <a:p>
            <a:pPr indent="0" marL="0">
              <a:buNone/>
            </a:pPr>
            <a:r>
              <a:rPr lang="en-US" sz="1000" dirty="0">
                <a:solidFill>
                  <a:srgbClr val="24303F"/>
                </a:solidFill>
              </a:rPr>
              <a:t>72</a:t>
            </a:r>
            <a:endParaRPr lang="en-US" sz="1000" dirty="0"/>
          </a:p>
        </p:txBody>
      </p:sp>
      <p:sp>
        <p:nvSpPr>
          <p:cNvPr id="21" name="Shape 19"/>
          <p:cNvSpPr/>
          <p:nvPr/>
        </p:nvSpPr>
        <p:spPr>
          <a:xfrm>
            <a:off x="5989320" y="2834640"/>
            <a:ext cx="2926080" cy="502920"/>
          </a:xfrm>
          <a:prstGeom prst="rect">
            <a:avLst/>
          </a:prstGeom>
          <a:solidFill>
            <a:srgbClr val="FDFBF5"/>
          </a:solidFill>
          <a:ln w="12700">
            <a:solidFill>
              <a:srgbClr val="E7DFD0"/>
            </a:solidFill>
            <a:prstDash val="solid"/>
          </a:ln>
        </p:spPr>
      </p:sp>
      <p:sp>
        <p:nvSpPr>
          <p:cNvPr id="22" name="Text 20"/>
          <p:cNvSpPr/>
          <p:nvPr/>
        </p:nvSpPr>
        <p:spPr>
          <a:xfrm>
            <a:off x="6025896" y="2871216"/>
            <a:ext cx="2852928" cy="429768"/>
          </a:xfrm>
          <a:prstGeom prst="rect">
            <a:avLst/>
          </a:prstGeom>
          <a:noFill/>
          <a:ln/>
        </p:spPr>
        <p:txBody>
          <a:bodyPr wrap="square" lIns="0" tIns="0" rIns="0" bIns="0" rtlCol="0" anchor="ctr">
            <a:normAutofit/>
          </a:bodyPr>
          <a:lstStyle/>
          <a:p>
            <a:pPr indent="0" marL="0">
              <a:buNone/>
            </a:pPr>
            <a:r>
              <a:rPr lang="en-US" sz="1000" dirty="0">
                <a:solidFill>
                  <a:srgbClr val="24303F"/>
                </a:solidFill>
              </a:rPr>
              <a:t>Payment confirmations</a:t>
            </a:r>
            <a:endParaRPr lang="en-US" sz="1000" dirty="0"/>
          </a:p>
        </p:txBody>
      </p:sp>
      <p:sp>
        <p:nvSpPr>
          <p:cNvPr id="23" name="Shape 21"/>
          <p:cNvSpPr/>
          <p:nvPr/>
        </p:nvSpPr>
        <p:spPr>
          <a:xfrm>
            <a:off x="8915400" y="2834640"/>
            <a:ext cx="1463040" cy="502920"/>
          </a:xfrm>
          <a:prstGeom prst="rect">
            <a:avLst/>
          </a:prstGeom>
          <a:solidFill>
            <a:srgbClr val="FDFBF5"/>
          </a:solidFill>
          <a:ln w="12700">
            <a:solidFill>
              <a:srgbClr val="E7DFD0"/>
            </a:solidFill>
            <a:prstDash val="solid"/>
          </a:ln>
        </p:spPr>
      </p:sp>
      <p:sp>
        <p:nvSpPr>
          <p:cNvPr id="24" name="Text 22"/>
          <p:cNvSpPr/>
          <p:nvPr/>
        </p:nvSpPr>
        <p:spPr>
          <a:xfrm>
            <a:off x="8951976" y="2871216"/>
            <a:ext cx="1389888" cy="429768"/>
          </a:xfrm>
          <a:prstGeom prst="rect">
            <a:avLst/>
          </a:prstGeom>
          <a:noFill/>
          <a:ln/>
        </p:spPr>
        <p:txBody>
          <a:bodyPr wrap="square" lIns="0" tIns="0" rIns="0" bIns="0" rtlCol="0" anchor="ctr">
            <a:normAutofit/>
          </a:bodyPr>
          <a:lstStyle/>
          <a:p>
            <a:pPr indent="0" marL="0">
              <a:buNone/>
            </a:pPr>
            <a:r>
              <a:rPr lang="en-US" sz="1000" dirty="0">
                <a:solidFill>
                  <a:srgbClr val="24303F"/>
                </a:solidFill>
              </a:rPr>
              <a:t>68</a:t>
            </a:r>
            <a:endParaRPr lang="en-US" sz="1000" dirty="0"/>
          </a:p>
        </p:txBody>
      </p:sp>
      <p:sp>
        <p:nvSpPr>
          <p:cNvPr id="25" name="Shape 23"/>
          <p:cNvSpPr/>
          <p:nvPr/>
        </p:nvSpPr>
        <p:spPr>
          <a:xfrm>
            <a:off x="5989320" y="3337560"/>
            <a:ext cx="2926080" cy="502920"/>
          </a:xfrm>
          <a:prstGeom prst="rect">
            <a:avLst/>
          </a:prstGeom>
          <a:solidFill>
            <a:srgbClr val="FFFFFF"/>
          </a:solidFill>
          <a:ln w="12700">
            <a:solidFill>
              <a:srgbClr val="E7DFD0"/>
            </a:solidFill>
            <a:prstDash val="solid"/>
          </a:ln>
        </p:spPr>
      </p:sp>
      <p:sp>
        <p:nvSpPr>
          <p:cNvPr id="26" name="Text 24"/>
          <p:cNvSpPr/>
          <p:nvPr/>
        </p:nvSpPr>
        <p:spPr>
          <a:xfrm>
            <a:off x="6025896" y="3374136"/>
            <a:ext cx="2852928" cy="429768"/>
          </a:xfrm>
          <a:prstGeom prst="rect">
            <a:avLst/>
          </a:prstGeom>
          <a:noFill/>
          <a:ln/>
        </p:spPr>
        <p:txBody>
          <a:bodyPr wrap="square" lIns="0" tIns="0" rIns="0" bIns="0" rtlCol="0" anchor="ctr">
            <a:normAutofit/>
          </a:bodyPr>
          <a:lstStyle/>
          <a:p>
            <a:pPr indent="0" marL="0">
              <a:buNone/>
            </a:pPr>
            <a:r>
              <a:rPr lang="en-US" sz="1000" dirty="0">
                <a:solidFill>
                  <a:srgbClr val="24303F"/>
                </a:solidFill>
              </a:rPr>
              <a:t>Learners attending</a:t>
            </a:r>
            <a:endParaRPr lang="en-US" sz="1000" dirty="0"/>
          </a:p>
        </p:txBody>
      </p:sp>
      <p:sp>
        <p:nvSpPr>
          <p:cNvPr id="27" name="Shape 25"/>
          <p:cNvSpPr/>
          <p:nvPr/>
        </p:nvSpPr>
        <p:spPr>
          <a:xfrm>
            <a:off x="8915400" y="3337560"/>
            <a:ext cx="1463040" cy="502920"/>
          </a:xfrm>
          <a:prstGeom prst="rect">
            <a:avLst/>
          </a:prstGeom>
          <a:solidFill>
            <a:srgbClr val="FFFFFF"/>
          </a:solidFill>
          <a:ln w="12700">
            <a:solidFill>
              <a:srgbClr val="E7DFD0"/>
            </a:solidFill>
            <a:prstDash val="solid"/>
          </a:ln>
        </p:spPr>
      </p:sp>
      <p:sp>
        <p:nvSpPr>
          <p:cNvPr id="28" name="Text 26"/>
          <p:cNvSpPr/>
          <p:nvPr/>
        </p:nvSpPr>
        <p:spPr>
          <a:xfrm>
            <a:off x="8951976" y="3374136"/>
            <a:ext cx="1389888" cy="429768"/>
          </a:xfrm>
          <a:prstGeom prst="rect">
            <a:avLst/>
          </a:prstGeom>
          <a:noFill/>
          <a:ln/>
        </p:spPr>
        <p:txBody>
          <a:bodyPr wrap="square" lIns="0" tIns="0" rIns="0" bIns="0" rtlCol="0" anchor="ctr">
            <a:normAutofit/>
          </a:bodyPr>
          <a:lstStyle/>
          <a:p>
            <a:pPr indent="0" marL="0">
              <a:buNone/>
            </a:pPr>
            <a:r>
              <a:rPr lang="en-US" sz="1000" dirty="0">
                <a:solidFill>
                  <a:srgbClr val="24303F"/>
                </a:solidFill>
              </a:rPr>
              <a:t>64</a:t>
            </a:r>
            <a:endParaRPr lang="en-US" sz="1000" dirty="0"/>
          </a:p>
        </p:txBody>
      </p:sp>
      <p:sp>
        <p:nvSpPr>
          <p:cNvPr id="29" name="Shape 27"/>
          <p:cNvSpPr/>
          <p:nvPr/>
        </p:nvSpPr>
        <p:spPr>
          <a:xfrm>
            <a:off x="5989320" y="3840480"/>
            <a:ext cx="2926080" cy="502920"/>
          </a:xfrm>
          <a:prstGeom prst="rect">
            <a:avLst/>
          </a:prstGeom>
          <a:solidFill>
            <a:srgbClr val="FDFBF5"/>
          </a:solidFill>
          <a:ln w="12700">
            <a:solidFill>
              <a:srgbClr val="E7DFD0"/>
            </a:solidFill>
            <a:prstDash val="solid"/>
          </a:ln>
        </p:spPr>
      </p:sp>
      <p:sp>
        <p:nvSpPr>
          <p:cNvPr id="30" name="Text 28"/>
          <p:cNvSpPr/>
          <p:nvPr/>
        </p:nvSpPr>
        <p:spPr>
          <a:xfrm>
            <a:off x="6025896" y="3877056"/>
            <a:ext cx="2852928" cy="429768"/>
          </a:xfrm>
          <a:prstGeom prst="rect">
            <a:avLst/>
          </a:prstGeom>
          <a:noFill/>
          <a:ln/>
        </p:spPr>
        <p:txBody>
          <a:bodyPr wrap="square" lIns="0" tIns="0" rIns="0" bIns="0" rtlCol="0" anchor="ctr">
            <a:normAutofit/>
          </a:bodyPr>
          <a:lstStyle/>
          <a:p>
            <a:pPr indent="0" marL="0">
              <a:buNone/>
            </a:pPr>
            <a:r>
              <a:rPr lang="en-US" sz="1000" dirty="0">
                <a:solidFill>
                  <a:srgbClr val="24303F"/>
                </a:solidFill>
              </a:rPr>
              <a:t>Certificates issued</a:t>
            </a:r>
            <a:endParaRPr lang="en-US" sz="1000" dirty="0"/>
          </a:p>
        </p:txBody>
      </p:sp>
      <p:sp>
        <p:nvSpPr>
          <p:cNvPr id="31" name="Shape 29"/>
          <p:cNvSpPr/>
          <p:nvPr/>
        </p:nvSpPr>
        <p:spPr>
          <a:xfrm>
            <a:off x="8915400" y="3840480"/>
            <a:ext cx="1463040" cy="502920"/>
          </a:xfrm>
          <a:prstGeom prst="rect">
            <a:avLst/>
          </a:prstGeom>
          <a:solidFill>
            <a:srgbClr val="FDFBF5"/>
          </a:solidFill>
          <a:ln w="12700">
            <a:solidFill>
              <a:srgbClr val="E7DFD0"/>
            </a:solidFill>
            <a:prstDash val="solid"/>
          </a:ln>
        </p:spPr>
      </p:sp>
      <p:sp>
        <p:nvSpPr>
          <p:cNvPr id="32" name="Text 30"/>
          <p:cNvSpPr/>
          <p:nvPr/>
        </p:nvSpPr>
        <p:spPr>
          <a:xfrm>
            <a:off x="8951976" y="3877056"/>
            <a:ext cx="1389888" cy="429768"/>
          </a:xfrm>
          <a:prstGeom prst="rect">
            <a:avLst/>
          </a:prstGeom>
          <a:noFill/>
          <a:ln/>
        </p:spPr>
        <p:txBody>
          <a:bodyPr wrap="square" lIns="0" tIns="0" rIns="0" bIns="0" rtlCol="0" anchor="ctr">
            <a:normAutofit/>
          </a:bodyPr>
          <a:lstStyle/>
          <a:p>
            <a:pPr indent="0" marL="0">
              <a:buNone/>
            </a:pPr>
            <a:r>
              <a:rPr lang="en-US" sz="1000" dirty="0">
                <a:solidFill>
                  <a:srgbClr val="24303F"/>
                </a:solidFill>
              </a:rPr>
              <a:t>58</a:t>
            </a:r>
            <a:endParaRPr lang="en-US" sz="1000" dirty="0"/>
          </a:p>
        </p:txBody>
      </p:sp>
      <p:sp>
        <p:nvSpPr>
          <p:cNvPr id="33" name="Shape 31"/>
          <p:cNvSpPr/>
          <p:nvPr/>
        </p:nvSpPr>
        <p:spPr>
          <a:xfrm>
            <a:off x="5989320" y="4343400"/>
            <a:ext cx="2926080" cy="502920"/>
          </a:xfrm>
          <a:prstGeom prst="rect">
            <a:avLst/>
          </a:prstGeom>
          <a:solidFill>
            <a:srgbClr val="FFFFFF"/>
          </a:solidFill>
          <a:ln w="12700">
            <a:solidFill>
              <a:srgbClr val="E7DFD0"/>
            </a:solidFill>
            <a:prstDash val="solid"/>
          </a:ln>
        </p:spPr>
      </p:sp>
      <p:sp>
        <p:nvSpPr>
          <p:cNvPr id="34" name="Text 32"/>
          <p:cNvSpPr/>
          <p:nvPr/>
        </p:nvSpPr>
        <p:spPr>
          <a:xfrm>
            <a:off x="6025896" y="4379976"/>
            <a:ext cx="2852928" cy="429768"/>
          </a:xfrm>
          <a:prstGeom prst="rect">
            <a:avLst/>
          </a:prstGeom>
          <a:noFill/>
          <a:ln/>
        </p:spPr>
        <p:txBody>
          <a:bodyPr wrap="square" lIns="0" tIns="0" rIns="0" bIns="0" rtlCol="0" anchor="ctr">
            <a:normAutofit/>
          </a:bodyPr>
          <a:lstStyle/>
          <a:p>
            <a:pPr indent="0" marL="0">
              <a:buNone/>
            </a:pPr>
            <a:r>
              <a:rPr lang="en-US" sz="1000" dirty="0">
                <a:solidFill>
                  <a:srgbClr val="24303F"/>
                </a:solidFill>
              </a:rPr>
              <a:t>Feedback responses</a:t>
            </a:r>
            <a:endParaRPr lang="en-US" sz="1000" dirty="0"/>
          </a:p>
        </p:txBody>
      </p:sp>
      <p:sp>
        <p:nvSpPr>
          <p:cNvPr id="35" name="Shape 33"/>
          <p:cNvSpPr/>
          <p:nvPr/>
        </p:nvSpPr>
        <p:spPr>
          <a:xfrm>
            <a:off x="8915400" y="4343400"/>
            <a:ext cx="1463040" cy="502920"/>
          </a:xfrm>
          <a:prstGeom prst="rect">
            <a:avLst/>
          </a:prstGeom>
          <a:solidFill>
            <a:srgbClr val="FFFFFF"/>
          </a:solidFill>
          <a:ln w="12700">
            <a:solidFill>
              <a:srgbClr val="E7DFD0"/>
            </a:solidFill>
            <a:prstDash val="solid"/>
          </a:ln>
        </p:spPr>
      </p:sp>
      <p:sp>
        <p:nvSpPr>
          <p:cNvPr id="36" name="Text 34"/>
          <p:cNvSpPr/>
          <p:nvPr/>
        </p:nvSpPr>
        <p:spPr>
          <a:xfrm>
            <a:off x="8951976" y="4379976"/>
            <a:ext cx="1389888" cy="429768"/>
          </a:xfrm>
          <a:prstGeom prst="rect">
            <a:avLst/>
          </a:prstGeom>
          <a:noFill/>
          <a:ln/>
        </p:spPr>
        <p:txBody>
          <a:bodyPr wrap="square" lIns="0" tIns="0" rIns="0" bIns="0" rtlCol="0" anchor="ctr">
            <a:normAutofit/>
          </a:bodyPr>
          <a:lstStyle/>
          <a:p>
            <a:pPr indent="0" marL="0">
              <a:buNone/>
            </a:pPr>
            <a:r>
              <a:rPr lang="en-US" sz="1000" dirty="0">
                <a:solidFill>
                  <a:srgbClr val="24303F"/>
                </a:solidFill>
              </a:rPr>
              <a:t>31</a:t>
            </a:r>
            <a:endParaRPr lang="en-US" sz="1000" dirty="0"/>
          </a:p>
        </p:txBody>
      </p:sp>
      <p:sp>
        <p:nvSpPr>
          <p:cNvPr id="37" name="Shape 35"/>
          <p:cNvSpPr/>
          <p:nvPr/>
        </p:nvSpPr>
        <p:spPr>
          <a:xfrm>
            <a:off x="5989320" y="4846320"/>
            <a:ext cx="2926080" cy="502920"/>
          </a:xfrm>
          <a:prstGeom prst="rect">
            <a:avLst/>
          </a:prstGeom>
          <a:solidFill>
            <a:srgbClr val="FDFBF5"/>
          </a:solidFill>
          <a:ln w="12700">
            <a:solidFill>
              <a:srgbClr val="E7DFD0"/>
            </a:solidFill>
            <a:prstDash val="solid"/>
          </a:ln>
        </p:spPr>
      </p:sp>
      <p:sp>
        <p:nvSpPr>
          <p:cNvPr id="38" name="Text 36"/>
          <p:cNvSpPr/>
          <p:nvPr/>
        </p:nvSpPr>
        <p:spPr>
          <a:xfrm>
            <a:off x="6025896" y="4882896"/>
            <a:ext cx="2852928" cy="429768"/>
          </a:xfrm>
          <a:prstGeom prst="rect">
            <a:avLst/>
          </a:prstGeom>
          <a:noFill/>
          <a:ln/>
        </p:spPr>
        <p:txBody>
          <a:bodyPr wrap="square" lIns="0" tIns="0" rIns="0" bIns="0" rtlCol="0" anchor="ctr">
            <a:normAutofit/>
          </a:bodyPr>
          <a:lstStyle/>
          <a:p>
            <a:pPr indent="0" marL="0">
              <a:buNone/>
            </a:pPr>
            <a:r>
              <a:rPr lang="en-US" sz="1000" dirty="0">
                <a:solidFill>
                  <a:srgbClr val="24303F"/>
                </a:solidFill>
              </a:rPr>
              <a:t>Courses per month</a:t>
            </a:r>
            <a:endParaRPr lang="en-US" sz="1000" dirty="0"/>
          </a:p>
        </p:txBody>
      </p:sp>
      <p:sp>
        <p:nvSpPr>
          <p:cNvPr id="39" name="Shape 37"/>
          <p:cNvSpPr/>
          <p:nvPr/>
        </p:nvSpPr>
        <p:spPr>
          <a:xfrm>
            <a:off x="8915400" y="4846320"/>
            <a:ext cx="1463040" cy="502920"/>
          </a:xfrm>
          <a:prstGeom prst="rect">
            <a:avLst/>
          </a:prstGeom>
          <a:solidFill>
            <a:srgbClr val="FDFBF5"/>
          </a:solidFill>
          <a:ln w="12700">
            <a:solidFill>
              <a:srgbClr val="E7DFD0"/>
            </a:solidFill>
            <a:prstDash val="solid"/>
          </a:ln>
        </p:spPr>
      </p:sp>
      <p:sp>
        <p:nvSpPr>
          <p:cNvPr id="40" name="Text 38"/>
          <p:cNvSpPr/>
          <p:nvPr/>
        </p:nvSpPr>
        <p:spPr>
          <a:xfrm>
            <a:off x="8951976" y="4882896"/>
            <a:ext cx="1389888" cy="429768"/>
          </a:xfrm>
          <a:prstGeom prst="rect">
            <a:avLst/>
          </a:prstGeom>
          <a:noFill/>
          <a:ln/>
        </p:spPr>
        <p:txBody>
          <a:bodyPr wrap="square" lIns="0" tIns="0" rIns="0" bIns="0" rtlCol="0" anchor="ctr">
            <a:normAutofit/>
          </a:bodyPr>
          <a:lstStyle/>
          <a:p>
            <a:pPr indent="0" marL="0">
              <a:buNone/>
            </a:pPr>
            <a:r>
              <a:rPr lang="en-US" sz="1000" dirty="0">
                <a:solidFill>
                  <a:srgbClr val="24303F"/>
                </a:solidFill>
              </a:rPr>
              <a:t>6</a:t>
            </a:r>
            <a:endParaRPr lang="en-US" sz="1000" dirty="0"/>
          </a:p>
        </p:txBody>
      </p:sp>
      <p:sp>
        <p:nvSpPr>
          <p:cNvPr id="41" name="Text 39"/>
          <p:cNvSpPr/>
          <p:nvPr/>
        </p:nvSpPr>
        <p:spPr>
          <a:xfrm>
            <a:off x="11384280" y="6428232"/>
            <a:ext cx="320040" cy="109728"/>
          </a:xfrm>
          <a:prstGeom prst="rect">
            <a:avLst/>
          </a:prstGeom>
          <a:noFill/>
          <a:ln/>
        </p:spPr>
        <p:txBody>
          <a:bodyPr wrap="square" lIns="0" tIns="0" rIns="0" bIns="0" rtlCol="0" anchor="ctr"/>
          <a:lstStyle/>
          <a:p>
            <a:pPr algn="r" indent="0" marL="0">
              <a:buNone/>
            </a:pPr>
            <a:r>
              <a:rPr lang="en-US" sz="700" dirty="0">
                <a:solidFill>
                  <a:srgbClr val="FFFFFF"/>
                </a:solidFill>
              </a:rPr>
              <a:t>07</a:t>
            </a:r>
            <a:endParaRPr lang="en-US" sz="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3EA"/>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4213D"/>
          </a:solidFill>
          <a:ln w="12700">
            <a:solidFill>
              <a:srgbClr val="14213D">
                <a:alpha val="0"/>
              </a:srgbClr>
            </a:solidFill>
            <a:prstDash val="solid"/>
          </a:ln>
        </p:spPr>
      </p:sp>
      <p:sp>
        <p:nvSpPr>
          <p:cNvPr id="3" name="Shape 1"/>
          <p:cNvSpPr/>
          <p:nvPr/>
        </p:nvSpPr>
        <p:spPr>
          <a:xfrm>
            <a:off x="0" y="6693408"/>
            <a:ext cx="12191695" cy="164592"/>
          </a:xfrm>
          <a:prstGeom prst="rect">
            <a:avLst/>
          </a:prstGeom>
          <a:solidFill>
            <a:srgbClr val="14213D"/>
          </a:solidFill>
          <a:ln w="12700">
            <a:solidFill>
              <a:srgbClr val="14213D">
                <a:alpha val="0"/>
              </a:srgbClr>
            </a:solidFill>
            <a:prstDash val="solid"/>
          </a:ln>
        </p:spPr>
      </p:sp>
      <p:sp>
        <p:nvSpPr>
          <p:cNvPr id="4" name="Text 2"/>
          <p:cNvSpPr/>
          <p:nvPr/>
        </p:nvSpPr>
        <p:spPr>
          <a:xfrm>
            <a:off x="502920" y="256032"/>
            <a:ext cx="4480560" cy="164592"/>
          </a:xfrm>
          <a:prstGeom prst="rect">
            <a:avLst/>
          </a:prstGeom>
          <a:noFill/>
          <a:ln/>
        </p:spPr>
        <p:txBody>
          <a:bodyPr wrap="square" lIns="0" tIns="0" rIns="0" bIns="0" rtlCol="0" anchor="ctr"/>
          <a:lstStyle/>
          <a:p>
            <a:pPr indent="0" marL="0">
              <a:buNone/>
            </a:pPr>
            <a:r>
              <a:rPr lang="en-US" sz="700" b="1" dirty="0">
                <a:solidFill>
                  <a:srgbClr val="2A9D8F"/>
                </a:solidFill>
                <a:latin typeface="Aptos" pitchFamily="34" charset="0"/>
                <a:ea typeface="Aptos" pitchFamily="34" charset="-122"/>
                <a:cs typeface="Aptos" pitchFamily="34" charset="-120"/>
              </a:rPr>
              <a:t>SECTION 1</a:t>
            </a:r>
            <a:endParaRPr lang="en-US" sz="700" dirty="0"/>
          </a:p>
        </p:txBody>
      </p:sp>
      <p:sp>
        <p:nvSpPr>
          <p:cNvPr id="5" name="Text 3"/>
          <p:cNvSpPr/>
          <p:nvPr/>
        </p:nvSpPr>
        <p:spPr>
          <a:xfrm>
            <a:off x="9281160" y="219456"/>
            <a:ext cx="2423160" cy="182880"/>
          </a:xfrm>
          <a:prstGeom prst="rect">
            <a:avLst/>
          </a:prstGeom>
          <a:noFill/>
          <a:ln/>
        </p:spPr>
        <p:txBody>
          <a:bodyPr wrap="square" lIns="0" tIns="0" rIns="0" bIns="0" rtlCol="0" anchor="ctr"/>
          <a:lstStyle/>
          <a:p>
            <a:pPr algn="r" indent="0" marL="0">
              <a:buNone/>
            </a:pPr>
            <a:r>
              <a:rPr lang="en-US" sz="700" dirty="0">
                <a:solidFill>
                  <a:srgbClr val="6D7886"/>
                </a:solidFill>
              </a:rPr>
              <a:t>Jifunze.ai skill booster</a:t>
            </a:r>
            <a:endParaRPr lang="en-US" sz="700" dirty="0"/>
          </a:p>
        </p:txBody>
      </p:sp>
      <p:sp>
        <p:nvSpPr>
          <p:cNvPr id="6" name="Text 4"/>
          <p:cNvSpPr/>
          <p:nvPr/>
        </p:nvSpPr>
        <p:spPr>
          <a:xfrm>
            <a:off x="502920" y="502920"/>
            <a:ext cx="4617720" cy="475488"/>
          </a:xfrm>
          <a:prstGeom prst="rect">
            <a:avLst/>
          </a:prstGeom>
          <a:noFill/>
          <a:ln/>
        </p:spPr>
        <p:txBody>
          <a:bodyPr wrap="square" lIns="127" tIns="127" rIns="127" bIns="127" rtlCol="0" anchor="ctr">
            <a:normAutofit/>
          </a:bodyPr>
          <a:lstStyle/>
          <a:p>
            <a:pPr indent="0" marL="0">
              <a:buNone/>
            </a:pPr>
            <a:r>
              <a:rPr lang="en-US" sz="2500" b="1" dirty="0">
                <a:solidFill>
                  <a:srgbClr val="14213D"/>
                </a:solidFill>
                <a:latin typeface="Aptos Display" pitchFamily="34" charset="0"/>
                <a:ea typeface="Aptos Display" pitchFamily="34" charset="-122"/>
                <a:cs typeface="Aptos Display" pitchFamily="34" charset="-120"/>
              </a:rPr>
              <a:t>The business problem we are solving</a:t>
            </a:r>
            <a:endParaRPr lang="en-US" sz="2500" dirty="0"/>
          </a:p>
        </p:txBody>
      </p:sp>
      <p:sp>
        <p:nvSpPr>
          <p:cNvPr id="7" name="Text 5"/>
          <p:cNvSpPr/>
          <p:nvPr/>
        </p:nvSpPr>
        <p:spPr>
          <a:xfrm>
            <a:off x="521208" y="1005840"/>
            <a:ext cx="4617720" cy="228600"/>
          </a:xfrm>
          <a:prstGeom prst="rect">
            <a:avLst/>
          </a:prstGeom>
          <a:noFill/>
          <a:ln/>
        </p:spPr>
        <p:txBody>
          <a:bodyPr wrap="square" lIns="0" tIns="0" rIns="0" bIns="0" rtlCol="0" anchor="ctr">
            <a:normAutofit/>
          </a:bodyPr>
          <a:lstStyle/>
          <a:p>
            <a:pPr indent="0" marL="0">
              <a:buNone/>
            </a:pPr>
            <a:r>
              <a:rPr lang="en-US" sz="1080" dirty="0">
                <a:solidFill>
                  <a:srgbClr val="24303F"/>
                </a:solidFill>
              </a:rPr>
              <a:t>Growth is exposing manual workflow weakness</a:t>
            </a:r>
            <a:endParaRPr lang="en-US" sz="1080" dirty="0"/>
          </a:p>
        </p:txBody>
      </p:sp>
      <p:sp>
        <p:nvSpPr>
          <p:cNvPr id="8" name="Text 6"/>
          <p:cNvSpPr/>
          <p:nvPr/>
        </p:nvSpPr>
        <p:spPr>
          <a:xfrm>
            <a:off x="594360" y="1417320"/>
            <a:ext cx="4617720" cy="4343400"/>
          </a:xfrm>
          <a:prstGeom prst="rect">
            <a:avLst/>
          </a:prstGeom>
          <a:noFill/>
          <a:ln/>
        </p:spPr>
        <p:txBody>
          <a:bodyPr wrap="square" lIns="635" tIns="635" rIns="635" bIns="635" rtlCol="0" anchor="ctr">
            <a:normAutofit/>
          </a:bodyPr>
          <a:lstStyle/>
          <a:p>
            <a:r>
              <a:rPr lang="en-US" sz="1450" dirty="0">
                <a:solidFill>
                  <a:srgbClr val="24303F"/>
                </a:solidFill>
              </a:rPr>
              <a:t>• Staff spend time copying, checking, sending, and chasing</a:t>
            </a:r>
            <a:endParaRPr lang="en-US" sz="1450" dirty="0"/>
          </a:p>
          <a:p>
            <a:r>
              <a:rPr lang="en-US" sz="1450" dirty="0">
                <a:solidFill>
                  <a:srgbClr val="24303F"/>
                </a:solidFill>
              </a:rPr>
              <a:t>• Follow-ups are missed because reminders are manual</a:t>
            </a:r>
            <a:endParaRPr lang="en-US" sz="1450" dirty="0"/>
          </a:p>
          <a:p>
            <a:r>
              <a:rPr lang="en-US" sz="1450" dirty="0">
                <a:solidFill>
                  <a:srgbClr val="24303F"/>
                </a:solidFill>
              </a:rPr>
              <a:t>• Payment screenshots create delays and uncertainty</a:t>
            </a:r>
            <a:endParaRPr lang="en-US" sz="1450" dirty="0"/>
          </a:p>
          <a:p>
            <a:r>
              <a:rPr lang="en-US" sz="1450" dirty="0">
                <a:solidFill>
                  <a:srgbClr val="24303F"/>
                </a:solidFill>
              </a:rPr>
              <a:t>• Certificates are late because attendance and completion data are messy</a:t>
            </a:r>
            <a:endParaRPr lang="en-US" sz="1450" dirty="0"/>
          </a:p>
          <a:p>
            <a:r>
              <a:rPr lang="en-US" sz="1450" dirty="0">
                <a:solidFill>
                  <a:srgbClr val="24303F"/>
                </a:solidFill>
              </a:rPr>
              <a:t>• Feedback is too low to guide improvement</a:t>
            </a:r>
            <a:endParaRPr lang="en-US" sz="1450" dirty="0"/>
          </a:p>
        </p:txBody>
      </p:sp>
      <p:sp>
        <p:nvSpPr>
          <p:cNvPr id="9" name="Shape 7"/>
          <p:cNvSpPr/>
          <p:nvPr/>
        </p:nvSpPr>
        <p:spPr>
          <a:xfrm>
            <a:off x="5760720" y="1508760"/>
            <a:ext cx="5303520" cy="457200"/>
          </a:xfrm>
          <a:prstGeom prst="roundRect">
            <a:avLst>
              <a:gd name="adj" fmla="val 16000"/>
            </a:avLst>
          </a:prstGeom>
          <a:solidFill>
            <a:srgbClr val="14213D"/>
          </a:solidFill>
          <a:ln w="12700">
            <a:solidFill>
              <a:srgbClr val="14213D"/>
            </a:solidFill>
            <a:prstDash val="solid"/>
          </a:ln>
        </p:spPr>
      </p:sp>
      <p:sp>
        <p:nvSpPr>
          <p:cNvPr id="10" name="Text 8"/>
          <p:cNvSpPr/>
          <p:nvPr/>
        </p:nvSpPr>
        <p:spPr>
          <a:xfrm>
            <a:off x="5870448" y="1600200"/>
            <a:ext cx="5084064" cy="292608"/>
          </a:xfrm>
          <a:prstGeom prst="rect">
            <a:avLst/>
          </a:prstGeom>
          <a:noFill/>
          <a:ln/>
        </p:spPr>
        <p:txBody>
          <a:bodyPr wrap="square" lIns="127" tIns="127" rIns="127" bIns="127" rtlCol="0" anchor="ctr">
            <a:normAutofit/>
          </a:bodyPr>
          <a:lstStyle/>
          <a:p>
            <a:pPr indent="0" marL="0">
              <a:buNone/>
            </a:pPr>
            <a:r>
              <a:rPr lang="en-US" sz="1600" b="1" dirty="0">
                <a:solidFill>
                  <a:srgbClr val="24303F"/>
                </a:solidFill>
              </a:rPr>
              <a:t>Operational symptoms</a:t>
            </a:r>
            <a:endParaRPr lang="en-US" sz="1600" dirty="0"/>
          </a:p>
        </p:txBody>
      </p:sp>
      <p:sp>
        <p:nvSpPr>
          <p:cNvPr id="11" name="Text 9"/>
          <p:cNvSpPr/>
          <p:nvPr/>
        </p:nvSpPr>
        <p:spPr>
          <a:xfrm>
            <a:off x="5715000" y="2148840"/>
            <a:ext cx="5394960" cy="201168"/>
          </a:xfrm>
          <a:prstGeom prst="rect">
            <a:avLst/>
          </a:prstGeom>
          <a:noFill/>
          <a:ln/>
        </p:spPr>
        <p:txBody>
          <a:bodyPr wrap="square" lIns="0" tIns="0" rIns="0" bIns="0" rtlCol="0" anchor="ctr"/>
          <a:lstStyle/>
          <a:p>
            <a:pPr indent="0" marL="0">
              <a:buNone/>
            </a:pPr>
            <a:r>
              <a:rPr lang="en-US" sz="1000" b="1" dirty="0">
                <a:solidFill>
                  <a:srgbClr val="14213D"/>
                </a:solidFill>
              </a:rPr>
              <a:t>Monthly issue count</a:t>
            </a:r>
            <a:endParaRPr lang="en-US" sz="1000" dirty="0"/>
          </a:p>
        </p:txBody>
      </p:sp>
      <p:sp>
        <p:nvSpPr>
          <p:cNvPr id="12" name="Text 10"/>
          <p:cNvSpPr/>
          <p:nvPr/>
        </p:nvSpPr>
        <p:spPr>
          <a:xfrm>
            <a:off x="5715000" y="2505456"/>
            <a:ext cx="1508760" cy="146304"/>
          </a:xfrm>
          <a:prstGeom prst="rect">
            <a:avLst/>
          </a:prstGeom>
          <a:noFill/>
          <a:ln/>
        </p:spPr>
        <p:txBody>
          <a:bodyPr wrap="square" lIns="0" tIns="0" rIns="0" bIns="0" rtlCol="0" anchor="ctr">
            <a:normAutofit/>
          </a:bodyPr>
          <a:lstStyle/>
          <a:p>
            <a:pPr indent="0" marL="0">
              <a:buNone/>
            </a:pPr>
            <a:r>
              <a:rPr lang="en-US" sz="660" dirty="0">
                <a:solidFill>
                  <a:srgbClr val="24303F"/>
                </a:solidFill>
              </a:rPr>
              <a:t>Missed enquiry follow-up</a:t>
            </a:r>
            <a:endParaRPr lang="en-US" sz="660" dirty="0"/>
          </a:p>
        </p:txBody>
      </p:sp>
      <p:sp>
        <p:nvSpPr>
          <p:cNvPr id="13" name="Shape 11"/>
          <p:cNvSpPr/>
          <p:nvPr/>
        </p:nvSpPr>
        <p:spPr>
          <a:xfrm>
            <a:off x="7315200" y="2514600"/>
            <a:ext cx="1335024" cy="164592"/>
          </a:xfrm>
          <a:prstGeom prst="rect">
            <a:avLst/>
          </a:prstGeom>
          <a:solidFill>
            <a:srgbClr val="C9A44C"/>
          </a:solidFill>
          <a:ln w="12700">
            <a:solidFill>
              <a:srgbClr val="FFFFFF">
                <a:alpha val="0"/>
              </a:srgbClr>
            </a:solidFill>
            <a:prstDash val="solid"/>
          </a:ln>
        </p:spPr>
      </p:sp>
      <p:sp>
        <p:nvSpPr>
          <p:cNvPr id="14" name="Text 12"/>
          <p:cNvSpPr/>
          <p:nvPr/>
        </p:nvSpPr>
        <p:spPr>
          <a:xfrm>
            <a:off x="10725912" y="2505456"/>
            <a:ext cx="365760" cy="137160"/>
          </a:xfrm>
          <a:prstGeom prst="rect">
            <a:avLst/>
          </a:prstGeom>
          <a:noFill/>
          <a:ln/>
        </p:spPr>
        <p:txBody>
          <a:bodyPr wrap="square" lIns="0" tIns="0" rIns="0" bIns="0" rtlCol="0" anchor="ctr"/>
          <a:lstStyle/>
          <a:p>
            <a:pPr algn="r" indent="0" marL="0">
              <a:buNone/>
            </a:pPr>
            <a:r>
              <a:rPr lang="en-US" sz="660" dirty="0">
                <a:solidFill>
                  <a:srgbClr val="24303F"/>
                </a:solidFill>
              </a:rPr>
              <a:t>14.0</a:t>
            </a:r>
            <a:endParaRPr lang="en-US" sz="660" dirty="0"/>
          </a:p>
        </p:txBody>
      </p:sp>
      <p:sp>
        <p:nvSpPr>
          <p:cNvPr id="15" name="Text 13"/>
          <p:cNvSpPr/>
          <p:nvPr/>
        </p:nvSpPr>
        <p:spPr>
          <a:xfrm>
            <a:off x="5715000" y="2813739"/>
            <a:ext cx="1508760" cy="146304"/>
          </a:xfrm>
          <a:prstGeom prst="rect">
            <a:avLst/>
          </a:prstGeom>
          <a:noFill/>
          <a:ln/>
        </p:spPr>
        <p:txBody>
          <a:bodyPr wrap="square" lIns="0" tIns="0" rIns="0" bIns="0" rtlCol="0" anchor="ctr">
            <a:normAutofit/>
          </a:bodyPr>
          <a:lstStyle/>
          <a:p>
            <a:pPr indent="0" marL="0">
              <a:buNone/>
            </a:pPr>
            <a:r>
              <a:rPr lang="en-US" sz="660" dirty="0">
                <a:solidFill>
                  <a:srgbClr val="24303F"/>
                </a:solidFill>
              </a:rPr>
              <a:t>Duplicate registration entry</a:t>
            </a:r>
            <a:endParaRPr lang="en-US" sz="660" dirty="0"/>
          </a:p>
        </p:txBody>
      </p:sp>
      <p:sp>
        <p:nvSpPr>
          <p:cNvPr id="16" name="Shape 14"/>
          <p:cNvSpPr/>
          <p:nvPr/>
        </p:nvSpPr>
        <p:spPr>
          <a:xfrm>
            <a:off x="7315200" y="2822883"/>
            <a:ext cx="572153" cy="164592"/>
          </a:xfrm>
          <a:prstGeom prst="rect">
            <a:avLst/>
          </a:prstGeom>
          <a:solidFill>
            <a:srgbClr val="2A9D8F"/>
          </a:solidFill>
          <a:ln w="12700">
            <a:solidFill>
              <a:srgbClr val="FFFFFF">
                <a:alpha val="0"/>
              </a:srgbClr>
            </a:solidFill>
            <a:prstDash val="solid"/>
          </a:ln>
        </p:spPr>
      </p:sp>
      <p:sp>
        <p:nvSpPr>
          <p:cNvPr id="17" name="Text 15"/>
          <p:cNvSpPr/>
          <p:nvPr/>
        </p:nvSpPr>
        <p:spPr>
          <a:xfrm>
            <a:off x="10725912" y="2813739"/>
            <a:ext cx="365760" cy="137160"/>
          </a:xfrm>
          <a:prstGeom prst="rect">
            <a:avLst/>
          </a:prstGeom>
          <a:noFill/>
          <a:ln/>
        </p:spPr>
        <p:txBody>
          <a:bodyPr wrap="square" lIns="0" tIns="0" rIns="0" bIns="0" rtlCol="0" anchor="ctr"/>
          <a:lstStyle/>
          <a:p>
            <a:pPr algn="r" indent="0" marL="0">
              <a:buNone/>
            </a:pPr>
            <a:r>
              <a:rPr lang="en-US" sz="660" dirty="0">
                <a:solidFill>
                  <a:srgbClr val="24303F"/>
                </a:solidFill>
              </a:rPr>
              <a:t>6.0</a:t>
            </a:r>
            <a:endParaRPr lang="en-US" sz="660" dirty="0"/>
          </a:p>
        </p:txBody>
      </p:sp>
      <p:sp>
        <p:nvSpPr>
          <p:cNvPr id="18" name="Text 16"/>
          <p:cNvSpPr/>
          <p:nvPr/>
        </p:nvSpPr>
        <p:spPr>
          <a:xfrm>
            <a:off x="5715000" y="3122023"/>
            <a:ext cx="1508760" cy="146304"/>
          </a:xfrm>
          <a:prstGeom prst="rect">
            <a:avLst/>
          </a:prstGeom>
          <a:noFill/>
          <a:ln/>
        </p:spPr>
        <p:txBody>
          <a:bodyPr wrap="square" lIns="0" tIns="0" rIns="0" bIns="0" rtlCol="0" anchor="ctr">
            <a:normAutofit/>
          </a:bodyPr>
          <a:lstStyle/>
          <a:p>
            <a:pPr indent="0" marL="0">
              <a:buNone/>
            </a:pPr>
            <a:r>
              <a:rPr lang="en-US" sz="660" dirty="0">
                <a:solidFill>
                  <a:srgbClr val="24303F"/>
                </a:solidFill>
              </a:rPr>
              <a:t>Payment confirmation delay</a:t>
            </a:r>
            <a:endParaRPr lang="en-US" sz="660" dirty="0"/>
          </a:p>
        </p:txBody>
      </p:sp>
      <p:sp>
        <p:nvSpPr>
          <p:cNvPr id="19" name="Shape 17"/>
          <p:cNvSpPr/>
          <p:nvPr/>
        </p:nvSpPr>
        <p:spPr>
          <a:xfrm>
            <a:off x="7315200" y="3131167"/>
            <a:ext cx="1048947" cy="164592"/>
          </a:xfrm>
          <a:prstGeom prst="rect">
            <a:avLst/>
          </a:prstGeom>
          <a:solidFill>
            <a:srgbClr val="C9A44C"/>
          </a:solidFill>
          <a:ln w="12700">
            <a:solidFill>
              <a:srgbClr val="FFFFFF">
                <a:alpha val="0"/>
              </a:srgbClr>
            </a:solidFill>
            <a:prstDash val="solid"/>
          </a:ln>
        </p:spPr>
      </p:sp>
      <p:sp>
        <p:nvSpPr>
          <p:cNvPr id="20" name="Text 18"/>
          <p:cNvSpPr/>
          <p:nvPr/>
        </p:nvSpPr>
        <p:spPr>
          <a:xfrm>
            <a:off x="10725912" y="3122023"/>
            <a:ext cx="365760" cy="137160"/>
          </a:xfrm>
          <a:prstGeom prst="rect">
            <a:avLst/>
          </a:prstGeom>
          <a:noFill/>
          <a:ln/>
        </p:spPr>
        <p:txBody>
          <a:bodyPr wrap="square" lIns="0" tIns="0" rIns="0" bIns="0" rtlCol="0" anchor="ctr"/>
          <a:lstStyle/>
          <a:p>
            <a:pPr algn="r" indent="0" marL="0">
              <a:buNone/>
            </a:pPr>
            <a:r>
              <a:rPr lang="en-US" sz="660" dirty="0">
                <a:solidFill>
                  <a:srgbClr val="24303F"/>
                </a:solidFill>
              </a:rPr>
              <a:t>11.0</a:t>
            </a:r>
            <a:endParaRPr lang="en-US" sz="660" dirty="0"/>
          </a:p>
        </p:txBody>
      </p:sp>
      <p:sp>
        <p:nvSpPr>
          <p:cNvPr id="21" name="Text 19"/>
          <p:cNvSpPr/>
          <p:nvPr/>
        </p:nvSpPr>
        <p:spPr>
          <a:xfrm>
            <a:off x="5715000" y="3430306"/>
            <a:ext cx="1508760" cy="146304"/>
          </a:xfrm>
          <a:prstGeom prst="rect">
            <a:avLst/>
          </a:prstGeom>
          <a:noFill/>
          <a:ln/>
        </p:spPr>
        <p:txBody>
          <a:bodyPr wrap="square" lIns="0" tIns="0" rIns="0" bIns="0" rtlCol="0" anchor="ctr">
            <a:normAutofit/>
          </a:bodyPr>
          <a:lstStyle/>
          <a:p>
            <a:pPr indent="0" marL="0">
              <a:buNone/>
            </a:pPr>
            <a:r>
              <a:rPr lang="en-US" sz="660" dirty="0">
                <a:solidFill>
                  <a:srgbClr val="24303F"/>
                </a:solidFill>
              </a:rPr>
              <a:t>Class reminder missed</a:t>
            </a:r>
            <a:endParaRPr lang="en-US" sz="660" dirty="0"/>
          </a:p>
        </p:txBody>
      </p:sp>
      <p:sp>
        <p:nvSpPr>
          <p:cNvPr id="22" name="Shape 20"/>
          <p:cNvSpPr/>
          <p:nvPr/>
        </p:nvSpPr>
        <p:spPr>
          <a:xfrm>
            <a:off x="7315200" y="3439450"/>
            <a:ext cx="858230" cy="164592"/>
          </a:xfrm>
          <a:prstGeom prst="rect">
            <a:avLst/>
          </a:prstGeom>
          <a:solidFill>
            <a:srgbClr val="2A9D8F"/>
          </a:solidFill>
          <a:ln w="12700">
            <a:solidFill>
              <a:srgbClr val="FFFFFF">
                <a:alpha val="0"/>
              </a:srgbClr>
            </a:solidFill>
            <a:prstDash val="solid"/>
          </a:ln>
        </p:spPr>
      </p:sp>
      <p:sp>
        <p:nvSpPr>
          <p:cNvPr id="23" name="Text 21"/>
          <p:cNvSpPr/>
          <p:nvPr/>
        </p:nvSpPr>
        <p:spPr>
          <a:xfrm>
            <a:off x="10725912" y="3430306"/>
            <a:ext cx="365760" cy="137160"/>
          </a:xfrm>
          <a:prstGeom prst="rect">
            <a:avLst/>
          </a:prstGeom>
          <a:noFill/>
          <a:ln/>
        </p:spPr>
        <p:txBody>
          <a:bodyPr wrap="square" lIns="0" tIns="0" rIns="0" bIns="0" rtlCol="0" anchor="ctr"/>
          <a:lstStyle/>
          <a:p>
            <a:pPr algn="r" indent="0" marL="0">
              <a:buNone/>
            </a:pPr>
            <a:r>
              <a:rPr lang="en-US" sz="660" dirty="0">
                <a:solidFill>
                  <a:srgbClr val="24303F"/>
                </a:solidFill>
              </a:rPr>
              <a:t>9.0</a:t>
            </a:r>
            <a:endParaRPr lang="en-US" sz="660" dirty="0"/>
          </a:p>
        </p:txBody>
      </p:sp>
      <p:sp>
        <p:nvSpPr>
          <p:cNvPr id="24" name="Text 22"/>
          <p:cNvSpPr/>
          <p:nvPr/>
        </p:nvSpPr>
        <p:spPr>
          <a:xfrm>
            <a:off x="5715000" y="3738590"/>
            <a:ext cx="1508760" cy="146304"/>
          </a:xfrm>
          <a:prstGeom prst="rect">
            <a:avLst/>
          </a:prstGeom>
          <a:noFill/>
          <a:ln/>
        </p:spPr>
        <p:txBody>
          <a:bodyPr wrap="square" lIns="0" tIns="0" rIns="0" bIns="0" rtlCol="0" anchor="ctr">
            <a:normAutofit/>
          </a:bodyPr>
          <a:lstStyle/>
          <a:p>
            <a:pPr indent="0" marL="0">
              <a:buNone/>
            </a:pPr>
            <a:r>
              <a:rPr lang="en-US" sz="660" dirty="0">
                <a:solidFill>
                  <a:srgbClr val="24303F"/>
                </a:solidFill>
              </a:rPr>
              <a:t>Attendance mismatch</a:t>
            </a:r>
            <a:endParaRPr lang="en-US" sz="660" dirty="0"/>
          </a:p>
        </p:txBody>
      </p:sp>
      <p:sp>
        <p:nvSpPr>
          <p:cNvPr id="25" name="Shape 23"/>
          <p:cNvSpPr/>
          <p:nvPr/>
        </p:nvSpPr>
        <p:spPr>
          <a:xfrm>
            <a:off x="7315200" y="3747734"/>
            <a:ext cx="476794" cy="164592"/>
          </a:xfrm>
          <a:prstGeom prst="rect">
            <a:avLst/>
          </a:prstGeom>
          <a:solidFill>
            <a:srgbClr val="C9A44C"/>
          </a:solidFill>
          <a:ln w="12700">
            <a:solidFill>
              <a:srgbClr val="FFFFFF">
                <a:alpha val="0"/>
              </a:srgbClr>
            </a:solidFill>
            <a:prstDash val="solid"/>
          </a:ln>
        </p:spPr>
      </p:sp>
      <p:sp>
        <p:nvSpPr>
          <p:cNvPr id="26" name="Text 24"/>
          <p:cNvSpPr/>
          <p:nvPr/>
        </p:nvSpPr>
        <p:spPr>
          <a:xfrm>
            <a:off x="10725912" y="3738590"/>
            <a:ext cx="365760" cy="137160"/>
          </a:xfrm>
          <a:prstGeom prst="rect">
            <a:avLst/>
          </a:prstGeom>
          <a:noFill/>
          <a:ln/>
        </p:spPr>
        <p:txBody>
          <a:bodyPr wrap="square" lIns="0" tIns="0" rIns="0" bIns="0" rtlCol="0" anchor="ctr"/>
          <a:lstStyle/>
          <a:p>
            <a:pPr algn="r" indent="0" marL="0">
              <a:buNone/>
            </a:pPr>
            <a:r>
              <a:rPr lang="en-US" sz="660" dirty="0">
                <a:solidFill>
                  <a:srgbClr val="24303F"/>
                </a:solidFill>
              </a:rPr>
              <a:t>5.0</a:t>
            </a:r>
            <a:endParaRPr lang="en-US" sz="660" dirty="0"/>
          </a:p>
        </p:txBody>
      </p:sp>
      <p:sp>
        <p:nvSpPr>
          <p:cNvPr id="27" name="Text 25"/>
          <p:cNvSpPr/>
          <p:nvPr/>
        </p:nvSpPr>
        <p:spPr>
          <a:xfrm>
            <a:off x="5715000" y="4046873"/>
            <a:ext cx="1508760" cy="146304"/>
          </a:xfrm>
          <a:prstGeom prst="rect">
            <a:avLst/>
          </a:prstGeom>
          <a:noFill/>
          <a:ln/>
        </p:spPr>
        <p:txBody>
          <a:bodyPr wrap="square" lIns="0" tIns="0" rIns="0" bIns="0" rtlCol="0" anchor="ctr">
            <a:normAutofit/>
          </a:bodyPr>
          <a:lstStyle/>
          <a:p>
            <a:pPr indent="0" marL="0">
              <a:buNone/>
            </a:pPr>
            <a:r>
              <a:rPr lang="en-US" sz="660" dirty="0">
                <a:solidFill>
                  <a:srgbClr val="24303F"/>
                </a:solidFill>
              </a:rPr>
              <a:t>Certificate issued late</a:t>
            </a:r>
            <a:endParaRPr lang="en-US" sz="660" dirty="0"/>
          </a:p>
        </p:txBody>
      </p:sp>
      <p:sp>
        <p:nvSpPr>
          <p:cNvPr id="28" name="Shape 26"/>
          <p:cNvSpPr/>
          <p:nvPr/>
        </p:nvSpPr>
        <p:spPr>
          <a:xfrm>
            <a:off x="7315200" y="4056017"/>
            <a:ext cx="2097895" cy="164592"/>
          </a:xfrm>
          <a:prstGeom prst="rect">
            <a:avLst/>
          </a:prstGeom>
          <a:solidFill>
            <a:srgbClr val="2A9D8F"/>
          </a:solidFill>
          <a:ln w="12700">
            <a:solidFill>
              <a:srgbClr val="FFFFFF">
                <a:alpha val="0"/>
              </a:srgbClr>
            </a:solidFill>
            <a:prstDash val="solid"/>
          </a:ln>
        </p:spPr>
      </p:sp>
      <p:sp>
        <p:nvSpPr>
          <p:cNvPr id="29" name="Text 27"/>
          <p:cNvSpPr/>
          <p:nvPr/>
        </p:nvSpPr>
        <p:spPr>
          <a:xfrm>
            <a:off x="10725912" y="4046873"/>
            <a:ext cx="365760" cy="137160"/>
          </a:xfrm>
          <a:prstGeom prst="rect">
            <a:avLst/>
          </a:prstGeom>
          <a:noFill/>
          <a:ln/>
        </p:spPr>
        <p:txBody>
          <a:bodyPr wrap="square" lIns="0" tIns="0" rIns="0" bIns="0" rtlCol="0" anchor="ctr"/>
          <a:lstStyle/>
          <a:p>
            <a:pPr algn="r" indent="0" marL="0">
              <a:buNone/>
            </a:pPr>
            <a:r>
              <a:rPr lang="en-US" sz="660" dirty="0">
                <a:solidFill>
                  <a:srgbClr val="24303F"/>
                </a:solidFill>
              </a:rPr>
              <a:t>22.0</a:t>
            </a:r>
            <a:endParaRPr lang="en-US" sz="660" dirty="0"/>
          </a:p>
        </p:txBody>
      </p:sp>
      <p:sp>
        <p:nvSpPr>
          <p:cNvPr id="30" name="Text 28"/>
          <p:cNvSpPr/>
          <p:nvPr/>
        </p:nvSpPr>
        <p:spPr>
          <a:xfrm>
            <a:off x="5715000" y="4355157"/>
            <a:ext cx="1508760" cy="146304"/>
          </a:xfrm>
          <a:prstGeom prst="rect">
            <a:avLst/>
          </a:prstGeom>
          <a:noFill/>
          <a:ln/>
        </p:spPr>
        <p:txBody>
          <a:bodyPr wrap="square" lIns="0" tIns="0" rIns="0" bIns="0" rtlCol="0" anchor="ctr">
            <a:normAutofit/>
          </a:bodyPr>
          <a:lstStyle/>
          <a:p>
            <a:pPr indent="0" marL="0">
              <a:buNone/>
            </a:pPr>
            <a:r>
              <a:rPr lang="en-US" sz="660" dirty="0">
                <a:solidFill>
                  <a:srgbClr val="24303F"/>
                </a:solidFill>
              </a:rPr>
              <a:t>Feedback not collected</a:t>
            </a:r>
            <a:endParaRPr lang="en-US" sz="660" dirty="0"/>
          </a:p>
        </p:txBody>
      </p:sp>
      <p:sp>
        <p:nvSpPr>
          <p:cNvPr id="31" name="Shape 29"/>
          <p:cNvSpPr/>
          <p:nvPr/>
        </p:nvSpPr>
        <p:spPr>
          <a:xfrm>
            <a:off x="7315200" y="4364301"/>
            <a:ext cx="3146842" cy="164592"/>
          </a:xfrm>
          <a:prstGeom prst="rect">
            <a:avLst/>
          </a:prstGeom>
          <a:solidFill>
            <a:srgbClr val="C9A44C"/>
          </a:solidFill>
          <a:ln w="12700">
            <a:solidFill>
              <a:srgbClr val="FFFFFF">
                <a:alpha val="0"/>
              </a:srgbClr>
            </a:solidFill>
            <a:prstDash val="solid"/>
          </a:ln>
        </p:spPr>
      </p:sp>
      <p:sp>
        <p:nvSpPr>
          <p:cNvPr id="32" name="Text 30"/>
          <p:cNvSpPr/>
          <p:nvPr/>
        </p:nvSpPr>
        <p:spPr>
          <a:xfrm>
            <a:off x="10725912" y="4355157"/>
            <a:ext cx="365760" cy="137160"/>
          </a:xfrm>
          <a:prstGeom prst="rect">
            <a:avLst/>
          </a:prstGeom>
          <a:noFill/>
          <a:ln/>
        </p:spPr>
        <p:txBody>
          <a:bodyPr wrap="square" lIns="0" tIns="0" rIns="0" bIns="0" rtlCol="0" anchor="ctr"/>
          <a:lstStyle/>
          <a:p>
            <a:pPr algn="r" indent="0" marL="0">
              <a:buNone/>
            </a:pPr>
            <a:r>
              <a:rPr lang="en-US" sz="660" dirty="0">
                <a:solidFill>
                  <a:srgbClr val="24303F"/>
                </a:solidFill>
              </a:rPr>
              <a:t>33.0</a:t>
            </a:r>
            <a:endParaRPr lang="en-US" sz="660" dirty="0"/>
          </a:p>
        </p:txBody>
      </p:sp>
      <p:sp>
        <p:nvSpPr>
          <p:cNvPr id="33" name="Text 31"/>
          <p:cNvSpPr/>
          <p:nvPr/>
        </p:nvSpPr>
        <p:spPr>
          <a:xfrm>
            <a:off x="11384280" y="6428232"/>
            <a:ext cx="320040" cy="109728"/>
          </a:xfrm>
          <a:prstGeom prst="rect">
            <a:avLst/>
          </a:prstGeom>
          <a:noFill/>
          <a:ln/>
        </p:spPr>
        <p:txBody>
          <a:bodyPr wrap="square" lIns="0" tIns="0" rIns="0" bIns="0" rtlCol="0" anchor="ctr"/>
          <a:lstStyle/>
          <a:p>
            <a:pPr algn="r" indent="0" marL="0">
              <a:buNone/>
            </a:pPr>
            <a:r>
              <a:rPr lang="en-US" sz="700" dirty="0">
                <a:solidFill>
                  <a:srgbClr val="FFFFFF"/>
                </a:solidFill>
              </a:rPr>
              <a:t>08</a:t>
            </a:r>
            <a:endParaRPr lang="en-US" sz="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3EA"/>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4213D"/>
          </a:solidFill>
          <a:ln w="12700">
            <a:solidFill>
              <a:srgbClr val="14213D">
                <a:alpha val="0"/>
              </a:srgbClr>
            </a:solidFill>
            <a:prstDash val="solid"/>
          </a:ln>
        </p:spPr>
      </p:sp>
      <p:sp>
        <p:nvSpPr>
          <p:cNvPr id="3" name="Shape 1"/>
          <p:cNvSpPr/>
          <p:nvPr/>
        </p:nvSpPr>
        <p:spPr>
          <a:xfrm>
            <a:off x="0" y="6693408"/>
            <a:ext cx="12191695" cy="164592"/>
          </a:xfrm>
          <a:prstGeom prst="rect">
            <a:avLst/>
          </a:prstGeom>
          <a:solidFill>
            <a:srgbClr val="14213D"/>
          </a:solidFill>
          <a:ln w="12700">
            <a:solidFill>
              <a:srgbClr val="14213D">
                <a:alpha val="0"/>
              </a:srgbClr>
            </a:solidFill>
            <a:prstDash val="solid"/>
          </a:ln>
        </p:spPr>
      </p:sp>
      <p:sp>
        <p:nvSpPr>
          <p:cNvPr id="4" name="Text 2"/>
          <p:cNvSpPr/>
          <p:nvPr/>
        </p:nvSpPr>
        <p:spPr>
          <a:xfrm>
            <a:off x="502920" y="256032"/>
            <a:ext cx="4480560" cy="164592"/>
          </a:xfrm>
          <a:prstGeom prst="rect">
            <a:avLst/>
          </a:prstGeom>
          <a:noFill/>
          <a:ln/>
        </p:spPr>
        <p:txBody>
          <a:bodyPr wrap="square" lIns="0" tIns="0" rIns="0" bIns="0" rtlCol="0" anchor="ctr"/>
          <a:lstStyle/>
          <a:p>
            <a:pPr indent="0" marL="0">
              <a:buNone/>
            </a:pPr>
            <a:r>
              <a:rPr lang="en-US" sz="700" b="1" dirty="0">
                <a:solidFill>
                  <a:srgbClr val="2A9D8F"/>
                </a:solidFill>
                <a:latin typeface="Aptos" pitchFamily="34" charset="0"/>
                <a:ea typeface="Aptos" pitchFamily="34" charset="-122"/>
                <a:cs typeface="Aptos" pitchFamily="34" charset="-120"/>
              </a:rPr>
              <a:t>SECTION 2</a:t>
            </a:r>
            <a:endParaRPr lang="en-US" sz="700" dirty="0"/>
          </a:p>
        </p:txBody>
      </p:sp>
      <p:sp>
        <p:nvSpPr>
          <p:cNvPr id="5" name="Text 3"/>
          <p:cNvSpPr/>
          <p:nvPr/>
        </p:nvSpPr>
        <p:spPr>
          <a:xfrm>
            <a:off x="9281160" y="219456"/>
            <a:ext cx="2423160" cy="182880"/>
          </a:xfrm>
          <a:prstGeom prst="rect">
            <a:avLst/>
          </a:prstGeom>
          <a:noFill/>
          <a:ln/>
        </p:spPr>
        <p:txBody>
          <a:bodyPr wrap="square" lIns="0" tIns="0" rIns="0" bIns="0" rtlCol="0" anchor="ctr"/>
          <a:lstStyle/>
          <a:p>
            <a:pPr algn="r" indent="0" marL="0">
              <a:buNone/>
            </a:pPr>
            <a:r>
              <a:rPr lang="en-US" sz="700" dirty="0">
                <a:solidFill>
                  <a:srgbClr val="6D7886"/>
                </a:solidFill>
              </a:rPr>
              <a:t>Jifunze.ai skill booster</a:t>
            </a:r>
            <a:endParaRPr lang="en-US" sz="700" dirty="0"/>
          </a:p>
        </p:txBody>
      </p:sp>
      <p:sp>
        <p:nvSpPr>
          <p:cNvPr id="6" name="Text 4"/>
          <p:cNvSpPr/>
          <p:nvPr/>
        </p:nvSpPr>
        <p:spPr>
          <a:xfrm>
            <a:off x="502920" y="502920"/>
            <a:ext cx="4617720" cy="475488"/>
          </a:xfrm>
          <a:prstGeom prst="rect">
            <a:avLst/>
          </a:prstGeom>
          <a:noFill/>
          <a:ln/>
        </p:spPr>
        <p:txBody>
          <a:bodyPr wrap="square" lIns="127" tIns="127" rIns="127" bIns="127" rtlCol="0" anchor="ctr">
            <a:normAutofit/>
          </a:bodyPr>
          <a:lstStyle/>
          <a:p>
            <a:pPr indent="0" marL="0">
              <a:buNone/>
            </a:pPr>
            <a:r>
              <a:rPr lang="en-US" sz="2500" b="1" dirty="0">
                <a:solidFill>
                  <a:srgbClr val="14213D"/>
                </a:solidFill>
                <a:latin typeface="Aptos Display" pitchFamily="34" charset="0"/>
                <a:ea typeface="Aptos Display" pitchFamily="34" charset="-122"/>
                <a:cs typeface="Aptos Display" pitchFamily="34" charset="-120"/>
              </a:rPr>
              <a:t>BrightPath’s current manual workflow</a:t>
            </a:r>
            <a:endParaRPr lang="en-US" sz="2500" dirty="0"/>
          </a:p>
        </p:txBody>
      </p:sp>
      <p:sp>
        <p:nvSpPr>
          <p:cNvPr id="7" name="Text 5"/>
          <p:cNvSpPr/>
          <p:nvPr/>
        </p:nvSpPr>
        <p:spPr>
          <a:xfrm>
            <a:off x="521208" y="1005840"/>
            <a:ext cx="4617720" cy="228600"/>
          </a:xfrm>
          <a:prstGeom prst="rect">
            <a:avLst/>
          </a:prstGeom>
          <a:noFill/>
          <a:ln/>
        </p:spPr>
        <p:txBody>
          <a:bodyPr wrap="square" lIns="0" tIns="0" rIns="0" bIns="0" rtlCol="0" anchor="ctr">
            <a:normAutofit/>
          </a:bodyPr>
          <a:lstStyle/>
          <a:p>
            <a:pPr indent="0" marL="0">
              <a:buNone/>
            </a:pPr>
            <a:r>
              <a:rPr lang="en-US" sz="1080" dirty="0">
                <a:solidFill>
                  <a:srgbClr val="24303F"/>
                </a:solidFill>
              </a:rPr>
              <a:t>A process is a chain of work, not a list of tools</a:t>
            </a:r>
            <a:endParaRPr lang="en-US" sz="1080" dirty="0"/>
          </a:p>
        </p:txBody>
      </p:sp>
      <p:sp>
        <p:nvSpPr>
          <p:cNvPr id="8" name="Text 6"/>
          <p:cNvSpPr/>
          <p:nvPr/>
        </p:nvSpPr>
        <p:spPr>
          <a:xfrm>
            <a:off x="594360" y="1417320"/>
            <a:ext cx="4617720" cy="4343400"/>
          </a:xfrm>
          <a:prstGeom prst="rect">
            <a:avLst/>
          </a:prstGeom>
          <a:noFill/>
          <a:ln/>
        </p:spPr>
        <p:txBody>
          <a:bodyPr wrap="square" lIns="635" tIns="635" rIns="635" bIns="635" rtlCol="0" anchor="ctr">
            <a:normAutofit/>
          </a:bodyPr>
          <a:lstStyle/>
          <a:p>
            <a:r>
              <a:rPr lang="en-US" sz="1450" dirty="0">
                <a:solidFill>
                  <a:srgbClr val="24303F"/>
                </a:solidFill>
              </a:rPr>
              <a:t>• Enquiry arrives in email or WhatsApp</a:t>
            </a:r>
            <a:endParaRPr lang="en-US" sz="1450" dirty="0"/>
          </a:p>
          <a:p>
            <a:r>
              <a:rPr lang="en-US" sz="1450" dirty="0">
                <a:solidFill>
                  <a:srgbClr val="24303F"/>
                </a:solidFill>
              </a:rPr>
              <a:t>• Admin sends course information manually</a:t>
            </a:r>
            <a:endParaRPr lang="en-US" sz="1450" dirty="0"/>
          </a:p>
          <a:p>
            <a:r>
              <a:rPr lang="en-US" sz="1450" dirty="0">
                <a:solidFill>
                  <a:srgbClr val="24303F"/>
                </a:solidFill>
              </a:rPr>
              <a:t>• Registration is entered in a spreadsheet</a:t>
            </a:r>
            <a:endParaRPr lang="en-US" sz="1450" dirty="0"/>
          </a:p>
          <a:p>
            <a:r>
              <a:rPr lang="en-US" sz="1450" dirty="0">
                <a:solidFill>
                  <a:srgbClr val="24303F"/>
                </a:solidFill>
              </a:rPr>
              <a:t>• Payment is confirmed from screenshot or message</a:t>
            </a:r>
            <a:endParaRPr lang="en-US" sz="1450" dirty="0"/>
          </a:p>
          <a:p>
            <a:r>
              <a:rPr lang="en-US" sz="1450" dirty="0">
                <a:solidFill>
                  <a:srgbClr val="24303F"/>
                </a:solidFill>
              </a:rPr>
              <a:t>• Coordinator sends reminders and attendance tracking</a:t>
            </a:r>
            <a:endParaRPr lang="en-US" sz="1450" dirty="0"/>
          </a:p>
          <a:p>
            <a:r>
              <a:rPr lang="en-US" sz="1450" dirty="0">
                <a:solidFill>
                  <a:srgbClr val="24303F"/>
                </a:solidFill>
              </a:rPr>
              <a:t>• Certificates and feedback are handled after class</a:t>
            </a:r>
            <a:endParaRPr lang="en-US" sz="1450" dirty="0"/>
          </a:p>
        </p:txBody>
      </p:sp>
      <p:sp>
        <p:nvSpPr>
          <p:cNvPr id="9" name="Shape 7"/>
          <p:cNvSpPr/>
          <p:nvPr/>
        </p:nvSpPr>
        <p:spPr>
          <a:xfrm>
            <a:off x="5486400" y="1828800"/>
            <a:ext cx="1141720" cy="493776"/>
          </a:xfrm>
          <a:prstGeom prst="roundRect">
            <a:avLst>
              <a:gd name="adj" fmla="val 14815"/>
            </a:avLst>
          </a:prstGeom>
          <a:solidFill>
            <a:srgbClr val="FFFFFF"/>
          </a:solidFill>
          <a:ln w="12700">
            <a:solidFill>
              <a:srgbClr val="C9A44C"/>
            </a:solidFill>
            <a:prstDash val="solid"/>
          </a:ln>
        </p:spPr>
      </p:sp>
      <p:sp>
        <p:nvSpPr>
          <p:cNvPr id="10" name="Text 8"/>
          <p:cNvSpPr/>
          <p:nvPr/>
        </p:nvSpPr>
        <p:spPr>
          <a:xfrm>
            <a:off x="5596128" y="1920240"/>
            <a:ext cx="922264" cy="329184"/>
          </a:xfrm>
          <a:prstGeom prst="rect">
            <a:avLst/>
          </a:prstGeom>
          <a:noFill/>
          <a:ln/>
        </p:spPr>
        <p:txBody>
          <a:bodyPr wrap="square" lIns="127" tIns="127" rIns="127" bIns="127" rtlCol="0" anchor="ctr">
            <a:normAutofit/>
          </a:bodyPr>
          <a:lstStyle/>
          <a:p>
            <a:pPr indent="0" marL="0">
              <a:buNone/>
            </a:pPr>
            <a:r>
              <a:rPr lang="en-US" sz="760" b="1" dirty="0">
                <a:solidFill>
                  <a:srgbClr val="24303F"/>
                </a:solidFill>
              </a:rPr>
              <a:t>Enquiry</a:t>
            </a:r>
            <a:endParaRPr lang="en-US" sz="760" dirty="0"/>
          </a:p>
        </p:txBody>
      </p:sp>
      <p:sp>
        <p:nvSpPr>
          <p:cNvPr id="11" name="Shape 9"/>
          <p:cNvSpPr/>
          <p:nvPr/>
        </p:nvSpPr>
        <p:spPr>
          <a:xfrm>
            <a:off x="6628120" y="2075688"/>
            <a:ext cx="109728" cy="0"/>
          </a:xfrm>
          <a:prstGeom prst="line">
            <a:avLst/>
          </a:prstGeom>
          <a:noFill/>
          <a:ln w="12700">
            <a:solidFill>
              <a:srgbClr val="2A9D8F"/>
            </a:solidFill>
            <a:prstDash val="solid"/>
            <a:headEnd type="none"/>
            <a:tailEnd type="triangle"/>
          </a:ln>
        </p:spPr>
      </p:sp>
      <p:sp>
        <p:nvSpPr>
          <p:cNvPr id="12" name="Shape 10"/>
          <p:cNvSpPr/>
          <p:nvPr/>
        </p:nvSpPr>
        <p:spPr>
          <a:xfrm>
            <a:off x="6774424" y="1828800"/>
            <a:ext cx="1141720" cy="493776"/>
          </a:xfrm>
          <a:prstGeom prst="roundRect">
            <a:avLst>
              <a:gd name="adj" fmla="val 14815"/>
            </a:avLst>
          </a:prstGeom>
          <a:solidFill>
            <a:srgbClr val="FFFFFF"/>
          </a:solidFill>
          <a:ln w="12700">
            <a:solidFill>
              <a:srgbClr val="C9A44C"/>
            </a:solidFill>
            <a:prstDash val="solid"/>
          </a:ln>
        </p:spPr>
      </p:sp>
      <p:sp>
        <p:nvSpPr>
          <p:cNvPr id="13" name="Text 11"/>
          <p:cNvSpPr/>
          <p:nvPr/>
        </p:nvSpPr>
        <p:spPr>
          <a:xfrm>
            <a:off x="6884152" y="1920240"/>
            <a:ext cx="922264" cy="329184"/>
          </a:xfrm>
          <a:prstGeom prst="rect">
            <a:avLst/>
          </a:prstGeom>
          <a:noFill/>
          <a:ln/>
        </p:spPr>
        <p:txBody>
          <a:bodyPr wrap="square" lIns="127" tIns="127" rIns="127" bIns="127" rtlCol="0" anchor="ctr">
            <a:normAutofit/>
          </a:bodyPr>
          <a:lstStyle/>
          <a:p>
            <a:pPr indent="0" marL="0">
              <a:buNone/>
            </a:pPr>
            <a:r>
              <a:rPr lang="en-US" sz="760" b="1" dirty="0">
                <a:solidFill>
                  <a:srgbClr val="24303F"/>
                </a:solidFill>
              </a:rPr>
              <a:t>Info</a:t>
            </a:r>
            <a:endParaRPr lang="en-US" sz="760" dirty="0"/>
          </a:p>
        </p:txBody>
      </p:sp>
      <p:sp>
        <p:nvSpPr>
          <p:cNvPr id="14" name="Shape 12"/>
          <p:cNvSpPr/>
          <p:nvPr/>
        </p:nvSpPr>
        <p:spPr>
          <a:xfrm>
            <a:off x="7916144" y="2075688"/>
            <a:ext cx="109728" cy="0"/>
          </a:xfrm>
          <a:prstGeom prst="line">
            <a:avLst/>
          </a:prstGeom>
          <a:noFill/>
          <a:ln w="12700">
            <a:solidFill>
              <a:srgbClr val="2A9D8F"/>
            </a:solidFill>
            <a:prstDash val="solid"/>
            <a:headEnd type="none"/>
            <a:tailEnd type="triangle"/>
          </a:ln>
        </p:spPr>
      </p:sp>
      <p:sp>
        <p:nvSpPr>
          <p:cNvPr id="15" name="Shape 13"/>
          <p:cNvSpPr/>
          <p:nvPr/>
        </p:nvSpPr>
        <p:spPr>
          <a:xfrm>
            <a:off x="8062448" y="1828800"/>
            <a:ext cx="1141720" cy="493776"/>
          </a:xfrm>
          <a:prstGeom prst="roundRect">
            <a:avLst>
              <a:gd name="adj" fmla="val 14815"/>
            </a:avLst>
          </a:prstGeom>
          <a:solidFill>
            <a:srgbClr val="FFFFFF"/>
          </a:solidFill>
          <a:ln w="12700">
            <a:solidFill>
              <a:srgbClr val="C9A44C"/>
            </a:solidFill>
            <a:prstDash val="solid"/>
          </a:ln>
        </p:spPr>
      </p:sp>
      <p:sp>
        <p:nvSpPr>
          <p:cNvPr id="16" name="Text 14"/>
          <p:cNvSpPr/>
          <p:nvPr/>
        </p:nvSpPr>
        <p:spPr>
          <a:xfrm>
            <a:off x="8172176" y="1920240"/>
            <a:ext cx="922264" cy="329184"/>
          </a:xfrm>
          <a:prstGeom prst="rect">
            <a:avLst/>
          </a:prstGeom>
          <a:noFill/>
          <a:ln/>
        </p:spPr>
        <p:txBody>
          <a:bodyPr wrap="square" lIns="127" tIns="127" rIns="127" bIns="127" rtlCol="0" anchor="ctr">
            <a:normAutofit/>
          </a:bodyPr>
          <a:lstStyle/>
          <a:p>
            <a:pPr indent="0" marL="0">
              <a:buNone/>
            </a:pPr>
            <a:r>
              <a:rPr lang="en-US" sz="760" b="1" dirty="0">
                <a:solidFill>
                  <a:srgbClr val="24303F"/>
                </a:solidFill>
              </a:rPr>
              <a:t>Register</a:t>
            </a:r>
            <a:endParaRPr lang="en-US" sz="760" dirty="0"/>
          </a:p>
        </p:txBody>
      </p:sp>
      <p:sp>
        <p:nvSpPr>
          <p:cNvPr id="17" name="Shape 15"/>
          <p:cNvSpPr/>
          <p:nvPr/>
        </p:nvSpPr>
        <p:spPr>
          <a:xfrm>
            <a:off x="9204168" y="2075688"/>
            <a:ext cx="109728" cy="0"/>
          </a:xfrm>
          <a:prstGeom prst="line">
            <a:avLst/>
          </a:prstGeom>
          <a:noFill/>
          <a:ln w="12700">
            <a:solidFill>
              <a:srgbClr val="2A9D8F"/>
            </a:solidFill>
            <a:prstDash val="solid"/>
            <a:headEnd type="none"/>
            <a:tailEnd type="triangle"/>
          </a:ln>
        </p:spPr>
      </p:sp>
      <p:sp>
        <p:nvSpPr>
          <p:cNvPr id="18" name="Shape 16"/>
          <p:cNvSpPr/>
          <p:nvPr/>
        </p:nvSpPr>
        <p:spPr>
          <a:xfrm>
            <a:off x="9350472" y="1828800"/>
            <a:ext cx="1141720" cy="493776"/>
          </a:xfrm>
          <a:prstGeom prst="roundRect">
            <a:avLst>
              <a:gd name="adj" fmla="val 14815"/>
            </a:avLst>
          </a:prstGeom>
          <a:solidFill>
            <a:srgbClr val="FFFFFF"/>
          </a:solidFill>
          <a:ln w="12700">
            <a:solidFill>
              <a:srgbClr val="C9A44C"/>
            </a:solidFill>
            <a:prstDash val="solid"/>
          </a:ln>
        </p:spPr>
      </p:sp>
      <p:sp>
        <p:nvSpPr>
          <p:cNvPr id="19" name="Text 17"/>
          <p:cNvSpPr/>
          <p:nvPr/>
        </p:nvSpPr>
        <p:spPr>
          <a:xfrm>
            <a:off x="9460200" y="1920240"/>
            <a:ext cx="922264" cy="329184"/>
          </a:xfrm>
          <a:prstGeom prst="rect">
            <a:avLst/>
          </a:prstGeom>
          <a:noFill/>
          <a:ln/>
        </p:spPr>
        <p:txBody>
          <a:bodyPr wrap="square" lIns="127" tIns="127" rIns="127" bIns="127" rtlCol="0" anchor="ctr">
            <a:normAutofit/>
          </a:bodyPr>
          <a:lstStyle/>
          <a:p>
            <a:pPr indent="0" marL="0">
              <a:buNone/>
            </a:pPr>
            <a:r>
              <a:rPr lang="en-US" sz="760" b="1" dirty="0">
                <a:solidFill>
                  <a:srgbClr val="24303F"/>
                </a:solidFill>
              </a:rPr>
              <a:t>Payment</a:t>
            </a:r>
            <a:endParaRPr lang="en-US" sz="760" dirty="0"/>
          </a:p>
        </p:txBody>
      </p:sp>
      <p:sp>
        <p:nvSpPr>
          <p:cNvPr id="20" name="Shape 18"/>
          <p:cNvSpPr/>
          <p:nvPr/>
        </p:nvSpPr>
        <p:spPr>
          <a:xfrm>
            <a:off x="10492191" y="2075688"/>
            <a:ext cx="109728" cy="0"/>
          </a:xfrm>
          <a:prstGeom prst="line">
            <a:avLst/>
          </a:prstGeom>
          <a:noFill/>
          <a:ln w="12700">
            <a:solidFill>
              <a:srgbClr val="2A9D8F"/>
            </a:solidFill>
            <a:prstDash val="solid"/>
            <a:headEnd type="none"/>
            <a:tailEnd type="triangle"/>
          </a:ln>
        </p:spPr>
      </p:sp>
      <p:sp>
        <p:nvSpPr>
          <p:cNvPr id="21" name="Shape 19"/>
          <p:cNvSpPr/>
          <p:nvPr/>
        </p:nvSpPr>
        <p:spPr>
          <a:xfrm>
            <a:off x="10638495" y="1828800"/>
            <a:ext cx="1141720" cy="493776"/>
          </a:xfrm>
          <a:prstGeom prst="roundRect">
            <a:avLst>
              <a:gd name="adj" fmla="val 14815"/>
            </a:avLst>
          </a:prstGeom>
          <a:solidFill>
            <a:srgbClr val="FFFFFF"/>
          </a:solidFill>
          <a:ln w="12700">
            <a:solidFill>
              <a:srgbClr val="C9A44C"/>
            </a:solidFill>
            <a:prstDash val="solid"/>
          </a:ln>
        </p:spPr>
      </p:sp>
      <p:sp>
        <p:nvSpPr>
          <p:cNvPr id="22" name="Text 20"/>
          <p:cNvSpPr/>
          <p:nvPr/>
        </p:nvSpPr>
        <p:spPr>
          <a:xfrm>
            <a:off x="10748223" y="1920240"/>
            <a:ext cx="922264" cy="329184"/>
          </a:xfrm>
          <a:prstGeom prst="rect">
            <a:avLst/>
          </a:prstGeom>
          <a:noFill/>
          <a:ln/>
        </p:spPr>
        <p:txBody>
          <a:bodyPr wrap="square" lIns="127" tIns="127" rIns="127" bIns="127" rtlCol="0" anchor="ctr">
            <a:normAutofit/>
          </a:bodyPr>
          <a:lstStyle/>
          <a:p>
            <a:pPr indent="0" marL="0">
              <a:buNone/>
            </a:pPr>
            <a:r>
              <a:rPr lang="en-US" sz="760" b="1" dirty="0">
                <a:solidFill>
                  <a:srgbClr val="24303F"/>
                </a:solidFill>
              </a:rPr>
              <a:t>Reminder</a:t>
            </a:r>
            <a:endParaRPr lang="en-US" sz="760" dirty="0"/>
          </a:p>
        </p:txBody>
      </p:sp>
      <p:sp>
        <p:nvSpPr>
          <p:cNvPr id="23" name="Shape 21"/>
          <p:cNvSpPr/>
          <p:nvPr/>
        </p:nvSpPr>
        <p:spPr>
          <a:xfrm>
            <a:off x="5486400" y="2926080"/>
            <a:ext cx="1141720" cy="493776"/>
          </a:xfrm>
          <a:prstGeom prst="roundRect">
            <a:avLst>
              <a:gd name="adj" fmla="val 14815"/>
            </a:avLst>
          </a:prstGeom>
          <a:solidFill>
            <a:srgbClr val="FFFFFF"/>
          </a:solidFill>
          <a:ln w="12700">
            <a:solidFill>
              <a:srgbClr val="C9A44C"/>
            </a:solidFill>
            <a:prstDash val="solid"/>
          </a:ln>
        </p:spPr>
      </p:sp>
      <p:sp>
        <p:nvSpPr>
          <p:cNvPr id="24" name="Text 22"/>
          <p:cNvSpPr/>
          <p:nvPr/>
        </p:nvSpPr>
        <p:spPr>
          <a:xfrm>
            <a:off x="5596128" y="3017520"/>
            <a:ext cx="922264" cy="329184"/>
          </a:xfrm>
          <a:prstGeom prst="rect">
            <a:avLst/>
          </a:prstGeom>
          <a:noFill/>
          <a:ln/>
        </p:spPr>
        <p:txBody>
          <a:bodyPr wrap="square" lIns="127" tIns="127" rIns="127" bIns="127" rtlCol="0" anchor="ctr">
            <a:normAutofit/>
          </a:bodyPr>
          <a:lstStyle/>
          <a:p>
            <a:pPr indent="0" marL="0">
              <a:buNone/>
            </a:pPr>
            <a:r>
              <a:rPr lang="en-US" sz="760" b="1" dirty="0">
                <a:solidFill>
                  <a:srgbClr val="24303F"/>
                </a:solidFill>
              </a:rPr>
              <a:t>Class</a:t>
            </a:r>
            <a:endParaRPr lang="en-US" sz="760" dirty="0"/>
          </a:p>
        </p:txBody>
      </p:sp>
      <p:sp>
        <p:nvSpPr>
          <p:cNvPr id="25" name="Shape 23"/>
          <p:cNvSpPr/>
          <p:nvPr/>
        </p:nvSpPr>
        <p:spPr>
          <a:xfrm>
            <a:off x="6628120" y="3172968"/>
            <a:ext cx="109728" cy="0"/>
          </a:xfrm>
          <a:prstGeom prst="line">
            <a:avLst/>
          </a:prstGeom>
          <a:noFill/>
          <a:ln w="12700">
            <a:solidFill>
              <a:srgbClr val="2A9D8F"/>
            </a:solidFill>
            <a:prstDash val="solid"/>
            <a:headEnd type="none"/>
            <a:tailEnd type="triangle"/>
          </a:ln>
        </p:spPr>
      </p:sp>
      <p:sp>
        <p:nvSpPr>
          <p:cNvPr id="26" name="Shape 24"/>
          <p:cNvSpPr/>
          <p:nvPr/>
        </p:nvSpPr>
        <p:spPr>
          <a:xfrm>
            <a:off x="6774424" y="2926080"/>
            <a:ext cx="1141720" cy="493776"/>
          </a:xfrm>
          <a:prstGeom prst="roundRect">
            <a:avLst>
              <a:gd name="adj" fmla="val 14815"/>
            </a:avLst>
          </a:prstGeom>
          <a:solidFill>
            <a:srgbClr val="FFFFFF"/>
          </a:solidFill>
          <a:ln w="12700">
            <a:solidFill>
              <a:srgbClr val="C9A44C"/>
            </a:solidFill>
            <a:prstDash val="solid"/>
          </a:ln>
        </p:spPr>
      </p:sp>
      <p:sp>
        <p:nvSpPr>
          <p:cNvPr id="27" name="Text 25"/>
          <p:cNvSpPr/>
          <p:nvPr/>
        </p:nvSpPr>
        <p:spPr>
          <a:xfrm>
            <a:off x="6884152" y="3017520"/>
            <a:ext cx="922264" cy="329184"/>
          </a:xfrm>
          <a:prstGeom prst="rect">
            <a:avLst/>
          </a:prstGeom>
          <a:noFill/>
          <a:ln/>
        </p:spPr>
        <p:txBody>
          <a:bodyPr wrap="square" lIns="127" tIns="127" rIns="127" bIns="127" rtlCol="0" anchor="ctr">
            <a:normAutofit/>
          </a:bodyPr>
          <a:lstStyle/>
          <a:p>
            <a:pPr indent="0" marL="0">
              <a:buNone/>
            </a:pPr>
            <a:r>
              <a:rPr lang="en-US" sz="760" b="1" dirty="0">
                <a:solidFill>
                  <a:srgbClr val="24303F"/>
                </a:solidFill>
              </a:rPr>
              <a:t>Attendance</a:t>
            </a:r>
            <a:endParaRPr lang="en-US" sz="760" dirty="0"/>
          </a:p>
        </p:txBody>
      </p:sp>
      <p:sp>
        <p:nvSpPr>
          <p:cNvPr id="28" name="Shape 26"/>
          <p:cNvSpPr/>
          <p:nvPr/>
        </p:nvSpPr>
        <p:spPr>
          <a:xfrm>
            <a:off x="7916144" y="3172968"/>
            <a:ext cx="109728" cy="0"/>
          </a:xfrm>
          <a:prstGeom prst="line">
            <a:avLst/>
          </a:prstGeom>
          <a:noFill/>
          <a:ln w="12700">
            <a:solidFill>
              <a:srgbClr val="2A9D8F"/>
            </a:solidFill>
            <a:prstDash val="solid"/>
            <a:headEnd type="none"/>
            <a:tailEnd type="triangle"/>
          </a:ln>
        </p:spPr>
      </p:sp>
      <p:sp>
        <p:nvSpPr>
          <p:cNvPr id="29" name="Shape 27"/>
          <p:cNvSpPr/>
          <p:nvPr/>
        </p:nvSpPr>
        <p:spPr>
          <a:xfrm>
            <a:off x="8062448" y="2926080"/>
            <a:ext cx="1141720" cy="493776"/>
          </a:xfrm>
          <a:prstGeom prst="roundRect">
            <a:avLst>
              <a:gd name="adj" fmla="val 14815"/>
            </a:avLst>
          </a:prstGeom>
          <a:solidFill>
            <a:srgbClr val="FFFFFF"/>
          </a:solidFill>
          <a:ln w="12700">
            <a:solidFill>
              <a:srgbClr val="C9A44C"/>
            </a:solidFill>
            <a:prstDash val="solid"/>
          </a:ln>
        </p:spPr>
      </p:sp>
      <p:sp>
        <p:nvSpPr>
          <p:cNvPr id="30" name="Text 28"/>
          <p:cNvSpPr/>
          <p:nvPr/>
        </p:nvSpPr>
        <p:spPr>
          <a:xfrm>
            <a:off x="8172176" y="3017520"/>
            <a:ext cx="922264" cy="329184"/>
          </a:xfrm>
          <a:prstGeom prst="rect">
            <a:avLst/>
          </a:prstGeom>
          <a:noFill/>
          <a:ln/>
        </p:spPr>
        <p:txBody>
          <a:bodyPr wrap="square" lIns="127" tIns="127" rIns="127" bIns="127" rtlCol="0" anchor="ctr">
            <a:normAutofit/>
          </a:bodyPr>
          <a:lstStyle/>
          <a:p>
            <a:pPr indent="0" marL="0">
              <a:buNone/>
            </a:pPr>
            <a:r>
              <a:rPr lang="en-US" sz="760" b="1" dirty="0">
                <a:solidFill>
                  <a:srgbClr val="24303F"/>
                </a:solidFill>
              </a:rPr>
              <a:t>Certificate</a:t>
            </a:r>
            <a:endParaRPr lang="en-US" sz="760" dirty="0"/>
          </a:p>
        </p:txBody>
      </p:sp>
      <p:sp>
        <p:nvSpPr>
          <p:cNvPr id="31" name="Shape 29"/>
          <p:cNvSpPr/>
          <p:nvPr/>
        </p:nvSpPr>
        <p:spPr>
          <a:xfrm>
            <a:off x="9204168" y="3172968"/>
            <a:ext cx="109728" cy="0"/>
          </a:xfrm>
          <a:prstGeom prst="line">
            <a:avLst/>
          </a:prstGeom>
          <a:noFill/>
          <a:ln w="12700">
            <a:solidFill>
              <a:srgbClr val="2A9D8F"/>
            </a:solidFill>
            <a:prstDash val="solid"/>
            <a:headEnd type="none"/>
            <a:tailEnd type="triangle"/>
          </a:ln>
        </p:spPr>
      </p:sp>
      <p:sp>
        <p:nvSpPr>
          <p:cNvPr id="32" name="Shape 30"/>
          <p:cNvSpPr/>
          <p:nvPr/>
        </p:nvSpPr>
        <p:spPr>
          <a:xfrm>
            <a:off x="9350472" y="2926080"/>
            <a:ext cx="1141720" cy="493776"/>
          </a:xfrm>
          <a:prstGeom prst="roundRect">
            <a:avLst>
              <a:gd name="adj" fmla="val 14815"/>
            </a:avLst>
          </a:prstGeom>
          <a:solidFill>
            <a:srgbClr val="FFFFFF"/>
          </a:solidFill>
          <a:ln w="12700">
            <a:solidFill>
              <a:srgbClr val="C9A44C"/>
            </a:solidFill>
            <a:prstDash val="solid"/>
          </a:ln>
        </p:spPr>
      </p:sp>
      <p:sp>
        <p:nvSpPr>
          <p:cNvPr id="33" name="Text 31"/>
          <p:cNvSpPr/>
          <p:nvPr/>
        </p:nvSpPr>
        <p:spPr>
          <a:xfrm>
            <a:off x="9460200" y="3017520"/>
            <a:ext cx="922264" cy="329184"/>
          </a:xfrm>
          <a:prstGeom prst="rect">
            <a:avLst/>
          </a:prstGeom>
          <a:noFill/>
          <a:ln/>
        </p:spPr>
        <p:txBody>
          <a:bodyPr wrap="square" lIns="127" tIns="127" rIns="127" bIns="127" rtlCol="0" anchor="ctr">
            <a:normAutofit/>
          </a:bodyPr>
          <a:lstStyle/>
          <a:p>
            <a:pPr indent="0" marL="0">
              <a:buNone/>
            </a:pPr>
            <a:r>
              <a:rPr lang="en-US" sz="760" b="1" dirty="0">
                <a:solidFill>
                  <a:srgbClr val="24303F"/>
                </a:solidFill>
              </a:rPr>
              <a:t>Feedback</a:t>
            </a:r>
            <a:endParaRPr lang="en-US" sz="760" dirty="0"/>
          </a:p>
        </p:txBody>
      </p:sp>
      <p:sp>
        <p:nvSpPr>
          <p:cNvPr id="34" name="Shape 32"/>
          <p:cNvSpPr/>
          <p:nvPr/>
        </p:nvSpPr>
        <p:spPr>
          <a:xfrm>
            <a:off x="10492191" y="3172968"/>
            <a:ext cx="109728" cy="0"/>
          </a:xfrm>
          <a:prstGeom prst="line">
            <a:avLst/>
          </a:prstGeom>
          <a:noFill/>
          <a:ln w="12700">
            <a:solidFill>
              <a:srgbClr val="2A9D8F"/>
            </a:solidFill>
            <a:prstDash val="solid"/>
            <a:headEnd type="none"/>
            <a:tailEnd type="triangle"/>
          </a:ln>
        </p:spPr>
      </p:sp>
      <p:sp>
        <p:nvSpPr>
          <p:cNvPr id="35" name="Shape 33"/>
          <p:cNvSpPr/>
          <p:nvPr/>
        </p:nvSpPr>
        <p:spPr>
          <a:xfrm>
            <a:off x="10638495" y="2926080"/>
            <a:ext cx="1141720" cy="493776"/>
          </a:xfrm>
          <a:prstGeom prst="roundRect">
            <a:avLst>
              <a:gd name="adj" fmla="val 14815"/>
            </a:avLst>
          </a:prstGeom>
          <a:solidFill>
            <a:srgbClr val="FFFFFF"/>
          </a:solidFill>
          <a:ln w="12700">
            <a:solidFill>
              <a:srgbClr val="C9A44C"/>
            </a:solidFill>
            <a:prstDash val="solid"/>
          </a:ln>
        </p:spPr>
      </p:sp>
      <p:sp>
        <p:nvSpPr>
          <p:cNvPr id="36" name="Text 34"/>
          <p:cNvSpPr/>
          <p:nvPr/>
        </p:nvSpPr>
        <p:spPr>
          <a:xfrm>
            <a:off x="10748223" y="3017520"/>
            <a:ext cx="922264" cy="329184"/>
          </a:xfrm>
          <a:prstGeom prst="rect">
            <a:avLst/>
          </a:prstGeom>
          <a:noFill/>
          <a:ln/>
        </p:spPr>
        <p:txBody>
          <a:bodyPr wrap="square" lIns="127" tIns="127" rIns="127" bIns="127" rtlCol="0" anchor="ctr">
            <a:normAutofit/>
          </a:bodyPr>
          <a:lstStyle/>
          <a:p>
            <a:pPr indent="0" marL="0">
              <a:buNone/>
            </a:pPr>
            <a:r>
              <a:rPr lang="en-US" sz="760" b="1" dirty="0">
                <a:solidFill>
                  <a:srgbClr val="24303F"/>
                </a:solidFill>
              </a:rPr>
              <a:t>Close</a:t>
            </a:r>
            <a:endParaRPr lang="en-US" sz="760" dirty="0"/>
          </a:p>
        </p:txBody>
      </p:sp>
      <p:sp>
        <p:nvSpPr>
          <p:cNvPr id="37" name="Text 35"/>
          <p:cNvSpPr/>
          <p:nvPr/>
        </p:nvSpPr>
        <p:spPr>
          <a:xfrm>
            <a:off x="11384280" y="6428232"/>
            <a:ext cx="320040" cy="109728"/>
          </a:xfrm>
          <a:prstGeom prst="rect">
            <a:avLst/>
          </a:prstGeom>
          <a:noFill/>
          <a:ln/>
        </p:spPr>
        <p:txBody>
          <a:bodyPr wrap="square" lIns="0" tIns="0" rIns="0" bIns="0" rtlCol="0" anchor="ctr"/>
          <a:lstStyle/>
          <a:p>
            <a:pPr algn="r" indent="0" marL="0">
              <a:buNone/>
            </a:pPr>
            <a:r>
              <a:rPr lang="en-US" sz="700" dirty="0">
                <a:solidFill>
                  <a:srgbClr val="FFFFFF"/>
                </a:solidFill>
              </a:rPr>
              <a:t>09</a:t>
            </a:r>
            <a:endParaRPr lang="en-US" sz="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3EA"/>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4213D"/>
          </a:solidFill>
          <a:ln w="12700">
            <a:solidFill>
              <a:srgbClr val="14213D">
                <a:alpha val="0"/>
              </a:srgbClr>
            </a:solidFill>
            <a:prstDash val="solid"/>
          </a:ln>
        </p:spPr>
      </p:sp>
      <p:sp>
        <p:nvSpPr>
          <p:cNvPr id="3" name="Shape 1"/>
          <p:cNvSpPr/>
          <p:nvPr/>
        </p:nvSpPr>
        <p:spPr>
          <a:xfrm>
            <a:off x="0" y="6693408"/>
            <a:ext cx="12191695" cy="164592"/>
          </a:xfrm>
          <a:prstGeom prst="rect">
            <a:avLst/>
          </a:prstGeom>
          <a:solidFill>
            <a:srgbClr val="14213D"/>
          </a:solidFill>
          <a:ln w="12700">
            <a:solidFill>
              <a:srgbClr val="14213D">
                <a:alpha val="0"/>
              </a:srgbClr>
            </a:solidFill>
            <a:prstDash val="solid"/>
          </a:ln>
        </p:spPr>
      </p:sp>
      <p:sp>
        <p:nvSpPr>
          <p:cNvPr id="4" name="Text 2"/>
          <p:cNvSpPr/>
          <p:nvPr/>
        </p:nvSpPr>
        <p:spPr>
          <a:xfrm>
            <a:off x="502920" y="256032"/>
            <a:ext cx="4480560" cy="164592"/>
          </a:xfrm>
          <a:prstGeom prst="rect">
            <a:avLst/>
          </a:prstGeom>
          <a:noFill/>
          <a:ln/>
        </p:spPr>
        <p:txBody>
          <a:bodyPr wrap="square" lIns="0" tIns="0" rIns="0" bIns="0" rtlCol="0" anchor="ctr"/>
          <a:lstStyle/>
          <a:p>
            <a:pPr indent="0" marL="0">
              <a:buNone/>
            </a:pPr>
            <a:r>
              <a:rPr lang="en-US" sz="700" b="1" dirty="0">
                <a:solidFill>
                  <a:srgbClr val="2A9D8F"/>
                </a:solidFill>
                <a:latin typeface="Aptos" pitchFamily="34" charset="0"/>
                <a:ea typeface="Aptos" pitchFamily="34" charset="-122"/>
                <a:cs typeface="Aptos" pitchFamily="34" charset="-120"/>
              </a:rPr>
              <a:t>SECTION 2</a:t>
            </a:r>
            <a:endParaRPr lang="en-US" sz="700" dirty="0"/>
          </a:p>
        </p:txBody>
      </p:sp>
      <p:sp>
        <p:nvSpPr>
          <p:cNvPr id="5" name="Text 3"/>
          <p:cNvSpPr/>
          <p:nvPr/>
        </p:nvSpPr>
        <p:spPr>
          <a:xfrm>
            <a:off x="9281160" y="219456"/>
            <a:ext cx="2423160" cy="182880"/>
          </a:xfrm>
          <a:prstGeom prst="rect">
            <a:avLst/>
          </a:prstGeom>
          <a:noFill/>
          <a:ln/>
        </p:spPr>
        <p:txBody>
          <a:bodyPr wrap="square" lIns="0" tIns="0" rIns="0" bIns="0" rtlCol="0" anchor="ctr"/>
          <a:lstStyle/>
          <a:p>
            <a:pPr algn="r" indent="0" marL="0">
              <a:buNone/>
            </a:pPr>
            <a:r>
              <a:rPr lang="en-US" sz="700" dirty="0">
                <a:solidFill>
                  <a:srgbClr val="6D7886"/>
                </a:solidFill>
              </a:rPr>
              <a:t>Jifunze.ai skill booster</a:t>
            </a:r>
            <a:endParaRPr lang="en-US" sz="700" dirty="0"/>
          </a:p>
        </p:txBody>
      </p:sp>
      <p:sp>
        <p:nvSpPr>
          <p:cNvPr id="6" name="Text 4"/>
          <p:cNvSpPr/>
          <p:nvPr/>
        </p:nvSpPr>
        <p:spPr>
          <a:xfrm>
            <a:off x="502920" y="502920"/>
            <a:ext cx="4617720" cy="475488"/>
          </a:xfrm>
          <a:prstGeom prst="rect">
            <a:avLst/>
          </a:prstGeom>
          <a:noFill/>
          <a:ln/>
        </p:spPr>
        <p:txBody>
          <a:bodyPr wrap="square" lIns="127" tIns="127" rIns="127" bIns="127" rtlCol="0" anchor="ctr">
            <a:normAutofit/>
          </a:bodyPr>
          <a:lstStyle/>
          <a:p>
            <a:pPr indent="0" marL="0">
              <a:buNone/>
            </a:pPr>
            <a:r>
              <a:rPr lang="en-US" sz="2500" b="1" dirty="0">
                <a:solidFill>
                  <a:srgbClr val="14213D"/>
                </a:solidFill>
                <a:latin typeface="Aptos Display" pitchFamily="34" charset="0"/>
                <a:ea typeface="Aptos Display" pitchFamily="34" charset="-122"/>
                <a:cs typeface="Aptos Display" pitchFamily="34" charset="-120"/>
              </a:rPr>
              <a:t>Before workflow map</a:t>
            </a:r>
            <a:endParaRPr lang="en-US" sz="2500" dirty="0"/>
          </a:p>
        </p:txBody>
      </p:sp>
      <p:sp>
        <p:nvSpPr>
          <p:cNvPr id="7" name="Text 5"/>
          <p:cNvSpPr/>
          <p:nvPr/>
        </p:nvSpPr>
        <p:spPr>
          <a:xfrm>
            <a:off x="521208" y="1005840"/>
            <a:ext cx="4617720" cy="228600"/>
          </a:xfrm>
          <a:prstGeom prst="rect">
            <a:avLst/>
          </a:prstGeom>
          <a:noFill/>
          <a:ln/>
        </p:spPr>
        <p:txBody>
          <a:bodyPr wrap="square" lIns="0" tIns="0" rIns="0" bIns="0" rtlCol="0" anchor="ctr">
            <a:normAutofit/>
          </a:bodyPr>
          <a:lstStyle/>
          <a:p>
            <a:pPr indent="0" marL="0">
              <a:buNone/>
            </a:pPr>
            <a:r>
              <a:rPr lang="en-US" sz="1080" dirty="0">
                <a:solidFill>
                  <a:srgbClr val="24303F"/>
                </a:solidFill>
              </a:rPr>
              <a:t>Current state: many manual handoffs and follow-ups</a:t>
            </a:r>
            <a:endParaRPr lang="en-US" sz="1080" dirty="0"/>
          </a:p>
        </p:txBody>
      </p:sp>
      <p:sp>
        <p:nvSpPr>
          <p:cNvPr id="8" name="Text 6"/>
          <p:cNvSpPr/>
          <p:nvPr/>
        </p:nvSpPr>
        <p:spPr>
          <a:xfrm>
            <a:off x="594360" y="1417320"/>
            <a:ext cx="4617720" cy="4343400"/>
          </a:xfrm>
          <a:prstGeom prst="rect">
            <a:avLst/>
          </a:prstGeom>
          <a:noFill/>
          <a:ln/>
        </p:spPr>
        <p:txBody>
          <a:bodyPr wrap="square" lIns="635" tIns="635" rIns="635" bIns="635" rtlCol="0" anchor="ctr">
            <a:normAutofit/>
          </a:bodyPr>
          <a:lstStyle/>
          <a:p>
            <a:r>
              <a:rPr lang="en-US" sz="1450" dirty="0">
                <a:solidFill>
                  <a:srgbClr val="24303F"/>
                </a:solidFill>
              </a:rPr>
              <a:t>• Manual steps are spread across people and tools</a:t>
            </a:r>
            <a:endParaRPr lang="en-US" sz="1450" dirty="0"/>
          </a:p>
          <a:p>
            <a:r>
              <a:rPr lang="en-US" sz="1450" dirty="0">
                <a:solidFill>
                  <a:srgbClr val="24303F"/>
                </a:solidFill>
              </a:rPr>
              <a:t>• Payment and certificate steps create the most visible delays</a:t>
            </a:r>
            <a:endParaRPr lang="en-US" sz="1450" dirty="0"/>
          </a:p>
          <a:p>
            <a:r>
              <a:rPr lang="en-US" sz="1450" dirty="0">
                <a:solidFill>
                  <a:srgbClr val="24303F"/>
                </a:solidFill>
              </a:rPr>
              <a:t>• There is no single status view for each learner</a:t>
            </a:r>
            <a:endParaRPr lang="en-US" sz="1450" dirty="0"/>
          </a:p>
          <a:p>
            <a:r>
              <a:rPr lang="en-US" sz="1450" dirty="0">
                <a:solidFill>
                  <a:srgbClr val="24303F"/>
                </a:solidFill>
              </a:rPr>
              <a:t>• Every missed handoff creates rework later</a:t>
            </a:r>
            <a:endParaRPr lang="en-US" sz="1450" dirty="0"/>
          </a:p>
        </p:txBody>
      </p:sp>
      <p:sp>
        <p:nvSpPr>
          <p:cNvPr id="9" name="Shape 7"/>
          <p:cNvSpPr/>
          <p:nvPr/>
        </p:nvSpPr>
        <p:spPr>
          <a:xfrm>
            <a:off x="5440680" y="1371600"/>
            <a:ext cx="1150864" cy="493776"/>
          </a:xfrm>
          <a:prstGeom prst="roundRect">
            <a:avLst>
              <a:gd name="adj" fmla="val 14815"/>
            </a:avLst>
          </a:prstGeom>
          <a:solidFill>
            <a:srgbClr val="FFFFFF"/>
          </a:solidFill>
          <a:ln w="12700">
            <a:solidFill>
              <a:srgbClr val="C9A44C"/>
            </a:solidFill>
            <a:prstDash val="solid"/>
          </a:ln>
        </p:spPr>
      </p:sp>
      <p:sp>
        <p:nvSpPr>
          <p:cNvPr id="10" name="Text 8"/>
          <p:cNvSpPr/>
          <p:nvPr/>
        </p:nvSpPr>
        <p:spPr>
          <a:xfrm>
            <a:off x="5550408" y="1463040"/>
            <a:ext cx="931408" cy="329184"/>
          </a:xfrm>
          <a:prstGeom prst="rect">
            <a:avLst/>
          </a:prstGeom>
          <a:noFill/>
          <a:ln/>
        </p:spPr>
        <p:txBody>
          <a:bodyPr wrap="square" lIns="127" tIns="127" rIns="127" bIns="127" rtlCol="0" anchor="ctr">
            <a:normAutofit/>
          </a:bodyPr>
          <a:lstStyle/>
          <a:p>
            <a:pPr indent="0" marL="0">
              <a:buNone/>
            </a:pPr>
            <a:r>
              <a:rPr lang="en-US" sz="760" b="1" dirty="0">
                <a:solidFill>
                  <a:srgbClr val="24303F"/>
                </a:solidFill>
              </a:rPr>
              <a:t>Enquiry</a:t>
            </a:r>
            <a:endParaRPr lang="en-US" sz="760" dirty="0"/>
          </a:p>
        </p:txBody>
      </p:sp>
      <p:sp>
        <p:nvSpPr>
          <p:cNvPr id="11" name="Shape 9"/>
          <p:cNvSpPr/>
          <p:nvPr/>
        </p:nvSpPr>
        <p:spPr>
          <a:xfrm>
            <a:off x="6591544" y="1618488"/>
            <a:ext cx="109728" cy="0"/>
          </a:xfrm>
          <a:prstGeom prst="line">
            <a:avLst/>
          </a:prstGeom>
          <a:noFill/>
          <a:ln w="12700">
            <a:solidFill>
              <a:srgbClr val="2A9D8F"/>
            </a:solidFill>
            <a:prstDash val="solid"/>
            <a:headEnd type="none"/>
            <a:tailEnd type="triangle"/>
          </a:ln>
        </p:spPr>
      </p:sp>
      <p:sp>
        <p:nvSpPr>
          <p:cNvPr id="12" name="Shape 10"/>
          <p:cNvSpPr/>
          <p:nvPr/>
        </p:nvSpPr>
        <p:spPr>
          <a:xfrm>
            <a:off x="6737848" y="1371600"/>
            <a:ext cx="1150864" cy="493776"/>
          </a:xfrm>
          <a:prstGeom prst="roundRect">
            <a:avLst>
              <a:gd name="adj" fmla="val 14815"/>
            </a:avLst>
          </a:prstGeom>
          <a:solidFill>
            <a:srgbClr val="FFFFFF"/>
          </a:solidFill>
          <a:ln w="12700">
            <a:solidFill>
              <a:srgbClr val="C9A44C"/>
            </a:solidFill>
            <a:prstDash val="solid"/>
          </a:ln>
        </p:spPr>
      </p:sp>
      <p:sp>
        <p:nvSpPr>
          <p:cNvPr id="13" name="Text 11"/>
          <p:cNvSpPr/>
          <p:nvPr/>
        </p:nvSpPr>
        <p:spPr>
          <a:xfrm>
            <a:off x="6847576" y="1463040"/>
            <a:ext cx="931408" cy="329184"/>
          </a:xfrm>
          <a:prstGeom prst="rect">
            <a:avLst/>
          </a:prstGeom>
          <a:noFill/>
          <a:ln/>
        </p:spPr>
        <p:txBody>
          <a:bodyPr wrap="square" lIns="127" tIns="127" rIns="127" bIns="127" rtlCol="0" anchor="ctr">
            <a:normAutofit/>
          </a:bodyPr>
          <a:lstStyle/>
          <a:p>
            <a:pPr indent="0" marL="0">
              <a:buNone/>
            </a:pPr>
            <a:r>
              <a:rPr lang="en-US" sz="760" b="1" dirty="0">
                <a:solidFill>
                  <a:srgbClr val="24303F"/>
                </a:solidFill>
              </a:rPr>
              <a:t>Email reply</a:t>
            </a:r>
            <a:endParaRPr lang="en-US" sz="760" dirty="0"/>
          </a:p>
        </p:txBody>
      </p:sp>
      <p:sp>
        <p:nvSpPr>
          <p:cNvPr id="14" name="Shape 12"/>
          <p:cNvSpPr/>
          <p:nvPr/>
        </p:nvSpPr>
        <p:spPr>
          <a:xfrm>
            <a:off x="7888712" y="1618488"/>
            <a:ext cx="109728" cy="0"/>
          </a:xfrm>
          <a:prstGeom prst="line">
            <a:avLst/>
          </a:prstGeom>
          <a:noFill/>
          <a:ln w="12700">
            <a:solidFill>
              <a:srgbClr val="2A9D8F"/>
            </a:solidFill>
            <a:prstDash val="solid"/>
            <a:headEnd type="none"/>
            <a:tailEnd type="triangle"/>
          </a:ln>
        </p:spPr>
      </p:sp>
      <p:sp>
        <p:nvSpPr>
          <p:cNvPr id="15" name="Shape 13"/>
          <p:cNvSpPr/>
          <p:nvPr/>
        </p:nvSpPr>
        <p:spPr>
          <a:xfrm>
            <a:off x="8035016" y="1371600"/>
            <a:ext cx="1150864" cy="493776"/>
          </a:xfrm>
          <a:prstGeom prst="roundRect">
            <a:avLst>
              <a:gd name="adj" fmla="val 14815"/>
            </a:avLst>
          </a:prstGeom>
          <a:solidFill>
            <a:srgbClr val="FFFFFF"/>
          </a:solidFill>
          <a:ln w="12700">
            <a:solidFill>
              <a:srgbClr val="C9A44C"/>
            </a:solidFill>
            <a:prstDash val="solid"/>
          </a:ln>
        </p:spPr>
      </p:sp>
      <p:sp>
        <p:nvSpPr>
          <p:cNvPr id="16" name="Text 14"/>
          <p:cNvSpPr/>
          <p:nvPr/>
        </p:nvSpPr>
        <p:spPr>
          <a:xfrm>
            <a:off x="8144744" y="1463040"/>
            <a:ext cx="931408" cy="329184"/>
          </a:xfrm>
          <a:prstGeom prst="rect">
            <a:avLst/>
          </a:prstGeom>
          <a:noFill/>
          <a:ln/>
        </p:spPr>
        <p:txBody>
          <a:bodyPr wrap="square" lIns="127" tIns="127" rIns="127" bIns="127" rtlCol="0" anchor="ctr">
            <a:normAutofit/>
          </a:bodyPr>
          <a:lstStyle/>
          <a:p>
            <a:pPr indent="0" marL="0">
              <a:buNone/>
            </a:pPr>
            <a:r>
              <a:rPr lang="en-US" sz="760" b="1" dirty="0">
                <a:solidFill>
                  <a:srgbClr val="24303F"/>
                </a:solidFill>
              </a:rPr>
              <a:t>Spreadsheet</a:t>
            </a:r>
            <a:endParaRPr lang="en-US" sz="760" dirty="0"/>
          </a:p>
        </p:txBody>
      </p:sp>
      <p:sp>
        <p:nvSpPr>
          <p:cNvPr id="17" name="Shape 15"/>
          <p:cNvSpPr/>
          <p:nvPr/>
        </p:nvSpPr>
        <p:spPr>
          <a:xfrm>
            <a:off x="9185880" y="1618488"/>
            <a:ext cx="109728" cy="0"/>
          </a:xfrm>
          <a:prstGeom prst="line">
            <a:avLst/>
          </a:prstGeom>
          <a:noFill/>
          <a:ln w="12700">
            <a:solidFill>
              <a:srgbClr val="2A9D8F"/>
            </a:solidFill>
            <a:prstDash val="solid"/>
            <a:headEnd type="none"/>
            <a:tailEnd type="triangle"/>
          </a:ln>
        </p:spPr>
      </p:sp>
      <p:sp>
        <p:nvSpPr>
          <p:cNvPr id="18" name="Shape 16"/>
          <p:cNvSpPr/>
          <p:nvPr/>
        </p:nvSpPr>
        <p:spPr>
          <a:xfrm>
            <a:off x="9332184" y="1371600"/>
            <a:ext cx="1150864" cy="493776"/>
          </a:xfrm>
          <a:prstGeom prst="roundRect">
            <a:avLst>
              <a:gd name="adj" fmla="val 14815"/>
            </a:avLst>
          </a:prstGeom>
          <a:solidFill>
            <a:srgbClr val="FFFFFF"/>
          </a:solidFill>
          <a:ln w="12700">
            <a:solidFill>
              <a:srgbClr val="C9A44C"/>
            </a:solidFill>
            <a:prstDash val="solid"/>
          </a:ln>
        </p:spPr>
      </p:sp>
      <p:sp>
        <p:nvSpPr>
          <p:cNvPr id="19" name="Text 17"/>
          <p:cNvSpPr/>
          <p:nvPr/>
        </p:nvSpPr>
        <p:spPr>
          <a:xfrm>
            <a:off x="9441912" y="1463040"/>
            <a:ext cx="931408" cy="329184"/>
          </a:xfrm>
          <a:prstGeom prst="rect">
            <a:avLst/>
          </a:prstGeom>
          <a:noFill/>
          <a:ln/>
        </p:spPr>
        <p:txBody>
          <a:bodyPr wrap="square" lIns="127" tIns="127" rIns="127" bIns="127" rtlCol="0" anchor="ctr">
            <a:normAutofit/>
          </a:bodyPr>
          <a:lstStyle/>
          <a:p>
            <a:pPr indent="0" marL="0">
              <a:buNone/>
            </a:pPr>
            <a:r>
              <a:rPr lang="en-US" sz="760" b="1" dirty="0">
                <a:solidFill>
                  <a:srgbClr val="24303F"/>
                </a:solidFill>
              </a:rPr>
              <a:t>Screenshot</a:t>
            </a:r>
            <a:endParaRPr lang="en-US" sz="760" dirty="0"/>
          </a:p>
        </p:txBody>
      </p:sp>
      <p:sp>
        <p:nvSpPr>
          <p:cNvPr id="20" name="Shape 18"/>
          <p:cNvSpPr/>
          <p:nvPr/>
        </p:nvSpPr>
        <p:spPr>
          <a:xfrm>
            <a:off x="10483047" y="1618488"/>
            <a:ext cx="109728" cy="0"/>
          </a:xfrm>
          <a:prstGeom prst="line">
            <a:avLst/>
          </a:prstGeom>
          <a:noFill/>
          <a:ln w="12700">
            <a:solidFill>
              <a:srgbClr val="2A9D8F"/>
            </a:solidFill>
            <a:prstDash val="solid"/>
            <a:headEnd type="none"/>
            <a:tailEnd type="triangle"/>
          </a:ln>
        </p:spPr>
      </p:sp>
      <p:sp>
        <p:nvSpPr>
          <p:cNvPr id="21" name="Shape 19"/>
          <p:cNvSpPr/>
          <p:nvPr/>
        </p:nvSpPr>
        <p:spPr>
          <a:xfrm>
            <a:off x="10629351" y="1371600"/>
            <a:ext cx="1150864" cy="493776"/>
          </a:xfrm>
          <a:prstGeom prst="roundRect">
            <a:avLst>
              <a:gd name="adj" fmla="val 14815"/>
            </a:avLst>
          </a:prstGeom>
          <a:solidFill>
            <a:srgbClr val="FFFFFF"/>
          </a:solidFill>
          <a:ln w="12700">
            <a:solidFill>
              <a:srgbClr val="C9A44C"/>
            </a:solidFill>
            <a:prstDash val="solid"/>
          </a:ln>
        </p:spPr>
      </p:sp>
      <p:sp>
        <p:nvSpPr>
          <p:cNvPr id="22" name="Text 20"/>
          <p:cNvSpPr/>
          <p:nvPr/>
        </p:nvSpPr>
        <p:spPr>
          <a:xfrm>
            <a:off x="10739079" y="1463040"/>
            <a:ext cx="931408" cy="329184"/>
          </a:xfrm>
          <a:prstGeom prst="rect">
            <a:avLst/>
          </a:prstGeom>
          <a:noFill/>
          <a:ln/>
        </p:spPr>
        <p:txBody>
          <a:bodyPr wrap="square" lIns="127" tIns="127" rIns="127" bIns="127" rtlCol="0" anchor="ctr">
            <a:normAutofit/>
          </a:bodyPr>
          <a:lstStyle/>
          <a:p>
            <a:pPr indent="0" marL="0">
              <a:buNone/>
            </a:pPr>
            <a:r>
              <a:rPr lang="en-US" sz="760" b="1" dirty="0">
                <a:solidFill>
                  <a:srgbClr val="24303F"/>
                </a:solidFill>
              </a:rPr>
              <a:t>Manual check</a:t>
            </a:r>
            <a:endParaRPr lang="en-US" sz="760" dirty="0"/>
          </a:p>
        </p:txBody>
      </p:sp>
      <p:sp>
        <p:nvSpPr>
          <p:cNvPr id="23" name="Shape 21"/>
          <p:cNvSpPr/>
          <p:nvPr/>
        </p:nvSpPr>
        <p:spPr>
          <a:xfrm>
            <a:off x="5440680" y="2606040"/>
            <a:ext cx="1150864" cy="493776"/>
          </a:xfrm>
          <a:prstGeom prst="roundRect">
            <a:avLst>
              <a:gd name="adj" fmla="val 14815"/>
            </a:avLst>
          </a:prstGeom>
          <a:solidFill>
            <a:srgbClr val="FFFFFF"/>
          </a:solidFill>
          <a:ln w="12700">
            <a:solidFill>
              <a:srgbClr val="C9A44C"/>
            </a:solidFill>
            <a:prstDash val="solid"/>
          </a:ln>
        </p:spPr>
      </p:sp>
      <p:sp>
        <p:nvSpPr>
          <p:cNvPr id="24" name="Text 22"/>
          <p:cNvSpPr/>
          <p:nvPr/>
        </p:nvSpPr>
        <p:spPr>
          <a:xfrm>
            <a:off x="5550408" y="2697480"/>
            <a:ext cx="931408" cy="329184"/>
          </a:xfrm>
          <a:prstGeom prst="rect">
            <a:avLst/>
          </a:prstGeom>
          <a:noFill/>
          <a:ln/>
        </p:spPr>
        <p:txBody>
          <a:bodyPr wrap="square" lIns="127" tIns="127" rIns="127" bIns="127" rtlCol="0" anchor="ctr">
            <a:normAutofit/>
          </a:bodyPr>
          <a:lstStyle/>
          <a:p>
            <a:pPr indent="0" marL="0">
              <a:buNone/>
            </a:pPr>
            <a:r>
              <a:rPr lang="en-US" sz="760" b="1" dirty="0">
                <a:solidFill>
                  <a:srgbClr val="24303F"/>
                </a:solidFill>
              </a:rPr>
              <a:t>Reminder</a:t>
            </a:r>
            <a:endParaRPr lang="en-US" sz="760" dirty="0"/>
          </a:p>
        </p:txBody>
      </p:sp>
      <p:sp>
        <p:nvSpPr>
          <p:cNvPr id="25" name="Shape 23"/>
          <p:cNvSpPr/>
          <p:nvPr/>
        </p:nvSpPr>
        <p:spPr>
          <a:xfrm>
            <a:off x="6591544" y="2852928"/>
            <a:ext cx="109728" cy="0"/>
          </a:xfrm>
          <a:prstGeom prst="line">
            <a:avLst/>
          </a:prstGeom>
          <a:noFill/>
          <a:ln w="12700">
            <a:solidFill>
              <a:srgbClr val="2A9D8F"/>
            </a:solidFill>
            <a:prstDash val="solid"/>
            <a:headEnd type="none"/>
            <a:tailEnd type="triangle"/>
          </a:ln>
        </p:spPr>
      </p:sp>
      <p:sp>
        <p:nvSpPr>
          <p:cNvPr id="26" name="Shape 24"/>
          <p:cNvSpPr/>
          <p:nvPr/>
        </p:nvSpPr>
        <p:spPr>
          <a:xfrm>
            <a:off x="6737848" y="2606040"/>
            <a:ext cx="1150864" cy="493776"/>
          </a:xfrm>
          <a:prstGeom prst="roundRect">
            <a:avLst>
              <a:gd name="adj" fmla="val 14815"/>
            </a:avLst>
          </a:prstGeom>
          <a:solidFill>
            <a:srgbClr val="FFFFFF"/>
          </a:solidFill>
          <a:ln w="12700">
            <a:solidFill>
              <a:srgbClr val="C9A44C"/>
            </a:solidFill>
            <a:prstDash val="solid"/>
          </a:ln>
        </p:spPr>
      </p:sp>
      <p:sp>
        <p:nvSpPr>
          <p:cNvPr id="27" name="Text 25"/>
          <p:cNvSpPr/>
          <p:nvPr/>
        </p:nvSpPr>
        <p:spPr>
          <a:xfrm>
            <a:off x="6847576" y="2697480"/>
            <a:ext cx="931408" cy="329184"/>
          </a:xfrm>
          <a:prstGeom prst="rect">
            <a:avLst/>
          </a:prstGeom>
          <a:noFill/>
          <a:ln/>
        </p:spPr>
        <p:txBody>
          <a:bodyPr wrap="square" lIns="127" tIns="127" rIns="127" bIns="127" rtlCol="0" anchor="ctr">
            <a:normAutofit/>
          </a:bodyPr>
          <a:lstStyle/>
          <a:p>
            <a:pPr indent="0" marL="0">
              <a:buNone/>
            </a:pPr>
            <a:r>
              <a:rPr lang="en-US" sz="760" b="1" dirty="0">
                <a:solidFill>
                  <a:srgbClr val="24303F"/>
                </a:solidFill>
              </a:rPr>
              <a:t>Class</a:t>
            </a:r>
            <a:endParaRPr lang="en-US" sz="760" dirty="0"/>
          </a:p>
        </p:txBody>
      </p:sp>
      <p:sp>
        <p:nvSpPr>
          <p:cNvPr id="28" name="Shape 26"/>
          <p:cNvSpPr/>
          <p:nvPr/>
        </p:nvSpPr>
        <p:spPr>
          <a:xfrm>
            <a:off x="7888712" y="2852928"/>
            <a:ext cx="109728" cy="0"/>
          </a:xfrm>
          <a:prstGeom prst="line">
            <a:avLst/>
          </a:prstGeom>
          <a:noFill/>
          <a:ln w="12700">
            <a:solidFill>
              <a:srgbClr val="2A9D8F"/>
            </a:solidFill>
            <a:prstDash val="solid"/>
            <a:headEnd type="none"/>
            <a:tailEnd type="triangle"/>
          </a:ln>
        </p:spPr>
      </p:sp>
      <p:sp>
        <p:nvSpPr>
          <p:cNvPr id="29" name="Shape 27"/>
          <p:cNvSpPr/>
          <p:nvPr/>
        </p:nvSpPr>
        <p:spPr>
          <a:xfrm>
            <a:off x="8035016" y="2606040"/>
            <a:ext cx="1150864" cy="493776"/>
          </a:xfrm>
          <a:prstGeom prst="roundRect">
            <a:avLst>
              <a:gd name="adj" fmla="val 14815"/>
            </a:avLst>
          </a:prstGeom>
          <a:solidFill>
            <a:srgbClr val="FFFFFF"/>
          </a:solidFill>
          <a:ln w="12700">
            <a:solidFill>
              <a:srgbClr val="C9A44C"/>
            </a:solidFill>
            <a:prstDash val="solid"/>
          </a:ln>
        </p:spPr>
      </p:sp>
      <p:sp>
        <p:nvSpPr>
          <p:cNvPr id="30" name="Text 28"/>
          <p:cNvSpPr/>
          <p:nvPr/>
        </p:nvSpPr>
        <p:spPr>
          <a:xfrm>
            <a:off x="8144744" y="2697480"/>
            <a:ext cx="931408" cy="329184"/>
          </a:xfrm>
          <a:prstGeom prst="rect">
            <a:avLst/>
          </a:prstGeom>
          <a:noFill/>
          <a:ln/>
        </p:spPr>
        <p:txBody>
          <a:bodyPr wrap="square" lIns="127" tIns="127" rIns="127" bIns="127" rtlCol="0" anchor="ctr">
            <a:normAutofit/>
          </a:bodyPr>
          <a:lstStyle/>
          <a:p>
            <a:pPr indent="0" marL="0">
              <a:buNone/>
            </a:pPr>
            <a:r>
              <a:rPr lang="en-US" sz="760" b="1" dirty="0">
                <a:solidFill>
                  <a:srgbClr val="24303F"/>
                </a:solidFill>
              </a:rPr>
              <a:t>Attendance note</a:t>
            </a:r>
            <a:endParaRPr lang="en-US" sz="760" dirty="0"/>
          </a:p>
        </p:txBody>
      </p:sp>
      <p:sp>
        <p:nvSpPr>
          <p:cNvPr id="31" name="Shape 29"/>
          <p:cNvSpPr/>
          <p:nvPr/>
        </p:nvSpPr>
        <p:spPr>
          <a:xfrm>
            <a:off x="9185880" y="2852928"/>
            <a:ext cx="109728" cy="0"/>
          </a:xfrm>
          <a:prstGeom prst="line">
            <a:avLst/>
          </a:prstGeom>
          <a:noFill/>
          <a:ln w="12700">
            <a:solidFill>
              <a:srgbClr val="2A9D8F"/>
            </a:solidFill>
            <a:prstDash val="solid"/>
            <a:headEnd type="none"/>
            <a:tailEnd type="triangle"/>
          </a:ln>
        </p:spPr>
      </p:sp>
      <p:sp>
        <p:nvSpPr>
          <p:cNvPr id="32" name="Shape 30"/>
          <p:cNvSpPr/>
          <p:nvPr/>
        </p:nvSpPr>
        <p:spPr>
          <a:xfrm>
            <a:off x="9332184" y="2606040"/>
            <a:ext cx="1150864" cy="493776"/>
          </a:xfrm>
          <a:prstGeom prst="roundRect">
            <a:avLst>
              <a:gd name="adj" fmla="val 14815"/>
            </a:avLst>
          </a:prstGeom>
          <a:solidFill>
            <a:srgbClr val="FFFFFF"/>
          </a:solidFill>
          <a:ln w="12700">
            <a:solidFill>
              <a:srgbClr val="C9A44C"/>
            </a:solidFill>
            <a:prstDash val="solid"/>
          </a:ln>
        </p:spPr>
      </p:sp>
      <p:sp>
        <p:nvSpPr>
          <p:cNvPr id="33" name="Text 31"/>
          <p:cNvSpPr/>
          <p:nvPr/>
        </p:nvSpPr>
        <p:spPr>
          <a:xfrm>
            <a:off x="9441912" y="2697480"/>
            <a:ext cx="931408" cy="329184"/>
          </a:xfrm>
          <a:prstGeom prst="rect">
            <a:avLst/>
          </a:prstGeom>
          <a:noFill/>
          <a:ln/>
        </p:spPr>
        <p:txBody>
          <a:bodyPr wrap="square" lIns="127" tIns="127" rIns="127" bIns="127" rtlCol="0" anchor="ctr">
            <a:normAutofit/>
          </a:bodyPr>
          <a:lstStyle/>
          <a:p>
            <a:pPr indent="0" marL="0">
              <a:buNone/>
            </a:pPr>
            <a:r>
              <a:rPr lang="en-US" sz="760" b="1" dirty="0">
                <a:solidFill>
                  <a:srgbClr val="24303F"/>
                </a:solidFill>
              </a:rPr>
              <a:t>Certificate</a:t>
            </a:r>
            <a:endParaRPr lang="en-US" sz="760" dirty="0"/>
          </a:p>
        </p:txBody>
      </p:sp>
      <p:sp>
        <p:nvSpPr>
          <p:cNvPr id="34" name="Shape 32"/>
          <p:cNvSpPr/>
          <p:nvPr/>
        </p:nvSpPr>
        <p:spPr>
          <a:xfrm>
            <a:off x="10483047" y="2852928"/>
            <a:ext cx="109728" cy="0"/>
          </a:xfrm>
          <a:prstGeom prst="line">
            <a:avLst/>
          </a:prstGeom>
          <a:noFill/>
          <a:ln w="12700">
            <a:solidFill>
              <a:srgbClr val="2A9D8F"/>
            </a:solidFill>
            <a:prstDash val="solid"/>
            <a:headEnd type="none"/>
            <a:tailEnd type="triangle"/>
          </a:ln>
        </p:spPr>
      </p:sp>
      <p:sp>
        <p:nvSpPr>
          <p:cNvPr id="35" name="Shape 33"/>
          <p:cNvSpPr/>
          <p:nvPr/>
        </p:nvSpPr>
        <p:spPr>
          <a:xfrm>
            <a:off x="10629351" y="2606040"/>
            <a:ext cx="1150864" cy="493776"/>
          </a:xfrm>
          <a:prstGeom prst="roundRect">
            <a:avLst>
              <a:gd name="adj" fmla="val 14815"/>
            </a:avLst>
          </a:prstGeom>
          <a:solidFill>
            <a:srgbClr val="FFFFFF"/>
          </a:solidFill>
          <a:ln w="12700">
            <a:solidFill>
              <a:srgbClr val="C9A44C"/>
            </a:solidFill>
            <a:prstDash val="solid"/>
          </a:ln>
        </p:spPr>
      </p:sp>
      <p:sp>
        <p:nvSpPr>
          <p:cNvPr id="36" name="Text 34"/>
          <p:cNvSpPr/>
          <p:nvPr/>
        </p:nvSpPr>
        <p:spPr>
          <a:xfrm>
            <a:off x="10739079" y="2697480"/>
            <a:ext cx="931408" cy="329184"/>
          </a:xfrm>
          <a:prstGeom prst="rect">
            <a:avLst/>
          </a:prstGeom>
          <a:noFill/>
          <a:ln/>
        </p:spPr>
        <p:txBody>
          <a:bodyPr wrap="square" lIns="127" tIns="127" rIns="127" bIns="127" rtlCol="0" anchor="ctr">
            <a:normAutofit/>
          </a:bodyPr>
          <a:lstStyle/>
          <a:p>
            <a:pPr indent="0" marL="0">
              <a:buNone/>
            </a:pPr>
            <a:r>
              <a:rPr lang="en-US" sz="760" b="1" dirty="0">
                <a:solidFill>
                  <a:srgbClr val="24303F"/>
                </a:solidFill>
              </a:rPr>
              <a:t>Feedback</a:t>
            </a:r>
            <a:endParaRPr lang="en-US" sz="760" dirty="0"/>
          </a:p>
        </p:txBody>
      </p:sp>
      <p:sp>
        <p:nvSpPr>
          <p:cNvPr id="37" name="Shape 35"/>
          <p:cNvSpPr/>
          <p:nvPr/>
        </p:nvSpPr>
        <p:spPr>
          <a:xfrm>
            <a:off x="5532120" y="4160520"/>
            <a:ext cx="5257800" cy="777240"/>
          </a:xfrm>
          <a:prstGeom prst="roundRect">
            <a:avLst>
              <a:gd name="adj" fmla="val 9412"/>
            </a:avLst>
          </a:prstGeom>
          <a:solidFill>
            <a:srgbClr val="FFFFFF"/>
          </a:solidFill>
          <a:ln w="12700">
            <a:solidFill>
              <a:srgbClr val="B85C5C"/>
            </a:solidFill>
            <a:prstDash val="solid"/>
          </a:ln>
        </p:spPr>
      </p:sp>
      <p:sp>
        <p:nvSpPr>
          <p:cNvPr id="38" name="Text 36"/>
          <p:cNvSpPr/>
          <p:nvPr/>
        </p:nvSpPr>
        <p:spPr>
          <a:xfrm>
            <a:off x="5641848" y="4251960"/>
            <a:ext cx="5038344" cy="612648"/>
          </a:xfrm>
          <a:prstGeom prst="rect">
            <a:avLst/>
          </a:prstGeom>
          <a:noFill/>
          <a:ln/>
        </p:spPr>
        <p:txBody>
          <a:bodyPr wrap="square" lIns="127" tIns="127" rIns="127" bIns="127" rtlCol="0" anchor="ctr">
            <a:normAutofit/>
          </a:bodyPr>
          <a:lstStyle/>
          <a:p>
            <a:pPr indent="0" marL="0">
              <a:buNone/>
            </a:pPr>
            <a:r>
              <a:rPr lang="en-US" sz="1300" b="1" dirty="0">
                <a:solidFill>
                  <a:srgbClr val="24303F"/>
                </a:solidFill>
              </a:rPr>
              <a:t>Pain points: spreadsheet duplication, screenshot review, manual reminders, late certificates</a:t>
            </a:r>
            <a:endParaRPr lang="en-US" sz="1300" dirty="0"/>
          </a:p>
        </p:txBody>
      </p:sp>
      <p:sp>
        <p:nvSpPr>
          <p:cNvPr id="39" name="Text 37"/>
          <p:cNvSpPr/>
          <p:nvPr/>
        </p:nvSpPr>
        <p:spPr>
          <a:xfrm>
            <a:off x="11384280" y="6428232"/>
            <a:ext cx="320040" cy="109728"/>
          </a:xfrm>
          <a:prstGeom prst="rect">
            <a:avLst/>
          </a:prstGeom>
          <a:noFill/>
          <a:ln/>
        </p:spPr>
        <p:txBody>
          <a:bodyPr wrap="square" lIns="0" tIns="0" rIns="0" bIns="0" rtlCol="0" anchor="ctr"/>
          <a:lstStyle/>
          <a:p>
            <a:pPr algn="r" indent="0" marL="0">
              <a:buNone/>
            </a:pPr>
            <a:r>
              <a:rPr lang="en-US" sz="700" dirty="0">
                <a:solidFill>
                  <a:srgbClr val="FFFFFF"/>
                </a:solidFill>
              </a:rPr>
              <a:t>10</a:t>
            </a:r>
            <a:endParaRPr lang="en-US" sz="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3EA"/>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4213D"/>
          </a:solidFill>
          <a:ln w="12700">
            <a:solidFill>
              <a:srgbClr val="14213D">
                <a:alpha val="0"/>
              </a:srgbClr>
            </a:solidFill>
            <a:prstDash val="solid"/>
          </a:ln>
        </p:spPr>
      </p:sp>
      <p:sp>
        <p:nvSpPr>
          <p:cNvPr id="3" name="Shape 1"/>
          <p:cNvSpPr/>
          <p:nvPr/>
        </p:nvSpPr>
        <p:spPr>
          <a:xfrm>
            <a:off x="0" y="6693408"/>
            <a:ext cx="12191695" cy="164592"/>
          </a:xfrm>
          <a:prstGeom prst="rect">
            <a:avLst/>
          </a:prstGeom>
          <a:solidFill>
            <a:srgbClr val="14213D"/>
          </a:solidFill>
          <a:ln w="12700">
            <a:solidFill>
              <a:srgbClr val="14213D">
                <a:alpha val="0"/>
              </a:srgbClr>
            </a:solidFill>
            <a:prstDash val="solid"/>
          </a:ln>
        </p:spPr>
      </p:sp>
      <p:sp>
        <p:nvSpPr>
          <p:cNvPr id="4" name="Text 2"/>
          <p:cNvSpPr/>
          <p:nvPr/>
        </p:nvSpPr>
        <p:spPr>
          <a:xfrm>
            <a:off x="502920" y="256032"/>
            <a:ext cx="4480560" cy="164592"/>
          </a:xfrm>
          <a:prstGeom prst="rect">
            <a:avLst/>
          </a:prstGeom>
          <a:noFill/>
          <a:ln/>
        </p:spPr>
        <p:txBody>
          <a:bodyPr wrap="square" lIns="0" tIns="0" rIns="0" bIns="0" rtlCol="0" anchor="ctr"/>
          <a:lstStyle/>
          <a:p>
            <a:pPr indent="0" marL="0">
              <a:buNone/>
            </a:pPr>
            <a:r>
              <a:rPr lang="en-US" sz="700" b="1" dirty="0">
                <a:solidFill>
                  <a:srgbClr val="2A9D8F"/>
                </a:solidFill>
                <a:latin typeface="Aptos" pitchFamily="34" charset="0"/>
                <a:ea typeface="Aptos" pitchFamily="34" charset="-122"/>
                <a:cs typeface="Aptos" pitchFamily="34" charset="-120"/>
              </a:rPr>
              <a:t>SECTION 2</a:t>
            </a:r>
            <a:endParaRPr lang="en-US" sz="700" dirty="0"/>
          </a:p>
        </p:txBody>
      </p:sp>
      <p:sp>
        <p:nvSpPr>
          <p:cNvPr id="5" name="Text 3"/>
          <p:cNvSpPr/>
          <p:nvPr/>
        </p:nvSpPr>
        <p:spPr>
          <a:xfrm>
            <a:off x="9281160" y="219456"/>
            <a:ext cx="2423160" cy="182880"/>
          </a:xfrm>
          <a:prstGeom prst="rect">
            <a:avLst/>
          </a:prstGeom>
          <a:noFill/>
          <a:ln/>
        </p:spPr>
        <p:txBody>
          <a:bodyPr wrap="square" lIns="0" tIns="0" rIns="0" bIns="0" rtlCol="0" anchor="ctr"/>
          <a:lstStyle/>
          <a:p>
            <a:pPr algn="r" indent="0" marL="0">
              <a:buNone/>
            </a:pPr>
            <a:r>
              <a:rPr lang="en-US" sz="700" dirty="0">
                <a:solidFill>
                  <a:srgbClr val="6D7886"/>
                </a:solidFill>
              </a:rPr>
              <a:t>Jifunze.ai skill booster</a:t>
            </a:r>
            <a:endParaRPr lang="en-US" sz="700" dirty="0"/>
          </a:p>
        </p:txBody>
      </p:sp>
      <p:sp>
        <p:nvSpPr>
          <p:cNvPr id="6" name="Text 4"/>
          <p:cNvSpPr/>
          <p:nvPr/>
        </p:nvSpPr>
        <p:spPr>
          <a:xfrm>
            <a:off x="502920" y="502920"/>
            <a:ext cx="4617720" cy="475488"/>
          </a:xfrm>
          <a:prstGeom prst="rect">
            <a:avLst/>
          </a:prstGeom>
          <a:noFill/>
          <a:ln/>
        </p:spPr>
        <p:txBody>
          <a:bodyPr wrap="square" lIns="127" tIns="127" rIns="127" bIns="127" rtlCol="0" anchor="ctr">
            <a:normAutofit/>
          </a:bodyPr>
          <a:lstStyle/>
          <a:p>
            <a:pPr indent="0" marL="0">
              <a:buNone/>
            </a:pPr>
            <a:r>
              <a:rPr lang="en-US" sz="2500" b="1" dirty="0">
                <a:solidFill>
                  <a:srgbClr val="14213D"/>
                </a:solidFill>
                <a:latin typeface="Aptos Display" pitchFamily="34" charset="0"/>
                <a:ea typeface="Aptos Display" pitchFamily="34" charset="-122"/>
                <a:cs typeface="Aptos Display" pitchFamily="34" charset="-120"/>
              </a:rPr>
              <a:t>Swimlane diagram: who does what</a:t>
            </a:r>
            <a:endParaRPr lang="en-US" sz="2500" dirty="0"/>
          </a:p>
        </p:txBody>
      </p:sp>
      <p:sp>
        <p:nvSpPr>
          <p:cNvPr id="7" name="Text 5"/>
          <p:cNvSpPr/>
          <p:nvPr/>
        </p:nvSpPr>
        <p:spPr>
          <a:xfrm>
            <a:off x="521208" y="1005840"/>
            <a:ext cx="4617720" cy="228600"/>
          </a:xfrm>
          <a:prstGeom prst="rect">
            <a:avLst/>
          </a:prstGeom>
          <a:noFill/>
          <a:ln/>
        </p:spPr>
        <p:txBody>
          <a:bodyPr wrap="square" lIns="0" tIns="0" rIns="0" bIns="0" rtlCol="0" anchor="ctr">
            <a:normAutofit/>
          </a:bodyPr>
          <a:lstStyle/>
          <a:p>
            <a:pPr indent="0" marL="0">
              <a:buNone/>
            </a:pPr>
            <a:r>
              <a:rPr lang="en-US" sz="1080" dirty="0">
                <a:solidFill>
                  <a:srgbClr val="24303F"/>
                </a:solidFill>
              </a:rPr>
              <a:t>Swimlanes reveal ownership and handoff risk</a:t>
            </a:r>
            <a:endParaRPr lang="en-US" sz="1080" dirty="0"/>
          </a:p>
        </p:txBody>
      </p:sp>
      <p:sp>
        <p:nvSpPr>
          <p:cNvPr id="8" name="Text 6"/>
          <p:cNvSpPr/>
          <p:nvPr/>
        </p:nvSpPr>
        <p:spPr>
          <a:xfrm>
            <a:off x="594360" y="1417320"/>
            <a:ext cx="4617720" cy="4343400"/>
          </a:xfrm>
          <a:prstGeom prst="rect">
            <a:avLst/>
          </a:prstGeom>
          <a:noFill/>
          <a:ln/>
        </p:spPr>
        <p:txBody>
          <a:bodyPr wrap="square" lIns="635" tIns="635" rIns="635" bIns="635" rtlCol="0" anchor="ctr">
            <a:normAutofit/>
          </a:bodyPr>
          <a:lstStyle/>
          <a:p>
            <a:r>
              <a:rPr lang="en-US" sz="1450" dirty="0">
                <a:solidFill>
                  <a:srgbClr val="24303F"/>
                </a:solidFill>
              </a:rPr>
              <a:t>• Learner starts the process but cannot see status clearly</a:t>
            </a:r>
            <a:endParaRPr lang="en-US" sz="1450" dirty="0"/>
          </a:p>
          <a:p>
            <a:r>
              <a:rPr lang="en-US" sz="1450" dirty="0">
                <a:solidFill>
                  <a:srgbClr val="24303F"/>
                </a:solidFill>
              </a:rPr>
              <a:t>• Admin assistant handles high-volume front-end communication</a:t>
            </a:r>
            <a:endParaRPr lang="en-US" sz="1450" dirty="0"/>
          </a:p>
          <a:p>
            <a:r>
              <a:rPr lang="en-US" sz="1450" dirty="0">
                <a:solidFill>
                  <a:srgbClr val="24303F"/>
                </a:solidFill>
              </a:rPr>
              <a:t>• Finance/admin controls payment confirmation</a:t>
            </a:r>
            <a:endParaRPr lang="en-US" sz="1450" dirty="0"/>
          </a:p>
          <a:p>
            <a:r>
              <a:rPr lang="en-US" sz="1450" dirty="0">
                <a:solidFill>
                  <a:srgbClr val="24303F"/>
                </a:solidFill>
              </a:rPr>
              <a:t>• Program coordinator owns reminders and certificates</a:t>
            </a:r>
            <a:endParaRPr lang="en-US" sz="1450" dirty="0"/>
          </a:p>
          <a:p>
            <a:r>
              <a:rPr lang="en-US" sz="1450" dirty="0">
                <a:solidFill>
                  <a:srgbClr val="24303F"/>
                </a:solidFill>
              </a:rPr>
              <a:t>• Instructor/admin creates attendance evidence</a:t>
            </a:r>
            <a:endParaRPr lang="en-US" sz="1450" dirty="0"/>
          </a:p>
        </p:txBody>
      </p:sp>
      <p:sp>
        <p:nvSpPr>
          <p:cNvPr id="9" name="Shape 7"/>
          <p:cNvSpPr/>
          <p:nvPr/>
        </p:nvSpPr>
        <p:spPr>
          <a:xfrm>
            <a:off x="5532120" y="1143000"/>
            <a:ext cx="1188720" cy="438912"/>
          </a:xfrm>
          <a:prstGeom prst="rect">
            <a:avLst/>
          </a:prstGeom>
          <a:solidFill>
            <a:srgbClr val="14213D"/>
          </a:solidFill>
          <a:ln w="12700">
            <a:solidFill>
              <a:srgbClr val="FFFFFF"/>
            </a:solidFill>
            <a:prstDash val="solid"/>
          </a:ln>
        </p:spPr>
      </p:sp>
      <p:sp>
        <p:nvSpPr>
          <p:cNvPr id="10" name="Text 8"/>
          <p:cNvSpPr/>
          <p:nvPr/>
        </p:nvSpPr>
        <p:spPr>
          <a:xfrm>
            <a:off x="5577840" y="1271016"/>
            <a:ext cx="1097280" cy="109728"/>
          </a:xfrm>
          <a:prstGeom prst="rect">
            <a:avLst/>
          </a:prstGeom>
          <a:noFill/>
          <a:ln/>
        </p:spPr>
        <p:txBody>
          <a:bodyPr wrap="square" lIns="0" tIns="0" rIns="0" bIns="0" rtlCol="0" anchor="ctr"/>
          <a:lstStyle/>
          <a:p>
            <a:pPr algn="ctr" indent="0" marL="0">
              <a:buNone/>
            </a:pPr>
            <a:r>
              <a:rPr lang="en-US" sz="680" b="1" dirty="0">
                <a:solidFill>
                  <a:srgbClr val="FFFFFF"/>
                </a:solidFill>
              </a:rPr>
              <a:t>Learner</a:t>
            </a:r>
            <a:endParaRPr lang="en-US" sz="680" dirty="0"/>
          </a:p>
        </p:txBody>
      </p:sp>
      <p:sp>
        <p:nvSpPr>
          <p:cNvPr id="11" name="Shape 9"/>
          <p:cNvSpPr/>
          <p:nvPr/>
        </p:nvSpPr>
        <p:spPr>
          <a:xfrm>
            <a:off x="5532120" y="1709928"/>
            <a:ext cx="1188720" cy="438912"/>
          </a:xfrm>
          <a:prstGeom prst="rect">
            <a:avLst/>
          </a:prstGeom>
          <a:solidFill>
            <a:srgbClr val="14213D"/>
          </a:solidFill>
          <a:ln w="12700">
            <a:solidFill>
              <a:srgbClr val="FFFFFF"/>
            </a:solidFill>
            <a:prstDash val="solid"/>
          </a:ln>
        </p:spPr>
      </p:sp>
      <p:sp>
        <p:nvSpPr>
          <p:cNvPr id="12" name="Text 10"/>
          <p:cNvSpPr/>
          <p:nvPr/>
        </p:nvSpPr>
        <p:spPr>
          <a:xfrm>
            <a:off x="5577840" y="1837944"/>
            <a:ext cx="1097280" cy="109728"/>
          </a:xfrm>
          <a:prstGeom prst="rect">
            <a:avLst/>
          </a:prstGeom>
          <a:noFill/>
          <a:ln/>
        </p:spPr>
        <p:txBody>
          <a:bodyPr wrap="square" lIns="0" tIns="0" rIns="0" bIns="0" rtlCol="0" anchor="ctr"/>
          <a:lstStyle/>
          <a:p>
            <a:pPr algn="ctr" indent="0" marL="0">
              <a:buNone/>
            </a:pPr>
            <a:r>
              <a:rPr lang="en-US" sz="680" b="1" dirty="0">
                <a:solidFill>
                  <a:srgbClr val="FFFFFF"/>
                </a:solidFill>
              </a:rPr>
              <a:t>Admin</a:t>
            </a:r>
            <a:endParaRPr lang="en-US" sz="680" dirty="0"/>
          </a:p>
        </p:txBody>
      </p:sp>
      <p:sp>
        <p:nvSpPr>
          <p:cNvPr id="13" name="Shape 11"/>
          <p:cNvSpPr/>
          <p:nvPr/>
        </p:nvSpPr>
        <p:spPr>
          <a:xfrm>
            <a:off x="5532120" y="2276856"/>
            <a:ext cx="1188720" cy="438912"/>
          </a:xfrm>
          <a:prstGeom prst="rect">
            <a:avLst/>
          </a:prstGeom>
          <a:solidFill>
            <a:srgbClr val="14213D"/>
          </a:solidFill>
          <a:ln w="12700">
            <a:solidFill>
              <a:srgbClr val="FFFFFF"/>
            </a:solidFill>
            <a:prstDash val="solid"/>
          </a:ln>
        </p:spPr>
      </p:sp>
      <p:sp>
        <p:nvSpPr>
          <p:cNvPr id="14" name="Text 12"/>
          <p:cNvSpPr/>
          <p:nvPr/>
        </p:nvSpPr>
        <p:spPr>
          <a:xfrm>
            <a:off x="5577840" y="2404872"/>
            <a:ext cx="1097280" cy="109728"/>
          </a:xfrm>
          <a:prstGeom prst="rect">
            <a:avLst/>
          </a:prstGeom>
          <a:noFill/>
          <a:ln/>
        </p:spPr>
        <p:txBody>
          <a:bodyPr wrap="square" lIns="0" tIns="0" rIns="0" bIns="0" rtlCol="0" anchor="ctr"/>
          <a:lstStyle/>
          <a:p>
            <a:pPr algn="ctr" indent="0" marL="0">
              <a:buNone/>
            </a:pPr>
            <a:r>
              <a:rPr lang="en-US" sz="680" b="1" dirty="0">
                <a:solidFill>
                  <a:srgbClr val="FFFFFF"/>
                </a:solidFill>
              </a:rPr>
              <a:t>Program</a:t>
            </a:r>
            <a:endParaRPr lang="en-US" sz="680" dirty="0"/>
          </a:p>
        </p:txBody>
      </p:sp>
      <p:sp>
        <p:nvSpPr>
          <p:cNvPr id="15" name="Shape 13"/>
          <p:cNvSpPr/>
          <p:nvPr/>
        </p:nvSpPr>
        <p:spPr>
          <a:xfrm>
            <a:off x="5532120" y="2843784"/>
            <a:ext cx="1188720" cy="438912"/>
          </a:xfrm>
          <a:prstGeom prst="rect">
            <a:avLst/>
          </a:prstGeom>
          <a:solidFill>
            <a:srgbClr val="14213D"/>
          </a:solidFill>
          <a:ln w="12700">
            <a:solidFill>
              <a:srgbClr val="FFFFFF"/>
            </a:solidFill>
            <a:prstDash val="solid"/>
          </a:ln>
        </p:spPr>
      </p:sp>
      <p:sp>
        <p:nvSpPr>
          <p:cNvPr id="16" name="Text 14"/>
          <p:cNvSpPr/>
          <p:nvPr/>
        </p:nvSpPr>
        <p:spPr>
          <a:xfrm>
            <a:off x="5577840" y="2971800"/>
            <a:ext cx="1097280" cy="109728"/>
          </a:xfrm>
          <a:prstGeom prst="rect">
            <a:avLst/>
          </a:prstGeom>
          <a:noFill/>
          <a:ln/>
        </p:spPr>
        <p:txBody>
          <a:bodyPr wrap="square" lIns="0" tIns="0" rIns="0" bIns="0" rtlCol="0" anchor="ctr"/>
          <a:lstStyle/>
          <a:p>
            <a:pPr algn="ctr" indent="0" marL="0">
              <a:buNone/>
            </a:pPr>
            <a:r>
              <a:rPr lang="en-US" sz="680" b="1" dirty="0">
                <a:solidFill>
                  <a:srgbClr val="FFFFFF"/>
                </a:solidFill>
              </a:rPr>
              <a:t>Finance</a:t>
            </a:r>
            <a:endParaRPr lang="en-US" sz="680" dirty="0"/>
          </a:p>
        </p:txBody>
      </p:sp>
      <p:sp>
        <p:nvSpPr>
          <p:cNvPr id="17" name="Shape 15"/>
          <p:cNvSpPr/>
          <p:nvPr/>
        </p:nvSpPr>
        <p:spPr>
          <a:xfrm>
            <a:off x="5532120" y="3410712"/>
            <a:ext cx="1188720" cy="438912"/>
          </a:xfrm>
          <a:prstGeom prst="rect">
            <a:avLst/>
          </a:prstGeom>
          <a:solidFill>
            <a:srgbClr val="14213D"/>
          </a:solidFill>
          <a:ln w="12700">
            <a:solidFill>
              <a:srgbClr val="FFFFFF"/>
            </a:solidFill>
            <a:prstDash val="solid"/>
          </a:ln>
        </p:spPr>
      </p:sp>
      <p:sp>
        <p:nvSpPr>
          <p:cNvPr id="18" name="Text 16"/>
          <p:cNvSpPr/>
          <p:nvPr/>
        </p:nvSpPr>
        <p:spPr>
          <a:xfrm>
            <a:off x="5577840" y="3538728"/>
            <a:ext cx="1097280" cy="109728"/>
          </a:xfrm>
          <a:prstGeom prst="rect">
            <a:avLst/>
          </a:prstGeom>
          <a:noFill/>
          <a:ln/>
        </p:spPr>
        <p:txBody>
          <a:bodyPr wrap="square" lIns="0" tIns="0" rIns="0" bIns="0" rtlCol="0" anchor="ctr"/>
          <a:lstStyle/>
          <a:p>
            <a:pPr algn="ctr" indent="0" marL="0">
              <a:buNone/>
            </a:pPr>
            <a:r>
              <a:rPr lang="en-US" sz="680" b="1" dirty="0">
                <a:solidFill>
                  <a:srgbClr val="FFFFFF"/>
                </a:solidFill>
              </a:rPr>
              <a:t>Instructor</a:t>
            </a:r>
            <a:endParaRPr lang="en-US" sz="680" dirty="0"/>
          </a:p>
        </p:txBody>
      </p:sp>
      <p:sp>
        <p:nvSpPr>
          <p:cNvPr id="19" name="Shape 17"/>
          <p:cNvSpPr/>
          <p:nvPr/>
        </p:nvSpPr>
        <p:spPr>
          <a:xfrm>
            <a:off x="5532120" y="3977640"/>
            <a:ext cx="1188720" cy="438912"/>
          </a:xfrm>
          <a:prstGeom prst="rect">
            <a:avLst/>
          </a:prstGeom>
          <a:solidFill>
            <a:srgbClr val="14213D"/>
          </a:solidFill>
          <a:ln w="12700">
            <a:solidFill>
              <a:srgbClr val="FFFFFF"/>
            </a:solidFill>
            <a:prstDash val="solid"/>
          </a:ln>
        </p:spPr>
      </p:sp>
      <p:sp>
        <p:nvSpPr>
          <p:cNvPr id="20" name="Text 18"/>
          <p:cNvSpPr/>
          <p:nvPr/>
        </p:nvSpPr>
        <p:spPr>
          <a:xfrm>
            <a:off x="5577840" y="4105656"/>
            <a:ext cx="1097280" cy="109728"/>
          </a:xfrm>
          <a:prstGeom prst="rect">
            <a:avLst/>
          </a:prstGeom>
          <a:noFill/>
          <a:ln/>
        </p:spPr>
        <p:txBody>
          <a:bodyPr wrap="square" lIns="0" tIns="0" rIns="0" bIns="0" rtlCol="0" anchor="ctr"/>
          <a:lstStyle/>
          <a:p>
            <a:pPr algn="ctr" indent="0" marL="0">
              <a:buNone/>
            </a:pPr>
            <a:r>
              <a:rPr lang="en-US" sz="680" b="1" dirty="0">
                <a:solidFill>
                  <a:srgbClr val="FFFFFF"/>
                </a:solidFill>
              </a:rPr>
              <a:t>System</a:t>
            </a:r>
            <a:endParaRPr lang="en-US" sz="680" dirty="0"/>
          </a:p>
        </p:txBody>
      </p:sp>
      <p:sp>
        <p:nvSpPr>
          <p:cNvPr id="21" name="Shape 19"/>
          <p:cNvSpPr/>
          <p:nvPr/>
        </p:nvSpPr>
        <p:spPr>
          <a:xfrm>
            <a:off x="6903720" y="1143000"/>
            <a:ext cx="777240" cy="393192"/>
          </a:xfrm>
          <a:prstGeom prst="roundRect">
            <a:avLst>
              <a:gd name="adj" fmla="val 18605"/>
            </a:avLst>
          </a:prstGeom>
          <a:solidFill>
            <a:srgbClr val="FFFFFF"/>
          </a:solidFill>
          <a:ln w="12700">
            <a:solidFill>
              <a:srgbClr val="C9A44C"/>
            </a:solidFill>
            <a:prstDash val="solid"/>
          </a:ln>
        </p:spPr>
      </p:sp>
      <p:sp>
        <p:nvSpPr>
          <p:cNvPr id="22" name="Text 20"/>
          <p:cNvSpPr/>
          <p:nvPr/>
        </p:nvSpPr>
        <p:spPr>
          <a:xfrm>
            <a:off x="7013448" y="1234440"/>
            <a:ext cx="557784" cy="228600"/>
          </a:xfrm>
          <a:prstGeom prst="rect">
            <a:avLst/>
          </a:prstGeom>
          <a:noFill/>
          <a:ln/>
        </p:spPr>
        <p:txBody>
          <a:bodyPr wrap="square" lIns="127" tIns="127" rIns="127" bIns="127" rtlCol="0" anchor="ctr">
            <a:normAutofit/>
          </a:bodyPr>
          <a:lstStyle/>
          <a:p>
            <a:pPr indent="0" marL="0">
              <a:buNone/>
            </a:pPr>
            <a:r>
              <a:rPr lang="en-US" sz="640" b="1" dirty="0">
                <a:solidFill>
                  <a:srgbClr val="24303F"/>
                </a:solidFill>
              </a:rPr>
              <a:t>Submit enquiry</a:t>
            </a:r>
            <a:endParaRPr lang="en-US" sz="640" dirty="0"/>
          </a:p>
        </p:txBody>
      </p:sp>
      <p:sp>
        <p:nvSpPr>
          <p:cNvPr id="23" name="Shape 21"/>
          <p:cNvSpPr/>
          <p:nvPr/>
        </p:nvSpPr>
        <p:spPr>
          <a:xfrm>
            <a:off x="7680960" y="1335024"/>
            <a:ext cx="347472" cy="566928"/>
          </a:xfrm>
          <a:prstGeom prst="line">
            <a:avLst/>
          </a:prstGeom>
          <a:noFill/>
          <a:ln w="12700">
            <a:solidFill>
              <a:srgbClr val="2A9D8F"/>
            </a:solidFill>
            <a:prstDash val="solid"/>
            <a:headEnd type="none"/>
            <a:tailEnd type="triangle"/>
          </a:ln>
        </p:spPr>
      </p:sp>
      <p:sp>
        <p:nvSpPr>
          <p:cNvPr id="24" name="Shape 22"/>
          <p:cNvSpPr/>
          <p:nvPr/>
        </p:nvSpPr>
        <p:spPr>
          <a:xfrm>
            <a:off x="8046720" y="1709928"/>
            <a:ext cx="777240" cy="393192"/>
          </a:xfrm>
          <a:prstGeom prst="roundRect">
            <a:avLst>
              <a:gd name="adj" fmla="val 18605"/>
            </a:avLst>
          </a:prstGeom>
          <a:solidFill>
            <a:srgbClr val="FFFFFF"/>
          </a:solidFill>
          <a:ln w="12700">
            <a:solidFill>
              <a:srgbClr val="C9A44C"/>
            </a:solidFill>
            <a:prstDash val="solid"/>
          </a:ln>
        </p:spPr>
      </p:sp>
      <p:sp>
        <p:nvSpPr>
          <p:cNvPr id="25" name="Text 23"/>
          <p:cNvSpPr/>
          <p:nvPr/>
        </p:nvSpPr>
        <p:spPr>
          <a:xfrm>
            <a:off x="8156448" y="1801368"/>
            <a:ext cx="557784" cy="228600"/>
          </a:xfrm>
          <a:prstGeom prst="rect">
            <a:avLst/>
          </a:prstGeom>
          <a:noFill/>
          <a:ln/>
        </p:spPr>
        <p:txBody>
          <a:bodyPr wrap="square" lIns="127" tIns="127" rIns="127" bIns="127" rtlCol="0" anchor="ctr">
            <a:normAutofit/>
          </a:bodyPr>
          <a:lstStyle/>
          <a:p>
            <a:pPr indent="0" marL="0">
              <a:buNone/>
            </a:pPr>
            <a:r>
              <a:rPr lang="en-US" sz="640" b="1" dirty="0">
                <a:solidFill>
                  <a:srgbClr val="24303F"/>
                </a:solidFill>
              </a:rPr>
              <a:t>Send info</a:t>
            </a:r>
            <a:endParaRPr lang="en-US" sz="640" dirty="0"/>
          </a:p>
        </p:txBody>
      </p:sp>
      <p:sp>
        <p:nvSpPr>
          <p:cNvPr id="26" name="Shape 24"/>
          <p:cNvSpPr/>
          <p:nvPr/>
        </p:nvSpPr>
        <p:spPr>
          <a:xfrm>
            <a:off x="8823960" y="1901952"/>
            <a:ext cx="27432" cy="566928"/>
          </a:xfrm>
          <a:prstGeom prst="line">
            <a:avLst/>
          </a:prstGeom>
          <a:noFill/>
          <a:ln w="12700">
            <a:solidFill>
              <a:srgbClr val="2A9D8F"/>
            </a:solidFill>
            <a:prstDash val="solid"/>
            <a:headEnd type="none"/>
            <a:tailEnd type="triangle"/>
          </a:ln>
        </p:spPr>
      </p:sp>
      <p:sp>
        <p:nvSpPr>
          <p:cNvPr id="27" name="Shape 25"/>
          <p:cNvSpPr/>
          <p:nvPr/>
        </p:nvSpPr>
        <p:spPr>
          <a:xfrm>
            <a:off x="8869680" y="2276856"/>
            <a:ext cx="777240" cy="393192"/>
          </a:xfrm>
          <a:prstGeom prst="roundRect">
            <a:avLst>
              <a:gd name="adj" fmla="val 18605"/>
            </a:avLst>
          </a:prstGeom>
          <a:solidFill>
            <a:srgbClr val="FFFFFF"/>
          </a:solidFill>
          <a:ln w="12700">
            <a:solidFill>
              <a:srgbClr val="C9A44C"/>
            </a:solidFill>
            <a:prstDash val="solid"/>
          </a:ln>
        </p:spPr>
      </p:sp>
      <p:sp>
        <p:nvSpPr>
          <p:cNvPr id="28" name="Text 26"/>
          <p:cNvSpPr/>
          <p:nvPr/>
        </p:nvSpPr>
        <p:spPr>
          <a:xfrm>
            <a:off x="8979408" y="2368296"/>
            <a:ext cx="557784" cy="228600"/>
          </a:xfrm>
          <a:prstGeom prst="rect">
            <a:avLst/>
          </a:prstGeom>
          <a:noFill/>
          <a:ln/>
        </p:spPr>
        <p:txBody>
          <a:bodyPr wrap="square" lIns="127" tIns="127" rIns="127" bIns="127" rtlCol="0" anchor="ctr">
            <a:normAutofit/>
          </a:bodyPr>
          <a:lstStyle/>
          <a:p>
            <a:pPr indent="0" marL="0">
              <a:buNone/>
            </a:pPr>
            <a:r>
              <a:rPr lang="en-US" sz="640" b="1" dirty="0">
                <a:solidFill>
                  <a:srgbClr val="24303F"/>
                </a:solidFill>
              </a:rPr>
              <a:t>Enter reg</a:t>
            </a:r>
            <a:endParaRPr lang="en-US" sz="640" dirty="0"/>
          </a:p>
        </p:txBody>
      </p:sp>
      <p:sp>
        <p:nvSpPr>
          <p:cNvPr id="29" name="Shape 27"/>
          <p:cNvSpPr/>
          <p:nvPr/>
        </p:nvSpPr>
        <p:spPr>
          <a:xfrm>
            <a:off x="9646920" y="2468880"/>
            <a:ext cx="-64008" cy="566928"/>
          </a:xfrm>
          <a:prstGeom prst="line">
            <a:avLst/>
          </a:prstGeom>
          <a:noFill/>
          <a:ln w="12700">
            <a:solidFill>
              <a:srgbClr val="2A9D8F"/>
            </a:solidFill>
            <a:prstDash val="solid"/>
            <a:headEnd type="none"/>
            <a:tailEnd type="triangle"/>
          </a:ln>
        </p:spPr>
      </p:sp>
      <p:sp>
        <p:nvSpPr>
          <p:cNvPr id="30" name="Shape 28"/>
          <p:cNvSpPr/>
          <p:nvPr/>
        </p:nvSpPr>
        <p:spPr>
          <a:xfrm>
            <a:off x="9601200" y="2843784"/>
            <a:ext cx="777240" cy="393192"/>
          </a:xfrm>
          <a:prstGeom prst="roundRect">
            <a:avLst>
              <a:gd name="adj" fmla="val 18605"/>
            </a:avLst>
          </a:prstGeom>
          <a:solidFill>
            <a:srgbClr val="FFFFFF"/>
          </a:solidFill>
          <a:ln w="12700">
            <a:solidFill>
              <a:srgbClr val="C9A44C"/>
            </a:solidFill>
            <a:prstDash val="solid"/>
          </a:ln>
        </p:spPr>
      </p:sp>
      <p:sp>
        <p:nvSpPr>
          <p:cNvPr id="31" name="Text 29"/>
          <p:cNvSpPr/>
          <p:nvPr/>
        </p:nvSpPr>
        <p:spPr>
          <a:xfrm>
            <a:off x="9710928" y="2935224"/>
            <a:ext cx="557784" cy="228600"/>
          </a:xfrm>
          <a:prstGeom prst="rect">
            <a:avLst/>
          </a:prstGeom>
          <a:noFill/>
          <a:ln/>
        </p:spPr>
        <p:txBody>
          <a:bodyPr wrap="square" lIns="127" tIns="127" rIns="127" bIns="127" rtlCol="0" anchor="ctr">
            <a:normAutofit/>
          </a:bodyPr>
          <a:lstStyle/>
          <a:p>
            <a:pPr indent="0" marL="0">
              <a:buNone/>
            </a:pPr>
            <a:r>
              <a:rPr lang="en-US" sz="640" b="1" dirty="0">
                <a:solidFill>
                  <a:srgbClr val="24303F"/>
                </a:solidFill>
              </a:rPr>
              <a:t>Check pay</a:t>
            </a:r>
            <a:endParaRPr lang="en-US" sz="640" dirty="0"/>
          </a:p>
        </p:txBody>
      </p:sp>
      <p:sp>
        <p:nvSpPr>
          <p:cNvPr id="32" name="Shape 30"/>
          <p:cNvSpPr/>
          <p:nvPr/>
        </p:nvSpPr>
        <p:spPr>
          <a:xfrm>
            <a:off x="10378440" y="3035808"/>
            <a:ext cx="-201168" cy="566928"/>
          </a:xfrm>
          <a:prstGeom prst="line">
            <a:avLst/>
          </a:prstGeom>
          <a:noFill/>
          <a:ln w="12700">
            <a:solidFill>
              <a:srgbClr val="2A9D8F"/>
            </a:solidFill>
            <a:prstDash val="solid"/>
            <a:headEnd type="none"/>
            <a:tailEnd type="triangle"/>
          </a:ln>
        </p:spPr>
      </p:sp>
      <p:sp>
        <p:nvSpPr>
          <p:cNvPr id="33" name="Shape 31"/>
          <p:cNvSpPr/>
          <p:nvPr/>
        </p:nvSpPr>
        <p:spPr>
          <a:xfrm>
            <a:off x="10195560" y="3410712"/>
            <a:ext cx="777240" cy="393192"/>
          </a:xfrm>
          <a:prstGeom prst="roundRect">
            <a:avLst>
              <a:gd name="adj" fmla="val 18605"/>
            </a:avLst>
          </a:prstGeom>
          <a:solidFill>
            <a:srgbClr val="FFFFFF"/>
          </a:solidFill>
          <a:ln w="12700">
            <a:solidFill>
              <a:srgbClr val="C9A44C"/>
            </a:solidFill>
            <a:prstDash val="solid"/>
          </a:ln>
        </p:spPr>
      </p:sp>
      <p:sp>
        <p:nvSpPr>
          <p:cNvPr id="34" name="Text 32"/>
          <p:cNvSpPr/>
          <p:nvPr/>
        </p:nvSpPr>
        <p:spPr>
          <a:xfrm>
            <a:off x="10305288" y="3502152"/>
            <a:ext cx="557784" cy="228600"/>
          </a:xfrm>
          <a:prstGeom prst="rect">
            <a:avLst/>
          </a:prstGeom>
          <a:noFill/>
          <a:ln/>
        </p:spPr>
        <p:txBody>
          <a:bodyPr wrap="square" lIns="127" tIns="127" rIns="127" bIns="127" rtlCol="0" anchor="ctr">
            <a:normAutofit/>
          </a:bodyPr>
          <a:lstStyle/>
          <a:p>
            <a:pPr indent="0" marL="0">
              <a:buNone/>
            </a:pPr>
            <a:r>
              <a:rPr lang="en-US" sz="640" b="1" dirty="0">
                <a:solidFill>
                  <a:srgbClr val="24303F"/>
                </a:solidFill>
              </a:rPr>
              <a:t>Mark attend</a:t>
            </a:r>
            <a:endParaRPr lang="en-US" sz="640" dirty="0"/>
          </a:p>
        </p:txBody>
      </p:sp>
      <p:sp>
        <p:nvSpPr>
          <p:cNvPr id="35" name="Shape 33"/>
          <p:cNvSpPr/>
          <p:nvPr/>
        </p:nvSpPr>
        <p:spPr>
          <a:xfrm>
            <a:off x="10972800" y="3602736"/>
            <a:ext cx="-18288" cy="-1133856"/>
          </a:xfrm>
          <a:prstGeom prst="line">
            <a:avLst/>
          </a:prstGeom>
          <a:noFill/>
          <a:ln w="12700">
            <a:solidFill>
              <a:srgbClr val="2A9D8F"/>
            </a:solidFill>
            <a:prstDash val="solid"/>
            <a:headEnd type="none"/>
            <a:tailEnd type="triangle"/>
          </a:ln>
        </p:spPr>
      </p:sp>
      <p:sp>
        <p:nvSpPr>
          <p:cNvPr id="36" name="Shape 34"/>
          <p:cNvSpPr/>
          <p:nvPr/>
        </p:nvSpPr>
        <p:spPr>
          <a:xfrm>
            <a:off x="10972800" y="2276856"/>
            <a:ext cx="777240" cy="393192"/>
          </a:xfrm>
          <a:prstGeom prst="roundRect">
            <a:avLst>
              <a:gd name="adj" fmla="val 18605"/>
            </a:avLst>
          </a:prstGeom>
          <a:solidFill>
            <a:srgbClr val="FFFFFF"/>
          </a:solidFill>
          <a:ln w="12700">
            <a:solidFill>
              <a:srgbClr val="C9A44C"/>
            </a:solidFill>
            <a:prstDash val="solid"/>
          </a:ln>
        </p:spPr>
      </p:sp>
      <p:sp>
        <p:nvSpPr>
          <p:cNvPr id="37" name="Text 35"/>
          <p:cNvSpPr/>
          <p:nvPr/>
        </p:nvSpPr>
        <p:spPr>
          <a:xfrm>
            <a:off x="11082528" y="2368296"/>
            <a:ext cx="557784" cy="228600"/>
          </a:xfrm>
          <a:prstGeom prst="rect">
            <a:avLst/>
          </a:prstGeom>
          <a:noFill/>
          <a:ln/>
        </p:spPr>
        <p:txBody>
          <a:bodyPr wrap="square" lIns="127" tIns="127" rIns="127" bIns="127" rtlCol="0" anchor="ctr">
            <a:normAutofit/>
          </a:bodyPr>
          <a:lstStyle/>
          <a:p>
            <a:pPr indent="0" marL="0">
              <a:buNone/>
            </a:pPr>
            <a:r>
              <a:rPr lang="en-US" sz="640" b="1" dirty="0">
                <a:solidFill>
                  <a:srgbClr val="24303F"/>
                </a:solidFill>
              </a:rPr>
              <a:t>Send cert</a:t>
            </a:r>
            <a:endParaRPr lang="en-US" sz="640" dirty="0"/>
          </a:p>
        </p:txBody>
      </p:sp>
      <p:sp>
        <p:nvSpPr>
          <p:cNvPr id="38" name="Text 36"/>
          <p:cNvSpPr/>
          <p:nvPr/>
        </p:nvSpPr>
        <p:spPr>
          <a:xfrm>
            <a:off x="11384280" y="6428232"/>
            <a:ext cx="320040" cy="109728"/>
          </a:xfrm>
          <a:prstGeom prst="rect">
            <a:avLst/>
          </a:prstGeom>
          <a:noFill/>
          <a:ln/>
        </p:spPr>
        <p:txBody>
          <a:bodyPr wrap="square" lIns="0" tIns="0" rIns="0" bIns="0" rtlCol="0" anchor="ctr"/>
          <a:lstStyle/>
          <a:p>
            <a:pPr algn="r" indent="0" marL="0">
              <a:buNone/>
            </a:pPr>
            <a:r>
              <a:rPr lang="en-US" sz="700" dirty="0">
                <a:solidFill>
                  <a:srgbClr val="FFFFFF"/>
                </a:solidFill>
              </a:rPr>
              <a:t>11</a:t>
            </a:r>
            <a:endParaRPr lang="en-US" sz="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3EA"/>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4213D"/>
          </a:solidFill>
          <a:ln w="12700">
            <a:solidFill>
              <a:srgbClr val="14213D">
                <a:alpha val="0"/>
              </a:srgbClr>
            </a:solidFill>
            <a:prstDash val="solid"/>
          </a:ln>
        </p:spPr>
      </p:sp>
      <p:sp>
        <p:nvSpPr>
          <p:cNvPr id="3" name="Shape 1"/>
          <p:cNvSpPr/>
          <p:nvPr/>
        </p:nvSpPr>
        <p:spPr>
          <a:xfrm>
            <a:off x="0" y="6693408"/>
            <a:ext cx="12191695" cy="164592"/>
          </a:xfrm>
          <a:prstGeom prst="rect">
            <a:avLst/>
          </a:prstGeom>
          <a:solidFill>
            <a:srgbClr val="14213D"/>
          </a:solidFill>
          <a:ln w="12700">
            <a:solidFill>
              <a:srgbClr val="14213D">
                <a:alpha val="0"/>
              </a:srgbClr>
            </a:solidFill>
            <a:prstDash val="solid"/>
          </a:ln>
        </p:spPr>
      </p:sp>
      <p:sp>
        <p:nvSpPr>
          <p:cNvPr id="4" name="Text 2"/>
          <p:cNvSpPr/>
          <p:nvPr/>
        </p:nvSpPr>
        <p:spPr>
          <a:xfrm>
            <a:off x="502920" y="256032"/>
            <a:ext cx="4480560" cy="164592"/>
          </a:xfrm>
          <a:prstGeom prst="rect">
            <a:avLst/>
          </a:prstGeom>
          <a:noFill/>
          <a:ln/>
        </p:spPr>
        <p:txBody>
          <a:bodyPr wrap="square" lIns="0" tIns="0" rIns="0" bIns="0" rtlCol="0" anchor="ctr"/>
          <a:lstStyle/>
          <a:p>
            <a:pPr indent="0" marL="0">
              <a:buNone/>
            </a:pPr>
            <a:r>
              <a:rPr lang="en-US" sz="700" b="1" dirty="0">
                <a:solidFill>
                  <a:srgbClr val="2A9D8F"/>
                </a:solidFill>
                <a:latin typeface="Aptos" pitchFamily="34" charset="0"/>
                <a:ea typeface="Aptos" pitchFamily="34" charset="-122"/>
                <a:cs typeface="Aptos" pitchFamily="34" charset="-120"/>
              </a:rPr>
              <a:t>SECTION 2</a:t>
            </a:r>
            <a:endParaRPr lang="en-US" sz="700" dirty="0"/>
          </a:p>
        </p:txBody>
      </p:sp>
      <p:sp>
        <p:nvSpPr>
          <p:cNvPr id="5" name="Text 3"/>
          <p:cNvSpPr/>
          <p:nvPr/>
        </p:nvSpPr>
        <p:spPr>
          <a:xfrm>
            <a:off x="9281160" y="219456"/>
            <a:ext cx="2423160" cy="182880"/>
          </a:xfrm>
          <a:prstGeom prst="rect">
            <a:avLst/>
          </a:prstGeom>
          <a:noFill/>
          <a:ln/>
        </p:spPr>
        <p:txBody>
          <a:bodyPr wrap="square" lIns="0" tIns="0" rIns="0" bIns="0" rtlCol="0" anchor="ctr"/>
          <a:lstStyle/>
          <a:p>
            <a:pPr algn="r" indent="0" marL="0">
              <a:buNone/>
            </a:pPr>
            <a:r>
              <a:rPr lang="en-US" sz="700" dirty="0">
                <a:solidFill>
                  <a:srgbClr val="6D7886"/>
                </a:solidFill>
              </a:rPr>
              <a:t>Jifunze.ai skill booster</a:t>
            </a:r>
            <a:endParaRPr lang="en-US" sz="700" dirty="0"/>
          </a:p>
        </p:txBody>
      </p:sp>
      <p:sp>
        <p:nvSpPr>
          <p:cNvPr id="6" name="Text 4"/>
          <p:cNvSpPr/>
          <p:nvPr/>
        </p:nvSpPr>
        <p:spPr>
          <a:xfrm>
            <a:off x="502920" y="502920"/>
            <a:ext cx="4617720" cy="475488"/>
          </a:xfrm>
          <a:prstGeom prst="rect">
            <a:avLst/>
          </a:prstGeom>
          <a:noFill/>
          <a:ln/>
        </p:spPr>
        <p:txBody>
          <a:bodyPr wrap="square" lIns="127" tIns="127" rIns="127" bIns="127" rtlCol="0" anchor="ctr">
            <a:normAutofit/>
          </a:bodyPr>
          <a:lstStyle/>
          <a:p>
            <a:pPr indent="0" marL="0">
              <a:buNone/>
            </a:pPr>
            <a:r>
              <a:rPr lang="en-US" sz="2500" b="1" dirty="0">
                <a:solidFill>
                  <a:srgbClr val="14213D"/>
                </a:solidFill>
                <a:latin typeface="Aptos Display" pitchFamily="34" charset="0"/>
                <a:ea typeface="Aptos Display" pitchFamily="34" charset="-122"/>
                <a:cs typeface="Aptos Display" pitchFamily="34" charset="-120"/>
              </a:rPr>
              <a:t>Reading the workload dataset</a:t>
            </a:r>
            <a:endParaRPr lang="en-US" sz="2500" dirty="0"/>
          </a:p>
        </p:txBody>
      </p:sp>
      <p:sp>
        <p:nvSpPr>
          <p:cNvPr id="7" name="Text 5"/>
          <p:cNvSpPr/>
          <p:nvPr/>
        </p:nvSpPr>
        <p:spPr>
          <a:xfrm>
            <a:off x="521208" y="1005840"/>
            <a:ext cx="4617720" cy="228600"/>
          </a:xfrm>
          <a:prstGeom prst="rect">
            <a:avLst/>
          </a:prstGeom>
          <a:noFill/>
          <a:ln/>
        </p:spPr>
        <p:txBody>
          <a:bodyPr wrap="square" lIns="0" tIns="0" rIns="0" bIns="0" rtlCol="0" anchor="ctr">
            <a:normAutofit/>
          </a:bodyPr>
          <a:lstStyle/>
          <a:p>
            <a:pPr indent="0" marL="0">
              <a:buNone/>
            </a:pPr>
            <a:r>
              <a:rPr lang="en-US" sz="1080" dirty="0">
                <a:solidFill>
                  <a:srgbClr val="24303F"/>
                </a:solidFill>
              </a:rPr>
              <a:t>Use volume and minutes to build a baseline</a:t>
            </a:r>
            <a:endParaRPr lang="en-US" sz="1080" dirty="0"/>
          </a:p>
        </p:txBody>
      </p:sp>
      <p:sp>
        <p:nvSpPr>
          <p:cNvPr id="8" name="Text 6"/>
          <p:cNvSpPr/>
          <p:nvPr/>
        </p:nvSpPr>
        <p:spPr>
          <a:xfrm>
            <a:off x="594360" y="1417320"/>
            <a:ext cx="4617720" cy="4343400"/>
          </a:xfrm>
          <a:prstGeom prst="rect">
            <a:avLst/>
          </a:prstGeom>
          <a:noFill/>
          <a:ln/>
        </p:spPr>
        <p:txBody>
          <a:bodyPr wrap="square" lIns="635" tIns="635" rIns="635" bIns="635" rtlCol="0" anchor="ctr">
            <a:normAutofit/>
          </a:bodyPr>
          <a:lstStyle/>
          <a:p>
            <a:r>
              <a:rPr lang="en-US" sz="1450" dirty="0">
                <a:solidFill>
                  <a:srgbClr val="24303F"/>
                </a:solidFill>
              </a:rPr>
              <a:t>• Monthly volume tells us how often the work happens</a:t>
            </a:r>
            <a:endParaRPr lang="en-US" sz="1450" dirty="0"/>
          </a:p>
          <a:p>
            <a:r>
              <a:rPr lang="en-US" sz="1450" dirty="0">
                <a:solidFill>
                  <a:srgbClr val="24303F"/>
                </a:solidFill>
              </a:rPr>
              <a:t>• Average minutes tells us effort per item</a:t>
            </a:r>
            <a:endParaRPr lang="en-US" sz="1450" dirty="0"/>
          </a:p>
          <a:p>
            <a:r>
              <a:rPr lang="en-US" sz="1450" dirty="0">
                <a:solidFill>
                  <a:srgbClr val="24303F"/>
                </a:solidFill>
              </a:rPr>
              <a:t>• Owner shows whose capacity is consumed</a:t>
            </a:r>
            <a:endParaRPr lang="en-US" sz="1450" dirty="0"/>
          </a:p>
          <a:p>
            <a:r>
              <a:rPr lang="en-US" sz="1450" dirty="0">
                <a:solidFill>
                  <a:srgbClr val="24303F"/>
                </a:solidFill>
              </a:rPr>
              <a:t>• Error/delay rate shows quality risk</a:t>
            </a:r>
            <a:endParaRPr lang="en-US" sz="1450" dirty="0"/>
          </a:p>
          <a:p>
            <a:r>
              <a:rPr lang="en-US" sz="1450" dirty="0">
                <a:solidFill>
                  <a:srgbClr val="24303F"/>
                </a:solidFill>
              </a:rPr>
              <a:t>• Together, the fields support prioritization</a:t>
            </a:r>
            <a:endParaRPr lang="en-US" sz="1450" dirty="0"/>
          </a:p>
        </p:txBody>
      </p:sp>
      <p:sp>
        <p:nvSpPr>
          <p:cNvPr id="9" name="Shape 7"/>
          <p:cNvSpPr/>
          <p:nvPr/>
        </p:nvSpPr>
        <p:spPr>
          <a:xfrm>
            <a:off x="5532120" y="1097280"/>
            <a:ext cx="3017520" cy="497840"/>
          </a:xfrm>
          <a:prstGeom prst="rect">
            <a:avLst/>
          </a:prstGeom>
          <a:solidFill>
            <a:srgbClr val="14213D"/>
          </a:solidFill>
          <a:ln w="12700">
            <a:solidFill>
              <a:srgbClr val="FFFFFF"/>
            </a:solidFill>
            <a:prstDash val="solid"/>
          </a:ln>
        </p:spPr>
      </p:sp>
      <p:sp>
        <p:nvSpPr>
          <p:cNvPr id="10" name="Text 8"/>
          <p:cNvSpPr/>
          <p:nvPr/>
        </p:nvSpPr>
        <p:spPr>
          <a:xfrm>
            <a:off x="5568696" y="1143000"/>
            <a:ext cx="2944368" cy="424688"/>
          </a:xfrm>
          <a:prstGeom prst="rect">
            <a:avLst/>
          </a:prstGeom>
          <a:noFill/>
          <a:ln/>
        </p:spPr>
        <p:txBody>
          <a:bodyPr wrap="square" lIns="0" tIns="0" rIns="0" bIns="0" rtlCol="0" anchor="ctr">
            <a:normAutofit/>
          </a:bodyPr>
          <a:lstStyle/>
          <a:p>
            <a:pPr indent="0" marL="0">
              <a:buNone/>
            </a:pPr>
            <a:r>
              <a:rPr lang="en-US" sz="800" b="1" dirty="0">
                <a:solidFill>
                  <a:srgbClr val="FFFFFF"/>
                </a:solidFill>
              </a:rPr>
              <a:t>Task</a:t>
            </a:r>
            <a:endParaRPr lang="en-US" sz="800" dirty="0"/>
          </a:p>
        </p:txBody>
      </p:sp>
      <p:sp>
        <p:nvSpPr>
          <p:cNvPr id="11" name="Shape 9"/>
          <p:cNvSpPr/>
          <p:nvPr/>
        </p:nvSpPr>
        <p:spPr>
          <a:xfrm>
            <a:off x="8549640" y="1097280"/>
            <a:ext cx="1005840" cy="497840"/>
          </a:xfrm>
          <a:prstGeom prst="rect">
            <a:avLst/>
          </a:prstGeom>
          <a:solidFill>
            <a:srgbClr val="14213D"/>
          </a:solidFill>
          <a:ln w="12700">
            <a:solidFill>
              <a:srgbClr val="FFFFFF"/>
            </a:solidFill>
            <a:prstDash val="solid"/>
          </a:ln>
        </p:spPr>
      </p:sp>
      <p:sp>
        <p:nvSpPr>
          <p:cNvPr id="12" name="Text 10"/>
          <p:cNvSpPr/>
          <p:nvPr/>
        </p:nvSpPr>
        <p:spPr>
          <a:xfrm>
            <a:off x="8586216" y="1143000"/>
            <a:ext cx="932688" cy="424688"/>
          </a:xfrm>
          <a:prstGeom prst="rect">
            <a:avLst/>
          </a:prstGeom>
          <a:noFill/>
          <a:ln/>
        </p:spPr>
        <p:txBody>
          <a:bodyPr wrap="square" lIns="0" tIns="0" rIns="0" bIns="0" rtlCol="0" anchor="ctr">
            <a:normAutofit/>
          </a:bodyPr>
          <a:lstStyle/>
          <a:p>
            <a:pPr indent="0" marL="0">
              <a:buNone/>
            </a:pPr>
            <a:r>
              <a:rPr lang="en-US" sz="800" b="1" dirty="0">
                <a:solidFill>
                  <a:srgbClr val="FFFFFF"/>
                </a:solidFill>
              </a:rPr>
              <a:t>Volume</a:t>
            </a:r>
            <a:endParaRPr lang="en-US" sz="800" dirty="0"/>
          </a:p>
        </p:txBody>
      </p:sp>
      <p:sp>
        <p:nvSpPr>
          <p:cNvPr id="13" name="Shape 11"/>
          <p:cNvSpPr/>
          <p:nvPr/>
        </p:nvSpPr>
        <p:spPr>
          <a:xfrm>
            <a:off x="9555480" y="1097280"/>
            <a:ext cx="914400" cy="497840"/>
          </a:xfrm>
          <a:prstGeom prst="rect">
            <a:avLst/>
          </a:prstGeom>
          <a:solidFill>
            <a:srgbClr val="14213D"/>
          </a:solidFill>
          <a:ln w="12700">
            <a:solidFill>
              <a:srgbClr val="FFFFFF"/>
            </a:solidFill>
            <a:prstDash val="solid"/>
          </a:ln>
        </p:spPr>
      </p:sp>
      <p:sp>
        <p:nvSpPr>
          <p:cNvPr id="14" name="Text 12"/>
          <p:cNvSpPr/>
          <p:nvPr/>
        </p:nvSpPr>
        <p:spPr>
          <a:xfrm>
            <a:off x="9592056" y="1143000"/>
            <a:ext cx="841248" cy="424688"/>
          </a:xfrm>
          <a:prstGeom prst="rect">
            <a:avLst/>
          </a:prstGeom>
          <a:noFill/>
          <a:ln/>
        </p:spPr>
        <p:txBody>
          <a:bodyPr wrap="square" lIns="0" tIns="0" rIns="0" bIns="0" rtlCol="0" anchor="ctr">
            <a:normAutofit/>
          </a:bodyPr>
          <a:lstStyle/>
          <a:p>
            <a:pPr indent="0" marL="0">
              <a:buNone/>
            </a:pPr>
            <a:r>
              <a:rPr lang="en-US" sz="800" b="1" dirty="0">
                <a:solidFill>
                  <a:srgbClr val="FFFFFF"/>
                </a:solidFill>
              </a:rPr>
              <a:t>Min</a:t>
            </a:r>
            <a:endParaRPr lang="en-US" sz="800" dirty="0"/>
          </a:p>
        </p:txBody>
      </p:sp>
      <p:sp>
        <p:nvSpPr>
          <p:cNvPr id="15" name="Shape 13"/>
          <p:cNvSpPr/>
          <p:nvPr/>
        </p:nvSpPr>
        <p:spPr>
          <a:xfrm>
            <a:off x="10469880" y="1097280"/>
            <a:ext cx="1005840" cy="497840"/>
          </a:xfrm>
          <a:prstGeom prst="rect">
            <a:avLst/>
          </a:prstGeom>
          <a:solidFill>
            <a:srgbClr val="14213D"/>
          </a:solidFill>
          <a:ln w="12700">
            <a:solidFill>
              <a:srgbClr val="FFFFFF"/>
            </a:solidFill>
            <a:prstDash val="solid"/>
          </a:ln>
        </p:spPr>
      </p:sp>
      <p:sp>
        <p:nvSpPr>
          <p:cNvPr id="16" name="Text 14"/>
          <p:cNvSpPr/>
          <p:nvPr/>
        </p:nvSpPr>
        <p:spPr>
          <a:xfrm>
            <a:off x="10506456" y="1143000"/>
            <a:ext cx="932688" cy="424688"/>
          </a:xfrm>
          <a:prstGeom prst="rect">
            <a:avLst/>
          </a:prstGeom>
          <a:noFill/>
          <a:ln/>
        </p:spPr>
        <p:txBody>
          <a:bodyPr wrap="square" lIns="0" tIns="0" rIns="0" bIns="0" rtlCol="0" anchor="ctr">
            <a:normAutofit/>
          </a:bodyPr>
          <a:lstStyle/>
          <a:p>
            <a:pPr indent="0" marL="0">
              <a:buNone/>
            </a:pPr>
            <a:r>
              <a:rPr lang="en-US" sz="800" b="1" dirty="0">
                <a:solidFill>
                  <a:srgbClr val="FFFFFF"/>
                </a:solidFill>
              </a:rPr>
              <a:t>Error %</a:t>
            </a:r>
            <a:endParaRPr lang="en-US" sz="800" dirty="0"/>
          </a:p>
        </p:txBody>
      </p:sp>
      <p:sp>
        <p:nvSpPr>
          <p:cNvPr id="17" name="Shape 15"/>
          <p:cNvSpPr/>
          <p:nvPr/>
        </p:nvSpPr>
        <p:spPr>
          <a:xfrm>
            <a:off x="5532120" y="1595120"/>
            <a:ext cx="3017520" cy="497840"/>
          </a:xfrm>
          <a:prstGeom prst="rect">
            <a:avLst/>
          </a:prstGeom>
          <a:solidFill>
            <a:srgbClr val="FDFBF5"/>
          </a:solidFill>
          <a:ln w="12700">
            <a:solidFill>
              <a:srgbClr val="E7DFD0"/>
            </a:solidFill>
            <a:prstDash val="solid"/>
          </a:ln>
        </p:spPr>
      </p:sp>
      <p:sp>
        <p:nvSpPr>
          <p:cNvPr id="18" name="Text 16"/>
          <p:cNvSpPr/>
          <p:nvPr/>
        </p:nvSpPr>
        <p:spPr>
          <a:xfrm>
            <a:off x="5568696" y="1631696"/>
            <a:ext cx="2944368" cy="424688"/>
          </a:xfrm>
          <a:prstGeom prst="rect">
            <a:avLst/>
          </a:prstGeom>
          <a:noFill/>
          <a:ln/>
        </p:spPr>
        <p:txBody>
          <a:bodyPr wrap="square" lIns="0" tIns="0" rIns="0" bIns="0" rtlCol="0" anchor="ctr">
            <a:normAutofit/>
          </a:bodyPr>
          <a:lstStyle/>
          <a:p>
            <a:pPr indent="0" marL="0">
              <a:buNone/>
            </a:pPr>
            <a:r>
              <a:rPr lang="en-US" sz="770" dirty="0">
                <a:solidFill>
                  <a:srgbClr val="24303F"/>
                </a:solidFill>
              </a:rPr>
              <a:t>Respond to enquiry</a:t>
            </a:r>
            <a:endParaRPr lang="en-US" sz="770" dirty="0"/>
          </a:p>
        </p:txBody>
      </p:sp>
      <p:sp>
        <p:nvSpPr>
          <p:cNvPr id="19" name="Shape 17"/>
          <p:cNvSpPr/>
          <p:nvPr/>
        </p:nvSpPr>
        <p:spPr>
          <a:xfrm>
            <a:off x="8549640" y="1595120"/>
            <a:ext cx="1005840" cy="497840"/>
          </a:xfrm>
          <a:prstGeom prst="rect">
            <a:avLst/>
          </a:prstGeom>
          <a:solidFill>
            <a:srgbClr val="FDFBF5"/>
          </a:solidFill>
          <a:ln w="12700">
            <a:solidFill>
              <a:srgbClr val="E7DFD0"/>
            </a:solidFill>
            <a:prstDash val="solid"/>
          </a:ln>
        </p:spPr>
      </p:sp>
      <p:sp>
        <p:nvSpPr>
          <p:cNvPr id="20" name="Text 18"/>
          <p:cNvSpPr/>
          <p:nvPr/>
        </p:nvSpPr>
        <p:spPr>
          <a:xfrm>
            <a:off x="8586216" y="1631696"/>
            <a:ext cx="932688" cy="424688"/>
          </a:xfrm>
          <a:prstGeom prst="rect">
            <a:avLst/>
          </a:prstGeom>
          <a:noFill/>
          <a:ln/>
        </p:spPr>
        <p:txBody>
          <a:bodyPr wrap="square" lIns="0" tIns="0" rIns="0" bIns="0" rtlCol="0" anchor="ctr">
            <a:normAutofit/>
          </a:bodyPr>
          <a:lstStyle/>
          <a:p>
            <a:pPr indent="0" marL="0">
              <a:buNone/>
            </a:pPr>
            <a:r>
              <a:rPr lang="en-US" sz="770" dirty="0">
                <a:solidFill>
                  <a:srgbClr val="24303F"/>
                </a:solidFill>
              </a:rPr>
              <a:t>120</a:t>
            </a:r>
            <a:endParaRPr lang="en-US" sz="770" dirty="0"/>
          </a:p>
        </p:txBody>
      </p:sp>
      <p:sp>
        <p:nvSpPr>
          <p:cNvPr id="21" name="Shape 19"/>
          <p:cNvSpPr/>
          <p:nvPr/>
        </p:nvSpPr>
        <p:spPr>
          <a:xfrm>
            <a:off x="9555480" y="1595120"/>
            <a:ext cx="914400" cy="497840"/>
          </a:xfrm>
          <a:prstGeom prst="rect">
            <a:avLst/>
          </a:prstGeom>
          <a:solidFill>
            <a:srgbClr val="FDFBF5"/>
          </a:solidFill>
          <a:ln w="12700">
            <a:solidFill>
              <a:srgbClr val="E7DFD0"/>
            </a:solidFill>
            <a:prstDash val="solid"/>
          </a:ln>
        </p:spPr>
      </p:sp>
      <p:sp>
        <p:nvSpPr>
          <p:cNvPr id="22" name="Text 20"/>
          <p:cNvSpPr/>
          <p:nvPr/>
        </p:nvSpPr>
        <p:spPr>
          <a:xfrm>
            <a:off x="9592056" y="1631696"/>
            <a:ext cx="841248" cy="424688"/>
          </a:xfrm>
          <a:prstGeom prst="rect">
            <a:avLst/>
          </a:prstGeom>
          <a:noFill/>
          <a:ln/>
        </p:spPr>
        <p:txBody>
          <a:bodyPr wrap="square" lIns="0" tIns="0" rIns="0" bIns="0" rtlCol="0" anchor="ctr">
            <a:normAutofit/>
          </a:bodyPr>
          <a:lstStyle/>
          <a:p>
            <a:pPr indent="0" marL="0">
              <a:buNone/>
            </a:pPr>
            <a:r>
              <a:rPr lang="en-US" sz="770" dirty="0">
                <a:solidFill>
                  <a:srgbClr val="24303F"/>
                </a:solidFill>
              </a:rPr>
              <a:t>8</a:t>
            </a:r>
            <a:endParaRPr lang="en-US" sz="770" dirty="0"/>
          </a:p>
        </p:txBody>
      </p:sp>
      <p:sp>
        <p:nvSpPr>
          <p:cNvPr id="23" name="Shape 21"/>
          <p:cNvSpPr/>
          <p:nvPr/>
        </p:nvSpPr>
        <p:spPr>
          <a:xfrm>
            <a:off x="10469880" y="1595120"/>
            <a:ext cx="1005840" cy="497840"/>
          </a:xfrm>
          <a:prstGeom prst="rect">
            <a:avLst/>
          </a:prstGeom>
          <a:solidFill>
            <a:srgbClr val="FDFBF5"/>
          </a:solidFill>
          <a:ln w="12700">
            <a:solidFill>
              <a:srgbClr val="E7DFD0"/>
            </a:solidFill>
            <a:prstDash val="solid"/>
          </a:ln>
        </p:spPr>
      </p:sp>
      <p:sp>
        <p:nvSpPr>
          <p:cNvPr id="24" name="Text 22"/>
          <p:cNvSpPr/>
          <p:nvPr/>
        </p:nvSpPr>
        <p:spPr>
          <a:xfrm>
            <a:off x="10506456" y="1631696"/>
            <a:ext cx="932688" cy="424688"/>
          </a:xfrm>
          <a:prstGeom prst="rect">
            <a:avLst/>
          </a:prstGeom>
          <a:noFill/>
          <a:ln/>
        </p:spPr>
        <p:txBody>
          <a:bodyPr wrap="square" lIns="0" tIns="0" rIns="0" bIns="0" rtlCol="0" anchor="ctr">
            <a:normAutofit/>
          </a:bodyPr>
          <a:lstStyle/>
          <a:p>
            <a:pPr indent="0" marL="0">
              <a:buNone/>
            </a:pPr>
            <a:r>
              <a:rPr lang="en-US" sz="770" dirty="0">
                <a:solidFill>
                  <a:srgbClr val="24303F"/>
                </a:solidFill>
              </a:rPr>
              <a:t>12%</a:t>
            </a:r>
            <a:endParaRPr lang="en-US" sz="770" dirty="0"/>
          </a:p>
        </p:txBody>
      </p:sp>
      <p:sp>
        <p:nvSpPr>
          <p:cNvPr id="25" name="Shape 23"/>
          <p:cNvSpPr/>
          <p:nvPr/>
        </p:nvSpPr>
        <p:spPr>
          <a:xfrm>
            <a:off x="5532120" y="2092960"/>
            <a:ext cx="3017520" cy="497840"/>
          </a:xfrm>
          <a:prstGeom prst="rect">
            <a:avLst/>
          </a:prstGeom>
          <a:solidFill>
            <a:srgbClr val="FFFFFF"/>
          </a:solidFill>
          <a:ln w="12700">
            <a:solidFill>
              <a:srgbClr val="E7DFD0"/>
            </a:solidFill>
            <a:prstDash val="solid"/>
          </a:ln>
        </p:spPr>
      </p:sp>
      <p:sp>
        <p:nvSpPr>
          <p:cNvPr id="26" name="Text 24"/>
          <p:cNvSpPr/>
          <p:nvPr/>
        </p:nvSpPr>
        <p:spPr>
          <a:xfrm>
            <a:off x="5568696" y="2129536"/>
            <a:ext cx="2944368" cy="424688"/>
          </a:xfrm>
          <a:prstGeom prst="rect">
            <a:avLst/>
          </a:prstGeom>
          <a:noFill/>
          <a:ln/>
        </p:spPr>
        <p:txBody>
          <a:bodyPr wrap="square" lIns="0" tIns="0" rIns="0" bIns="0" rtlCol="0" anchor="ctr">
            <a:normAutofit/>
          </a:bodyPr>
          <a:lstStyle/>
          <a:p>
            <a:pPr indent="0" marL="0">
              <a:buNone/>
            </a:pPr>
            <a:r>
              <a:rPr lang="en-US" sz="770" dirty="0">
                <a:solidFill>
                  <a:srgbClr val="24303F"/>
                </a:solidFill>
              </a:rPr>
              <a:t>Send course info</a:t>
            </a:r>
            <a:endParaRPr lang="en-US" sz="770" dirty="0"/>
          </a:p>
        </p:txBody>
      </p:sp>
      <p:sp>
        <p:nvSpPr>
          <p:cNvPr id="27" name="Shape 25"/>
          <p:cNvSpPr/>
          <p:nvPr/>
        </p:nvSpPr>
        <p:spPr>
          <a:xfrm>
            <a:off x="8549640" y="2092960"/>
            <a:ext cx="1005840" cy="497840"/>
          </a:xfrm>
          <a:prstGeom prst="rect">
            <a:avLst/>
          </a:prstGeom>
          <a:solidFill>
            <a:srgbClr val="FFFFFF"/>
          </a:solidFill>
          <a:ln w="12700">
            <a:solidFill>
              <a:srgbClr val="E7DFD0"/>
            </a:solidFill>
            <a:prstDash val="solid"/>
          </a:ln>
        </p:spPr>
      </p:sp>
      <p:sp>
        <p:nvSpPr>
          <p:cNvPr id="28" name="Text 26"/>
          <p:cNvSpPr/>
          <p:nvPr/>
        </p:nvSpPr>
        <p:spPr>
          <a:xfrm>
            <a:off x="8586216" y="2129536"/>
            <a:ext cx="932688" cy="424688"/>
          </a:xfrm>
          <a:prstGeom prst="rect">
            <a:avLst/>
          </a:prstGeom>
          <a:noFill/>
          <a:ln/>
        </p:spPr>
        <p:txBody>
          <a:bodyPr wrap="square" lIns="0" tIns="0" rIns="0" bIns="0" rtlCol="0" anchor="ctr">
            <a:normAutofit/>
          </a:bodyPr>
          <a:lstStyle/>
          <a:p>
            <a:pPr indent="0" marL="0">
              <a:buNone/>
            </a:pPr>
            <a:r>
              <a:rPr lang="en-US" sz="770" dirty="0">
                <a:solidFill>
                  <a:srgbClr val="24303F"/>
                </a:solidFill>
              </a:rPr>
              <a:t>120</a:t>
            </a:r>
            <a:endParaRPr lang="en-US" sz="770" dirty="0"/>
          </a:p>
        </p:txBody>
      </p:sp>
      <p:sp>
        <p:nvSpPr>
          <p:cNvPr id="29" name="Shape 27"/>
          <p:cNvSpPr/>
          <p:nvPr/>
        </p:nvSpPr>
        <p:spPr>
          <a:xfrm>
            <a:off x="9555480" y="2092960"/>
            <a:ext cx="914400" cy="497840"/>
          </a:xfrm>
          <a:prstGeom prst="rect">
            <a:avLst/>
          </a:prstGeom>
          <a:solidFill>
            <a:srgbClr val="FFFFFF"/>
          </a:solidFill>
          <a:ln w="12700">
            <a:solidFill>
              <a:srgbClr val="E7DFD0"/>
            </a:solidFill>
            <a:prstDash val="solid"/>
          </a:ln>
        </p:spPr>
      </p:sp>
      <p:sp>
        <p:nvSpPr>
          <p:cNvPr id="30" name="Text 28"/>
          <p:cNvSpPr/>
          <p:nvPr/>
        </p:nvSpPr>
        <p:spPr>
          <a:xfrm>
            <a:off x="9592056" y="2129536"/>
            <a:ext cx="841248" cy="424688"/>
          </a:xfrm>
          <a:prstGeom prst="rect">
            <a:avLst/>
          </a:prstGeom>
          <a:noFill/>
          <a:ln/>
        </p:spPr>
        <p:txBody>
          <a:bodyPr wrap="square" lIns="0" tIns="0" rIns="0" bIns="0" rtlCol="0" anchor="ctr">
            <a:normAutofit/>
          </a:bodyPr>
          <a:lstStyle/>
          <a:p>
            <a:pPr indent="0" marL="0">
              <a:buNone/>
            </a:pPr>
            <a:r>
              <a:rPr lang="en-US" sz="770" dirty="0">
                <a:solidFill>
                  <a:srgbClr val="24303F"/>
                </a:solidFill>
              </a:rPr>
              <a:t>6</a:t>
            </a:r>
            <a:endParaRPr lang="en-US" sz="770" dirty="0"/>
          </a:p>
        </p:txBody>
      </p:sp>
      <p:sp>
        <p:nvSpPr>
          <p:cNvPr id="31" name="Shape 29"/>
          <p:cNvSpPr/>
          <p:nvPr/>
        </p:nvSpPr>
        <p:spPr>
          <a:xfrm>
            <a:off x="10469880" y="2092960"/>
            <a:ext cx="1005840" cy="497840"/>
          </a:xfrm>
          <a:prstGeom prst="rect">
            <a:avLst/>
          </a:prstGeom>
          <a:solidFill>
            <a:srgbClr val="FFFFFF"/>
          </a:solidFill>
          <a:ln w="12700">
            <a:solidFill>
              <a:srgbClr val="E7DFD0"/>
            </a:solidFill>
            <a:prstDash val="solid"/>
          </a:ln>
        </p:spPr>
      </p:sp>
      <p:sp>
        <p:nvSpPr>
          <p:cNvPr id="32" name="Text 30"/>
          <p:cNvSpPr/>
          <p:nvPr/>
        </p:nvSpPr>
        <p:spPr>
          <a:xfrm>
            <a:off x="10506456" y="2129536"/>
            <a:ext cx="932688" cy="424688"/>
          </a:xfrm>
          <a:prstGeom prst="rect">
            <a:avLst/>
          </a:prstGeom>
          <a:noFill/>
          <a:ln/>
        </p:spPr>
        <p:txBody>
          <a:bodyPr wrap="square" lIns="0" tIns="0" rIns="0" bIns="0" rtlCol="0" anchor="ctr">
            <a:normAutofit/>
          </a:bodyPr>
          <a:lstStyle/>
          <a:p>
            <a:pPr indent="0" marL="0">
              <a:buNone/>
            </a:pPr>
            <a:r>
              <a:rPr lang="en-US" sz="770" dirty="0">
                <a:solidFill>
                  <a:srgbClr val="24303F"/>
                </a:solidFill>
              </a:rPr>
              <a:t>10%</a:t>
            </a:r>
            <a:endParaRPr lang="en-US" sz="770" dirty="0"/>
          </a:p>
        </p:txBody>
      </p:sp>
      <p:sp>
        <p:nvSpPr>
          <p:cNvPr id="33" name="Shape 31"/>
          <p:cNvSpPr/>
          <p:nvPr/>
        </p:nvSpPr>
        <p:spPr>
          <a:xfrm>
            <a:off x="5532120" y="2590800"/>
            <a:ext cx="3017520" cy="497840"/>
          </a:xfrm>
          <a:prstGeom prst="rect">
            <a:avLst/>
          </a:prstGeom>
          <a:solidFill>
            <a:srgbClr val="FDFBF5"/>
          </a:solidFill>
          <a:ln w="12700">
            <a:solidFill>
              <a:srgbClr val="E7DFD0"/>
            </a:solidFill>
            <a:prstDash val="solid"/>
          </a:ln>
        </p:spPr>
      </p:sp>
      <p:sp>
        <p:nvSpPr>
          <p:cNvPr id="34" name="Text 32"/>
          <p:cNvSpPr/>
          <p:nvPr/>
        </p:nvSpPr>
        <p:spPr>
          <a:xfrm>
            <a:off x="5568696" y="2627376"/>
            <a:ext cx="2944368" cy="424688"/>
          </a:xfrm>
          <a:prstGeom prst="rect">
            <a:avLst/>
          </a:prstGeom>
          <a:noFill/>
          <a:ln/>
        </p:spPr>
        <p:txBody>
          <a:bodyPr wrap="square" lIns="0" tIns="0" rIns="0" bIns="0" rtlCol="0" anchor="ctr">
            <a:normAutofit/>
          </a:bodyPr>
          <a:lstStyle/>
          <a:p>
            <a:pPr indent="0" marL="0">
              <a:buNone/>
            </a:pPr>
            <a:r>
              <a:rPr lang="en-US" sz="770" dirty="0">
                <a:solidFill>
                  <a:srgbClr val="24303F"/>
                </a:solidFill>
              </a:rPr>
              <a:t>Enter registration</a:t>
            </a:r>
            <a:endParaRPr lang="en-US" sz="770" dirty="0"/>
          </a:p>
        </p:txBody>
      </p:sp>
      <p:sp>
        <p:nvSpPr>
          <p:cNvPr id="35" name="Shape 33"/>
          <p:cNvSpPr/>
          <p:nvPr/>
        </p:nvSpPr>
        <p:spPr>
          <a:xfrm>
            <a:off x="8549640" y="2590800"/>
            <a:ext cx="1005840" cy="497840"/>
          </a:xfrm>
          <a:prstGeom prst="rect">
            <a:avLst/>
          </a:prstGeom>
          <a:solidFill>
            <a:srgbClr val="FDFBF5"/>
          </a:solidFill>
          <a:ln w="12700">
            <a:solidFill>
              <a:srgbClr val="E7DFD0"/>
            </a:solidFill>
            <a:prstDash val="solid"/>
          </a:ln>
        </p:spPr>
      </p:sp>
      <p:sp>
        <p:nvSpPr>
          <p:cNvPr id="36" name="Text 34"/>
          <p:cNvSpPr/>
          <p:nvPr/>
        </p:nvSpPr>
        <p:spPr>
          <a:xfrm>
            <a:off x="8586216" y="2627376"/>
            <a:ext cx="932688" cy="424688"/>
          </a:xfrm>
          <a:prstGeom prst="rect">
            <a:avLst/>
          </a:prstGeom>
          <a:noFill/>
          <a:ln/>
        </p:spPr>
        <p:txBody>
          <a:bodyPr wrap="square" lIns="0" tIns="0" rIns="0" bIns="0" rtlCol="0" anchor="ctr">
            <a:normAutofit/>
          </a:bodyPr>
          <a:lstStyle/>
          <a:p>
            <a:pPr indent="0" marL="0">
              <a:buNone/>
            </a:pPr>
            <a:r>
              <a:rPr lang="en-US" sz="770" dirty="0">
                <a:solidFill>
                  <a:srgbClr val="24303F"/>
                </a:solidFill>
              </a:rPr>
              <a:t>72</a:t>
            </a:r>
            <a:endParaRPr lang="en-US" sz="770" dirty="0"/>
          </a:p>
        </p:txBody>
      </p:sp>
      <p:sp>
        <p:nvSpPr>
          <p:cNvPr id="37" name="Shape 35"/>
          <p:cNvSpPr/>
          <p:nvPr/>
        </p:nvSpPr>
        <p:spPr>
          <a:xfrm>
            <a:off x="9555480" y="2590800"/>
            <a:ext cx="914400" cy="497840"/>
          </a:xfrm>
          <a:prstGeom prst="rect">
            <a:avLst/>
          </a:prstGeom>
          <a:solidFill>
            <a:srgbClr val="FDFBF5"/>
          </a:solidFill>
          <a:ln w="12700">
            <a:solidFill>
              <a:srgbClr val="E7DFD0"/>
            </a:solidFill>
            <a:prstDash val="solid"/>
          </a:ln>
        </p:spPr>
      </p:sp>
      <p:sp>
        <p:nvSpPr>
          <p:cNvPr id="38" name="Text 36"/>
          <p:cNvSpPr/>
          <p:nvPr/>
        </p:nvSpPr>
        <p:spPr>
          <a:xfrm>
            <a:off x="9592056" y="2627376"/>
            <a:ext cx="841248" cy="424688"/>
          </a:xfrm>
          <a:prstGeom prst="rect">
            <a:avLst/>
          </a:prstGeom>
          <a:noFill/>
          <a:ln/>
        </p:spPr>
        <p:txBody>
          <a:bodyPr wrap="square" lIns="0" tIns="0" rIns="0" bIns="0" rtlCol="0" anchor="ctr">
            <a:normAutofit/>
          </a:bodyPr>
          <a:lstStyle/>
          <a:p>
            <a:pPr indent="0" marL="0">
              <a:buNone/>
            </a:pPr>
            <a:r>
              <a:rPr lang="en-US" sz="770" dirty="0">
                <a:solidFill>
                  <a:srgbClr val="24303F"/>
                </a:solidFill>
              </a:rPr>
              <a:t>7</a:t>
            </a:r>
            <a:endParaRPr lang="en-US" sz="770" dirty="0"/>
          </a:p>
        </p:txBody>
      </p:sp>
      <p:sp>
        <p:nvSpPr>
          <p:cNvPr id="39" name="Shape 37"/>
          <p:cNvSpPr/>
          <p:nvPr/>
        </p:nvSpPr>
        <p:spPr>
          <a:xfrm>
            <a:off x="10469880" y="2590800"/>
            <a:ext cx="1005840" cy="497840"/>
          </a:xfrm>
          <a:prstGeom prst="rect">
            <a:avLst/>
          </a:prstGeom>
          <a:solidFill>
            <a:srgbClr val="FDFBF5"/>
          </a:solidFill>
          <a:ln w="12700">
            <a:solidFill>
              <a:srgbClr val="E7DFD0"/>
            </a:solidFill>
            <a:prstDash val="solid"/>
          </a:ln>
        </p:spPr>
      </p:sp>
      <p:sp>
        <p:nvSpPr>
          <p:cNvPr id="40" name="Text 38"/>
          <p:cNvSpPr/>
          <p:nvPr/>
        </p:nvSpPr>
        <p:spPr>
          <a:xfrm>
            <a:off x="10506456" y="2627376"/>
            <a:ext cx="932688" cy="424688"/>
          </a:xfrm>
          <a:prstGeom prst="rect">
            <a:avLst/>
          </a:prstGeom>
          <a:noFill/>
          <a:ln/>
        </p:spPr>
        <p:txBody>
          <a:bodyPr wrap="square" lIns="0" tIns="0" rIns="0" bIns="0" rtlCol="0" anchor="ctr">
            <a:normAutofit/>
          </a:bodyPr>
          <a:lstStyle/>
          <a:p>
            <a:pPr indent="0" marL="0">
              <a:buNone/>
            </a:pPr>
            <a:r>
              <a:rPr lang="en-US" sz="770" dirty="0">
                <a:solidFill>
                  <a:srgbClr val="24303F"/>
                </a:solidFill>
              </a:rPr>
              <a:t>8%</a:t>
            </a:r>
            <a:endParaRPr lang="en-US" sz="770" dirty="0"/>
          </a:p>
        </p:txBody>
      </p:sp>
      <p:sp>
        <p:nvSpPr>
          <p:cNvPr id="41" name="Shape 39"/>
          <p:cNvSpPr/>
          <p:nvPr/>
        </p:nvSpPr>
        <p:spPr>
          <a:xfrm>
            <a:off x="5532120" y="3088640"/>
            <a:ext cx="3017520" cy="497840"/>
          </a:xfrm>
          <a:prstGeom prst="rect">
            <a:avLst/>
          </a:prstGeom>
          <a:solidFill>
            <a:srgbClr val="FFFFFF"/>
          </a:solidFill>
          <a:ln w="12700">
            <a:solidFill>
              <a:srgbClr val="E7DFD0"/>
            </a:solidFill>
            <a:prstDash val="solid"/>
          </a:ln>
        </p:spPr>
      </p:sp>
      <p:sp>
        <p:nvSpPr>
          <p:cNvPr id="42" name="Text 40"/>
          <p:cNvSpPr/>
          <p:nvPr/>
        </p:nvSpPr>
        <p:spPr>
          <a:xfrm>
            <a:off x="5568696" y="3125216"/>
            <a:ext cx="2944368" cy="424688"/>
          </a:xfrm>
          <a:prstGeom prst="rect">
            <a:avLst/>
          </a:prstGeom>
          <a:noFill/>
          <a:ln/>
        </p:spPr>
        <p:txBody>
          <a:bodyPr wrap="square" lIns="0" tIns="0" rIns="0" bIns="0" rtlCol="0" anchor="ctr">
            <a:normAutofit/>
          </a:bodyPr>
          <a:lstStyle/>
          <a:p>
            <a:pPr indent="0" marL="0">
              <a:buNone/>
            </a:pPr>
            <a:r>
              <a:rPr lang="en-US" sz="770" dirty="0">
                <a:solidFill>
                  <a:srgbClr val="24303F"/>
                </a:solidFill>
              </a:rPr>
              <a:t>Confirm payment</a:t>
            </a:r>
            <a:endParaRPr lang="en-US" sz="770" dirty="0"/>
          </a:p>
        </p:txBody>
      </p:sp>
      <p:sp>
        <p:nvSpPr>
          <p:cNvPr id="43" name="Shape 41"/>
          <p:cNvSpPr/>
          <p:nvPr/>
        </p:nvSpPr>
        <p:spPr>
          <a:xfrm>
            <a:off x="8549640" y="3088640"/>
            <a:ext cx="1005840" cy="497840"/>
          </a:xfrm>
          <a:prstGeom prst="rect">
            <a:avLst/>
          </a:prstGeom>
          <a:solidFill>
            <a:srgbClr val="FFFFFF"/>
          </a:solidFill>
          <a:ln w="12700">
            <a:solidFill>
              <a:srgbClr val="E7DFD0"/>
            </a:solidFill>
            <a:prstDash val="solid"/>
          </a:ln>
        </p:spPr>
      </p:sp>
      <p:sp>
        <p:nvSpPr>
          <p:cNvPr id="44" name="Text 42"/>
          <p:cNvSpPr/>
          <p:nvPr/>
        </p:nvSpPr>
        <p:spPr>
          <a:xfrm>
            <a:off x="8586216" y="3125216"/>
            <a:ext cx="932688" cy="424688"/>
          </a:xfrm>
          <a:prstGeom prst="rect">
            <a:avLst/>
          </a:prstGeom>
          <a:noFill/>
          <a:ln/>
        </p:spPr>
        <p:txBody>
          <a:bodyPr wrap="square" lIns="0" tIns="0" rIns="0" bIns="0" rtlCol="0" anchor="ctr">
            <a:normAutofit/>
          </a:bodyPr>
          <a:lstStyle/>
          <a:p>
            <a:pPr indent="0" marL="0">
              <a:buNone/>
            </a:pPr>
            <a:r>
              <a:rPr lang="en-US" sz="770" dirty="0">
                <a:solidFill>
                  <a:srgbClr val="24303F"/>
                </a:solidFill>
              </a:rPr>
              <a:t>68</a:t>
            </a:r>
            <a:endParaRPr lang="en-US" sz="770" dirty="0"/>
          </a:p>
        </p:txBody>
      </p:sp>
      <p:sp>
        <p:nvSpPr>
          <p:cNvPr id="45" name="Shape 43"/>
          <p:cNvSpPr/>
          <p:nvPr/>
        </p:nvSpPr>
        <p:spPr>
          <a:xfrm>
            <a:off x="9555480" y="3088640"/>
            <a:ext cx="914400" cy="497840"/>
          </a:xfrm>
          <a:prstGeom prst="rect">
            <a:avLst/>
          </a:prstGeom>
          <a:solidFill>
            <a:srgbClr val="FFFFFF"/>
          </a:solidFill>
          <a:ln w="12700">
            <a:solidFill>
              <a:srgbClr val="E7DFD0"/>
            </a:solidFill>
            <a:prstDash val="solid"/>
          </a:ln>
        </p:spPr>
      </p:sp>
      <p:sp>
        <p:nvSpPr>
          <p:cNvPr id="46" name="Text 44"/>
          <p:cNvSpPr/>
          <p:nvPr/>
        </p:nvSpPr>
        <p:spPr>
          <a:xfrm>
            <a:off x="9592056" y="3125216"/>
            <a:ext cx="841248" cy="424688"/>
          </a:xfrm>
          <a:prstGeom prst="rect">
            <a:avLst/>
          </a:prstGeom>
          <a:noFill/>
          <a:ln/>
        </p:spPr>
        <p:txBody>
          <a:bodyPr wrap="square" lIns="0" tIns="0" rIns="0" bIns="0" rtlCol="0" anchor="ctr">
            <a:normAutofit/>
          </a:bodyPr>
          <a:lstStyle/>
          <a:p>
            <a:pPr indent="0" marL="0">
              <a:buNone/>
            </a:pPr>
            <a:r>
              <a:rPr lang="en-US" sz="770" dirty="0">
                <a:solidFill>
                  <a:srgbClr val="24303F"/>
                </a:solidFill>
              </a:rPr>
              <a:t>10</a:t>
            </a:r>
            <a:endParaRPr lang="en-US" sz="770" dirty="0"/>
          </a:p>
        </p:txBody>
      </p:sp>
      <p:sp>
        <p:nvSpPr>
          <p:cNvPr id="47" name="Shape 45"/>
          <p:cNvSpPr/>
          <p:nvPr/>
        </p:nvSpPr>
        <p:spPr>
          <a:xfrm>
            <a:off x="10469880" y="3088640"/>
            <a:ext cx="1005840" cy="497840"/>
          </a:xfrm>
          <a:prstGeom prst="rect">
            <a:avLst/>
          </a:prstGeom>
          <a:solidFill>
            <a:srgbClr val="FFFFFF"/>
          </a:solidFill>
          <a:ln w="12700">
            <a:solidFill>
              <a:srgbClr val="E7DFD0"/>
            </a:solidFill>
            <a:prstDash val="solid"/>
          </a:ln>
        </p:spPr>
      </p:sp>
      <p:sp>
        <p:nvSpPr>
          <p:cNvPr id="48" name="Text 46"/>
          <p:cNvSpPr/>
          <p:nvPr/>
        </p:nvSpPr>
        <p:spPr>
          <a:xfrm>
            <a:off x="10506456" y="3125216"/>
            <a:ext cx="932688" cy="424688"/>
          </a:xfrm>
          <a:prstGeom prst="rect">
            <a:avLst/>
          </a:prstGeom>
          <a:noFill/>
          <a:ln/>
        </p:spPr>
        <p:txBody>
          <a:bodyPr wrap="square" lIns="0" tIns="0" rIns="0" bIns="0" rtlCol="0" anchor="ctr">
            <a:normAutofit/>
          </a:bodyPr>
          <a:lstStyle/>
          <a:p>
            <a:pPr indent="0" marL="0">
              <a:buNone/>
            </a:pPr>
            <a:r>
              <a:rPr lang="en-US" sz="770" dirty="0">
                <a:solidFill>
                  <a:srgbClr val="24303F"/>
                </a:solidFill>
              </a:rPr>
              <a:t>15%</a:t>
            </a:r>
            <a:endParaRPr lang="en-US" sz="770" dirty="0"/>
          </a:p>
        </p:txBody>
      </p:sp>
      <p:sp>
        <p:nvSpPr>
          <p:cNvPr id="49" name="Shape 47"/>
          <p:cNvSpPr/>
          <p:nvPr/>
        </p:nvSpPr>
        <p:spPr>
          <a:xfrm>
            <a:off x="5532120" y="3586480"/>
            <a:ext cx="3017520" cy="497840"/>
          </a:xfrm>
          <a:prstGeom prst="rect">
            <a:avLst/>
          </a:prstGeom>
          <a:solidFill>
            <a:srgbClr val="FDFBF5"/>
          </a:solidFill>
          <a:ln w="12700">
            <a:solidFill>
              <a:srgbClr val="E7DFD0"/>
            </a:solidFill>
            <a:prstDash val="solid"/>
          </a:ln>
        </p:spPr>
      </p:sp>
      <p:sp>
        <p:nvSpPr>
          <p:cNvPr id="50" name="Text 48"/>
          <p:cNvSpPr/>
          <p:nvPr/>
        </p:nvSpPr>
        <p:spPr>
          <a:xfrm>
            <a:off x="5568696" y="3623056"/>
            <a:ext cx="2944368" cy="424688"/>
          </a:xfrm>
          <a:prstGeom prst="rect">
            <a:avLst/>
          </a:prstGeom>
          <a:noFill/>
          <a:ln/>
        </p:spPr>
        <p:txBody>
          <a:bodyPr wrap="square" lIns="0" tIns="0" rIns="0" bIns="0" rtlCol="0" anchor="ctr">
            <a:normAutofit/>
          </a:bodyPr>
          <a:lstStyle/>
          <a:p>
            <a:pPr indent="0" marL="0">
              <a:buNone/>
            </a:pPr>
            <a:r>
              <a:rPr lang="en-US" sz="770" dirty="0">
                <a:solidFill>
                  <a:srgbClr val="24303F"/>
                </a:solidFill>
              </a:rPr>
              <a:t>Send class reminder</a:t>
            </a:r>
            <a:endParaRPr lang="en-US" sz="770" dirty="0"/>
          </a:p>
        </p:txBody>
      </p:sp>
      <p:sp>
        <p:nvSpPr>
          <p:cNvPr id="51" name="Shape 49"/>
          <p:cNvSpPr/>
          <p:nvPr/>
        </p:nvSpPr>
        <p:spPr>
          <a:xfrm>
            <a:off x="8549640" y="3586480"/>
            <a:ext cx="1005840" cy="497840"/>
          </a:xfrm>
          <a:prstGeom prst="rect">
            <a:avLst/>
          </a:prstGeom>
          <a:solidFill>
            <a:srgbClr val="FDFBF5"/>
          </a:solidFill>
          <a:ln w="12700">
            <a:solidFill>
              <a:srgbClr val="E7DFD0"/>
            </a:solidFill>
            <a:prstDash val="solid"/>
          </a:ln>
        </p:spPr>
      </p:sp>
      <p:sp>
        <p:nvSpPr>
          <p:cNvPr id="52" name="Text 50"/>
          <p:cNvSpPr/>
          <p:nvPr/>
        </p:nvSpPr>
        <p:spPr>
          <a:xfrm>
            <a:off x="8586216" y="3623056"/>
            <a:ext cx="932688" cy="424688"/>
          </a:xfrm>
          <a:prstGeom prst="rect">
            <a:avLst/>
          </a:prstGeom>
          <a:noFill/>
          <a:ln/>
        </p:spPr>
        <p:txBody>
          <a:bodyPr wrap="square" lIns="0" tIns="0" rIns="0" bIns="0" rtlCol="0" anchor="ctr">
            <a:normAutofit/>
          </a:bodyPr>
          <a:lstStyle/>
          <a:p>
            <a:pPr indent="0" marL="0">
              <a:buNone/>
            </a:pPr>
            <a:r>
              <a:rPr lang="en-US" sz="770" dirty="0">
                <a:solidFill>
                  <a:srgbClr val="24303F"/>
                </a:solidFill>
              </a:rPr>
              <a:t>64</a:t>
            </a:r>
            <a:endParaRPr lang="en-US" sz="770" dirty="0"/>
          </a:p>
        </p:txBody>
      </p:sp>
      <p:sp>
        <p:nvSpPr>
          <p:cNvPr id="53" name="Shape 51"/>
          <p:cNvSpPr/>
          <p:nvPr/>
        </p:nvSpPr>
        <p:spPr>
          <a:xfrm>
            <a:off x="9555480" y="3586480"/>
            <a:ext cx="914400" cy="497840"/>
          </a:xfrm>
          <a:prstGeom prst="rect">
            <a:avLst/>
          </a:prstGeom>
          <a:solidFill>
            <a:srgbClr val="FDFBF5"/>
          </a:solidFill>
          <a:ln w="12700">
            <a:solidFill>
              <a:srgbClr val="E7DFD0"/>
            </a:solidFill>
            <a:prstDash val="solid"/>
          </a:ln>
        </p:spPr>
      </p:sp>
      <p:sp>
        <p:nvSpPr>
          <p:cNvPr id="54" name="Text 52"/>
          <p:cNvSpPr/>
          <p:nvPr/>
        </p:nvSpPr>
        <p:spPr>
          <a:xfrm>
            <a:off x="9592056" y="3623056"/>
            <a:ext cx="841248" cy="424688"/>
          </a:xfrm>
          <a:prstGeom prst="rect">
            <a:avLst/>
          </a:prstGeom>
          <a:noFill/>
          <a:ln/>
        </p:spPr>
        <p:txBody>
          <a:bodyPr wrap="square" lIns="0" tIns="0" rIns="0" bIns="0" rtlCol="0" anchor="ctr">
            <a:normAutofit/>
          </a:bodyPr>
          <a:lstStyle/>
          <a:p>
            <a:pPr indent="0" marL="0">
              <a:buNone/>
            </a:pPr>
            <a:r>
              <a:rPr lang="en-US" sz="770" dirty="0">
                <a:solidFill>
                  <a:srgbClr val="24303F"/>
                </a:solidFill>
              </a:rPr>
              <a:t>5</a:t>
            </a:r>
            <a:endParaRPr lang="en-US" sz="770" dirty="0"/>
          </a:p>
        </p:txBody>
      </p:sp>
      <p:sp>
        <p:nvSpPr>
          <p:cNvPr id="55" name="Shape 53"/>
          <p:cNvSpPr/>
          <p:nvPr/>
        </p:nvSpPr>
        <p:spPr>
          <a:xfrm>
            <a:off x="10469880" y="3586480"/>
            <a:ext cx="1005840" cy="497840"/>
          </a:xfrm>
          <a:prstGeom prst="rect">
            <a:avLst/>
          </a:prstGeom>
          <a:solidFill>
            <a:srgbClr val="FDFBF5"/>
          </a:solidFill>
          <a:ln w="12700">
            <a:solidFill>
              <a:srgbClr val="E7DFD0"/>
            </a:solidFill>
            <a:prstDash val="solid"/>
          </a:ln>
        </p:spPr>
      </p:sp>
      <p:sp>
        <p:nvSpPr>
          <p:cNvPr id="56" name="Text 54"/>
          <p:cNvSpPr/>
          <p:nvPr/>
        </p:nvSpPr>
        <p:spPr>
          <a:xfrm>
            <a:off x="10506456" y="3623056"/>
            <a:ext cx="932688" cy="424688"/>
          </a:xfrm>
          <a:prstGeom prst="rect">
            <a:avLst/>
          </a:prstGeom>
          <a:noFill/>
          <a:ln/>
        </p:spPr>
        <p:txBody>
          <a:bodyPr wrap="square" lIns="0" tIns="0" rIns="0" bIns="0" rtlCol="0" anchor="ctr">
            <a:normAutofit/>
          </a:bodyPr>
          <a:lstStyle/>
          <a:p>
            <a:pPr indent="0" marL="0">
              <a:buNone/>
            </a:pPr>
            <a:r>
              <a:rPr lang="en-US" sz="770" dirty="0">
                <a:solidFill>
                  <a:srgbClr val="24303F"/>
                </a:solidFill>
              </a:rPr>
              <a:t>9%</a:t>
            </a:r>
            <a:endParaRPr lang="en-US" sz="770" dirty="0"/>
          </a:p>
        </p:txBody>
      </p:sp>
      <p:sp>
        <p:nvSpPr>
          <p:cNvPr id="57" name="Shape 55"/>
          <p:cNvSpPr/>
          <p:nvPr/>
        </p:nvSpPr>
        <p:spPr>
          <a:xfrm>
            <a:off x="5532120" y="4084320"/>
            <a:ext cx="3017520" cy="497840"/>
          </a:xfrm>
          <a:prstGeom prst="rect">
            <a:avLst/>
          </a:prstGeom>
          <a:solidFill>
            <a:srgbClr val="FFFFFF"/>
          </a:solidFill>
          <a:ln w="12700">
            <a:solidFill>
              <a:srgbClr val="E7DFD0"/>
            </a:solidFill>
            <a:prstDash val="solid"/>
          </a:ln>
        </p:spPr>
      </p:sp>
      <p:sp>
        <p:nvSpPr>
          <p:cNvPr id="58" name="Text 56"/>
          <p:cNvSpPr/>
          <p:nvPr/>
        </p:nvSpPr>
        <p:spPr>
          <a:xfrm>
            <a:off x="5568696" y="4120896"/>
            <a:ext cx="2944368" cy="424688"/>
          </a:xfrm>
          <a:prstGeom prst="rect">
            <a:avLst/>
          </a:prstGeom>
          <a:noFill/>
          <a:ln/>
        </p:spPr>
        <p:txBody>
          <a:bodyPr wrap="square" lIns="0" tIns="0" rIns="0" bIns="0" rtlCol="0" anchor="ctr">
            <a:normAutofit/>
          </a:bodyPr>
          <a:lstStyle/>
          <a:p>
            <a:pPr indent="0" marL="0">
              <a:buNone/>
            </a:pPr>
            <a:r>
              <a:rPr lang="en-US" sz="770" dirty="0">
                <a:solidFill>
                  <a:srgbClr val="24303F"/>
                </a:solidFill>
              </a:rPr>
              <a:t>Track attendance</a:t>
            </a:r>
            <a:endParaRPr lang="en-US" sz="770" dirty="0"/>
          </a:p>
        </p:txBody>
      </p:sp>
      <p:sp>
        <p:nvSpPr>
          <p:cNvPr id="59" name="Shape 57"/>
          <p:cNvSpPr/>
          <p:nvPr/>
        </p:nvSpPr>
        <p:spPr>
          <a:xfrm>
            <a:off x="8549640" y="4084320"/>
            <a:ext cx="1005840" cy="497840"/>
          </a:xfrm>
          <a:prstGeom prst="rect">
            <a:avLst/>
          </a:prstGeom>
          <a:solidFill>
            <a:srgbClr val="FFFFFF"/>
          </a:solidFill>
          <a:ln w="12700">
            <a:solidFill>
              <a:srgbClr val="E7DFD0"/>
            </a:solidFill>
            <a:prstDash val="solid"/>
          </a:ln>
        </p:spPr>
      </p:sp>
      <p:sp>
        <p:nvSpPr>
          <p:cNvPr id="60" name="Text 58"/>
          <p:cNvSpPr/>
          <p:nvPr/>
        </p:nvSpPr>
        <p:spPr>
          <a:xfrm>
            <a:off x="8586216" y="4120896"/>
            <a:ext cx="932688" cy="424688"/>
          </a:xfrm>
          <a:prstGeom prst="rect">
            <a:avLst/>
          </a:prstGeom>
          <a:noFill/>
          <a:ln/>
        </p:spPr>
        <p:txBody>
          <a:bodyPr wrap="square" lIns="0" tIns="0" rIns="0" bIns="0" rtlCol="0" anchor="ctr">
            <a:normAutofit/>
          </a:bodyPr>
          <a:lstStyle/>
          <a:p>
            <a:pPr indent="0" marL="0">
              <a:buNone/>
            </a:pPr>
            <a:r>
              <a:rPr lang="en-US" sz="770" dirty="0">
                <a:solidFill>
                  <a:srgbClr val="24303F"/>
                </a:solidFill>
              </a:rPr>
              <a:t>64</a:t>
            </a:r>
            <a:endParaRPr lang="en-US" sz="770" dirty="0"/>
          </a:p>
        </p:txBody>
      </p:sp>
      <p:sp>
        <p:nvSpPr>
          <p:cNvPr id="61" name="Shape 59"/>
          <p:cNvSpPr/>
          <p:nvPr/>
        </p:nvSpPr>
        <p:spPr>
          <a:xfrm>
            <a:off x="9555480" y="4084320"/>
            <a:ext cx="914400" cy="497840"/>
          </a:xfrm>
          <a:prstGeom prst="rect">
            <a:avLst/>
          </a:prstGeom>
          <a:solidFill>
            <a:srgbClr val="FFFFFF"/>
          </a:solidFill>
          <a:ln w="12700">
            <a:solidFill>
              <a:srgbClr val="E7DFD0"/>
            </a:solidFill>
            <a:prstDash val="solid"/>
          </a:ln>
        </p:spPr>
      </p:sp>
      <p:sp>
        <p:nvSpPr>
          <p:cNvPr id="62" name="Text 60"/>
          <p:cNvSpPr/>
          <p:nvPr/>
        </p:nvSpPr>
        <p:spPr>
          <a:xfrm>
            <a:off x="9592056" y="4120896"/>
            <a:ext cx="841248" cy="424688"/>
          </a:xfrm>
          <a:prstGeom prst="rect">
            <a:avLst/>
          </a:prstGeom>
          <a:noFill/>
          <a:ln/>
        </p:spPr>
        <p:txBody>
          <a:bodyPr wrap="square" lIns="0" tIns="0" rIns="0" bIns="0" rtlCol="0" anchor="ctr">
            <a:normAutofit/>
          </a:bodyPr>
          <a:lstStyle/>
          <a:p>
            <a:pPr indent="0" marL="0">
              <a:buNone/>
            </a:pPr>
            <a:r>
              <a:rPr lang="en-US" sz="770" dirty="0">
                <a:solidFill>
                  <a:srgbClr val="24303F"/>
                </a:solidFill>
              </a:rPr>
              <a:t>6</a:t>
            </a:r>
            <a:endParaRPr lang="en-US" sz="770" dirty="0"/>
          </a:p>
        </p:txBody>
      </p:sp>
      <p:sp>
        <p:nvSpPr>
          <p:cNvPr id="63" name="Shape 61"/>
          <p:cNvSpPr/>
          <p:nvPr/>
        </p:nvSpPr>
        <p:spPr>
          <a:xfrm>
            <a:off x="10469880" y="4084320"/>
            <a:ext cx="1005840" cy="497840"/>
          </a:xfrm>
          <a:prstGeom prst="rect">
            <a:avLst/>
          </a:prstGeom>
          <a:solidFill>
            <a:srgbClr val="FFFFFF"/>
          </a:solidFill>
          <a:ln w="12700">
            <a:solidFill>
              <a:srgbClr val="E7DFD0"/>
            </a:solidFill>
            <a:prstDash val="solid"/>
          </a:ln>
        </p:spPr>
      </p:sp>
      <p:sp>
        <p:nvSpPr>
          <p:cNvPr id="64" name="Text 62"/>
          <p:cNvSpPr/>
          <p:nvPr/>
        </p:nvSpPr>
        <p:spPr>
          <a:xfrm>
            <a:off x="10506456" y="4120896"/>
            <a:ext cx="932688" cy="424688"/>
          </a:xfrm>
          <a:prstGeom prst="rect">
            <a:avLst/>
          </a:prstGeom>
          <a:noFill/>
          <a:ln/>
        </p:spPr>
        <p:txBody>
          <a:bodyPr wrap="square" lIns="0" tIns="0" rIns="0" bIns="0" rtlCol="0" anchor="ctr">
            <a:normAutofit/>
          </a:bodyPr>
          <a:lstStyle/>
          <a:p>
            <a:pPr indent="0" marL="0">
              <a:buNone/>
            </a:pPr>
            <a:r>
              <a:rPr lang="en-US" sz="770" dirty="0">
                <a:solidFill>
                  <a:srgbClr val="24303F"/>
                </a:solidFill>
              </a:rPr>
              <a:t>7%</a:t>
            </a:r>
            <a:endParaRPr lang="en-US" sz="770" dirty="0"/>
          </a:p>
        </p:txBody>
      </p:sp>
      <p:sp>
        <p:nvSpPr>
          <p:cNvPr id="65" name="Shape 63"/>
          <p:cNvSpPr/>
          <p:nvPr/>
        </p:nvSpPr>
        <p:spPr>
          <a:xfrm>
            <a:off x="5532120" y="4582160"/>
            <a:ext cx="3017520" cy="497840"/>
          </a:xfrm>
          <a:prstGeom prst="rect">
            <a:avLst/>
          </a:prstGeom>
          <a:solidFill>
            <a:srgbClr val="FDFBF5"/>
          </a:solidFill>
          <a:ln w="12700">
            <a:solidFill>
              <a:srgbClr val="E7DFD0"/>
            </a:solidFill>
            <a:prstDash val="solid"/>
          </a:ln>
        </p:spPr>
      </p:sp>
      <p:sp>
        <p:nvSpPr>
          <p:cNvPr id="66" name="Text 64"/>
          <p:cNvSpPr/>
          <p:nvPr/>
        </p:nvSpPr>
        <p:spPr>
          <a:xfrm>
            <a:off x="5568696" y="4618736"/>
            <a:ext cx="2944368" cy="424688"/>
          </a:xfrm>
          <a:prstGeom prst="rect">
            <a:avLst/>
          </a:prstGeom>
          <a:noFill/>
          <a:ln/>
        </p:spPr>
        <p:txBody>
          <a:bodyPr wrap="square" lIns="0" tIns="0" rIns="0" bIns="0" rtlCol="0" anchor="ctr">
            <a:normAutofit/>
          </a:bodyPr>
          <a:lstStyle/>
          <a:p>
            <a:pPr indent="0" marL="0">
              <a:buNone/>
            </a:pPr>
            <a:r>
              <a:rPr lang="en-US" sz="770" dirty="0">
                <a:solidFill>
                  <a:srgbClr val="24303F"/>
                </a:solidFill>
              </a:rPr>
              <a:t>Prepare certificate</a:t>
            </a:r>
            <a:endParaRPr lang="en-US" sz="770" dirty="0"/>
          </a:p>
        </p:txBody>
      </p:sp>
      <p:sp>
        <p:nvSpPr>
          <p:cNvPr id="67" name="Shape 65"/>
          <p:cNvSpPr/>
          <p:nvPr/>
        </p:nvSpPr>
        <p:spPr>
          <a:xfrm>
            <a:off x="8549640" y="4582160"/>
            <a:ext cx="1005840" cy="497840"/>
          </a:xfrm>
          <a:prstGeom prst="rect">
            <a:avLst/>
          </a:prstGeom>
          <a:solidFill>
            <a:srgbClr val="FDFBF5"/>
          </a:solidFill>
          <a:ln w="12700">
            <a:solidFill>
              <a:srgbClr val="E7DFD0"/>
            </a:solidFill>
            <a:prstDash val="solid"/>
          </a:ln>
        </p:spPr>
      </p:sp>
      <p:sp>
        <p:nvSpPr>
          <p:cNvPr id="68" name="Text 66"/>
          <p:cNvSpPr/>
          <p:nvPr/>
        </p:nvSpPr>
        <p:spPr>
          <a:xfrm>
            <a:off x="8586216" y="4618736"/>
            <a:ext cx="932688" cy="424688"/>
          </a:xfrm>
          <a:prstGeom prst="rect">
            <a:avLst/>
          </a:prstGeom>
          <a:noFill/>
          <a:ln/>
        </p:spPr>
        <p:txBody>
          <a:bodyPr wrap="square" lIns="0" tIns="0" rIns="0" bIns="0" rtlCol="0" anchor="ctr">
            <a:normAutofit/>
          </a:bodyPr>
          <a:lstStyle/>
          <a:p>
            <a:pPr indent="0" marL="0">
              <a:buNone/>
            </a:pPr>
            <a:r>
              <a:rPr lang="en-US" sz="770" dirty="0">
                <a:solidFill>
                  <a:srgbClr val="24303F"/>
                </a:solidFill>
              </a:rPr>
              <a:t>58</a:t>
            </a:r>
            <a:endParaRPr lang="en-US" sz="770" dirty="0"/>
          </a:p>
        </p:txBody>
      </p:sp>
      <p:sp>
        <p:nvSpPr>
          <p:cNvPr id="69" name="Shape 67"/>
          <p:cNvSpPr/>
          <p:nvPr/>
        </p:nvSpPr>
        <p:spPr>
          <a:xfrm>
            <a:off x="9555480" y="4582160"/>
            <a:ext cx="914400" cy="497840"/>
          </a:xfrm>
          <a:prstGeom prst="rect">
            <a:avLst/>
          </a:prstGeom>
          <a:solidFill>
            <a:srgbClr val="FDFBF5"/>
          </a:solidFill>
          <a:ln w="12700">
            <a:solidFill>
              <a:srgbClr val="E7DFD0"/>
            </a:solidFill>
            <a:prstDash val="solid"/>
          </a:ln>
        </p:spPr>
      </p:sp>
      <p:sp>
        <p:nvSpPr>
          <p:cNvPr id="70" name="Text 68"/>
          <p:cNvSpPr/>
          <p:nvPr/>
        </p:nvSpPr>
        <p:spPr>
          <a:xfrm>
            <a:off x="9592056" y="4618736"/>
            <a:ext cx="841248" cy="424688"/>
          </a:xfrm>
          <a:prstGeom prst="rect">
            <a:avLst/>
          </a:prstGeom>
          <a:noFill/>
          <a:ln/>
        </p:spPr>
        <p:txBody>
          <a:bodyPr wrap="square" lIns="0" tIns="0" rIns="0" bIns="0" rtlCol="0" anchor="ctr">
            <a:normAutofit/>
          </a:bodyPr>
          <a:lstStyle/>
          <a:p>
            <a:pPr indent="0" marL="0">
              <a:buNone/>
            </a:pPr>
            <a:r>
              <a:rPr lang="en-US" sz="770" dirty="0">
                <a:solidFill>
                  <a:srgbClr val="24303F"/>
                </a:solidFill>
              </a:rPr>
              <a:t>12</a:t>
            </a:r>
            <a:endParaRPr lang="en-US" sz="770" dirty="0"/>
          </a:p>
        </p:txBody>
      </p:sp>
      <p:sp>
        <p:nvSpPr>
          <p:cNvPr id="71" name="Shape 69"/>
          <p:cNvSpPr/>
          <p:nvPr/>
        </p:nvSpPr>
        <p:spPr>
          <a:xfrm>
            <a:off x="10469880" y="4582160"/>
            <a:ext cx="1005840" cy="497840"/>
          </a:xfrm>
          <a:prstGeom prst="rect">
            <a:avLst/>
          </a:prstGeom>
          <a:solidFill>
            <a:srgbClr val="FDFBF5"/>
          </a:solidFill>
          <a:ln w="12700">
            <a:solidFill>
              <a:srgbClr val="E7DFD0"/>
            </a:solidFill>
            <a:prstDash val="solid"/>
          </a:ln>
        </p:spPr>
      </p:sp>
      <p:sp>
        <p:nvSpPr>
          <p:cNvPr id="72" name="Text 70"/>
          <p:cNvSpPr/>
          <p:nvPr/>
        </p:nvSpPr>
        <p:spPr>
          <a:xfrm>
            <a:off x="10506456" y="4618736"/>
            <a:ext cx="932688" cy="424688"/>
          </a:xfrm>
          <a:prstGeom prst="rect">
            <a:avLst/>
          </a:prstGeom>
          <a:noFill/>
          <a:ln/>
        </p:spPr>
        <p:txBody>
          <a:bodyPr wrap="square" lIns="0" tIns="0" rIns="0" bIns="0" rtlCol="0" anchor="ctr">
            <a:normAutofit/>
          </a:bodyPr>
          <a:lstStyle/>
          <a:p>
            <a:pPr indent="0" marL="0">
              <a:buNone/>
            </a:pPr>
            <a:r>
              <a:rPr lang="en-US" sz="770" dirty="0">
                <a:solidFill>
                  <a:srgbClr val="24303F"/>
                </a:solidFill>
              </a:rPr>
              <a:t>18%</a:t>
            </a:r>
            <a:endParaRPr lang="en-US" sz="770" dirty="0"/>
          </a:p>
        </p:txBody>
      </p:sp>
      <p:sp>
        <p:nvSpPr>
          <p:cNvPr id="73" name="Shape 71"/>
          <p:cNvSpPr/>
          <p:nvPr/>
        </p:nvSpPr>
        <p:spPr>
          <a:xfrm>
            <a:off x="5532120" y="5080000"/>
            <a:ext cx="3017520" cy="497840"/>
          </a:xfrm>
          <a:prstGeom prst="rect">
            <a:avLst/>
          </a:prstGeom>
          <a:solidFill>
            <a:srgbClr val="FFFFFF"/>
          </a:solidFill>
          <a:ln w="12700">
            <a:solidFill>
              <a:srgbClr val="E7DFD0"/>
            </a:solidFill>
            <a:prstDash val="solid"/>
          </a:ln>
        </p:spPr>
      </p:sp>
      <p:sp>
        <p:nvSpPr>
          <p:cNvPr id="74" name="Text 72"/>
          <p:cNvSpPr/>
          <p:nvPr/>
        </p:nvSpPr>
        <p:spPr>
          <a:xfrm>
            <a:off x="5568696" y="5116576"/>
            <a:ext cx="2944368" cy="424688"/>
          </a:xfrm>
          <a:prstGeom prst="rect">
            <a:avLst/>
          </a:prstGeom>
          <a:noFill/>
          <a:ln/>
        </p:spPr>
        <p:txBody>
          <a:bodyPr wrap="square" lIns="0" tIns="0" rIns="0" bIns="0" rtlCol="0" anchor="ctr">
            <a:normAutofit/>
          </a:bodyPr>
          <a:lstStyle/>
          <a:p>
            <a:pPr indent="0" marL="0">
              <a:buNone/>
            </a:pPr>
            <a:r>
              <a:rPr lang="en-US" sz="770" dirty="0">
                <a:solidFill>
                  <a:srgbClr val="24303F"/>
                </a:solidFill>
              </a:rPr>
              <a:t>Send feedback form</a:t>
            </a:r>
            <a:endParaRPr lang="en-US" sz="770" dirty="0"/>
          </a:p>
        </p:txBody>
      </p:sp>
      <p:sp>
        <p:nvSpPr>
          <p:cNvPr id="75" name="Shape 73"/>
          <p:cNvSpPr/>
          <p:nvPr/>
        </p:nvSpPr>
        <p:spPr>
          <a:xfrm>
            <a:off x="8549640" y="5080000"/>
            <a:ext cx="1005840" cy="497840"/>
          </a:xfrm>
          <a:prstGeom prst="rect">
            <a:avLst/>
          </a:prstGeom>
          <a:solidFill>
            <a:srgbClr val="FFFFFF"/>
          </a:solidFill>
          <a:ln w="12700">
            <a:solidFill>
              <a:srgbClr val="E7DFD0"/>
            </a:solidFill>
            <a:prstDash val="solid"/>
          </a:ln>
        </p:spPr>
      </p:sp>
      <p:sp>
        <p:nvSpPr>
          <p:cNvPr id="76" name="Text 74"/>
          <p:cNvSpPr/>
          <p:nvPr/>
        </p:nvSpPr>
        <p:spPr>
          <a:xfrm>
            <a:off x="8586216" y="5116576"/>
            <a:ext cx="932688" cy="424688"/>
          </a:xfrm>
          <a:prstGeom prst="rect">
            <a:avLst/>
          </a:prstGeom>
          <a:noFill/>
          <a:ln/>
        </p:spPr>
        <p:txBody>
          <a:bodyPr wrap="square" lIns="0" tIns="0" rIns="0" bIns="0" rtlCol="0" anchor="ctr">
            <a:normAutofit/>
          </a:bodyPr>
          <a:lstStyle/>
          <a:p>
            <a:pPr indent="0" marL="0">
              <a:buNone/>
            </a:pPr>
            <a:r>
              <a:rPr lang="en-US" sz="770" dirty="0">
                <a:solidFill>
                  <a:srgbClr val="24303F"/>
                </a:solidFill>
              </a:rPr>
              <a:t>64</a:t>
            </a:r>
            <a:endParaRPr lang="en-US" sz="770" dirty="0"/>
          </a:p>
        </p:txBody>
      </p:sp>
      <p:sp>
        <p:nvSpPr>
          <p:cNvPr id="77" name="Shape 75"/>
          <p:cNvSpPr/>
          <p:nvPr/>
        </p:nvSpPr>
        <p:spPr>
          <a:xfrm>
            <a:off x="9555480" y="5080000"/>
            <a:ext cx="914400" cy="497840"/>
          </a:xfrm>
          <a:prstGeom prst="rect">
            <a:avLst/>
          </a:prstGeom>
          <a:solidFill>
            <a:srgbClr val="FFFFFF"/>
          </a:solidFill>
          <a:ln w="12700">
            <a:solidFill>
              <a:srgbClr val="E7DFD0"/>
            </a:solidFill>
            <a:prstDash val="solid"/>
          </a:ln>
        </p:spPr>
      </p:sp>
      <p:sp>
        <p:nvSpPr>
          <p:cNvPr id="78" name="Text 76"/>
          <p:cNvSpPr/>
          <p:nvPr/>
        </p:nvSpPr>
        <p:spPr>
          <a:xfrm>
            <a:off x="9592056" y="5116576"/>
            <a:ext cx="841248" cy="424688"/>
          </a:xfrm>
          <a:prstGeom prst="rect">
            <a:avLst/>
          </a:prstGeom>
          <a:noFill/>
          <a:ln/>
        </p:spPr>
        <p:txBody>
          <a:bodyPr wrap="square" lIns="0" tIns="0" rIns="0" bIns="0" rtlCol="0" anchor="ctr">
            <a:normAutofit/>
          </a:bodyPr>
          <a:lstStyle/>
          <a:p>
            <a:pPr indent="0" marL="0">
              <a:buNone/>
            </a:pPr>
            <a:r>
              <a:rPr lang="en-US" sz="770" dirty="0">
                <a:solidFill>
                  <a:srgbClr val="24303F"/>
                </a:solidFill>
              </a:rPr>
              <a:t>4</a:t>
            </a:r>
            <a:endParaRPr lang="en-US" sz="770" dirty="0"/>
          </a:p>
        </p:txBody>
      </p:sp>
      <p:sp>
        <p:nvSpPr>
          <p:cNvPr id="79" name="Shape 77"/>
          <p:cNvSpPr/>
          <p:nvPr/>
        </p:nvSpPr>
        <p:spPr>
          <a:xfrm>
            <a:off x="10469880" y="5080000"/>
            <a:ext cx="1005840" cy="497840"/>
          </a:xfrm>
          <a:prstGeom prst="rect">
            <a:avLst/>
          </a:prstGeom>
          <a:solidFill>
            <a:srgbClr val="FFFFFF"/>
          </a:solidFill>
          <a:ln w="12700">
            <a:solidFill>
              <a:srgbClr val="E7DFD0"/>
            </a:solidFill>
            <a:prstDash val="solid"/>
          </a:ln>
        </p:spPr>
      </p:sp>
      <p:sp>
        <p:nvSpPr>
          <p:cNvPr id="80" name="Text 78"/>
          <p:cNvSpPr/>
          <p:nvPr/>
        </p:nvSpPr>
        <p:spPr>
          <a:xfrm>
            <a:off x="10506456" y="5116576"/>
            <a:ext cx="932688" cy="424688"/>
          </a:xfrm>
          <a:prstGeom prst="rect">
            <a:avLst/>
          </a:prstGeom>
          <a:noFill/>
          <a:ln/>
        </p:spPr>
        <p:txBody>
          <a:bodyPr wrap="square" lIns="0" tIns="0" rIns="0" bIns="0" rtlCol="0" anchor="ctr">
            <a:normAutofit/>
          </a:bodyPr>
          <a:lstStyle/>
          <a:p>
            <a:pPr indent="0" marL="0">
              <a:buNone/>
            </a:pPr>
            <a:r>
              <a:rPr lang="en-US" sz="770" dirty="0">
                <a:solidFill>
                  <a:srgbClr val="24303F"/>
                </a:solidFill>
              </a:rPr>
              <a:t>20%</a:t>
            </a:r>
            <a:endParaRPr lang="en-US" sz="770" dirty="0"/>
          </a:p>
        </p:txBody>
      </p:sp>
      <p:sp>
        <p:nvSpPr>
          <p:cNvPr id="81" name="Text 79"/>
          <p:cNvSpPr/>
          <p:nvPr/>
        </p:nvSpPr>
        <p:spPr>
          <a:xfrm>
            <a:off x="11384280" y="6428232"/>
            <a:ext cx="320040" cy="109728"/>
          </a:xfrm>
          <a:prstGeom prst="rect">
            <a:avLst/>
          </a:prstGeom>
          <a:noFill/>
          <a:ln/>
        </p:spPr>
        <p:txBody>
          <a:bodyPr wrap="square" lIns="0" tIns="0" rIns="0" bIns="0" rtlCol="0" anchor="ctr"/>
          <a:lstStyle/>
          <a:p>
            <a:pPr algn="r" indent="0" marL="0">
              <a:buNone/>
            </a:pPr>
            <a:r>
              <a:rPr lang="en-US" sz="700" dirty="0">
                <a:solidFill>
                  <a:srgbClr val="FFFFFF"/>
                </a:solidFill>
              </a:rPr>
              <a:t>12</a:t>
            </a:r>
            <a:endParaRPr lang="en-US" sz="7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3EA"/>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4213D"/>
          </a:solidFill>
          <a:ln w="12700">
            <a:solidFill>
              <a:srgbClr val="14213D">
                <a:alpha val="0"/>
              </a:srgbClr>
            </a:solidFill>
            <a:prstDash val="solid"/>
          </a:ln>
        </p:spPr>
      </p:sp>
      <p:sp>
        <p:nvSpPr>
          <p:cNvPr id="3" name="Shape 1"/>
          <p:cNvSpPr/>
          <p:nvPr/>
        </p:nvSpPr>
        <p:spPr>
          <a:xfrm>
            <a:off x="0" y="6693408"/>
            <a:ext cx="12191695" cy="164592"/>
          </a:xfrm>
          <a:prstGeom prst="rect">
            <a:avLst/>
          </a:prstGeom>
          <a:solidFill>
            <a:srgbClr val="14213D"/>
          </a:solidFill>
          <a:ln w="12700">
            <a:solidFill>
              <a:srgbClr val="14213D">
                <a:alpha val="0"/>
              </a:srgbClr>
            </a:solidFill>
            <a:prstDash val="solid"/>
          </a:ln>
        </p:spPr>
      </p:sp>
      <p:sp>
        <p:nvSpPr>
          <p:cNvPr id="4" name="Text 2"/>
          <p:cNvSpPr/>
          <p:nvPr/>
        </p:nvSpPr>
        <p:spPr>
          <a:xfrm>
            <a:off x="502920" y="256032"/>
            <a:ext cx="4480560" cy="164592"/>
          </a:xfrm>
          <a:prstGeom prst="rect">
            <a:avLst/>
          </a:prstGeom>
          <a:noFill/>
          <a:ln/>
        </p:spPr>
        <p:txBody>
          <a:bodyPr wrap="square" lIns="0" tIns="0" rIns="0" bIns="0" rtlCol="0" anchor="ctr"/>
          <a:lstStyle/>
          <a:p>
            <a:pPr indent="0" marL="0">
              <a:buNone/>
            </a:pPr>
            <a:r>
              <a:rPr lang="en-US" sz="700" b="1" dirty="0">
                <a:solidFill>
                  <a:srgbClr val="2A9D8F"/>
                </a:solidFill>
                <a:latin typeface="Aptos" pitchFamily="34" charset="0"/>
                <a:ea typeface="Aptos" pitchFamily="34" charset="-122"/>
                <a:cs typeface="Aptos" pitchFamily="34" charset="-120"/>
              </a:rPr>
              <a:t>SECTION 2</a:t>
            </a:r>
            <a:endParaRPr lang="en-US" sz="700" dirty="0"/>
          </a:p>
        </p:txBody>
      </p:sp>
      <p:sp>
        <p:nvSpPr>
          <p:cNvPr id="5" name="Text 3"/>
          <p:cNvSpPr/>
          <p:nvPr/>
        </p:nvSpPr>
        <p:spPr>
          <a:xfrm>
            <a:off x="9281160" y="219456"/>
            <a:ext cx="2423160" cy="182880"/>
          </a:xfrm>
          <a:prstGeom prst="rect">
            <a:avLst/>
          </a:prstGeom>
          <a:noFill/>
          <a:ln/>
        </p:spPr>
        <p:txBody>
          <a:bodyPr wrap="square" lIns="0" tIns="0" rIns="0" bIns="0" rtlCol="0" anchor="ctr"/>
          <a:lstStyle/>
          <a:p>
            <a:pPr algn="r" indent="0" marL="0">
              <a:buNone/>
            </a:pPr>
            <a:r>
              <a:rPr lang="en-US" sz="700" dirty="0">
                <a:solidFill>
                  <a:srgbClr val="6D7886"/>
                </a:solidFill>
              </a:rPr>
              <a:t>Jifunze.ai skill booster</a:t>
            </a:r>
            <a:endParaRPr lang="en-US" sz="700" dirty="0"/>
          </a:p>
        </p:txBody>
      </p:sp>
      <p:sp>
        <p:nvSpPr>
          <p:cNvPr id="6" name="Text 4"/>
          <p:cNvSpPr/>
          <p:nvPr/>
        </p:nvSpPr>
        <p:spPr>
          <a:xfrm>
            <a:off x="502920" y="502920"/>
            <a:ext cx="4617720" cy="475488"/>
          </a:xfrm>
          <a:prstGeom prst="rect">
            <a:avLst/>
          </a:prstGeom>
          <a:noFill/>
          <a:ln/>
        </p:spPr>
        <p:txBody>
          <a:bodyPr wrap="square" lIns="127" tIns="127" rIns="127" bIns="127" rtlCol="0" anchor="ctr">
            <a:normAutofit/>
          </a:bodyPr>
          <a:lstStyle/>
          <a:p>
            <a:pPr indent="0" marL="0">
              <a:buNone/>
            </a:pPr>
            <a:r>
              <a:rPr lang="en-US" sz="2500" b="1" dirty="0">
                <a:solidFill>
                  <a:srgbClr val="14213D"/>
                </a:solidFill>
                <a:latin typeface="Aptos Display" pitchFamily="34" charset="0"/>
                <a:ea typeface="Aptos Display" pitchFamily="34" charset="-122"/>
                <a:cs typeface="Aptos Display" pitchFamily="34" charset="-120"/>
              </a:rPr>
              <a:t>Manual workload calculation</a:t>
            </a:r>
            <a:endParaRPr lang="en-US" sz="2500" dirty="0"/>
          </a:p>
        </p:txBody>
      </p:sp>
      <p:sp>
        <p:nvSpPr>
          <p:cNvPr id="7" name="Text 5"/>
          <p:cNvSpPr/>
          <p:nvPr/>
        </p:nvSpPr>
        <p:spPr>
          <a:xfrm>
            <a:off x="521208" y="1005840"/>
            <a:ext cx="4617720" cy="228600"/>
          </a:xfrm>
          <a:prstGeom prst="rect">
            <a:avLst/>
          </a:prstGeom>
          <a:noFill/>
          <a:ln/>
        </p:spPr>
        <p:txBody>
          <a:bodyPr wrap="square" lIns="0" tIns="0" rIns="0" bIns="0" rtlCol="0" anchor="ctr">
            <a:normAutofit/>
          </a:bodyPr>
          <a:lstStyle/>
          <a:p>
            <a:pPr indent="0" marL="0">
              <a:buNone/>
            </a:pPr>
            <a:r>
              <a:rPr lang="en-US" sz="1080" dirty="0">
                <a:solidFill>
                  <a:srgbClr val="24303F"/>
                </a:solidFill>
              </a:rPr>
              <a:t>Convert activity into staff hours</a:t>
            </a:r>
            <a:endParaRPr lang="en-US" sz="1080" dirty="0"/>
          </a:p>
        </p:txBody>
      </p:sp>
      <p:sp>
        <p:nvSpPr>
          <p:cNvPr id="8" name="Text 6"/>
          <p:cNvSpPr/>
          <p:nvPr/>
        </p:nvSpPr>
        <p:spPr>
          <a:xfrm>
            <a:off x="594360" y="1417320"/>
            <a:ext cx="4617720" cy="4343400"/>
          </a:xfrm>
          <a:prstGeom prst="rect">
            <a:avLst/>
          </a:prstGeom>
          <a:noFill/>
          <a:ln/>
        </p:spPr>
        <p:txBody>
          <a:bodyPr wrap="square" lIns="635" tIns="635" rIns="635" bIns="635" rtlCol="0" anchor="ctr">
            <a:normAutofit/>
          </a:bodyPr>
          <a:lstStyle/>
          <a:p>
            <a:r>
              <a:rPr lang="en-US" sz="1450" dirty="0">
                <a:solidFill>
                  <a:srgbClr val="24303F"/>
                </a:solidFill>
              </a:rPr>
              <a:t>• Formula: monthly hours = volume × minutes ÷ 60</a:t>
            </a:r>
            <a:endParaRPr lang="en-US" sz="1450" dirty="0"/>
          </a:p>
          <a:p>
            <a:r>
              <a:rPr lang="en-US" sz="1450" dirty="0">
                <a:solidFill>
                  <a:srgbClr val="24303F"/>
                </a:solidFill>
              </a:rPr>
              <a:t>• Use hours so tasks can be compared fairly</a:t>
            </a:r>
            <a:endParaRPr lang="en-US" sz="1450" dirty="0"/>
          </a:p>
          <a:p>
            <a:r>
              <a:rPr lang="en-US" sz="1450" dirty="0">
                <a:solidFill>
                  <a:srgbClr val="24303F"/>
                </a:solidFill>
              </a:rPr>
              <a:t>• Then multiply hours by labor rate for labor value</a:t>
            </a:r>
            <a:endParaRPr lang="en-US" sz="1450" dirty="0"/>
          </a:p>
          <a:p>
            <a:r>
              <a:rPr lang="en-US" sz="1450" dirty="0">
                <a:solidFill>
                  <a:srgbClr val="24303F"/>
                </a:solidFill>
              </a:rPr>
              <a:t>• This does not automatically equal cash savings</a:t>
            </a:r>
            <a:endParaRPr lang="en-US" sz="1450" dirty="0"/>
          </a:p>
        </p:txBody>
      </p:sp>
      <p:sp>
        <p:nvSpPr>
          <p:cNvPr id="9" name="Shape 7"/>
          <p:cNvSpPr/>
          <p:nvPr/>
        </p:nvSpPr>
        <p:spPr>
          <a:xfrm>
            <a:off x="5669280" y="1280160"/>
            <a:ext cx="4754880" cy="502920"/>
          </a:xfrm>
          <a:prstGeom prst="roundRect">
            <a:avLst>
              <a:gd name="adj" fmla="val 14545"/>
            </a:avLst>
          </a:prstGeom>
          <a:solidFill>
            <a:srgbClr val="14213D"/>
          </a:solidFill>
          <a:ln w="12700">
            <a:solidFill>
              <a:srgbClr val="14213D"/>
            </a:solidFill>
            <a:prstDash val="solid"/>
          </a:ln>
        </p:spPr>
      </p:sp>
      <p:sp>
        <p:nvSpPr>
          <p:cNvPr id="10" name="Text 8"/>
          <p:cNvSpPr/>
          <p:nvPr/>
        </p:nvSpPr>
        <p:spPr>
          <a:xfrm>
            <a:off x="5779008" y="1371600"/>
            <a:ext cx="4535424" cy="338328"/>
          </a:xfrm>
          <a:prstGeom prst="rect">
            <a:avLst/>
          </a:prstGeom>
          <a:noFill/>
          <a:ln/>
        </p:spPr>
        <p:txBody>
          <a:bodyPr wrap="square" lIns="127" tIns="127" rIns="127" bIns="127" rtlCol="0" anchor="ctr">
            <a:normAutofit/>
          </a:bodyPr>
          <a:lstStyle/>
          <a:p>
            <a:pPr indent="0" marL="0">
              <a:buNone/>
            </a:pPr>
            <a:r>
              <a:rPr lang="en-US" sz="1500" b="1" dirty="0">
                <a:solidFill>
                  <a:srgbClr val="24303F"/>
                </a:solidFill>
              </a:rPr>
              <a:t>Example: Respond to enquiry</a:t>
            </a:r>
            <a:endParaRPr lang="en-US" sz="1500" dirty="0"/>
          </a:p>
        </p:txBody>
      </p:sp>
      <p:sp>
        <p:nvSpPr>
          <p:cNvPr id="11" name="Shape 9"/>
          <p:cNvSpPr/>
          <p:nvPr/>
        </p:nvSpPr>
        <p:spPr>
          <a:xfrm>
            <a:off x="5669280" y="2011680"/>
            <a:ext cx="4754880" cy="731520"/>
          </a:xfrm>
          <a:prstGeom prst="roundRect">
            <a:avLst>
              <a:gd name="adj" fmla="val 10000"/>
            </a:avLst>
          </a:prstGeom>
          <a:solidFill>
            <a:srgbClr val="FFFFFF"/>
          </a:solidFill>
          <a:ln w="12700">
            <a:solidFill>
              <a:srgbClr val="C9A44C"/>
            </a:solidFill>
            <a:prstDash val="solid"/>
          </a:ln>
        </p:spPr>
      </p:sp>
      <p:sp>
        <p:nvSpPr>
          <p:cNvPr id="12" name="Text 10"/>
          <p:cNvSpPr/>
          <p:nvPr/>
        </p:nvSpPr>
        <p:spPr>
          <a:xfrm>
            <a:off x="5779008" y="2103120"/>
            <a:ext cx="4535424" cy="566928"/>
          </a:xfrm>
          <a:prstGeom prst="rect">
            <a:avLst/>
          </a:prstGeom>
          <a:noFill/>
          <a:ln/>
        </p:spPr>
        <p:txBody>
          <a:bodyPr wrap="square" lIns="127" tIns="127" rIns="127" bIns="127" rtlCol="0" anchor="ctr">
            <a:normAutofit/>
          </a:bodyPr>
          <a:lstStyle/>
          <a:p>
            <a:pPr indent="0" marL="0">
              <a:buNone/>
            </a:pPr>
            <a:r>
              <a:rPr lang="en-US" sz="2200" b="1" dirty="0">
                <a:solidFill>
                  <a:srgbClr val="24303F"/>
                </a:solidFill>
              </a:rPr>
              <a:t>120 × 8 ÷ 60 = 16.0 hours/month</a:t>
            </a:r>
            <a:endParaRPr lang="en-US" sz="2200" dirty="0"/>
          </a:p>
        </p:txBody>
      </p:sp>
      <p:sp>
        <p:nvSpPr>
          <p:cNvPr id="13" name="Shape 11"/>
          <p:cNvSpPr/>
          <p:nvPr/>
        </p:nvSpPr>
        <p:spPr>
          <a:xfrm>
            <a:off x="5669280" y="3154680"/>
            <a:ext cx="4754880" cy="1143000"/>
          </a:xfrm>
          <a:prstGeom prst="roundRect">
            <a:avLst>
              <a:gd name="adj" fmla="val 6400"/>
            </a:avLst>
          </a:prstGeom>
          <a:solidFill>
            <a:srgbClr val="FDFBF5"/>
          </a:solidFill>
          <a:ln w="12700">
            <a:solidFill>
              <a:srgbClr val="2A9D8F"/>
            </a:solidFill>
            <a:prstDash val="solid"/>
          </a:ln>
        </p:spPr>
      </p:sp>
      <p:sp>
        <p:nvSpPr>
          <p:cNvPr id="14" name="Text 12"/>
          <p:cNvSpPr/>
          <p:nvPr/>
        </p:nvSpPr>
        <p:spPr>
          <a:xfrm>
            <a:off x="5779008" y="3246120"/>
            <a:ext cx="4535424" cy="978408"/>
          </a:xfrm>
          <a:prstGeom prst="rect">
            <a:avLst/>
          </a:prstGeom>
          <a:noFill/>
          <a:ln/>
        </p:spPr>
        <p:txBody>
          <a:bodyPr wrap="square" lIns="127" tIns="127" rIns="127" bIns="127" rtlCol="0" anchor="ctr">
            <a:normAutofit/>
          </a:bodyPr>
          <a:lstStyle/>
          <a:p>
            <a:pPr indent="0" marL="0">
              <a:buNone/>
            </a:pPr>
            <a:r>
              <a:rPr lang="en-US" sz="1500" b="1" dirty="0">
                <a:solidFill>
                  <a:srgbClr val="24303F"/>
                </a:solidFill>
              </a:rPr>
              <a:t>Total baseline manual workload = 75.3 hours/month</a:t>
            </a:r>
            <a:endParaRPr lang="en-US" sz="1500" dirty="0"/>
          </a:p>
          <a:p>
            <a:pPr indent="0" marL="0">
              <a:buNone/>
            </a:pPr>
            <a:r>
              <a:rPr lang="en-US" sz="1500" b="1" dirty="0">
                <a:solidFill>
                  <a:srgbClr val="24303F"/>
                </a:solidFill>
              </a:rPr>
              <a:t>Labor value = 75.3 × $18 = $1,355.40/month</a:t>
            </a:r>
            <a:endParaRPr lang="en-US" sz="1500" dirty="0"/>
          </a:p>
        </p:txBody>
      </p:sp>
      <p:sp>
        <p:nvSpPr>
          <p:cNvPr id="15" name="Text 13"/>
          <p:cNvSpPr/>
          <p:nvPr/>
        </p:nvSpPr>
        <p:spPr>
          <a:xfrm>
            <a:off x="11384280" y="6428232"/>
            <a:ext cx="320040" cy="109728"/>
          </a:xfrm>
          <a:prstGeom prst="rect">
            <a:avLst/>
          </a:prstGeom>
          <a:noFill/>
          <a:ln/>
        </p:spPr>
        <p:txBody>
          <a:bodyPr wrap="square" lIns="0" tIns="0" rIns="0" bIns="0" rtlCol="0" anchor="ctr"/>
          <a:lstStyle/>
          <a:p>
            <a:pPr algn="r" indent="0" marL="0">
              <a:buNone/>
            </a:pPr>
            <a:r>
              <a:rPr lang="en-US" sz="700" dirty="0">
                <a:solidFill>
                  <a:srgbClr val="FFFFFF"/>
                </a:solidFill>
              </a:rPr>
              <a:t>13</a:t>
            </a:r>
            <a:endParaRPr lang="en-US" sz="7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3EA"/>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4213D"/>
          </a:solidFill>
          <a:ln w="12700">
            <a:solidFill>
              <a:srgbClr val="14213D">
                <a:alpha val="0"/>
              </a:srgbClr>
            </a:solidFill>
            <a:prstDash val="solid"/>
          </a:ln>
        </p:spPr>
      </p:sp>
      <p:sp>
        <p:nvSpPr>
          <p:cNvPr id="3" name="Shape 1"/>
          <p:cNvSpPr/>
          <p:nvPr/>
        </p:nvSpPr>
        <p:spPr>
          <a:xfrm>
            <a:off x="0" y="6693408"/>
            <a:ext cx="12191695" cy="164592"/>
          </a:xfrm>
          <a:prstGeom prst="rect">
            <a:avLst/>
          </a:prstGeom>
          <a:solidFill>
            <a:srgbClr val="14213D"/>
          </a:solidFill>
          <a:ln w="12700">
            <a:solidFill>
              <a:srgbClr val="14213D">
                <a:alpha val="0"/>
              </a:srgbClr>
            </a:solidFill>
            <a:prstDash val="solid"/>
          </a:ln>
        </p:spPr>
      </p:sp>
      <p:sp>
        <p:nvSpPr>
          <p:cNvPr id="4" name="Text 2"/>
          <p:cNvSpPr/>
          <p:nvPr/>
        </p:nvSpPr>
        <p:spPr>
          <a:xfrm>
            <a:off x="502920" y="256032"/>
            <a:ext cx="4480560" cy="164592"/>
          </a:xfrm>
          <a:prstGeom prst="rect">
            <a:avLst/>
          </a:prstGeom>
          <a:noFill/>
          <a:ln/>
        </p:spPr>
        <p:txBody>
          <a:bodyPr wrap="square" lIns="0" tIns="0" rIns="0" bIns="0" rtlCol="0" anchor="ctr"/>
          <a:lstStyle/>
          <a:p>
            <a:pPr indent="0" marL="0">
              <a:buNone/>
            </a:pPr>
            <a:r>
              <a:rPr lang="en-US" sz="700" b="1" dirty="0">
                <a:solidFill>
                  <a:srgbClr val="2A9D8F"/>
                </a:solidFill>
                <a:latin typeface="Aptos" pitchFamily="34" charset="0"/>
                <a:ea typeface="Aptos" pitchFamily="34" charset="-122"/>
                <a:cs typeface="Aptos" pitchFamily="34" charset="-120"/>
              </a:rPr>
              <a:t>SECTION 2</a:t>
            </a:r>
            <a:endParaRPr lang="en-US" sz="700" dirty="0"/>
          </a:p>
        </p:txBody>
      </p:sp>
      <p:sp>
        <p:nvSpPr>
          <p:cNvPr id="5" name="Text 3"/>
          <p:cNvSpPr/>
          <p:nvPr/>
        </p:nvSpPr>
        <p:spPr>
          <a:xfrm>
            <a:off x="9281160" y="219456"/>
            <a:ext cx="2423160" cy="182880"/>
          </a:xfrm>
          <a:prstGeom prst="rect">
            <a:avLst/>
          </a:prstGeom>
          <a:noFill/>
          <a:ln/>
        </p:spPr>
        <p:txBody>
          <a:bodyPr wrap="square" lIns="0" tIns="0" rIns="0" bIns="0" rtlCol="0" anchor="ctr"/>
          <a:lstStyle/>
          <a:p>
            <a:pPr algn="r" indent="0" marL="0">
              <a:buNone/>
            </a:pPr>
            <a:r>
              <a:rPr lang="en-US" sz="700" dirty="0">
                <a:solidFill>
                  <a:srgbClr val="6D7886"/>
                </a:solidFill>
              </a:rPr>
              <a:t>Jifunze.ai skill booster</a:t>
            </a:r>
            <a:endParaRPr lang="en-US" sz="700" dirty="0"/>
          </a:p>
        </p:txBody>
      </p:sp>
      <p:sp>
        <p:nvSpPr>
          <p:cNvPr id="6" name="Text 4"/>
          <p:cNvSpPr/>
          <p:nvPr/>
        </p:nvSpPr>
        <p:spPr>
          <a:xfrm>
            <a:off x="502920" y="502920"/>
            <a:ext cx="4617720" cy="475488"/>
          </a:xfrm>
          <a:prstGeom prst="rect">
            <a:avLst/>
          </a:prstGeom>
          <a:noFill/>
          <a:ln/>
        </p:spPr>
        <p:txBody>
          <a:bodyPr wrap="square" lIns="127" tIns="127" rIns="127" bIns="127" rtlCol="0" anchor="ctr">
            <a:normAutofit/>
          </a:bodyPr>
          <a:lstStyle/>
          <a:p>
            <a:pPr indent="0" marL="0">
              <a:buNone/>
            </a:pPr>
            <a:r>
              <a:rPr lang="en-US" sz="2500" b="1" dirty="0">
                <a:solidFill>
                  <a:srgbClr val="14213D"/>
                </a:solidFill>
                <a:latin typeface="Aptos Display" pitchFamily="34" charset="0"/>
                <a:ea typeface="Aptos Display" pitchFamily="34" charset="-122"/>
                <a:cs typeface="Aptos Display" pitchFamily="34" charset="-120"/>
              </a:rPr>
              <a:t>Staff hours by task</a:t>
            </a:r>
            <a:endParaRPr lang="en-US" sz="2500" dirty="0"/>
          </a:p>
        </p:txBody>
      </p:sp>
      <p:sp>
        <p:nvSpPr>
          <p:cNvPr id="7" name="Text 5"/>
          <p:cNvSpPr/>
          <p:nvPr/>
        </p:nvSpPr>
        <p:spPr>
          <a:xfrm>
            <a:off x="521208" y="1005840"/>
            <a:ext cx="4617720" cy="228600"/>
          </a:xfrm>
          <a:prstGeom prst="rect">
            <a:avLst/>
          </a:prstGeom>
          <a:noFill/>
          <a:ln/>
        </p:spPr>
        <p:txBody>
          <a:bodyPr wrap="square" lIns="0" tIns="0" rIns="0" bIns="0" rtlCol="0" anchor="ctr">
            <a:normAutofit/>
          </a:bodyPr>
          <a:lstStyle/>
          <a:p>
            <a:pPr indent="0" marL="0">
              <a:buNone/>
            </a:pPr>
            <a:r>
              <a:rPr lang="en-US" sz="1080" dirty="0">
                <a:solidFill>
                  <a:srgbClr val="24303F"/>
                </a:solidFill>
              </a:rPr>
              <a:t>Workload chart using monthly hours</a:t>
            </a:r>
            <a:endParaRPr lang="en-US" sz="1080" dirty="0"/>
          </a:p>
        </p:txBody>
      </p:sp>
      <p:sp>
        <p:nvSpPr>
          <p:cNvPr id="8" name="Text 6"/>
          <p:cNvSpPr/>
          <p:nvPr/>
        </p:nvSpPr>
        <p:spPr>
          <a:xfrm>
            <a:off x="594360" y="1417320"/>
            <a:ext cx="4617720" cy="4343400"/>
          </a:xfrm>
          <a:prstGeom prst="rect">
            <a:avLst/>
          </a:prstGeom>
          <a:noFill/>
          <a:ln/>
        </p:spPr>
        <p:txBody>
          <a:bodyPr wrap="square" lIns="635" tIns="635" rIns="635" bIns="635" rtlCol="0" anchor="ctr">
            <a:normAutofit/>
          </a:bodyPr>
          <a:lstStyle/>
          <a:p>
            <a:r>
              <a:rPr lang="en-US" sz="1450" dirty="0">
                <a:solidFill>
                  <a:srgbClr val="24303F"/>
                </a:solidFill>
              </a:rPr>
              <a:t>• Highest workload: enquiry response at 16.0 hours</a:t>
            </a:r>
            <a:endParaRPr lang="en-US" sz="1450" dirty="0"/>
          </a:p>
          <a:p>
            <a:r>
              <a:rPr lang="en-US" sz="1450" dirty="0">
                <a:solidFill>
                  <a:srgbClr val="24303F"/>
                </a:solidFill>
              </a:rPr>
              <a:t>• Course info and certificates are also large effort areas</a:t>
            </a:r>
            <a:endParaRPr lang="en-US" sz="1450" dirty="0"/>
          </a:p>
          <a:p>
            <a:r>
              <a:rPr lang="en-US" sz="1450" dirty="0">
                <a:solidFill>
                  <a:srgbClr val="24303F"/>
                </a:solidFill>
              </a:rPr>
              <a:t>• Payment confirmation is both time-heavy and delay-prone</a:t>
            </a:r>
            <a:endParaRPr lang="en-US" sz="1450" dirty="0"/>
          </a:p>
          <a:p>
            <a:r>
              <a:rPr lang="en-US" sz="1450" dirty="0">
                <a:solidFill>
                  <a:srgbClr val="24303F"/>
                </a:solidFill>
              </a:rPr>
              <a:t>• Small tasks still matter when they happen every month</a:t>
            </a:r>
            <a:endParaRPr lang="en-US" sz="1450" dirty="0"/>
          </a:p>
        </p:txBody>
      </p:sp>
      <p:sp>
        <p:nvSpPr>
          <p:cNvPr id="9" name="Text 7"/>
          <p:cNvSpPr/>
          <p:nvPr/>
        </p:nvSpPr>
        <p:spPr>
          <a:xfrm>
            <a:off x="5486400" y="1143000"/>
            <a:ext cx="5989320" cy="201168"/>
          </a:xfrm>
          <a:prstGeom prst="rect">
            <a:avLst/>
          </a:prstGeom>
          <a:noFill/>
          <a:ln/>
        </p:spPr>
        <p:txBody>
          <a:bodyPr wrap="square" lIns="0" tIns="0" rIns="0" bIns="0" rtlCol="0" anchor="ctr"/>
          <a:lstStyle/>
          <a:p>
            <a:pPr indent="0" marL="0">
              <a:buNone/>
            </a:pPr>
            <a:r>
              <a:rPr lang="en-US" sz="1000" b="1" dirty="0">
                <a:solidFill>
                  <a:srgbClr val="14213D"/>
                </a:solidFill>
              </a:rPr>
              <a:t>Monthly hours by task</a:t>
            </a:r>
            <a:endParaRPr lang="en-US" sz="1000" dirty="0"/>
          </a:p>
        </p:txBody>
      </p:sp>
      <p:sp>
        <p:nvSpPr>
          <p:cNvPr id="10" name="Text 8"/>
          <p:cNvSpPr/>
          <p:nvPr/>
        </p:nvSpPr>
        <p:spPr>
          <a:xfrm>
            <a:off x="5486400" y="1499616"/>
            <a:ext cx="1508760" cy="146304"/>
          </a:xfrm>
          <a:prstGeom prst="rect">
            <a:avLst/>
          </a:prstGeom>
          <a:noFill/>
          <a:ln/>
        </p:spPr>
        <p:txBody>
          <a:bodyPr wrap="square" lIns="0" tIns="0" rIns="0" bIns="0" rtlCol="0" anchor="ctr">
            <a:normAutofit/>
          </a:bodyPr>
          <a:lstStyle/>
          <a:p>
            <a:pPr indent="0" marL="0">
              <a:buNone/>
            </a:pPr>
            <a:r>
              <a:rPr lang="en-US" sz="660" dirty="0">
                <a:solidFill>
                  <a:srgbClr val="24303F"/>
                </a:solidFill>
              </a:rPr>
              <a:t>Respond to enquiry</a:t>
            </a:r>
            <a:endParaRPr lang="en-US" sz="660" dirty="0"/>
          </a:p>
        </p:txBody>
      </p:sp>
      <p:sp>
        <p:nvSpPr>
          <p:cNvPr id="11" name="Shape 9"/>
          <p:cNvSpPr/>
          <p:nvPr/>
        </p:nvSpPr>
        <p:spPr>
          <a:xfrm>
            <a:off x="7086600" y="1508760"/>
            <a:ext cx="3495040" cy="164592"/>
          </a:xfrm>
          <a:prstGeom prst="rect">
            <a:avLst/>
          </a:prstGeom>
          <a:solidFill>
            <a:srgbClr val="C9A44C"/>
          </a:solidFill>
          <a:ln w="12700">
            <a:solidFill>
              <a:srgbClr val="FFFFFF">
                <a:alpha val="0"/>
              </a:srgbClr>
            </a:solidFill>
            <a:prstDash val="solid"/>
          </a:ln>
        </p:spPr>
      </p:sp>
      <p:sp>
        <p:nvSpPr>
          <p:cNvPr id="12" name="Text 10"/>
          <p:cNvSpPr/>
          <p:nvPr/>
        </p:nvSpPr>
        <p:spPr>
          <a:xfrm>
            <a:off x="11091672" y="1499616"/>
            <a:ext cx="365760" cy="137160"/>
          </a:xfrm>
          <a:prstGeom prst="rect">
            <a:avLst/>
          </a:prstGeom>
          <a:noFill/>
          <a:ln/>
        </p:spPr>
        <p:txBody>
          <a:bodyPr wrap="square" lIns="0" tIns="0" rIns="0" bIns="0" rtlCol="0" anchor="ctr"/>
          <a:lstStyle/>
          <a:p>
            <a:pPr algn="r" indent="0" marL="0">
              <a:buNone/>
            </a:pPr>
            <a:r>
              <a:rPr lang="en-US" sz="660" dirty="0">
                <a:solidFill>
                  <a:srgbClr val="24303F"/>
                </a:solidFill>
              </a:rPr>
              <a:t>16.0</a:t>
            </a:r>
            <a:endParaRPr lang="en-US" sz="660" dirty="0"/>
          </a:p>
        </p:txBody>
      </p:sp>
      <p:sp>
        <p:nvSpPr>
          <p:cNvPr id="13" name="Text 11"/>
          <p:cNvSpPr/>
          <p:nvPr/>
        </p:nvSpPr>
        <p:spPr>
          <a:xfrm>
            <a:off x="5486400" y="1946529"/>
            <a:ext cx="1508760" cy="146304"/>
          </a:xfrm>
          <a:prstGeom prst="rect">
            <a:avLst/>
          </a:prstGeom>
          <a:noFill/>
          <a:ln/>
        </p:spPr>
        <p:txBody>
          <a:bodyPr wrap="square" lIns="0" tIns="0" rIns="0" bIns="0" rtlCol="0" anchor="ctr">
            <a:normAutofit/>
          </a:bodyPr>
          <a:lstStyle/>
          <a:p>
            <a:pPr indent="0" marL="0">
              <a:buNone/>
            </a:pPr>
            <a:r>
              <a:rPr lang="en-US" sz="660" dirty="0">
                <a:solidFill>
                  <a:srgbClr val="24303F"/>
                </a:solidFill>
              </a:rPr>
              <a:t>Send course info</a:t>
            </a:r>
            <a:endParaRPr lang="en-US" sz="660" dirty="0"/>
          </a:p>
        </p:txBody>
      </p:sp>
      <p:sp>
        <p:nvSpPr>
          <p:cNvPr id="14" name="Shape 12"/>
          <p:cNvSpPr/>
          <p:nvPr/>
        </p:nvSpPr>
        <p:spPr>
          <a:xfrm>
            <a:off x="7086600" y="1955673"/>
            <a:ext cx="2621280" cy="164592"/>
          </a:xfrm>
          <a:prstGeom prst="rect">
            <a:avLst/>
          </a:prstGeom>
          <a:solidFill>
            <a:srgbClr val="2A9D8F"/>
          </a:solidFill>
          <a:ln w="12700">
            <a:solidFill>
              <a:srgbClr val="FFFFFF">
                <a:alpha val="0"/>
              </a:srgbClr>
            </a:solidFill>
            <a:prstDash val="solid"/>
          </a:ln>
        </p:spPr>
      </p:sp>
      <p:sp>
        <p:nvSpPr>
          <p:cNvPr id="15" name="Text 13"/>
          <p:cNvSpPr/>
          <p:nvPr/>
        </p:nvSpPr>
        <p:spPr>
          <a:xfrm>
            <a:off x="11091672" y="1946529"/>
            <a:ext cx="365760" cy="137160"/>
          </a:xfrm>
          <a:prstGeom prst="rect">
            <a:avLst/>
          </a:prstGeom>
          <a:noFill/>
          <a:ln/>
        </p:spPr>
        <p:txBody>
          <a:bodyPr wrap="square" lIns="0" tIns="0" rIns="0" bIns="0" rtlCol="0" anchor="ctr"/>
          <a:lstStyle/>
          <a:p>
            <a:pPr algn="r" indent="0" marL="0">
              <a:buNone/>
            </a:pPr>
            <a:r>
              <a:rPr lang="en-US" sz="660" dirty="0">
                <a:solidFill>
                  <a:srgbClr val="24303F"/>
                </a:solidFill>
              </a:rPr>
              <a:t>12.0</a:t>
            </a:r>
            <a:endParaRPr lang="en-US" sz="660" dirty="0"/>
          </a:p>
        </p:txBody>
      </p:sp>
      <p:sp>
        <p:nvSpPr>
          <p:cNvPr id="16" name="Text 14"/>
          <p:cNvSpPr/>
          <p:nvPr/>
        </p:nvSpPr>
        <p:spPr>
          <a:xfrm>
            <a:off x="5486400" y="2393442"/>
            <a:ext cx="1508760" cy="146304"/>
          </a:xfrm>
          <a:prstGeom prst="rect">
            <a:avLst/>
          </a:prstGeom>
          <a:noFill/>
          <a:ln/>
        </p:spPr>
        <p:txBody>
          <a:bodyPr wrap="square" lIns="0" tIns="0" rIns="0" bIns="0" rtlCol="0" anchor="ctr">
            <a:normAutofit/>
          </a:bodyPr>
          <a:lstStyle/>
          <a:p>
            <a:pPr indent="0" marL="0">
              <a:buNone/>
            </a:pPr>
            <a:r>
              <a:rPr lang="en-US" sz="660" dirty="0">
                <a:solidFill>
                  <a:srgbClr val="24303F"/>
                </a:solidFill>
              </a:rPr>
              <a:t>Enter registration</a:t>
            </a:r>
            <a:endParaRPr lang="en-US" sz="660" dirty="0"/>
          </a:p>
        </p:txBody>
      </p:sp>
      <p:sp>
        <p:nvSpPr>
          <p:cNvPr id="17" name="Shape 15"/>
          <p:cNvSpPr/>
          <p:nvPr/>
        </p:nvSpPr>
        <p:spPr>
          <a:xfrm>
            <a:off x="7086600" y="2402586"/>
            <a:ext cx="1834896" cy="164592"/>
          </a:xfrm>
          <a:prstGeom prst="rect">
            <a:avLst/>
          </a:prstGeom>
          <a:solidFill>
            <a:srgbClr val="C9A44C"/>
          </a:solidFill>
          <a:ln w="12700">
            <a:solidFill>
              <a:srgbClr val="FFFFFF">
                <a:alpha val="0"/>
              </a:srgbClr>
            </a:solidFill>
            <a:prstDash val="solid"/>
          </a:ln>
        </p:spPr>
      </p:sp>
      <p:sp>
        <p:nvSpPr>
          <p:cNvPr id="18" name="Text 16"/>
          <p:cNvSpPr/>
          <p:nvPr/>
        </p:nvSpPr>
        <p:spPr>
          <a:xfrm>
            <a:off x="11091672" y="2393442"/>
            <a:ext cx="365760" cy="137160"/>
          </a:xfrm>
          <a:prstGeom prst="rect">
            <a:avLst/>
          </a:prstGeom>
          <a:noFill/>
          <a:ln/>
        </p:spPr>
        <p:txBody>
          <a:bodyPr wrap="square" lIns="0" tIns="0" rIns="0" bIns="0" rtlCol="0" anchor="ctr"/>
          <a:lstStyle/>
          <a:p>
            <a:pPr algn="r" indent="0" marL="0">
              <a:buNone/>
            </a:pPr>
            <a:r>
              <a:rPr lang="en-US" sz="660" dirty="0">
                <a:solidFill>
                  <a:srgbClr val="24303F"/>
                </a:solidFill>
              </a:rPr>
              <a:t>8.4</a:t>
            </a:r>
            <a:endParaRPr lang="en-US" sz="660" dirty="0"/>
          </a:p>
        </p:txBody>
      </p:sp>
      <p:sp>
        <p:nvSpPr>
          <p:cNvPr id="19" name="Text 17"/>
          <p:cNvSpPr/>
          <p:nvPr/>
        </p:nvSpPr>
        <p:spPr>
          <a:xfrm>
            <a:off x="5486400" y="2840355"/>
            <a:ext cx="1508760" cy="146304"/>
          </a:xfrm>
          <a:prstGeom prst="rect">
            <a:avLst/>
          </a:prstGeom>
          <a:noFill/>
          <a:ln/>
        </p:spPr>
        <p:txBody>
          <a:bodyPr wrap="square" lIns="0" tIns="0" rIns="0" bIns="0" rtlCol="0" anchor="ctr">
            <a:normAutofit/>
          </a:bodyPr>
          <a:lstStyle/>
          <a:p>
            <a:pPr indent="0" marL="0">
              <a:buNone/>
            </a:pPr>
            <a:r>
              <a:rPr lang="en-US" sz="660" dirty="0">
                <a:solidFill>
                  <a:srgbClr val="24303F"/>
                </a:solidFill>
              </a:rPr>
              <a:t>Confirm payment</a:t>
            </a:r>
            <a:endParaRPr lang="en-US" sz="660" dirty="0"/>
          </a:p>
        </p:txBody>
      </p:sp>
      <p:sp>
        <p:nvSpPr>
          <p:cNvPr id="20" name="Shape 18"/>
          <p:cNvSpPr/>
          <p:nvPr/>
        </p:nvSpPr>
        <p:spPr>
          <a:xfrm>
            <a:off x="7086600" y="2849499"/>
            <a:ext cx="2468372" cy="164592"/>
          </a:xfrm>
          <a:prstGeom prst="rect">
            <a:avLst/>
          </a:prstGeom>
          <a:solidFill>
            <a:srgbClr val="2A9D8F"/>
          </a:solidFill>
          <a:ln w="12700">
            <a:solidFill>
              <a:srgbClr val="FFFFFF">
                <a:alpha val="0"/>
              </a:srgbClr>
            </a:solidFill>
            <a:prstDash val="solid"/>
          </a:ln>
        </p:spPr>
      </p:sp>
      <p:sp>
        <p:nvSpPr>
          <p:cNvPr id="21" name="Text 19"/>
          <p:cNvSpPr/>
          <p:nvPr/>
        </p:nvSpPr>
        <p:spPr>
          <a:xfrm>
            <a:off x="11091672" y="2840355"/>
            <a:ext cx="365760" cy="137160"/>
          </a:xfrm>
          <a:prstGeom prst="rect">
            <a:avLst/>
          </a:prstGeom>
          <a:noFill/>
          <a:ln/>
        </p:spPr>
        <p:txBody>
          <a:bodyPr wrap="square" lIns="0" tIns="0" rIns="0" bIns="0" rtlCol="0" anchor="ctr"/>
          <a:lstStyle/>
          <a:p>
            <a:pPr algn="r" indent="0" marL="0">
              <a:buNone/>
            </a:pPr>
            <a:r>
              <a:rPr lang="en-US" sz="660" dirty="0">
                <a:solidFill>
                  <a:srgbClr val="24303F"/>
                </a:solidFill>
              </a:rPr>
              <a:t>11.3</a:t>
            </a:r>
            <a:endParaRPr lang="en-US" sz="660" dirty="0"/>
          </a:p>
        </p:txBody>
      </p:sp>
      <p:sp>
        <p:nvSpPr>
          <p:cNvPr id="22" name="Text 20"/>
          <p:cNvSpPr/>
          <p:nvPr/>
        </p:nvSpPr>
        <p:spPr>
          <a:xfrm>
            <a:off x="5486400" y="3287268"/>
            <a:ext cx="1508760" cy="146304"/>
          </a:xfrm>
          <a:prstGeom prst="rect">
            <a:avLst/>
          </a:prstGeom>
          <a:noFill/>
          <a:ln/>
        </p:spPr>
        <p:txBody>
          <a:bodyPr wrap="square" lIns="0" tIns="0" rIns="0" bIns="0" rtlCol="0" anchor="ctr">
            <a:normAutofit/>
          </a:bodyPr>
          <a:lstStyle/>
          <a:p>
            <a:pPr indent="0" marL="0">
              <a:buNone/>
            </a:pPr>
            <a:r>
              <a:rPr lang="en-US" sz="660" dirty="0">
                <a:solidFill>
                  <a:srgbClr val="24303F"/>
                </a:solidFill>
              </a:rPr>
              <a:t>Send class reminder</a:t>
            </a:r>
            <a:endParaRPr lang="en-US" sz="660" dirty="0"/>
          </a:p>
        </p:txBody>
      </p:sp>
      <p:sp>
        <p:nvSpPr>
          <p:cNvPr id="23" name="Shape 21"/>
          <p:cNvSpPr/>
          <p:nvPr/>
        </p:nvSpPr>
        <p:spPr>
          <a:xfrm>
            <a:off x="7086600" y="3296412"/>
            <a:ext cx="1157732" cy="164592"/>
          </a:xfrm>
          <a:prstGeom prst="rect">
            <a:avLst/>
          </a:prstGeom>
          <a:solidFill>
            <a:srgbClr val="C9A44C"/>
          </a:solidFill>
          <a:ln w="12700">
            <a:solidFill>
              <a:srgbClr val="FFFFFF">
                <a:alpha val="0"/>
              </a:srgbClr>
            </a:solidFill>
            <a:prstDash val="solid"/>
          </a:ln>
        </p:spPr>
      </p:sp>
      <p:sp>
        <p:nvSpPr>
          <p:cNvPr id="24" name="Text 22"/>
          <p:cNvSpPr/>
          <p:nvPr/>
        </p:nvSpPr>
        <p:spPr>
          <a:xfrm>
            <a:off x="11091672" y="3287268"/>
            <a:ext cx="365760" cy="137160"/>
          </a:xfrm>
          <a:prstGeom prst="rect">
            <a:avLst/>
          </a:prstGeom>
          <a:noFill/>
          <a:ln/>
        </p:spPr>
        <p:txBody>
          <a:bodyPr wrap="square" lIns="0" tIns="0" rIns="0" bIns="0" rtlCol="0" anchor="ctr"/>
          <a:lstStyle/>
          <a:p>
            <a:pPr algn="r" indent="0" marL="0">
              <a:buNone/>
            </a:pPr>
            <a:r>
              <a:rPr lang="en-US" sz="660" dirty="0">
                <a:solidFill>
                  <a:srgbClr val="24303F"/>
                </a:solidFill>
              </a:rPr>
              <a:t>5.3</a:t>
            </a:r>
            <a:endParaRPr lang="en-US" sz="660" dirty="0"/>
          </a:p>
        </p:txBody>
      </p:sp>
      <p:sp>
        <p:nvSpPr>
          <p:cNvPr id="25" name="Text 23"/>
          <p:cNvSpPr/>
          <p:nvPr/>
        </p:nvSpPr>
        <p:spPr>
          <a:xfrm>
            <a:off x="5486400" y="3734181"/>
            <a:ext cx="1508760" cy="146304"/>
          </a:xfrm>
          <a:prstGeom prst="rect">
            <a:avLst/>
          </a:prstGeom>
          <a:noFill/>
          <a:ln/>
        </p:spPr>
        <p:txBody>
          <a:bodyPr wrap="square" lIns="0" tIns="0" rIns="0" bIns="0" rtlCol="0" anchor="ctr">
            <a:normAutofit/>
          </a:bodyPr>
          <a:lstStyle/>
          <a:p>
            <a:pPr indent="0" marL="0">
              <a:buNone/>
            </a:pPr>
            <a:r>
              <a:rPr lang="en-US" sz="660" dirty="0">
                <a:solidFill>
                  <a:srgbClr val="24303F"/>
                </a:solidFill>
              </a:rPr>
              <a:t>Track attendance</a:t>
            </a:r>
            <a:endParaRPr lang="en-US" sz="660" dirty="0"/>
          </a:p>
        </p:txBody>
      </p:sp>
      <p:sp>
        <p:nvSpPr>
          <p:cNvPr id="26" name="Shape 24"/>
          <p:cNvSpPr/>
          <p:nvPr/>
        </p:nvSpPr>
        <p:spPr>
          <a:xfrm>
            <a:off x="7086600" y="3743325"/>
            <a:ext cx="1398016" cy="164592"/>
          </a:xfrm>
          <a:prstGeom prst="rect">
            <a:avLst/>
          </a:prstGeom>
          <a:solidFill>
            <a:srgbClr val="2A9D8F"/>
          </a:solidFill>
          <a:ln w="12700">
            <a:solidFill>
              <a:srgbClr val="FFFFFF">
                <a:alpha val="0"/>
              </a:srgbClr>
            </a:solidFill>
            <a:prstDash val="solid"/>
          </a:ln>
        </p:spPr>
      </p:sp>
      <p:sp>
        <p:nvSpPr>
          <p:cNvPr id="27" name="Text 25"/>
          <p:cNvSpPr/>
          <p:nvPr/>
        </p:nvSpPr>
        <p:spPr>
          <a:xfrm>
            <a:off x="11091672" y="3734181"/>
            <a:ext cx="365760" cy="137160"/>
          </a:xfrm>
          <a:prstGeom prst="rect">
            <a:avLst/>
          </a:prstGeom>
          <a:noFill/>
          <a:ln/>
        </p:spPr>
        <p:txBody>
          <a:bodyPr wrap="square" lIns="0" tIns="0" rIns="0" bIns="0" rtlCol="0" anchor="ctr"/>
          <a:lstStyle/>
          <a:p>
            <a:pPr algn="r" indent="0" marL="0">
              <a:buNone/>
            </a:pPr>
            <a:r>
              <a:rPr lang="en-US" sz="660" dirty="0">
                <a:solidFill>
                  <a:srgbClr val="24303F"/>
                </a:solidFill>
              </a:rPr>
              <a:t>6.4</a:t>
            </a:r>
            <a:endParaRPr lang="en-US" sz="660" dirty="0"/>
          </a:p>
        </p:txBody>
      </p:sp>
      <p:sp>
        <p:nvSpPr>
          <p:cNvPr id="28" name="Text 26"/>
          <p:cNvSpPr/>
          <p:nvPr/>
        </p:nvSpPr>
        <p:spPr>
          <a:xfrm>
            <a:off x="5486400" y="4181094"/>
            <a:ext cx="1508760" cy="146304"/>
          </a:xfrm>
          <a:prstGeom prst="rect">
            <a:avLst/>
          </a:prstGeom>
          <a:noFill/>
          <a:ln/>
        </p:spPr>
        <p:txBody>
          <a:bodyPr wrap="square" lIns="0" tIns="0" rIns="0" bIns="0" rtlCol="0" anchor="ctr">
            <a:normAutofit/>
          </a:bodyPr>
          <a:lstStyle/>
          <a:p>
            <a:pPr indent="0" marL="0">
              <a:buNone/>
            </a:pPr>
            <a:r>
              <a:rPr lang="en-US" sz="660" dirty="0">
                <a:solidFill>
                  <a:srgbClr val="24303F"/>
                </a:solidFill>
              </a:rPr>
              <a:t>Prepare certificate</a:t>
            </a:r>
            <a:endParaRPr lang="en-US" sz="660" dirty="0"/>
          </a:p>
        </p:txBody>
      </p:sp>
      <p:sp>
        <p:nvSpPr>
          <p:cNvPr id="29" name="Shape 27"/>
          <p:cNvSpPr/>
          <p:nvPr/>
        </p:nvSpPr>
        <p:spPr>
          <a:xfrm>
            <a:off x="7086600" y="4190238"/>
            <a:ext cx="2533904" cy="164592"/>
          </a:xfrm>
          <a:prstGeom prst="rect">
            <a:avLst/>
          </a:prstGeom>
          <a:solidFill>
            <a:srgbClr val="C9A44C"/>
          </a:solidFill>
          <a:ln w="12700">
            <a:solidFill>
              <a:srgbClr val="FFFFFF">
                <a:alpha val="0"/>
              </a:srgbClr>
            </a:solidFill>
            <a:prstDash val="solid"/>
          </a:ln>
        </p:spPr>
      </p:sp>
      <p:sp>
        <p:nvSpPr>
          <p:cNvPr id="30" name="Text 28"/>
          <p:cNvSpPr/>
          <p:nvPr/>
        </p:nvSpPr>
        <p:spPr>
          <a:xfrm>
            <a:off x="11091672" y="4181094"/>
            <a:ext cx="365760" cy="137160"/>
          </a:xfrm>
          <a:prstGeom prst="rect">
            <a:avLst/>
          </a:prstGeom>
          <a:noFill/>
          <a:ln/>
        </p:spPr>
        <p:txBody>
          <a:bodyPr wrap="square" lIns="0" tIns="0" rIns="0" bIns="0" rtlCol="0" anchor="ctr"/>
          <a:lstStyle/>
          <a:p>
            <a:pPr algn="r" indent="0" marL="0">
              <a:buNone/>
            </a:pPr>
            <a:r>
              <a:rPr lang="en-US" sz="660" dirty="0">
                <a:solidFill>
                  <a:srgbClr val="24303F"/>
                </a:solidFill>
              </a:rPr>
              <a:t>11.6</a:t>
            </a:r>
            <a:endParaRPr lang="en-US" sz="660" dirty="0"/>
          </a:p>
        </p:txBody>
      </p:sp>
      <p:sp>
        <p:nvSpPr>
          <p:cNvPr id="31" name="Text 29"/>
          <p:cNvSpPr/>
          <p:nvPr/>
        </p:nvSpPr>
        <p:spPr>
          <a:xfrm>
            <a:off x="5486400" y="4628007"/>
            <a:ext cx="1508760" cy="146304"/>
          </a:xfrm>
          <a:prstGeom prst="rect">
            <a:avLst/>
          </a:prstGeom>
          <a:noFill/>
          <a:ln/>
        </p:spPr>
        <p:txBody>
          <a:bodyPr wrap="square" lIns="0" tIns="0" rIns="0" bIns="0" rtlCol="0" anchor="ctr">
            <a:normAutofit/>
          </a:bodyPr>
          <a:lstStyle/>
          <a:p>
            <a:pPr indent="0" marL="0">
              <a:buNone/>
            </a:pPr>
            <a:r>
              <a:rPr lang="en-US" sz="660" dirty="0">
                <a:solidFill>
                  <a:srgbClr val="24303F"/>
                </a:solidFill>
              </a:rPr>
              <a:t>Send feedback form</a:t>
            </a:r>
            <a:endParaRPr lang="en-US" sz="660" dirty="0"/>
          </a:p>
        </p:txBody>
      </p:sp>
      <p:sp>
        <p:nvSpPr>
          <p:cNvPr id="32" name="Shape 30"/>
          <p:cNvSpPr/>
          <p:nvPr/>
        </p:nvSpPr>
        <p:spPr>
          <a:xfrm>
            <a:off x="7086600" y="4637151"/>
            <a:ext cx="939292" cy="164592"/>
          </a:xfrm>
          <a:prstGeom prst="rect">
            <a:avLst/>
          </a:prstGeom>
          <a:solidFill>
            <a:srgbClr val="2A9D8F"/>
          </a:solidFill>
          <a:ln w="12700">
            <a:solidFill>
              <a:srgbClr val="FFFFFF">
                <a:alpha val="0"/>
              </a:srgbClr>
            </a:solidFill>
            <a:prstDash val="solid"/>
          </a:ln>
        </p:spPr>
      </p:sp>
      <p:sp>
        <p:nvSpPr>
          <p:cNvPr id="33" name="Text 31"/>
          <p:cNvSpPr/>
          <p:nvPr/>
        </p:nvSpPr>
        <p:spPr>
          <a:xfrm>
            <a:off x="11091672" y="4628007"/>
            <a:ext cx="365760" cy="137160"/>
          </a:xfrm>
          <a:prstGeom prst="rect">
            <a:avLst/>
          </a:prstGeom>
          <a:noFill/>
          <a:ln/>
        </p:spPr>
        <p:txBody>
          <a:bodyPr wrap="square" lIns="0" tIns="0" rIns="0" bIns="0" rtlCol="0" anchor="ctr"/>
          <a:lstStyle/>
          <a:p>
            <a:pPr algn="r" indent="0" marL="0">
              <a:buNone/>
            </a:pPr>
            <a:r>
              <a:rPr lang="en-US" sz="660" dirty="0">
                <a:solidFill>
                  <a:srgbClr val="24303F"/>
                </a:solidFill>
              </a:rPr>
              <a:t>4.3</a:t>
            </a:r>
            <a:endParaRPr lang="en-US" sz="660" dirty="0"/>
          </a:p>
        </p:txBody>
      </p:sp>
      <p:sp>
        <p:nvSpPr>
          <p:cNvPr id="34" name="Shape 32"/>
          <p:cNvSpPr/>
          <p:nvPr/>
        </p:nvSpPr>
        <p:spPr>
          <a:xfrm>
            <a:off x="6583680" y="5486400"/>
            <a:ext cx="3429000" cy="411480"/>
          </a:xfrm>
          <a:prstGeom prst="roundRect">
            <a:avLst>
              <a:gd name="adj" fmla="val 17778"/>
            </a:avLst>
          </a:prstGeom>
          <a:solidFill>
            <a:srgbClr val="14213D"/>
          </a:solidFill>
          <a:ln w="12700">
            <a:solidFill>
              <a:srgbClr val="14213D"/>
            </a:solidFill>
            <a:prstDash val="solid"/>
          </a:ln>
        </p:spPr>
      </p:sp>
      <p:sp>
        <p:nvSpPr>
          <p:cNvPr id="35" name="Text 33"/>
          <p:cNvSpPr/>
          <p:nvPr/>
        </p:nvSpPr>
        <p:spPr>
          <a:xfrm>
            <a:off x="6693408" y="5577840"/>
            <a:ext cx="3209544" cy="246888"/>
          </a:xfrm>
          <a:prstGeom prst="rect">
            <a:avLst/>
          </a:prstGeom>
          <a:noFill/>
          <a:ln/>
        </p:spPr>
        <p:txBody>
          <a:bodyPr wrap="square" lIns="127" tIns="127" rIns="127" bIns="127" rtlCol="0" anchor="ctr">
            <a:normAutofit/>
          </a:bodyPr>
          <a:lstStyle/>
          <a:p>
            <a:pPr indent="0" marL="0">
              <a:buNone/>
            </a:pPr>
            <a:r>
              <a:rPr lang="en-US" sz="1400" b="1" dirty="0">
                <a:solidFill>
                  <a:srgbClr val="24303F"/>
                </a:solidFill>
              </a:rPr>
              <a:t>Baseline total: 75.3 hours/month</a:t>
            </a:r>
            <a:endParaRPr lang="en-US" sz="1400" dirty="0"/>
          </a:p>
        </p:txBody>
      </p:sp>
      <p:sp>
        <p:nvSpPr>
          <p:cNvPr id="36" name="Text 34"/>
          <p:cNvSpPr/>
          <p:nvPr/>
        </p:nvSpPr>
        <p:spPr>
          <a:xfrm>
            <a:off x="11384280" y="6428232"/>
            <a:ext cx="320040" cy="109728"/>
          </a:xfrm>
          <a:prstGeom prst="rect">
            <a:avLst/>
          </a:prstGeom>
          <a:noFill/>
          <a:ln/>
        </p:spPr>
        <p:txBody>
          <a:bodyPr wrap="square" lIns="0" tIns="0" rIns="0" bIns="0" rtlCol="0" anchor="ctr"/>
          <a:lstStyle/>
          <a:p>
            <a:pPr algn="r" indent="0" marL="0">
              <a:buNone/>
            </a:pPr>
            <a:r>
              <a:rPr lang="en-US" sz="700" dirty="0">
                <a:solidFill>
                  <a:srgbClr val="FFFFFF"/>
                </a:solidFill>
              </a:rPr>
              <a:t>14</a:t>
            </a:r>
            <a:endParaRPr lang="en-US" sz="7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3EA"/>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4213D"/>
          </a:solidFill>
          <a:ln w="12700">
            <a:solidFill>
              <a:srgbClr val="14213D">
                <a:alpha val="0"/>
              </a:srgbClr>
            </a:solidFill>
            <a:prstDash val="solid"/>
          </a:ln>
        </p:spPr>
      </p:sp>
      <p:sp>
        <p:nvSpPr>
          <p:cNvPr id="3" name="Shape 1"/>
          <p:cNvSpPr/>
          <p:nvPr/>
        </p:nvSpPr>
        <p:spPr>
          <a:xfrm>
            <a:off x="0" y="6693408"/>
            <a:ext cx="12191695" cy="164592"/>
          </a:xfrm>
          <a:prstGeom prst="rect">
            <a:avLst/>
          </a:prstGeom>
          <a:solidFill>
            <a:srgbClr val="14213D"/>
          </a:solidFill>
          <a:ln w="12700">
            <a:solidFill>
              <a:srgbClr val="14213D">
                <a:alpha val="0"/>
              </a:srgbClr>
            </a:solidFill>
            <a:prstDash val="solid"/>
          </a:ln>
        </p:spPr>
      </p:sp>
      <p:sp>
        <p:nvSpPr>
          <p:cNvPr id="4" name="Text 2"/>
          <p:cNvSpPr/>
          <p:nvPr/>
        </p:nvSpPr>
        <p:spPr>
          <a:xfrm>
            <a:off x="502920" y="256032"/>
            <a:ext cx="4480560" cy="164592"/>
          </a:xfrm>
          <a:prstGeom prst="rect">
            <a:avLst/>
          </a:prstGeom>
          <a:noFill/>
          <a:ln/>
        </p:spPr>
        <p:txBody>
          <a:bodyPr wrap="square" lIns="0" tIns="0" rIns="0" bIns="0" rtlCol="0" anchor="ctr"/>
          <a:lstStyle/>
          <a:p>
            <a:pPr indent="0" marL="0">
              <a:buNone/>
            </a:pPr>
            <a:r>
              <a:rPr lang="en-US" sz="700" b="1" dirty="0">
                <a:solidFill>
                  <a:srgbClr val="2A9D8F"/>
                </a:solidFill>
                <a:latin typeface="Aptos" pitchFamily="34" charset="0"/>
                <a:ea typeface="Aptos" pitchFamily="34" charset="-122"/>
                <a:cs typeface="Aptos" pitchFamily="34" charset="-120"/>
              </a:rPr>
              <a:t>SECTION 2</a:t>
            </a:r>
            <a:endParaRPr lang="en-US" sz="700" dirty="0"/>
          </a:p>
        </p:txBody>
      </p:sp>
      <p:sp>
        <p:nvSpPr>
          <p:cNvPr id="5" name="Text 3"/>
          <p:cNvSpPr/>
          <p:nvPr/>
        </p:nvSpPr>
        <p:spPr>
          <a:xfrm>
            <a:off x="9281160" y="219456"/>
            <a:ext cx="2423160" cy="182880"/>
          </a:xfrm>
          <a:prstGeom prst="rect">
            <a:avLst/>
          </a:prstGeom>
          <a:noFill/>
          <a:ln/>
        </p:spPr>
        <p:txBody>
          <a:bodyPr wrap="square" lIns="0" tIns="0" rIns="0" bIns="0" rtlCol="0" anchor="ctr"/>
          <a:lstStyle/>
          <a:p>
            <a:pPr algn="r" indent="0" marL="0">
              <a:buNone/>
            </a:pPr>
            <a:r>
              <a:rPr lang="en-US" sz="700" dirty="0">
                <a:solidFill>
                  <a:srgbClr val="6D7886"/>
                </a:solidFill>
              </a:rPr>
              <a:t>Jifunze.ai skill booster</a:t>
            </a:r>
            <a:endParaRPr lang="en-US" sz="700" dirty="0"/>
          </a:p>
        </p:txBody>
      </p:sp>
      <p:sp>
        <p:nvSpPr>
          <p:cNvPr id="6" name="Text 4"/>
          <p:cNvSpPr/>
          <p:nvPr/>
        </p:nvSpPr>
        <p:spPr>
          <a:xfrm>
            <a:off x="502920" y="502920"/>
            <a:ext cx="4617720" cy="475488"/>
          </a:xfrm>
          <a:prstGeom prst="rect">
            <a:avLst/>
          </a:prstGeom>
          <a:noFill/>
          <a:ln/>
        </p:spPr>
        <p:txBody>
          <a:bodyPr wrap="square" lIns="127" tIns="127" rIns="127" bIns="127" rtlCol="0" anchor="ctr">
            <a:normAutofit/>
          </a:bodyPr>
          <a:lstStyle/>
          <a:p>
            <a:pPr indent="0" marL="0">
              <a:buNone/>
            </a:pPr>
            <a:r>
              <a:rPr lang="en-US" sz="2500" b="1" dirty="0">
                <a:solidFill>
                  <a:srgbClr val="14213D"/>
                </a:solidFill>
                <a:latin typeface="Aptos Display" pitchFamily="34" charset="0"/>
                <a:ea typeface="Aptos Display" pitchFamily="34" charset="-122"/>
                <a:cs typeface="Aptos Display" pitchFamily="34" charset="-120"/>
              </a:rPr>
              <a:t>Error and delay analysis</a:t>
            </a:r>
            <a:endParaRPr lang="en-US" sz="2500" dirty="0"/>
          </a:p>
        </p:txBody>
      </p:sp>
      <p:sp>
        <p:nvSpPr>
          <p:cNvPr id="7" name="Text 5"/>
          <p:cNvSpPr/>
          <p:nvPr/>
        </p:nvSpPr>
        <p:spPr>
          <a:xfrm>
            <a:off x="521208" y="1005840"/>
            <a:ext cx="4617720" cy="228600"/>
          </a:xfrm>
          <a:prstGeom prst="rect">
            <a:avLst/>
          </a:prstGeom>
          <a:noFill/>
          <a:ln/>
        </p:spPr>
        <p:txBody>
          <a:bodyPr wrap="square" lIns="0" tIns="0" rIns="0" bIns="0" rtlCol="0" anchor="ctr">
            <a:normAutofit/>
          </a:bodyPr>
          <a:lstStyle/>
          <a:p>
            <a:pPr indent="0" marL="0">
              <a:buNone/>
            </a:pPr>
            <a:r>
              <a:rPr lang="en-US" sz="1080" dirty="0">
                <a:solidFill>
                  <a:srgbClr val="24303F"/>
                </a:solidFill>
              </a:rPr>
              <a:t>Quality problems show where automation can protect the learner experience</a:t>
            </a:r>
            <a:endParaRPr lang="en-US" sz="1080" dirty="0"/>
          </a:p>
        </p:txBody>
      </p:sp>
      <p:sp>
        <p:nvSpPr>
          <p:cNvPr id="8" name="Text 6"/>
          <p:cNvSpPr/>
          <p:nvPr/>
        </p:nvSpPr>
        <p:spPr>
          <a:xfrm>
            <a:off x="594360" y="1417320"/>
            <a:ext cx="4617720" cy="4343400"/>
          </a:xfrm>
          <a:prstGeom prst="rect">
            <a:avLst/>
          </a:prstGeom>
          <a:noFill/>
          <a:ln/>
        </p:spPr>
        <p:txBody>
          <a:bodyPr wrap="square" lIns="635" tIns="635" rIns="635" bIns="635" rtlCol="0" anchor="ctr">
            <a:normAutofit/>
          </a:bodyPr>
          <a:lstStyle/>
          <a:p>
            <a:r>
              <a:rPr lang="en-US" sz="1450" dirty="0">
                <a:solidFill>
                  <a:srgbClr val="24303F"/>
                </a:solidFill>
              </a:rPr>
              <a:t>• Feedback not collected: 33 monthly misses</a:t>
            </a:r>
            <a:endParaRPr lang="en-US" sz="1450" dirty="0"/>
          </a:p>
          <a:p>
            <a:r>
              <a:rPr lang="en-US" sz="1450" dirty="0">
                <a:solidFill>
                  <a:srgbClr val="24303F"/>
                </a:solidFill>
              </a:rPr>
              <a:t>• Certificates issued late: 22 monthly issues</a:t>
            </a:r>
            <a:endParaRPr lang="en-US" sz="1450" dirty="0"/>
          </a:p>
          <a:p>
            <a:r>
              <a:rPr lang="en-US" sz="1450" dirty="0">
                <a:solidFill>
                  <a:srgbClr val="24303F"/>
                </a:solidFill>
              </a:rPr>
              <a:t>• Missed enquiry follow-up: 14 monthly issues</a:t>
            </a:r>
            <a:endParaRPr lang="en-US" sz="1450" dirty="0"/>
          </a:p>
          <a:p>
            <a:r>
              <a:rPr lang="en-US" sz="1450" dirty="0">
                <a:solidFill>
                  <a:srgbClr val="24303F"/>
                </a:solidFill>
              </a:rPr>
              <a:t>• Payment confirmation delay: 11 monthly issues</a:t>
            </a:r>
            <a:endParaRPr lang="en-US" sz="1450" dirty="0"/>
          </a:p>
        </p:txBody>
      </p:sp>
      <p:sp>
        <p:nvSpPr>
          <p:cNvPr id="9" name="Text 7"/>
          <p:cNvSpPr/>
          <p:nvPr/>
        </p:nvSpPr>
        <p:spPr>
          <a:xfrm>
            <a:off x="5577840" y="1143000"/>
            <a:ext cx="5669280" cy="201168"/>
          </a:xfrm>
          <a:prstGeom prst="rect">
            <a:avLst/>
          </a:prstGeom>
          <a:noFill/>
          <a:ln/>
        </p:spPr>
        <p:txBody>
          <a:bodyPr wrap="square" lIns="0" tIns="0" rIns="0" bIns="0" rtlCol="0" anchor="ctr"/>
          <a:lstStyle/>
          <a:p>
            <a:pPr indent="0" marL="0">
              <a:buNone/>
            </a:pPr>
            <a:r>
              <a:rPr lang="en-US" sz="1000" b="1" dirty="0">
                <a:solidFill>
                  <a:srgbClr val="14213D"/>
                </a:solidFill>
              </a:rPr>
              <a:t>Monthly error/delay counts</a:t>
            </a:r>
            <a:endParaRPr lang="en-US" sz="1000" dirty="0"/>
          </a:p>
        </p:txBody>
      </p:sp>
      <p:sp>
        <p:nvSpPr>
          <p:cNvPr id="10" name="Text 8"/>
          <p:cNvSpPr/>
          <p:nvPr/>
        </p:nvSpPr>
        <p:spPr>
          <a:xfrm>
            <a:off x="5577840" y="1499616"/>
            <a:ext cx="1508760" cy="146304"/>
          </a:xfrm>
          <a:prstGeom prst="rect">
            <a:avLst/>
          </a:prstGeom>
          <a:noFill/>
          <a:ln/>
        </p:spPr>
        <p:txBody>
          <a:bodyPr wrap="square" lIns="0" tIns="0" rIns="0" bIns="0" rtlCol="0" anchor="ctr">
            <a:normAutofit/>
          </a:bodyPr>
          <a:lstStyle/>
          <a:p>
            <a:pPr indent="0" marL="0">
              <a:buNone/>
            </a:pPr>
            <a:r>
              <a:rPr lang="en-US" sz="660" dirty="0">
                <a:solidFill>
                  <a:srgbClr val="24303F"/>
                </a:solidFill>
              </a:rPr>
              <a:t>Missed enquiry follow-up</a:t>
            </a:r>
            <a:endParaRPr lang="en-US" sz="660" dirty="0"/>
          </a:p>
        </p:txBody>
      </p:sp>
      <p:sp>
        <p:nvSpPr>
          <p:cNvPr id="11" name="Shape 9"/>
          <p:cNvSpPr/>
          <p:nvPr/>
        </p:nvSpPr>
        <p:spPr>
          <a:xfrm>
            <a:off x="7178040" y="1508760"/>
            <a:ext cx="1444752" cy="164592"/>
          </a:xfrm>
          <a:prstGeom prst="rect">
            <a:avLst/>
          </a:prstGeom>
          <a:solidFill>
            <a:srgbClr val="C9A44C"/>
          </a:solidFill>
          <a:ln w="12700">
            <a:solidFill>
              <a:srgbClr val="FFFFFF">
                <a:alpha val="0"/>
              </a:srgbClr>
            </a:solidFill>
            <a:prstDash val="solid"/>
          </a:ln>
        </p:spPr>
      </p:sp>
      <p:sp>
        <p:nvSpPr>
          <p:cNvPr id="12" name="Text 10"/>
          <p:cNvSpPr/>
          <p:nvPr/>
        </p:nvSpPr>
        <p:spPr>
          <a:xfrm>
            <a:off x="10863072" y="1499616"/>
            <a:ext cx="365760" cy="137160"/>
          </a:xfrm>
          <a:prstGeom prst="rect">
            <a:avLst/>
          </a:prstGeom>
          <a:noFill/>
          <a:ln/>
        </p:spPr>
        <p:txBody>
          <a:bodyPr wrap="square" lIns="0" tIns="0" rIns="0" bIns="0" rtlCol="0" anchor="ctr"/>
          <a:lstStyle/>
          <a:p>
            <a:pPr algn="r" indent="0" marL="0">
              <a:buNone/>
            </a:pPr>
            <a:r>
              <a:rPr lang="en-US" sz="660" dirty="0">
                <a:solidFill>
                  <a:srgbClr val="24303F"/>
                </a:solidFill>
              </a:rPr>
              <a:t>14.0</a:t>
            </a:r>
            <a:endParaRPr lang="en-US" sz="660" dirty="0"/>
          </a:p>
        </p:txBody>
      </p:sp>
      <p:sp>
        <p:nvSpPr>
          <p:cNvPr id="13" name="Text 11"/>
          <p:cNvSpPr/>
          <p:nvPr/>
        </p:nvSpPr>
        <p:spPr>
          <a:xfrm>
            <a:off x="5577840" y="1912402"/>
            <a:ext cx="1508760" cy="146304"/>
          </a:xfrm>
          <a:prstGeom prst="rect">
            <a:avLst/>
          </a:prstGeom>
          <a:noFill/>
          <a:ln/>
        </p:spPr>
        <p:txBody>
          <a:bodyPr wrap="square" lIns="0" tIns="0" rIns="0" bIns="0" rtlCol="0" anchor="ctr">
            <a:normAutofit/>
          </a:bodyPr>
          <a:lstStyle/>
          <a:p>
            <a:pPr indent="0" marL="0">
              <a:buNone/>
            </a:pPr>
            <a:r>
              <a:rPr lang="en-US" sz="660" dirty="0">
                <a:solidFill>
                  <a:srgbClr val="24303F"/>
                </a:solidFill>
              </a:rPr>
              <a:t>Duplicate registration entry</a:t>
            </a:r>
            <a:endParaRPr lang="en-US" sz="660" dirty="0"/>
          </a:p>
        </p:txBody>
      </p:sp>
      <p:sp>
        <p:nvSpPr>
          <p:cNvPr id="14" name="Shape 12"/>
          <p:cNvSpPr/>
          <p:nvPr/>
        </p:nvSpPr>
        <p:spPr>
          <a:xfrm>
            <a:off x="7178040" y="1921546"/>
            <a:ext cx="619179" cy="164592"/>
          </a:xfrm>
          <a:prstGeom prst="rect">
            <a:avLst/>
          </a:prstGeom>
          <a:solidFill>
            <a:srgbClr val="2A9D8F"/>
          </a:solidFill>
          <a:ln w="12700">
            <a:solidFill>
              <a:srgbClr val="FFFFFF">
                <a:alpha val="0"/>
              </a:srgbClr>
            </a:solidFill>
            <a:prstDash val="solid"/>
          </a:ln>
        </p:spPr>
      </p:sp>
      <p:sp>
        <p:nvSpPr>
          <p:cNvPr id="15" name="Text 13"/>
          <p:cNvSpPr/>
          <p:nvPr/>
        </p:nvSpPr>
        <p:spPr>
          <a:xfrm>
            <a:off x="10863072" y="1912402"/>
            <a:ext cx="365760" cy="137160"/>
          </a:xfrm>
          <a:prstGeom prst="rect">
            <a:avLst/>
          </a:prstGeom>
          <a:noFill/>
          <a:ln/>
        </p:spPr>
        <p:txBody>
          <a:bodyPr wrap="square" lIns="0" tIns="0" rIns="0" bIns="0" rtlCol="0" anchor="ctr"/>
          <a:lstStyle/>
          <a:p>
            <a:pPr algn="r" indent="0" marL="0">
              <a:buNone/>
            </a:pPr>
            <a:r>
              <a:rPr lang="en-US" sz="660" dirty="0">
                <a:solidFill>
                  <a:srgbClr val="24303F"/>
                </a:solidFill>
              </a:rPr>
              <a:t>6.0</a:t>
            </a:r>
            <a:endParaRPr lang="en-US" sz="660" dirty="0"/>
          </a:p>
        </p:txBody>
      </p:sp>
      <p:sp>
        <p:nvSpPr>
          <p:cNvPr id="16" name="Text 14"/>
          <p:cNvSpPr/>
          <p:nvPr/>
        </p:nvSpPr>
        <p:spPr>
          <a:xfrm>
            <a:off x="5577840" y="2325189"/>
            <a:ext cx="1508760" cy="146304"/>
          </a:xfrm>
          <a:prstGeom prst="rect">
            <a:avLst/>
          </a:prstGeom>
          <a:noFill/>
          <a:ln/>
        </p:spPr>
        <p:txBody>
          <a:bodyPr wrap="square" lIns="0" tIns="0" rIns="0" bIns="0" rtlCol="0" anchor="ctr">
            <a:normAutofit/>
          </a:bodyPr>
          <a:lstStyle/>
          <a:p>
            <a:pPr indent="0" marL="0">
              <a:buNone/>
            </a:pPr>
            <a:r>
              <a:rPr lang="en-US" sz="660" dirty="0">
                <a:solidFill>
                  <a:srgbClr val="24303F"/>
                </a:solidFill>
              </a:rPr>
              <a:t>Payment confirmation delay</a:t>
            </a:r>
            <a:endParaRPr lang="en-US" sz="660" dirty="0"/>
          </a:p>
        </p:txBody>
      </p:sp>
      <p:sp>
        <p:nvSpPr>
          <p:cNvPr id="17" name="Shape 15"/>
          <p:cNvSpPr/>
          <p:nvPr/>
        </p:nvSpPr>
        <p:spPr>
          <a:xfrm>
            <a:off x="7178040" y="2334333"/>
            <a:ext cx="1135162" cy="164592"/>
          </a:xfrm>
          <a:prstGeom prst="rect">
            <a:avLst/>
          </a:prstGeom>
          <a:solidFill>
            <a:srgbClr val="C9A44C"/>
          </a:solidFill>
          <a:ln w="12700">
            <a:solidFill>
              <a:srgbClr val="FFFFFF">
                <a:alpha val="0"/>
              </a:srgbClr>
            </a:solidFill>
            <a:prstDash val="solid"/>
          </a:ln>
        </p:spPr>
      </p:sp>
      <p:sp>
        <p:nvSpPr>
          <p:cNvPr id="18" name="Text 16"/>
          <p:cNvSpPr/>
          <p:nvPr/>
        </p:nvSpPr>
        <p:spPr>
          <a:xfrm>
            <a:off x="10863072" y="2325189"/>
            <a:ext cx="365760" cy="137160"/>
          </a:xfrm>
          <a:prstGeom prst="rect">
            <a:avLst/>
          </a:prstGeom>
          <a:noFill/>
          <a:ln/>
        </p:spPr>
        <p:txBody>
          <a:bodyPr wrap="square" lIns="0" tIns="0" rIns="0" bIns="0" rtlCol="0" anchor="ctr"/>
          <a:lstStyle/>
          <a:p>
            <a:pPr algn="r" indent="0" marL="0">
              <a:buNone/>
            </a:pPr>
            <a:r>
              <a:rPr lang="en-US" sz="660" dirty="0">
                <a:solidFill>
                  <a:srgbClr val="24303F"/>
                </a:solidFill>
              </a:rPr>
              <a:t>11.0</a:t>
            </a:r>
            <a:endParaRPr lang="en-US" sz="660" dirty="0"/>
          </a:p>
        </p:txBody>
      </p:sp>
      <p:sp>
        <p:nvSpPr>
          <p:cNvPr id="19" name="Text 17"/>
          <p:cNvSpPr/>
          <p:nvPr/>
        </p:nvSpPr>
        <p:spPr>
          <a:xfrm>
            <a:off x="5577840" y="2737975"/>
            <a:ext cx="1508760" cy="146304"/>
          </a:xfrm>
          <a:prstGeom prst="rect">
            <a:avLst/>
          </a:prstGeom>
          <a:noFill/>
          <a:ln/>
        </p:spPr>
        <p:txBody>
          <a:bodyPr wrap="square" lIns="0" tIns="0" rIns="0" bIns="0" rtlCol="0" anchor="ctr">
            <a:normAutofit/>
          </a:bodyPr>
          <a:lstStyle/>
          <a:p>
            <a:pPr indent="0" marL="0">
              <a:buNone/>
            </a:pPr>
            <a:r>
              <a:rPr lang="en-US" sz="660" dirty="0">
                <a:solidFill>
                  <a:srgbClr val="24303F"/>
                </a:solidFill>
              </a:rPr>
              <a:t>Class reminder missed</a:t>
            </a:r>
            <a:endParaRPr lang="en-US" sz="660" dirty="0"/>
          </a:p>
        </p:txBody>
      </p:sp>
      <p:sp>
        <p:nvSpPr>
          <p:cNvPr id="20" name="Shape 18"/>
          <p:cNvSpPr/>
          <p:nvPr/>
        </p:nvSpPr>
        <p:spPr>
          <a:xfrm>
            <a:off x="7178040" y="2747119"/>
            <a:ext cx="928769" cy="164592"/>
          </a:xfrm>
          <a:prstGeom prst="rect">
            <a:avLst/>
          </a:prstGeom>
          <a:solidFill>
            <a:srgbClr val="2A9D8F"/>
          </a:solidFill>
          <a:ln w="12700">
            <a:solidFill>
              <a:srgbClr val="FFFFFF">
                <a:alpha val="0"/>
              </a:srgbClr>
            </a:solidFill>
            <a:prstDash val="solid"/>
          </a:ln>
        </p:spPr>
      </p:sp>
      <p:sp>
        <p:nvSpPr>
          <p:cNvPr id="21" name="Text 19"/>
          <p:cNvSpPr/>
          <p:nvPr/>
        </p:nvSpPr>
        <p:spPr>
          <a:xfrm>
            <a:off x="10863072" y="2737975"/>
            <a:ext cx="365760" cy="137160"/>
          </a:xfrm>
          <a:prstGeom prst="rect">
            <a:avLst/>
          </a:prstGeom>
          <a:noFill/>
          <a:ln/>
        </p:spPr>
        <p:txBody>
          <a:bodyPr wrap="square" lIns="0" tIns="0" rIns="0" bIns="0" rtlCol="0" anchor="ctr"/>
          <a:lstStyle/>
          <a:p>
            <a:pPr algn="r" indent="0" marL="0">
              <a:buNone/>
            </a:pPr>
            <a:r>
              <a:rPr lang="en-US" sz="660" dirty="0">
                <a:solidFill>
                  <a:srgbClr val="24303F"/>
                </a:solidFill>
              </a:rPr>
              <a:t>9.0</a:t>
            </a:r>
            <a:endParaRPr lang="en-US" sz="660" dirty="0"/>
          </a:p>
        </p:txBody>
      </p:sp>
      <p:sp>
        <p:nvSpPr>
          <p:cNvPr id="22" name="Text 20"/>
          <p:cNvSpPr/>
          <p:nvPr/>
        </p:nvSpPr>
        <p:spPr>
          <a:xfrm>
            <a:off x="5577840" y="3150761"/>
            <a:ext cx="1508760" cy="146304"/>
          </a:xfrm>
          <a:prstGeom prst="rect">
            <a:avLst/>
          </a:prstGeom>
          <a:noFill/>
          <a:ln/>
        </p:spPr>
        <p:txBody>
          <a:bodyPr wrap="square" lIns="0" tIns="0" rIns="0" bIns="0" rtlCol="0" anchor="ctr">
            <a:normAutofit/>
          </a:bodyPr>
          <a:lstStyle/>
          <a:p>
            <a:pPr indent="0" marL="0">
              <a:buNone/>
            </a:pPr>
            <a:r>
              <a:rPr lang="en-US" sz="660" dirty="0">
                <a:solidFill>
                  <a:srgbClr val="24303F"/>
                </a:solidFill>
              </a:rPr>
              <a:t>Attendance mismatch</a:t>
            </a:r>
            <a:endParaRPr lang="en-US" sz="660" dirty="0"/>
          </a:p>
        </p:txBody>
      </p:sp>
      <p:sp>
        <p:nvSpPr>
          <p:cNvPr id="23" name="Shape 21"/>
          <p:cNvSpPr/>
          <p:nvPr/>
        </p:nvSpPr>
        <p:spPr>
          <a:xfrm>
            <a:off x="7178040" y="3159905"/>
            <a:ext cx="515983" cy="164592"/>
          </a:xfrm>
          <a:prstGeom prst="rect">
            <a:avLst/>
          </a:prstGeom>
          <a:solidFill>
            <a:srgbClr val="C9A44C"/>
          </a:solidFill>
          <a:ln w="12700">
            <a:solidFill>
              <a:srgbClr val="FFFFFF">
                <a:alpha val="0"/>
              </a:srgbClr>
            </a:solidFill>
            <a:prstDash val="solid"/>
          </a:ln>
        </p:spPr>
      </p:sp>
      <p:sp>
        <p:nvSpPr>
          <p:cNvPr id="24" name="Text 22"/>
          <p:cNvSpPr/>
          <p:nvPr/>
        </p:nvSpPr>
        <p:spPr>
          <a:xfrm>
            <a:off x="10863072" y="3150761"/>
            <a:ext cx="365760" cy="137160"/>
          </a:xfrm>
          <a:prstGeom prst="rect">
            <a:avLst/>
          </a:prstGeom>
          <a:noFill/>
          <a:ln/>
        </p:spPr>
        <p:txBody>
          <a:bodyPr wrap="square" lIns="0" tIns="0" rIns="0" bIns="0" rtlCol="0" anchor="ctr"/>
          <a:lstStyle/>
          <a:p>
            <a:pPr algn="r" indent="0" marL="0">
              <a:buNone/>
            </a:pPr>
            <a:r>
              <a:rPr lang="en-US" sz="660" dirty="0">
                <a:solidFill>
                  <a:srgbClr val="24303F"/>
                </a:solidFill>
              </a:rPr>
              <a:t>5.0</a:t>
            </a:r>
            <a:endParaRPr lang="en-US" sz="660" dirty="0"/>
          </a:p>
        </p:txBody>
      </p:sp>
      <p:sp>
        <p:nvSpPr>
          <p:cNvPr id="25" name="Text 23"/>
          <p:cNvSpPr/>
          <p:nvPr/>
        </p:nvSpPr>
        <p:spPr>
          <a:xfrm>
            <a:off x="5577840" y="3563547"/>
            <a:ext cx="1508760" cy="146304"/>
          </a:xfrm>
          <a:prstGeom prst="rect">
            <a:avLst/>
          </a:prstGeom>
          <a:noFill/>
          <a:ln/>
        </p:spPr>
        <p:txBody>
          <a:bodyPr wrap="square" lIns="0" tIns="0" rIns="0" bIns="0" rtlCol="0" anchor="ctr">
            <a:normAutofit/>
          </a:bodyPr>
          <a:lstStyle/>
          <a:p>
            <a:pPr indent="0" marL="0">
              <a:buNone/>
            </a:pPr>
            <a:r>
              <a:rPr lang="en-US" sz="660" dirty="0">
                <a:solidFill>
                  <a:srgbClr val="24303F"/>
                </a:solidFill>
              </a:rPr>
              <a:t>Certificate issued late</a:t>
            </a:r>
            <a:endParaRPr lang="en-US" sz="660" dirty="0"/>
          </a:p>
        </p:txBody>
      </p:sp>
      <p:sp>
        <p:nvSpPr>
          <p:cNvPr id="26" name="Shape 24"/>
          <p:cNvSpPr/>
          <p:nvPr/>
        </p:nvSpPr>
        <p:spPr>
          <a:xfrm>
            <a:off x="7178040" y="3572691"/>
            <a:ext cx="2270325" cy="164592"/>
          </a:xfrm>
          <a:prstGeom prst="rect">
            <a:avLst/>
          </a:prstGeom>
          <a:solidFill>
            <a:srgbClr val="2A9D8F"/>
          </a:solidFill>
          <a:ln w="12700">
            <a:solidFill>
              <a:srgbClr val="FFFFFF">
                <a:alpha val="0"/>
              </a:srgbClr>
            </a:solidFill>
            <a:prstDash val="solid"/>
          </a:ln>
        </p:spPr>
      </p:sp>
      <p:sp>
        <p:nvSpPr>
          <p:cNvPr id="27" name="Text 25"/>
          <p:cNvSpPr/>
          <p:nvPr/>
        </p:nvSpPr>
        <p:spPr>
          <a:xfrm>
            <a:off x="10863072" y="3563547"/>
            <a:ext cx="365760" cy="137160"/>
          </a:xfrm>
          <a:prstGeom prst="rect">
            <a:avLst/>
          </a:prstGeom>
          <a:noFill/>
          <a:ln/>
        </p:spPr>
        <p:txBody>
          <a:bodyPr wrap="square" lIns="0" tIns="0" rIns="0" bIns="0" rtlCol="0" anchor="ctr"/>
          <a:lstStyle/>
          <a:p>
            <a:pPr algn="r" indent="0" marL="0">
              <a:buNone/>
            </a:pPr>
            <a:r>
              <a:rPr lang="en-US" sz="660" dirty="0">
                <a:solidFill>
                  <a:srgbClr val="24303F"/>
                </a:solidFill>
              </a:rPr>
              <a:t>22.0</a:t>
            </a:r>
            <a:endParaRPr lang="en-US" sz="660" dirty="0"/>
          </a:p>
        </p:txBody>
      </p:sp>
      <p:sp>
        <p:nvSpPr>
          <p:cNvPr id="28" name="Text 26"/>
          <p:cNvSpPr/>
          <p:nvPr/>
        </p:nvSpPr>
        <p:spPr>
          <a:xfrm>
            <a:off x="5577840" y="3976334"/>
            <a:ext cx="1508760" cy="146304"/>
          </a:xfrm>
          <a:prstGeom prst="rect">
            <a:avLst/>
          </a:prstGeom>
          <a:noFill/>
          <a:ln/>
        </p:spPr>
        <p:txBody>
          <a:bodyPr wrap="square" lIns="0" tIns="0" rIns="0" bIns="0" rtlCol="0" anchor="ctr">
            <a:normAutofit/>
          </a:bodyPr>
          <a:lstStyle/>
          <a:p>
            <a:pPr indent="0" marL="0">
              <a:buNone/>
            </a:pPr>
            <a:r>
              <a:rPr lang="en-US" sz="660" dirty="0">
                <a:solidFill>
                  <a:srgbClr val="24303F"/>
                </a:solidFill>
              </a:rPr>
              <a:t>Feedback not collected</a:t>
            </a:r>
            <a:endParaRPr lang="en-US" sz="660" dirty="0"/>
          </a:p>
        </p:txBody>
      </p:sp>
      <p:sp>
        <p:nvSpPr>
          <p:cNvPr id="29" name="Shape 27"/>
          <p:cNvSpPr/>
          <p:nvPr/>
        </p:nvSpPr>
        <p:spPr>
          <a:xfrm>
            <a:off x="7178040" y="3985478"/>
            <a:ext cx="3405487" cy="164592"/>
          </a:xfrm>
          <a:prstGeom prst="rect">
            <a:avLst/>
          </a:prstGeom>
          <a:solidFill>
            <a:srgbClr val="C9A44C"/>
          </a:solidFill>
          <a:ln w="12700">
            <a:solidFill>
              <a:srgbClr val="FFFFFF">
                <a:alpha val="0"/>
              </a:srgbClr>
            </a:solidFill>
            <a:prstDash val="solid"/>
          </a:ln>
        </p:spPr>
      </p:sp>
      <p:sp>
        <p:nvSpPr>
          <p:cNvPr id="30" name="Text 28"/>
          <p:cNvSpPr/>
          <p:nvPr/>
        </p:nvSpPr>
        <p:spPr>
          <a:xfrm>
            <a:off x="10863072" y="3976334"/>
            <a:ext cx="365760" cy="137160"/>
          </a:xfrm>
          <a:prstGeom prst="rect">
            <a:avLst/>
          </a:prstGeom>
          <a:noFill/>
          <a:ln/>
        </p:spPr>
        <p:txBody>
          <a:bodyPr wrap="square" lIns="0" tIns="0" rIns="0" bIns="0" rtlCol="0" anchor="ctr"/>
          <a:lstStyle/>
          <a:p>
            <a:pPr algn="r" indent="0" marL="0">
              <a:buNone/>
            </a:pPr>
            <a:r>
              <a:rPr lang="en-US" sz="660" dirty="0">
                <a:solidFill>
                  <a:srgbClr val="24303F"/>
                </a:solidFill>
              </a:rPr>
              <a:t>33.0</a:t>
            </a:r>
            <a:endParaRPr lang="en-US" sz="660" dirty="0"/>
          </a:p>
        </p:txBody>
      </p:sp>
      <p:sp>
        <p:nvSpPr>
          <p:cNvPr id="31" name="Shape 29"/>
          <p:cNvSpPr/>
          <p:nvPr/>
        </p:nvSpPr>
        <p:spPr>
          <a:xfrm>
            <a:off x="5623560" y="4617720"/>
            <a:ext cx="1920240" cy="237744"/>
          </a:xfrm>
          <a:prstGeom prst="rect">
            <a:avLst/>
          </a:prstGeom>
          <a:solidFill>
            <a:srgbClr val="14213D"/>
          </a:solidFill>
          <a:ln w="12700">
            <a:solidFill>
              <a:srgbClr val="FFFFFF"/>
            </a:solidFill>
            <a:prstDash val="solid"/>
          </a:ln>
        </p:spPr>
      </p:sp>
      <p:sp>
        <p:nvSpPr>
          <p:cNvPr id="32" name="Text 30"/>
          <p:cNvSpPr/>
          <p:nvPr/>
        </p:nvSpPr>
        <p:spPr>
          <a:xfrm>
            <a:off x="5660136" y="4663440"/>
            <a:ext cx="1847088" cy="164592"/>
          </a:xfrm>
          <a:prstGeom prst="rect">
            <a:avLst/>
          </a:prstGeom>
          <a:noFill/>
          <a:ln/>
        </p:spPr>
        <p:txBody>
          <a:bodyPr wrap="square" lIns="0" tIns="0" rIns="0" bIns="0" rtlCol="0" anchor="ctr">
            <a:normAutofit/>
          </a:bodyPr>
          <a:lstStyle/>
          <a:p>
            <a:pPr indent="0" marL="0">
              <a:buNone/>
            </a:pPr>
            <a:r>
              <a:rPr lang="en-US" sz="600" b="1" dirty="0">
                <a:solidFill>
                  <a:srgbClr val="FFFFFF"/>
                </a:solidFill>
              </a:rPr>
              <a:t>Issue</a:t>
            </a:r>
            <a:endParaRPr lang="en-US" sz="600" dirty="0"/>
          </a:p>
        </p:txBody>
      </p:sp>
      <p:sp>
        <p:nvSpPr>
          <p:cNvPr id="33" name="Shape 31"/>
          <p:cNvSpPr/>
          <p:nvPr/>
        </p:nvSpPr>
        <p:spPr>
          <a:xfrm>
            <a:off x="7543800" y="4617720"/>
            <a:ext cx="1828800" cy="237744"/>
          </a:xfrm>
          <a:prstGeom prst="rect">
            <a:avLst/>
          </a:prstGeom>
          <a:solidFill>
            <a:srgbClr val="14213D"/>
          </a:solidFill>
          <a:ln w="12700">
            <a:solidFill>
              <a:srgbClr val="FFFFFF"/>
            </a:solidFill>
            <a:prstDash val="solid"/>
          </a:ln>
        </p:spPr>
      </p:sp>
      <p:sp>
        <p:nvSpPr>
          <p:cNvPr id="34" name="Text 32"/>
          <p:cNvSpPr/>
          <p:nvPr/>
        </p:nvSpPr>
        <p:spPr>
          <a:xfrm>
            <a:off x="7580376" y="4663440"/>
            <a:ext cx="1755648" cy="164592"/>
          </a:xfrm>
          <a:prstGeom prst="rect">
            <a:avLst/>
          </a:prstGeom>
          <a:noFill/>
          <a:ln/>
        </p:spPr>
        <p:txBody>
          <a:bodyPr wrap="square" lIns="0" tIns="0" rIns="0" bIns="0" rtlCol="0" anchor="ctr">
            <a:normAutofit/>
          </a:bodyPr>
          <a:lstStyle/>
          <a:p>
            <a:pPr indent="0" marL="0">
              <a:buNone/>
            </a:pPr>
            <a:r>
              <a:rPr lang="en-US" sz="600" b="1" dirty="0">
                <a:solidFill>
                  <a:srgbClr val="FFFFFF"/>
                </a:solidFill>
              </a:rPr>
              <a:t>Main cause</a:t>
            </a:r>
            <a:endParaRPr lang="en-US" sz="600" dirty="0"/>
          </a:p>
        </p:txBody>
      </p:sp>
      <p:sp>
        <p:nvSpPr>
          <p:cNvPr id="35" name="Shape 33"/>
          <p:cNvSpPr/>
          <p:nvPr/>
        </p:nvSpPr>
        <p:spPr>
          <a:xfrm>
            <a:off x="9372600" y="4617720"/>
            <a:ext cx="1691640" cy="237744"/>
          </a:xfrm>
          <a:prstGeom prst="rect">
            <a:avLst/>
          </a:prstGeom>
          <a:solidFill>
            <a:srgbClr val="14213D"/>
          </a:solidFill>
          <a:ln w="12700">
            <a:solidFill>
              <a:srgbClr val="FFFFFF"/>
            </a:solidFill>
            <a:prstDash val="solid"/>
          </a:ln>
        </p:spPr>
      </p:sp>
      <p:sp>
        <p:nvSpPr>
          <p:cNvPr id="36" name="Text 34"/>
          <p:cNvSpPr/>
          <p:nvPr/>
        </p:nvSpPr>
        <p:spPr>
          <a:xfrm>
            <a:off x="9409176" y="4663440"/>
            <a:ext cx="1618488" cy="164592"/>
          </a:xfrm>
          <a:prstGeom prst="rect">
            <a:avLst/>
          </a:prstGeom>
          <a:noFill/>
          <a:ln/>
        </p:spPr>
        <p:txBody>
          <a:bodyPr wrap="square" lIns="0" tIns="0" rIns="0" bIns="0" rtlCol="0" anchor="ctr">
            <a:normAutofit/>
          </a:bodyPr>
          <a:lstStyle/>
          <a:p>
            <a:pPr indent="0" marL="0">
              <a:buNone/>
            </a:pPr>
            <a:r>
              <a:rPr lang="en-US" sz="600" b="1" dirty="0">
                <a:solidFill>
                  <a:srgbClr val="FFFFFF"/>
                </a:solidFill>
              </a:rPr>
              <a:t>Impact</a:t>
            </a:r>
            <a:endParaRPr lang="en-US" sz="600" dirty="0"/>
          </a:p>
        </p:txBody>
      </p:sp>
      <p:sp>
        <p:nvSpPr>
          <p:cNvPr id="37" name="Shape 35"/>
          <p:cNvSpPr/>
          <p:nvPr/>
        </p:nvSpPr>
        <p:spPr>
          <a:xfrm>
            <a:off x="5623560" y="4855464"/>
            <a:ext cx="1920240" cy="237744"/>
          </a:xfrm>
          <a:prstGeom prst="rect">
            <a:avLst/>
          </a:prstGeom>
          <a:solidFill>
            <a:srgbClr val="FDFBF5"/>
          </a:solidFill>
          <a:ln w="12700">
            <a:solidFill>
              <a:srgbClr val="E7DFD0"/>
            </a:solidFill>
            <a:prstDash val="solid"/>
          </a:ln>
        </p:spPr>
      </p:sp>
      <p:sp>
        <p:nvSpPr>
          <p:cNvPr id="38" name="Text 36"/>
          <p:cNvSpPr/>
          <p:nvPr/>
        </p:nvSpPr>
        <p:spPr>
          <a:xfrm>
            <a:off x="5660136" y="4892040"/>
            <a:ext cx="1847088" cy="164592"/>
          </a:xfrm>
          <a:prstGeom prst="rect">
            <a:avLst/>
          </a:prstGeom>
          <a:noFill/>
          <a:ln/>
        </p:spPr>
        <p:txBody>
          <a:bodyPr wrap="square" lIns="0" tIns="0" rIns="0" bIns="0" rtlCol="0" anchor="ctr">
            <a:normAutofit/>
          </a:bodyPr>
          <a:lstStyle/>
          <a:p>
            <a:pPr indent="0" marL="0">
              <a:buNone/>
            </a:pPr>
            <a:r>
              <a:rPr lang="en-US" sz="580" dirty="0">
                <a:solidFill>
                  <a:srgbClr val="24303F"/>
                </a:solidFill>
              </a:rPr>
              <a:t>Missed enquiry follow-up</a:t>
            </a:r>
            <a:endParaRPr lang="en-US" sz="580" dirty="0"/>
          </a:p>
        </p:txBody>
      </p:sp>
      <p:sp>
        <p:nvSpPr>
          <p:cNvPr id="39" name="Shape 37"/>
          <p:cNvSpPr/>
          <p:nvPr/>
        </p:nvSpPr>
        <p:spPr>
          <a:xfrm>
            <a:off x="7543800" y="4855464"/>
            <a:ext cx="1828800" cy="237744"/>
          </a:xfrm>
          <a:prstGeom prst="rect">
            <a:avLst/>
          </a:prstGeom>
          <a:solidFill>
            <a:srgbClr val="FDFBF5"/>
          </a:solidFill>
          <a:ln w="12700">
            <a:solidFill>
              <a:srgbClr val="E7DFD0"/>
            </a:solidFill>
            <a:prstDash val="solid"/>
          </a:ln>
        </p:spPr>
      </p:sp>
      <p:sp>
        <p:nvSpPr>
          <p:cNvPr id="40" name="Text 38"/>
          <p:cNvSpPr/>
          <p:nvPr/>
        </p:nvSpPr>
        <p:spPr>
          <a:xfrm>
            <a:off x="7580376" y="4892040"/>
            <a:ext cx="1755648" cy="164592"/>
          </a:xfrm>
          <a:prstGeom prst="rect">
            <a:avLst/>
          </a:prstGeom>
          <a:noFill/>
          <a:ln/>
        </p:spPr>
        <p:txBody>
          <a:bodyPr wrap="square" lIns="0" tIns="0" rIns="0" bIns="0" rtlCol="0" anchor="ctr">
            <a:normAutofit/>
          </a:bodyPr>
          <a:lstStyle/>
          <a:p>
            <a:pPr indent="0" marL="0">
              <a:buNone/>
            </a:pPr>
            <a:r>
              <a:rPr lang="en-US" sz="580" dirty="0">
                <a:solidFill>
                  <a:srgbClr val="24303F"/>
                </a:solidFill>
              </a:rPr>
              <a:t>No automated reminder</a:t>
            </a:r>
            <a:endParaRPr lang="en-US" sz="580" dirty="0"/>
          </a:p>
        </p:txBody>
      </p:sp>
      <p:sp>
        <p:nvSpPr>
          <p:cNvPr id="41" name="Shape 39"/>
          <p:cNvSpPr/>
          <p:nvPr/>
        </p:nvSpPr>
        <p:spPr>
          <a:xfrm>
            <a:off x="9372600" y="4855464"/>
            <a:ext cx="1691640" cy="237744"/>
          </a:xfrm>
          <a:prstGeom prst="rect">
            <a:avLst/>
          </a:prstGeom>
          <a:solidFill>
            <a:srgbClr val="FDFBF5"/>
          </a:solidFill>
          <a:ln w="12700">
            <a:solidFill>
              <a:srgbClr val="E7DFD0"/>
            </a:solidFill>
            <a:prstDash val="solid"/>
          </a:ln>
        </p:spPr>
      </p:sp>
      <p:sp>
        <p:nvSpPr>
          <p:cNvPr id="42" name="Text 40"/>
          <p:cNvSpPr/>
          <p:nvPr/>
        </p:nvSpPr>
        <p:spPr>
          <a:xfrm>
            <a:off x="9409176" y="4892040"/>
            <a:ext cx="1618488" cy="164592"/>
          </a:xfrm>
          <a:prstGeom prst="rect">
            <a:avLst/>
          </a:prstGeom>
          <a:noFill/>
          <a:ln/>
        </p:spPr>
        <p:txBody>
          <a:bodyPr wrap="square" lIns="0" tIns="0" rIns="0" bIns="0" rtlCol="0" anchor="ctr">
            <a:normAutofit/>
          </a:bodyPr>
          <a:lstStyle/>
          <a:p>
            <a:pPr indent="0" marL="0">
              <a:buNone/>
            </a:pPr>
            <a:r>
              <a:rPr lang="en-US" sz="580" dirty="0">
                <a:solidFill>
                  <a:srgbClr val="24303F"/>
                </a:solidFill>
              </a:rPr>
              <a:t>Lost potential learners</a:t>
            </a:r>
            <a:endParaRPr lang="en-US" sz="580" dirty="0"/>
          </a:p>
        </p:txBody>
      </p:sp>
      <p:sp>
        <p:nvSpPr>
          <p:cNvPr id="43" name="Shape 41"/>
          <p:cNvSpPr/>
          <p:nvPr/>
        </p:nvSpPr>
        <p:spPr>
          <a:xfrm>
            <a:off x="5623560" y="5093208"/>
            <a:ext cx="1920240" cy="237744"/>
          </a:xfrm>
          <a:prstGeom prst="rect">
            <a:avLst/>
          </a:prstGeom>
          <a:solidFill>
            <a:srgbClr val="FFFFFF"/>
          </a:solidFill>
          <a:ln w="12700">
            <a:solidFill>
              <a:srgbClr val="E7DFD0"/>
            </a:solidFill>
            <a:prstDash val="solid"/>
          </a:ln>
        </p:spPr>
      </p:sp>
      <p:sp>
        <p:nvSpPr>
          <p:cNvPr id="44" name="Text 42"/>
          <p:cNvSpPr/>
          <p:nvPr/>
        </p:nvSpPr>
        <p:spPr>
          <a:xfrm>
            <a:off x="5660136" y="5129784"/>
            <a:ext cx="1847088" cy="164592"/>
          </a:xfrm>
          <a:prstGeom prst="rect">
            <a:avLst/>
          </a:prstGeom>
          <a:noFill/>
          <a:ln/>
        </p:spPr>
        <p:txBody>
          <a:bodyPr wrap="square" lIns="0" tIns="0" rIns="0" bIns="0" rtlCol="0" anchor="ctr">
            <a:normAutofit/>
          </a:bodyPr>
          <a:lstStyle/>
          <a:p>
            <a:pPr indent="0" marL="0">
              <a:buNone/>
            </a:pPr>
            <a:r>
              <a:rPr lang="en-US" sz="580" dirty="0">
                <a:solidFill>
                  <a:srgbClr val="24303F"/>
                </a:solidFill>
              </a:rPr>
              <a:t>Duplicate registration entry</a:t>
            </a:r>
            <a:endParaRPr lang="en-US" sz="580" dirty="0"/>
          </a:p>
        </p:txBody>
      </p:sp>
      <p:sp>
        <p:nvSpPr>
          <p:cNvPr id="45" name="Shape 43"/>
          <p:cNvSpPr/>
          <p:nvPr/>
        </p:nvSpPr>
        <p:spPr>
          <a:xfrm>
            <a:off x="7543800" y="5093208"/>
            <a:ext cx="1828800" cy="237744"/>
          </a:xfrm>
          <a:prstGeom prst="rect">
            <a:avLst/>
          </a:prstGeom>
          <a:solidFill>
            <a:srgbClr val="FFFFFF"/>
          </a:solidFill>
          <a:ln w="12700">
            <a:solidFill>
              <a:srgbClr val="E7DFD0"/>
            </a:solidFill>
            <a:prstDash val="solid"/>
          </a:ln>
        </p:spPr>
      </p:sp>
      <p:sp>
        <p:nvSpPr>
          <p:cNvPr id="46" name="Text 44"/>
          <p:cNvSpPr/>
          <p:nvPr/>
        </p:nvSpPr>
        <p:spPr>
          <a:xfrm>
            <a:off x="7580376" y="5129784"/>
            <a:ext cx="1755648" cy="164592"/>
          </a:xfrm>
          <a:prstGeom prst="rect">
            <a:avLst/>
          </a:prstGeom>
          <a:noFill/>
          <a:ln/>
        </p:spPr>
        <p:txBody>
          <a:bodyPr wrap="square" lIns="0" tIns="0" rIns="0" bIns="0" rtlCol="0" anchor="ctr">
            <a:normAutofit/>
          </a:bodyPr>
          <a:lstStyle/>
          <a:p>
            <a:pPr indent="0" marL="0">
              <a:buNone/>
            </a:pPr>
            <a:r>
              <a:rPr lang="en-US" sz="580" dirty="0">
                <a:solidFill>
                  <a:srgbClr val="24303F"/>
                </a:solidFill>
              </a:rPr>
              <a:t>Spreadsheet copy/paste</a:t>
            </a:r>
            <a:endParaRPr lang="en-US" sz="580" dirty="0"/>
          </a:p>
        </p:txBody>
      </p:sp>
      <p:sp>
        <p:nvSpPr>
          <p:cNvPr id="47" name="Shape 45"/>
          <p:cNvSpPr/>
          <p:nvPr/>
        </p:nvSpPr>
        <p:spPr>
          <a:xfrm>
            <a:off x="9372600" y="5093208"/>
            <a:ext cx="1691640" cy="237744"/>
          </a:xfrm>
          <a:prstGeom prst="rect">
            <a:avLst/>
          </a:prstGeom>
          <a:solidFill>
            <a:srgbClr val="FFFFFF"/>
          </a:solidFill>
          <a:ln w="12700">
            <a:solidFill>
              <a:srgbClr val="E7DFD0"/>
            </a:solidFill>
            <a:prstDash val="solid"/>
          </a:ln>
        </p:spPr>
      </p:sp>
      <p:sp>
        <p:nvSpPr>
          <p:cNvPr id="48" name="Text 46"/>
          <p:cNvSpPr/>
          <p:nvPr/>
        </p:nvSpPr>
        <p:spPr>
          <a:xfrm>
            <a:off x="9409176" y="5129784"/>
            <a:ext cx="1618488" cy="164592"/>
          </a:xfrm>
          <a:prstGeom prst="rect">
            <a:avLst/>
          </a:prstGeom>
          <a:noFill/>
          <a:ln/>
        </p:spPr>
        <p:txBody>
          <a:bodyPr wrap="square" lIns="0" tIns="0" rIns="0" bIns="0" rtlCol="0" anchor="ctr">
            <a:normAutofit/>
          </a:bodyPr>
          <a:lstStyle/>
          <a:p>
            <a:pPr indent="0" marL="0">
              <a:buNone/>
            </a:pPr>
            <a:r>
              <a:rPr lang="en-US" sz="580" dirty="0">
                <a:solidFill>
                  <a:srgbClr val="24303F"/>
                </a:solidFill>
              </a:rPr>
              <a:t>Cleanup work</a:t>
            </a:r>
            <a:endParaRPr lang="en-US" sz="580" dirty="0"/>
          </a:p>
        </p:txBody>
      </p:sp>
      <p:sp>
        <p:nvSpPr>
          <p:cNvPr id="49" name="Shape 47"/>
          <p:cNvSpPr/>
          <p:nvPr/>
        </p:nvSpPr>
        <p:spPr>
          <a:xfrm>
            <a:off x="5623560" y="5330952"/>
            <a:ext cx="1920240" cy="237744"/>
          </a:xfrm>
          <a:prstGeom prst="rect">
            <a:avLst/>
          </a:prstGeom>
          <a:solidFill>
            <a:srgbClr val="FDFBF5"/>
          </a:solidFill>
          <a:ln w="12700">
            <a:solidFill>
              <a:srgbClr val="E7DFD0"/>
            </a:solidFill>
            <a:prstDash val="solid"/>
          </a:ln>
        </p:spPr>
      </p:sp>
      <p:sp>
        <p:nvSpPr>
          <p:cNvPr id="50" name="Text 48"/>
          <p:cNvSpPr/>
          <p:nvPr/>
        </p:nvSpPr>
        <p:spPr>
          <a:xfrm>
            <a:off x="5660136" y="5367528"/>
            <a:ext cx="1847088" cy="164592"/>
          </a:xfrm>
          <a:prstGeom prst="rect">
            <a:avLst/>
          </a:prstGeom>
          <a:noFill/>
          <a:ln/>
        </p:spPr>
        <p:txBody>
          <a:bodyPr wrap="square" lIns="0" tIns="0" rIns="0" bIns="0" rtlCol="0" anchor="ctr">
            <a:normAutofit/>
          </a:bodyPr>
          <a:lstStyle/>
          <a:p>
            <a:pPr indent="0" marL="0">
              <a:buNone/>
            </a:pPr>
            <a:r>
              <a:rPr lang="en-US" sz="580" dirty="0">
                <a:solidFill>
                  <a:srgbClr val="24303F"/>
                </a:solidFill>
              </a:rPr>
              <a:t>Payment confirmation delay</a:t>
            </a:r>
            <a:endParaRPr lang="en-US" sz="580" dirty="0"/>
          </a:p>
        </p:txBody>
      </p:sp>
      <p:sp>
        <p:nvSpPr>
          <p:cNvPr id="51" name="Shape 49"/>
          <p:cNvSpPr/>
          <p:nvPr/>
        </p:nvSpPr>
        <p:spPr>
          <a:xfrm>
            <a:off x="7543800" y="5330952"/>
            <a:ext cx="1828800" cy="237744"/>
          </a:xfrm>
          <a:prstGeom prst="rect">
            <a:avLst/>
          </a:prstGeom>
          <a:solidFill>
            <a:srgbClr val="FDFBF5"/>
          </a:solidFill>
          <a:ln w="12700">
            <a:solidFill>
              <a:srgbClr val="E7DFD0"/>
            </a:solidFill>
            <a:prstDash val="solid"/>
          </a:ln>
        </p:spPr>
      </p:sp>
      <p:sp>
        <p:nvSpPr>
          <p:cNvPr id="52" name="Text 50"/>
          <p:cNvSpPr/>
          <p:nvPr/>
        </p:nvSpPr>
        <p:spPr>
          <a:xfrm>
            <a:off x="7580376" y="5367528"/>
            <a:ext cx="1755648" cy="164592"/>
          </a:xfrm>
          <a:prstGeom prst="rect">
            <a:avLst/>
          </a:prstGeom>
          <a:noFill/>
          <a:ln/>
        </p:spPr>
        <p:txBody>
          <a:bodyPr wrap="square" lIns="0" tIns="0" rIns="0" bIns="0" rtlCol="0" anchor="ctr">
            <a:normAutofit/>
          </a:bodyPr>
          <a:lstStyle/>
          <a:p>
            <a:pPr indent="0" marL="0">
              <a:buNone/>
            </a:pPr>
            <a:r>
              <a:rPr lang="en-US" sz="580" dirty="0">
                <a:solidFill>
                  <a:srgbClr val="24303F"/>
                </a:solidFill>
              </a:rPr>
              <a:t>Manual screenshot review</a:t>
            </a:r>
            <a:endParaRPr lang="en-US" sz="580" dirty="0"/>
          </a:p>
        </p:txBody>
      </p:sp>
      <p:sp>
        <p:nvSpPr>
          <p:cNvPr id="53" name="Shape 51"/>
          <p:cNvSpPr/>
          <p:nvPr/>
        </p:nvSpPr>
        <p:spPr>
          <a:xfrm>
            <a:off x="9372600" y="5330952"/>
            <a:ext cx="1691640" cy="237744"/>
          </a:xfrm>
          <a:prstGeom prst="rect">
            <a:avLst/>
          </a:prstGeom>
          <a:solidFill>
            <a:srgbClr val="FDFBF5"/>
          </a:solidFill>
          <a:ln w="12700">
            <a:solidFill>
              <a:srgbClr val="E7DFD0"/>
            </a:solidFill>
            <a:prstDash val="solid"/>
          </a:ln>
        </p:spPr>
      </p:sp>
      <p:sp>
        <p:nvSpPr>
          <p:cNvPr id="54" name="Text 52"/>
          <p:cNvSpPr/>
          <p:nvPr/>
        </p:nvSpPr>
        <p:spPr>
          <a:xfrm>
            <a:off x="9409176" y="5367528"/>
            <a:ext cx="1618488" cy="164592"/>
          </a:xfrm>
          <a:prstGeom prst="rect">
            <a:avLst/>
          </a:prstGeom>
          <a:noFill/>
          <a:ln/>
        </p:spPr>
        <p:txBody>
          <a:bodyPr wrap="square" lIns="0" tIns="0" rIns="0" bIns="0" rtlCol="0" anchor="ctr">
            <a:normAutofit/>
          </a:bodyPr>
          <a:lstStyle/>
          <a:p>
            <a:pPr indent="0" marL="0">
              <a:buNone/>
            </a:pPr>
            <a:r>
              <a:rPr lang="en-US" sz="580" dirty="0">
                <a:solidFill>
                  <a:srgbClr val="24303F"/>
                </a:solidFill>
              </a:rPr>
              <a:t>Learner frustration</a:t>
            </a:r>
            <a:endParaRPr lang="en-US" sz="580" dirty="0"/>
          </a:p>
        </p:txBody>
      </p:sp>
      <p:sp>
        <p:nvSpPr>
          <p:cNvPr id="55" name="Shape 53"/>
          <p:cNvSpPr/>
          <p:nvPr/>
        </p:nvSpPr>
        <p:spPr>
          <a:xfrm>
            <a:off x="5623560" y="5568696"/>
            <a:ext cx="1920240" cy="237744"/>
          </a:xfrm>
          <a:prstGeom prst="rect">
            <a:avLst/>
          </a:prstGeom>
          <a:solidFill>
            <a:srgbClr val="FFFFFF"/>
          </a:solidFill>
          <a:ln w="12700">
            <a:solidFill>
              <a:srgbClr val="E7DFD0"/>
            </a:solidFill>
            <a:prstDash val="solid"/>
          </a:ln>
        </p:spPr>
      </p:sp>
      <p:sp>
        <p:nvSpPr>
          <p:cNvPr id="56" name="Text 54"/>
          <p:cNvSpPr/>
          <p:nvPr/>
        </p:nvSpPr>
        <p:spPr>
          <a:xfrm>
            <a:off x="5660136" y="5605272"/>
            <a:ext cx="1847088" cy="164592"/>
          </a:xfrm>
          <a:prstGeom prst="rect">
            <a:avLst/>
          </a:prstGeom>
          <a:noFill/>
          <a:ln/>
        </p:spPr>
        <p:txBody>
          <a:bodyPr wrap="square" lIns="0" tIns="0" rIns="0" bIns="0" rtlCol="0" anchor="ctr">
            <a:normAutofit/>
          </a:bodyPr>
          <a:lstStyle/>
          <a:p>
            <a:pPr indent="0" marL="0">
              <a:buNone/>
            </a:pPr>
            <a:r>
              <a:rPr lang="en-US" sz="580" dirty="0">
                <a:solidFill>
                  <a:srgbClr val="24303F"/>
                </a:solidFill>
              </a:rPr>
              <a:t>Class reminder missed</a:t>
            </a:r>
            <a:endParaRPr lang="en-US" sz="580" dirty="0"/>
          </a:p>
        </p:txBody>
      </p:sp>
      <p:sp>
        <p:nvSpPr>
          <p:cNvPr id="57" name="Shape 55"/>
          <p:cNvSpPr/>
          <p:nvPr/>
        </p:nvSpPr>
        <p:spPr>
          <a:xfrm>
            <a:off x="7543800" y="5568696"/>
            <a:ext cx="1828800" cy="237744"/>
          </a:xfrm>
          <a:prstGeom prst="rect">
            <a:avLst/>
          </a:prstGeom>
          <a:solidFill>
            <a:srgbClr val="FFFFFF"/>
          </a:solidFill>
          <a:ln w="12700">
            <a:solidFill>
              <a:srgbClr val="E7DFD0"/>
            </a:solidFill>
            <a:prstDash val="solid"/>
          </a:ln>
        </p:spPr>
      </p:sp>
      <p:sp>
        <p:nvSpPr>
          <p:cNvPr id="58" name="Text 56"/>
          <p:cNvSpPr/>
          <p:nvPr/>
        </p:nvSpPr>
        <p:spPr>
          <a:xfrm>
            <a:off x="7580376" y="5605272"/>
            <a:ext cx="1755648" cy="164592"/>
          </a:xfrm>
          <a:prstGeom prst="rect">
            <a:avLst/>
          </a:prstGeom>
          <a:noFill/>
          <a:ln/>
        </p:spPr>
        <p:txBody>
          <a:bodyPr wrap="square" lIns="0" tIns="0" rIns="0" bIns="0" rtlCol="0" anchor="ctr">
            <a:normAutofit/>
          </a:bodyPr>
          <a:lstStyle/>
          <a:p>
            <a:pPr indent="0" marL="0">
              <a:buNone/>
            </a:pPr>
            <a:r>
              <a:rPr lang="en-US" sz="580" dirty="0">
                <a:solidFill>
                  <a:srgbClr val="24303F"/>
                </a:solidFill>
              </a:rPr>
              <a:t>Manual message sending</a:t>
            </a:r>
            <a:endParaRPr lang="en-US" sz="580" dirty="0"/>
          </a:p>
        </p:txBody>
      </p:sp>
      <p:sp>
        <p:nvSpPr>
          <p:cNvPr id="59" name="Shape 57"/>
          <p:cNvSpPr/>
          <p:nvPr/>
        </p:nvSpPr>
        <p:spPr>
          <a:xfrm>
            <a:off x="9372600" y="5568696"/>
            <a:ext cx="1691640" cy="237744"/>
          </a:xfrm>
          <a:prstGeom prst="rect">
            <a:avLst/>
          </a:prstGeom>
          <a:solidFill>
            <a:srgbClr val="FFFFFF"/>
          </a:solidFill>
          <a:ln w="12700">
            <a:solidFill>
              <a:srgbClr val="E7DFD0"/>
            </a:solidFill>
            <a:prstDash val="solid"/>
          </a:ln>
        </p:spPr>
      </p:sp>
      <p:sp>
        <p:nvSpPr>
          <p:cNvPr id="60" name="Text 58"/>
          <p:cNvSpPr/>
          <p:nvPr/>
        </p:nvSpPr>
        <p:spPr>
          <a:xfrm>
            <a:off x="9409176" y="5605272"/>
            <a:ext cx="1618488" cy="164592"/>
          </a:xfrm>
          <a:prstGeom prst="rect">
            <a:avLst/>
          </a:prstGeom>
          <a:noFill/>
          <a:ln/>
        </p:spPr>
        <p:txBody>
          <a:bodyPr wrap="square" lIns="0" tIns="0" rIns="0" bIns="0" rtlCol="0" anchor="ctr">
            <a:normAutofit/>
          </a:bodyPr>
          <a:lstStyle/>
          <a:p>
            <a:pPr indent="0" marL="0">
              <a:buNone/>
            </a:pPr>
            <a:r>
              <a:rPr lang="en-US" sz="580" dirty="0">
                <a:solidFill>
                  <a:srgbClr val="24303F"/>
                </a:solidFill>
              </a:rPr>
              <a:t>Lower attendance</a:t>
            </a:r>
            <a:endParaRPr lang="en-US" sz="580" dirty="0"/>
          </a:p>
        </p:txBody>
      </p:sp>
      <p:sp>
        <p:nvSpPr>
          <p:cNvPr id="61" name="Text 59"/>
          <p:cNvSpPr/>
          <p:nvPr/>
        </p:nvSpPr>
        <p:spPr>
          <a:xfrm>
            <a:off x="11384280" y="6428232"/>
            <a:ext cx="320040" cy="109728"/>
          </a:xfrm>
          <a:prstGeom prst="rect">
            <a:avLst/>
          </a:prstGeom>
          <a:noFill/>
          <a:ln/>
        </p:spPr>
        <p:txBody>
          <a:bodyPr wrap="square" lIns="0" tIns="0" rIns="0" bIns="0" rtlCol="0" anchor="ctr"/>
          <a:lstStyle/>
          <a:p>
            <a:pPr algn="r" indent="0" marL="0">
              <a:buNone/>
            </a:pPr>
            <a:r>
              <a:rPr lang="en-US" sz="700" dirty="0">
                <a:solidFill>
                  <a:srgbClr val="FFFFFF"/>
                </a:solidFill>
              </a:rPr>
              <a:t>15</a:t>
            </a:r>
            <a:endParaRPr lang="en-US" sz="7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3EA"/>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4213D"/>
          </a:solidFill>
          <a:ln w="12700">
            <a:solidFill>
              <a:srgbClr val="14213D">
                <a:alpha val="0"/>
              </a:srgbClr>
            </a:solidFill>
            <a:prstDash val="solid"/>
          </a:ln>
        </p:spPr>
      </p:sp>
      <p:sp>
        <p:nvSpPr>
          <p:cNvPr id="3" name="Shape 1"/>
          <p:cNvSpPr/>
          <p:nvPr/>
        </p:nvSpPr>
        <p:spPr>
          <a:xfrm>
            <a:off x="0" y="6693408"/>
            <a:ext cx="12191695" cy="164592"/>
          </a:xfrm>
          <a:prstGeom prst="rect">
            <a:avLst/>
          </a:prstGeom>
          <a:solidFill>
            <a:srgbClr val="14213D"/>
          </a:solidFill>
          <a:ln w="12700">
            <a:solidFill>
              <a:srgbClr val="14213D">
                <a:alpha val="0"/>
              </a:srgbClr>
            </a:solidFill>
            <a:prstDash val="solid"/>
          </a:ln>
        </p:spPr>
      </p:sp>
      <p:sp>
        <p:nvSpPr>
          <p:cNvPr id="4" name="Text 2"/>
          <p:cNvSpPr/>
          <p:nvPr/>
        </p:nvSpPr>
        <p:spPr>
          <a:xfrm>
            <a:off x="502920" y="256032"/>
            <a:ext cx="4480560" cy="164592"/>
          </a:xfrm>
          <a:prstGeom prst="rect">
            <a:avLst/>
          </a:prstGeom>
          <a:noFill/>
          <a:ln/>
        </p:spPr>
        <p:txBody>
          <a:bodyPr wrap="square" lIns="0" tIns="0" rIns="0" bIns="0" rtlCol="0" anchor="ctr"/>
          <a:lstStyle/>
          <a:p>
            <a:pPr indent="0" marL="0">
              <a:buNone/>
            </a:pPr>
            <a:r>
              <a:rPr lang="en-US" sz="700" b="1" dirty="0">
                <a:solidFill>
                  <a:srgbClr val="2A9D8F"/>
                </a:solidFill>
                <a:latin typeface="Aptos" pitchFamily="34" charset="0"/>
                <a:ea typeface="Aptos" pitchFamily="34" charset="-122"/>
                <a:cs typeface="Aptos" pitchFamily="34" charset="-120"/>
              </a:rPr>
              <a:t>SECTION 2</a:t>
            </a:r>
            <a:endParaRPr lang="en-US" sz="700" dirty="0"/>
          </a:p>
        </p:txBody>
      </p:sp>
      <p:sp>
        <p:nvSpPr>
          <p:cNvPr id="5" name="Text 3"/>
          <p:cNvSpPr/>
          <p:nvPr/>
        </p:nvSpPr>
        <p:spPr>
          <a:xfrm>
            <a:off x="9281160" y="219456"/>
            <a:ext cx="2423160" cy="182880"/>
          </a:xfrm>
          <a:prstGeom prst="rect">
            <a:avLst/>
          </a:prstGeom>
          <a:noFill/>
          <a:ln/>
        </p:spPr>
        <p:txBody>
          <a:bodyPr wrap="square" lIns="0" tIns="0" rIns="0" bIns="0" rtlCol="0" anchor="ctr"/>
          <a:lstStyle/>
          <a:p>
            <a:pPr algn="r" indent="0" marL="0">
              <a:buNone/>
            </a:pPr>
            <a:r>
              <a:rPr lang="en-US" sz="700" dirty="0">
                <a:solidFill>
                  <a:srgbClr val="6D7886"/>
                </a:solidFill>
              </a:rPr>
              <a:t>Jifunze.ai skill booster</a:t>
            </a:r>
            <a:endParaRPr lang="en-US" sz="700" dirty="0"/>
          </a:p>
        </p:txBody>
      </p:sp>
      <p:sp>
        <p:nvSpPr>
          <p:cNvPr id="6" name="Text 4"/>
          <p:cNvSpPr/>
          <p:nvPr/>
        </p:nvSpPr>
        <p:spPr>
          <a:xfrm>
            <a:off x="502920" y="502920"/>
            <a:ext cx="4617720" cy="475488"/>
          </a:xfrm>
          <a:prstGeom prst="rect">
            <a:avLst/>
          </a:prstGeom>
          <a:noFill/>
          <a:ln/>
        </p:spPr>
        <p:txBody>
          <a:bodyPr wrap="square" lIns="127" tIns="127" rIns="127" bIns="127" rtlCol="0" anchor="ctr">
            <a:normAutofit/>
          </a:bodyPr>
          <a:lstStyle/>
          <a:p>
            <a:pPr indent="0" marL="0">
              <a:buNone/>
            </a:pPr>
            <a:r>
              <a:rPr lang="en-US" sz="2500" b="1" dirty="0">
                <a:solidFill>
                  <a:srgbClr val="14213D"/>
                </a:solidFill>
                <a:latin typeface="Aptos Display" pitchFamily="34" charset="0"/>
                <a:ea typeface="Aptos Display" pitchFamily="34" charset="-122"/>
                <a:cs typeface="Aptos Display" pitchFamily="34" charset="-120"/>
              </a:rPr>
              <a:t>Bottlenecks and handoff failures</a:t>
            </a:r>
            <a:endParaRPr lang="en-US" sz="2500" dirty="0"/>
          </a:p>
        </p:txBody>
      </p:sp>
      <p:sp>
        <p:nvSpPr>
          <p:cNvPr id="7" name="Text 5"/>
          <p:cNvSpPr/>
          <p:nvPr/>
        </p:nvSpPr>
        <p:spPr>
          <a:xfrm>
            <a:off x="521208" y="1005840"/>
            <a:ext cx="4617720" cy="228600"/>
          </a:xfrm>
          <a:prstGeom prst="rect">
            <a:avLst/>
          </a:prstGeom>
          <a:noFill/>
          <a:ln/>
        </p:spPr>
        <p:txBody>
          <a:bodyPr wrap="square" lIns="0" tIns="0" rIns="0" bIns="0" rtlCol="0" anchor="ctr">
            <a:normAutofit/>
          </a:bodyPr>
          <a:lstStyle/>
          <a:p>
            <a:pPr indent="0" marL="0">
              <a:buNone/>
            </a:pPr>
            <a:r>
              <a:rPr lang="en-US" sz="1080" dirty="0">
                <a:solidFill>
                  <a:srgbClr val="24303F"/>
                </a:solidFill>
              </a:rPr>
              <a:t>Payment confirmation and certificates are pressure points</a:t>
            </a:r>
            <a:endParaRPr lang="en-US" sz="1080" dirty="0"/>
          </a:p>
        </p:txBody>
      </p:sp>
      <p:sp>
        <p:nvSpPr>
          <p:cNvPr id="8" name="Text 6"/>
          <p:cNvSpPr/>
          <p:nvPr/>
        </p:nvSpPr>
        <p:spPr>
          <a:xfrm>
            <a:off x="594360" y="1417320"/>
            <a:ext cx="4617720" cy="4343400"/>
          </a:xfrm>
          <a:prstGeom prst="rect">
            <a:avLst/>
          </a:prstGeom>
          <a:noFill/>
          <a:ln/>
        </p:spPr>
        <p:txBody>
          <a:bodyPr wrap="square" lIns="635" tIns="635" rIns="635" bIns="635" rtlCol="0" anchor="ctr">
            <a:normAutofit/>
          </a:bodyPr>
          <a:lstStyle/>
          <a:p>
            <a:r>
              <a:rPr lang="en-US" sz="1450" dirty="0">
                <a:solidFill>
                  <a:srgbClr val="24303F"/>
                </a:solidFill>
              </a:rPr>
              <a:t>• Payment confirmation blocks learner confidence</a:t>
            </a:r>
            <a:endParaRPr lang="en-US" sz="1450" dirty="0"/>
          </a:p>
          <a:p>
            <a:r>
              <a:rPr lang="en-US" sz="1450" dirty="0">
                <a:solidFill>
                  <a:srgbClr val="24303F"/>
                </a:solidFill>
              </a:rPr>
              <a:t>• Attendance mismatch blocks certificate generation</a:t>
            </a:r>
            <a:endParaRPr lang="en-US" sz="1450" dirty="0"/>
          </a:p>
          <a:p>
            <a:r>
              <a:rPr lang="en-US" sz="1450" dirty="0">
                <a:solidFill>
                  <a:srgbClr val="24303F"/>
                </a:solidFill>
              </a:rPr>
              <a:t>• Certificate delays damage the final learner experience</a:t>
            </a:r>
            <a:endParaRPr lang="en-US" sz="1450" dirty="0"/>
          </a:p>
          <a:p>
            <a:r>
              <a:rPr lang="en-US" sz="1450" dirty="0">
                <a:solidFill>
                  <a:srgbClr val="24303F"/>
                </a:solidFill>
              </a:rPr>
              <a:t>• Handoffs fail when there is no shared status tracker</a:t>
            </a:r>
            <a:endParaRPr lang="en-US" sz="1450" dirty="0"/>
          </a:p>
        </p:txBody>
      </p:sp>
      <p:sp>
        <p:nvSpPr>
          <p:cNvPr id="9" name="Shape 7"/>
          <p:cNvSpPr/>
          <p:nvPr/>
        </p:nvSpPr>
        <p:spPr>
          <a:xfrm>
            <a:off x="5715000" y="1645920"/>
            <a:ext cx="2148840" cy="914400"/>
          </a:xfrm>
          <a:prstGeom prst="roundRect">
            <a:avLst>
              <a:gd name="adj" fmla="val 8000"/>
            </a:avLst>
          </a:prstGeom>
          <a:solidFill>
            <a:srgbClr val="FFFFFF"/>
          </a:solidFill>
          <a:ln w="12700">
            <a:solidFill>
              <a:srgbClr val="B85C5C"/>
            </a:solidFill>
            <a:prstDash val="solid"/>
          </a:ln>
        </p:spPr>
      </p:sp>
      <p:sp>
        <p:nvSpPr>
          <p:cNvPr id="10" name="Text 8"/>
          <p:cNvSpPr/>
          <p:nvPr/>
        </p:nvSpPr>
        <p:spPr>
          <a:xfrm>
            <a:off x="5824728" y="1737360"/>
            <a:ext cx="1929384" cy="749808"/>
          </a:xfrm>
          <a:prstGeom prst="rect">
            <a:avLst/>
          </a:prstGeom>
          <a:noFill/>
          <a:ln/>
        </p:spPr>
        <p:txBody>
          <a:bodyPr wrap="square" lIns="127" tIns="127" rIns="127" bIns="127" rtlCol="0" anchor="ctr">
            <a:normAutofit/>
          </a:bodyPr>
          <a:lstStyle/>
          <a:p>
            <a:pPr indent="0" marL="0">
              <a:buNone/>
            </a:pPr>
            <a:r>
              <a:rPr lang="en-US" sz="1500" b="1" dirty="0">
                <a:solidFill>
                  <a:srgbClr val="24303F"/>
                </a:solidFill>
              </a:rPr>
              <a:t>Payment confirmation</a:t>
            </a:r>
            <a:endParaRPr lang="en-US" sz="1500" dirty="0"/>
          </a:p>
          <a:p>
            <a:pPr indent="0" marL="0">
              <a:buNone/>
            </a:pPr>
            <a:r>
              <a:rPr lang="en-US" sz="1500" b="1" dirty="0">
                <a:solidFill>
                  <a:srgbClr val="24303F"/>
                </a:solidFill>
              </a:rPr>
              <a:t>11 delays/month</a:t>
            </a:r>
            <a:endParaRPr lang="en-US" sz="1500" dirty="0"/>
          </a:p>
        </p:txBody>
      </p:sp>
      <p:sp>
        <p:nvSpPr>
          <p:cNvPr id="11" name="Shape 9"/>
          <p:cNvSpPr/>
          <p:nvPr/>
        </p:nvSpPr>
        <p:spPr>
          <a:xfrm>
            <a:off x="7863840" y="2103120"/>
            <a:ext cx="457200" cy="0"/>
          </a:xfrm>
          <a:prstGeom prst="line">
            <a:avLst/>
          </a:prstGeom>
          <a:noFill/>
          <a:ln w="12700">
            <a:solidFill>
              <a:srgbClr val="2A9D8F"/>
            </a:solidFill>
            <a:prstDash val="solid"/>
            <a:headEnd type="none"/>
            <a:tailEnd type="triangle"/>
          </a:ln>
        </p:spPr>
      </p:sp>
      <p:sp>
        <p:nvSpPr>
          <p:cNvPr id="12" name="Shape 10"/>
          <p:cNvSpPr/>
          <p:nvPr/>
        </p:nvSpPr>
        <p:spPr>
          <a:xfrm>
            <a:off x="8366760" y="1645920"/>
            <a:ext cx="2148840" cy="914400"/>
          </a:xfrm>
          <a:prstGeom prst="roundRect">
            <a:avLst>
              <a:gd name="adj" fmla="val 8000"/>
            </a:avLst>
          </a:prstGeom>
          <a:solidFill>
            <a:srgbClr val="FDFBF5"/>
          </a:solidFill>
          <a:ln w="12700">
            <a:solidFill>
              <a:srgbClr val="C9A44C"/>
            </a:solidFill>
            <a:prstDash val="solid"/>
          </a:ln>
        </p:spPr>
      </p:sp>
      <p:sp>
        <p:nvSpPr>
          <p:cNvPr id="13" name="Text 11"/>
          <p:cNvSpPr/>
          <p:nvPr/>
        </p:nvSpPr>
        <p:spPr>
          <a:xfrm>
            <a:off x="8476488" y="1737360"/>
            <a:ext cx="1929384" cy="749808"/>
          </a:xfrm>
          <a:prstGeom prst="rect">
            <a:avLst/>
          </a:prstGeom>
          <a:noFill/>
          <a:ln/>
        </p:spPr>
        <p:txBody>
          <a:bodyPr wrap="square" lIns="127" tIns="127" rIns="127" bIns="127" rtlCol="0" anchor="ctr">
            <a:normAutofit/>
          </a:bodyPr>
          <a:lstStyle/>
          <a:p>
            <a:pPr indent="0" marL="0">
              <a:buNone/>
            </a:pPr>
            <a:r>
              <a:rPr lang="en-US" sz="1400" b="1" dirty="0">
                <a:solidFill>
                  <a:srgbClr val="24303F"/>
                </a:solidFill>
              </a:rPr>
              <a:t>Class readiness</a:t>
            </a:r>
            <a:endParaRPr lang="en-US" sz="1400" dirty="0"/>
          </a:p>
          <a:p>
            <a:pPr indent="0" marL="0">
              <a:buNone/>
            </a:pPr>
            <a:r>
              <a:rPr lang="en-US" sz="1400" b="1" dirty="0">
                <a:solidFill>
                  <a:srgbClr val="24303F"/>
                </a:solidFill>
              </a:rPr>
              <a:t>reminders + attendance</a:t>
            </a:r>
            <a:endParaRPr lang="en-US" sz="1400" dirty="0"/>
          </a:p>
        </p:txBody>
      </p:sp>
      <p:sp>
        <p:nvSpPr>
          <p:cNvPr id="14" name="Shape 12"/>
          <p:cNvSpPr/>
          <p:nvPr/>
        </p:nvSpPr>
        <p:spPr>
          <a:xfrm>
            <a:off x="6995160" y="3429000"/>
            <a:ext cx="2377440" cy="914400"/>
          </a:xfrm>
          <a:prstGeom prst="roundRect">
            <a:avLst>
              <a:gd name="adj" fmla="val 8000"/>
            </a:avLst>
          </a:prstGeom>
          <a:solidFill>
            <a:srgbClr val="FFFFFF"/>
          </a:solidFill>
          <a:ln w="12700">
            <a:solidFill>
              <a:srgbClr val="B85C5C"/>
            </a:solidFill>
            <a:prstDash val="solid"/>
          </a:ln>
        </p:spPr>
      </p:sp>
      <p:sp>
        <p:nvSpPr>
          <p:cNvPr id="15" name="Text 13"/>
          <p:cNvSpPr/>
          <p:nvPr/>
        </p:nvSpPr>
        <p:spPr>
          <a:xfrm>
            <a:off x="7104888" y="3520440"/>
            <a:ext cx="2157984" cy="749808"/>
          </a:xfrm>
          <a:prstGeom prst="rect">
            <a:avLst/>
          </a:prstGeom>
          <a:noFill/>
          <a:ln/>
        </p:spPr>
        <p:txBody>
          <a:bodyPr wrap="square" lIns="127" tIns="127" rIns="127" bIns="127" rtlCol="0" anchor="ctr">
            <a:normAutofit/>
          </a:bodyPr>
          <a:lstStyle/>
          <a:p>
            <a:pPr indent="0" marL="0">
              <a:buNone/>
            </a:pPr>
            <a:r>
              <a:rPr lang="en-US" sz="1500" b="1" dirty="0">
                <a:solidFill>
                  <a:srgbClr val="24303F"/>
                </a:solidFill>
              </a:rPr>
              <a:t>Certificate issuing</a:t>
            </a:r>
            <a:endParaRPr lang="en-US" sz="1500" dirty="0"/>
          </a:p>
          <a:p>
            <a:pPr indent="0" marL="0">
              <a:buNone/>
            </a:pPr>
            <a:r>
              <a:rPr lang="en-US" sz="1500" b="1" dirty="0">
                <a:solidFill>
                  <a:srgbClr val="24303F"/>
                </a:solidFill>
              </a:rPr>
              <a:t>22 late/month</a:t>
            </a:r>
            <a:endParaRPr lang="en-US" sz="1500" dirty="0"/>
          </a:p>
        </p:txBody>
      </p:sp>
      <p:sp>
        <p:nvSpPr>
          <p:cNvPr id="16" name="Shape 14"/>
          <p:cNvSpPr/>
          <p:nvPr/>
        </p:nvSpPr>
        <p:spPr>
          <a:xfrm>
            <a:off x="8778240" y="2560320"/>
            <a:ext cx="-548640" cy="868680"/>
          </a:xfrm>
          <a:prstGeom prst="line">
            <a:avLst/>
          </a:prstGeom>
          <a:noFill/>
          <a:ln w="12700">
            <a:solidFill>
              <a:srgbClr val="2A9D8F"/>
            </a:solidFill>
            <a:prstDash val="solid"/>
            <a:headEnd type="none"/>
            <a:tailEnd type="triangle"/>
          </a:ln>
        </p:spPr>
      </p:sp>
      <p:sp>
        <p:nvSpPr>
          <p:cNvPr id="17" name="Text 15"/>
          <p:cNvSpPr/>
          <p:nvPr/>
        </p:nvSpPr>
        <p:spPr>
          <a:xfrm>
            <a:off x="11384280" y="6428232"/>
            <a:ext cx="320040" cy="109728"/>
          </a:xfrm>
          <a:prstGeom prst="rect">
            <a:avLst/>
          </a:prstGeom>
          <a:noFill/>
          <a:ln/>
        </p:spPr>
        <p:txBody>
          <a:bodyPr wrap="square" lIns="0" tIns="0" rIns="0" bIns="0" rtlCol="0" anchor="ctr"/>
          <a:lstStyle/>
          <a:p>
            <a:pPr algn="r" indent="0" marL="0">
              <a:buNone/>
            </a:pPr>
            <a:r>
              <a:rPr lang="en-US" sz="700" dirty="0">
                <a:solidFill>
                  <a:srgbClr val="FFFFFF"/>
                </a:solidFill>
              </a:rPr>
              <a:t>16</a:t>
            </a:r>
            <a:endParaRPr lang="en-US" sz="7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3EA"/>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4213D"/>
          </a:solidFill>
          <a:ln w="12700">
            <a:solidFill>
              <a:srgbClr val="14213D">
                <a:alpha val="0"/>
              </a:srgbClr>
            </a:solidFill>
            <a:prstDash val="solid"/>
          </a:ln>
        </p:spPr>
      </p:sp>
      <p:sp>
        <p:nvSpPr>
          <p:cNvPr id="3" name="Shape 1"/>
          <p:cNvSpPr/>
          <p:nvPr/>
        </p:nvSpPr>
        <p:spPr>
          <a:xfrm>
            <a:off x="0" y="6693408"/>
            <a:ext cx="12191695" cy="164592"/>
          </a:xfrm>
          <a:prstGeom prst="rect">
            <a:avLst/>
          </a:prstGeom>
          <a:solidFill>
            <a:srgbClr val="14213D"/>
          </a:solidFill>
          <a:ln w="12700">
            <a:solidFill>
              <a:srgbClr val="14213D">
                <a:alpha val="0"/>
              </a:srgbClr>
            </a:solidFill>
            <a:prstDash val="solid"/>
          </a:ln>
        </p:spPr>
      </p:sp>
      <p:sp>
        <p:nvSpPr>
          <p:cNvPr id="4" name="Text 2"/>
          <p:cNvSpPr/>
          <p:nvPr/>
        </p:nvSpPr>
        <p:spPr>
          <a:xfrm>
            <a:off x="502920" y="256032"/>
            <a:ext cx="4480560" cy="164592"/>
          </a:xfrm>
          <a:prstGeom prst="rect">
            <a:avLst/>
          </a:prstGeom>
          <a:noFill/>
          <a:ln/>
        </p:spPr>
        <p:txBody>
          <a:bodyPr wrap="square" lIns="0" tIns="0" rIns="0" bIns="0" rtlCol="0" anchor="ctr"/>
          <a:lstStyle/>
          <a:p>
            <a:pPr indent="0" marL="0">
              <a:buNone/>
            </a:pPr>
            <a:r>
              <a:rPr lang="en-US" sz="700" b="1" dirty="0">
                <a:solidFill>
                  <a:srgbClr val="2A9D8F"/>
                </a:solidFill>
                <a:latin typeface="Aptos" pitchFamily="34" charset="0"/>
                <a:ea typeface="Aptos" pitchFamily="34" charset="-122"/>
                <a:cs typeface="Aptos" pitchFamily="34" charset="-120"/>
              </a:rPr>
              <a:t>SECTION 3</a:t>
            </a:r>
            <a:endParaRPr lang="en-US" sz="700" dirty="0"/>
          </a:p>
        </p:txBody>
      </p:sp>
      <p:sp>
        <p:nvSpPr>
          <p:cNvPr id="5" name="Text 3"/>
          <p:cNvSpPr/>
          <p:nvPr/>
        </p:nvSpPr>
        <p:spPr>
          <a:xfrm>
            <a:off x="9281160" y="219456"/>
            <a:ext cx="2423160" cy="182880"/>
          </a:xfrm>
          <a:prstGeom prst="rect">
            <a:avLst/>
          </a:prstGeom>
          <a:noFill/>
          <a:ln/>
        </p:spPr>
        <p:txBody>
          <a:bodyPr wrap="square" lIns="0" tIns="0" rIns="0" bIns="0" rtlCol="0" anchor="ctr"/>
          <a:lstStyle/>
          <a:p>
            <a:pPr algn="r" indent="0" marL="0">
              <a:buNone/>
            </a:pPr>
            <a:r>
              <a:rPr lang="en-US" sz="700" dirty="0">
                <a:solidFill>
                  <a:srgbClr val="6D7886"/>
                </a:solidFill>
              </a:rPr>
              <a:t>Jifunze.ai skill booster</a:t>
            </a:r>
            <a:endParaRPr lang="en-US" sz="700" dirty="0"/>
          </a:p>
        </p:txBody>
      </p:sp>
      <p:sp>
        <p:nvSpPr>
          <p:cNvPr id="6" name="Text 4"/>
          <p:cNvSpPr/>
          <p:nvPr/>
        </p:nvSpPr>
        <p:spPr>
          <a:xfrm>
            <a:off x="502920" y="502920"/>
            <a:ext cx="4617720" cy="475488"/>
          </a:xfrm>
          <a:prstGeom prst="rect">
            <a:avLst/>
          </a:prstGeom>
          <a:noFill/>
          <a:ln/>
        </p:spPr>
        <p:txBody>
          <a:bodyPr wrap="square" lIns="127" tIns="127" rIns="127" bIns="127" rtlCol="0" anchor="ctr">
            <a:normAutofit/>
          </a:bodyPr>
          <a:lstStyle/>
          <a:p>
            <a:pPr indent="0" marL="0">
              <a:buNone/>
            </a:pPr>
            <a:r>
              <a:rPr lang="en-US" sz="2500" b="1" dirty="0">
                <a:solidFill>
                  <a:srgbClr val="14213D"/>
                </a:solidFill>
                <a:latin typeface="Aptos Display" pitchFamily="34" charset="0"/>
                <a:ea typeface="Aptos Display" pitchFamily="34" charset="-122"/>
                <a:cs typeface="Aptos Display" pitchFamily="34" charset="-120"/>
              </a:rPr>
              <a:t>How to decide if a task is automation-ready</a:t>
            </a:r>
            <a:endParaRPr lang="en-US" sz="2500" dirty="0"/>
          </a:p>
        </p:txBody>
      </p:sp>
      <p:sp>
        <p:nvSpPr>
          <p:cNvPr id="7" name="Text 5"/>
          <p:cNvSpPr/>
          <p:nvPr/>
        </p:nvSpPr>
        <p:spPr>
          <a:xfrm>
            <a:off x="521208" y="1005840"/>
            <a:ext cx="4617720" cy="228600"/>
          </a:xfrm>
          <a:prstGeom prst="rect">
            <a:avLst/>
          </a:prstGeom>
          <a:noFill/>
          <a:ln/>
        </p:spPr>
        <p:txBody>
          <a:bodyPr wrap="square" lIns="0" tIns="0" rIns="0" bIns="0" rtlCol="0" anchor="ctr">
            <a:normAutofit/>
          </a:bodyPr>
          <a:lstStyle/>
          <a:p>
            <a:pPr indent="0" marL="0">
              <a:buNone/>
            </a:pPr>
            <a:r>
              <a:rPr lang="en-US" sz="1080" dirty="0">
                <a:solidFill>
                  <a:srgbClr val="24303F"/>
                </a:solidFill>
              </a:rPr>
              <a:t>A good candidate is frequent, rule-based, and low-risk</a:t>
            </a:r>
            <a:endParaRPr lang="en-US" sz="1080" dirty="0"/>
          </a:p>
        </p:txBody>
      </p:sp>
      <p:sp>
        <p:nvSpPr>
          <p:cNvPr id="8" name="Text 6"/>
          <p:cNvSpPr/>
          <p:nvPr/>
        </p:nvSpPr>
        <p:spPr>
          <a:xfrm>
            <a:off x="594360" y="1417320"/>
            <a:ext cx="4617720" cy="4343400"/>
          </a:xfrm>
          <a:prstGeom prst="rect">
            <a:avLst/>
          </a:prstGeom>
          <a:noFill/>
          <a:ln/>
        </p:spPr>
        <p:txBody>
          <a:bodyPr wrap="square" lIns="635" tIns="635" rIns="635" bIns="635" rtlCol="0" anchor="ctr">
            <a:normAutofit/>
          </a:bodyPr>
          <a:lstStyle/>
          <a:p>
            <a:r>
              <a:rPr lang="en-US" sz="1450" dirty="0">
                <a:solidFill>
                  <a:srgbClr val="24303F"/>
                </a:solidFill>
              </a:rPr>
              <a:t>• High monthly volume</a:t>
            </a:r>
            <a:endParaRPr lang="en-US" sz="1450" dirty="0"/>
          </a:p>
          <a:p>
            <a:r>
              <a:rPr lang="en-US" sz="1450" dirty="0">
                <a:solidFill>
                  <a:srgbClr val="24303F"/>
                </a:solidFill>
              </a:rPr>
              <a:t>• Clear trigger and expected action</a:t>
            </a:r>
            <a:endParaRPr lang="en-US" sz="1450" dirty="0"/>
          </a:p>
          <a:p>
            <a:r>
              <a:rPr lang="en-US" sz="1450" dirty="0">
                <a:solidFill>
                  <a:srgbClr val="24303F"/>
                </a:solidFill>
              </a:rPr>
              <a:t>• Standard messages or templates</a:t>
            </a:r>
            <a:endParaRPr lang="en-US" sz="1450" dirty="0"/>
          </a:p>
          <a:p>
            <a:r>
              <a:rPr lang="en-US" sz="1450" dirty="0">
                <a:solidFill>
                  <a:srgbClr val="24303F"/>
                </a:solidFill>
              </a:rPr>
              <a:t>• Low need for sensitive judgment</a:t>
            </a:r>
            <a:endParaRPr lang="en-US" sz="1450" dirty="0"/>
          </a:p>
          <a:p>
            <a:r>
              <a:rPr lang="en-US" sz="1450" dirty="0">
                <a:solidFill>
                  <a:srgbClr val="24303F"/>
                </a:solidFill>
              </a:rPr>
              <a:t>• Measurable outcome after launch</a:t>
            </a:r>
            <a:endParaRPr lang="en-US" sz="1450" dirty="0"/>
          </a:p>
        </p:txBody>
      </p:sp>
      <p:sp>
        <p:nvSpPr>
          <p:cNvPr id="9" name="Shape 7"/>
          <p:cNvSpPr/>
          <p:nvPr/>
        </p:nvSpPr>
        <p:spPr>
          <a:xfrm>
            <a:off x="5715000" y="1234440"/>
            <a:ext cx="2514600" cy="563880"/>
          </a:xfrm>
          <a:prstGeom prst="rect">
            <a:avLst/>
          </a:prstGeom>
          <a:solidFill>
            <a:srgbClr val="14213D"/>
          </a:solidFill>
          <a:ln w="12700">
            <a:solidFill>
              <a:srgbClr val="FFFFFF"/>
            </a:solidFill>
            <a:prstDash val="solid"/>
          </a:ln>
        </p:spPr>
      </p:sp>
      <p:sp>
        <p:nvSpPr>
          <p:cNvPr id="10" name="Text 8"/>
          <p:cNvSpPr/>
          <p:nvPr/>
        </p:nvSpPr>
        <p:spPr>
          <a:xfrm>
            <a:off x="5751576" y="1280160"/>
            <a:ext cx="2441448" cy="490728"/>
          </a:xfrm>
          <a:prstGeom prst="rect">
            <a:avLst/>
          </a:prstGeom>
          <a:noFill/>
          <a:ln/>
        </p:spPr>
        <p:txBody>
          <a:bodyPr wrap="square" lIns="0" tIns="0" rIns="0" bIns="0" rtlCol="0" anchor="ctr">
            <a:normAutofit/>
          </a:bodyPr>
          <a:lstStyle/>
          <a:p>
            <a:pPr indent="0" marL="0">
              <a:buNone/>
            </a:pPr>
            <a:r>
              <a:rPr lang="en-US" sz="1000" b="1" dirty="0">
                <a:solidFill>
                  <a:srgbClr val="FFFFFF"/>
                </a:solidFill>
              </a:rPr>
              <a:t>Question</a:t>
            </a:r>
            <a:endParaRPr lang="en-US" sz="1000" dirty="0"/>
          </a:p>
        </p:txBody>
      </p:sp>
      <p:sp>
        <p:nvSpPr>
          <p:cNvPr id="11" name="Shape 9"/>
          <p:cNvSpPr/>
          <p:nvPr/>
        </p:nvSpPr>
        <p:spPr>
          <a:xfrm>
            <a:off x="8229600" y="1234440"/>
            <a:ext cx="2788920" cy="563880"/>
          </a:xfrm>
          <a:prstGeom prst="rect">
            <a:avLst/>
          </a:prstGeom>
          <a:solidFill>
            <a:srgbClr val="14213D"/>
          </a:solidFill>
          <a:ln w="12700">
            <a:solidFill>
              <a:srgbClr val="FFFFFF"/>
            </a:solidFill>
            <a:prstDash val="solid"/>
          </a:ln>
        </p:spPr>
      </p:sp>
      <p:sp>
        <p:nvSpPr>
          <p:cNvPr id="12" name="Text 10"/>
          <p:cNvSpPr/>
          <p:nvPr/>
        </p:nvSpPr>
        <p:spPr>
          <a:xfrm>
            <a:off x="8266176" y="1280160"/>
            <a:ext cx="2715768" cy="490728"/>
          </a:xfrm>
          <a:prstGeom prst="rect">
            <a:avLst/>
          </a:prstGeom>
          <a:noFill/>
          <a:ln/>
        </p:spPr>
        <p:txBody>
          <a:bodyPr wrap="square" lIns="0" tIns="0" rIns="0" bIns="0" rtlCol="0" anchor="ctr">
            <a:normAutofit/>
          </a:bodyPr>
          <a:lstStyle/>
          <a:p>
            <a:pPr indent="0" marL="0">
              <a:buNone/>
            </a:pPr>
            <a:r>
              <a:rPr lang="en-US" sz="1000" b="1" dirty="0">
                <a:solidFill>
                  <a:srgbClr val="FFFFFF"/>
                </a:solidFill>
              </a:rPr>
              <a:t>Automation-ready signal</a:t>
            </a:r>
            <a:endParaRPr lang="en-US" sz="1000" dirty="0"/>
          </a:p>
        </p:txBody>
      </p:sp>
      <p:sp>
        <p:nvSpPr>
          <p:cNvPr id="13" name="Shape 11"/>
          <p:cNvSpPr/>
          <p:nvPr/>
        </p:nvSpPr>
        <p:spPr>
          <a:xfrm>
            <a:off x="5715000" y="1798320"/>
            <a:ext cx="2514600" cy="563880"/>
          </a:xfrm>
          <a:prstGeom prst="rect">
            <a:avLst/>
          </a:prstGeom>
          <a:solidFill>
            <a:srgbClr val="FDFBF5"/>
          </a:solidFill>
          <a:ln w="12700">
            <a:solidFill>
              <a:srgbClr val="E7DFD0"/>
            </a:solidFill>
            <a:prstDash val="solid"/>
          </a:ln>
        </p:spPr>
      </p:sp>
      <p:sp>
        <p:nvSpPr>
          <p:cNvPr id="14" name="Text 12"/>
          <p:cNvSpPr/>
          <p:nvPr/>
        </p:nvSpPr>
        <p:spPr>
          <a:xfrm>
            <a:off x="5751576" y="1834896"/>
            <a:ext cx="2441448" cy="490728"/>
          </a:xfrm>
          <a:prstGeom prst="rect">
            <a:avLst/>
          </a:prstGeom>
          <a:noFill/>
          <a:ln/>
        </p:spPr>
        <p:txBody>
          <a:bodyPr wrap="square" lIns="0" tIns="0" rIns="0" bIns="0" rtlCol="0" anchor="ctr">
            <a:normAutofit/>
          </a:bodyPr>
          <a:lstStyle/>
          <a:p>
            <a:pPr indent="0" marL="0">
              <a:buNone/>
            </a:pPr>
            <a:r>
              <a:rPr lang="en-US" sz="1000" dirty="0">
                <a:solidFill>
                  <a:srgbClr val="24303F"/>
                </a:solidFill>
              </a:rPr>
              <a:t>Does it repeat often?</a:t>
            </a:r>
            <a:endParaRPr lang="en-US" sz="1000" dirty="0"/>
          </a:p>
        </p:txBody>
      </p:sp>
      <p:sp>
        <p:nvSpPr>
          <p:cNvPr id="15" name="Shape 13"/>
          <p:cNvSpPr/>
          <p:nvPr/>
        </p:nvSpPr>
        <p:spPr>
          <a:xfrm>
            <a:off x="8229600" y="1798320"/>
            <a:ext cx="2788920" cy="563880"/>
          </a:xfrm>
          <a:prstGeom prst="rect">
            <a:avLst/>
          </a:prstGeom>
          <a:solidFill>
            <a:srgbClr val="FDFBF5"/>
          </a:solidFill>
          <a:ln w="12700">
            <a:solidFill>
              <a:srgbClr val="E7DFD0"/>
            </a:solidFill>
            <a:prstDash val="solid"/>
          </a:ln>
        </p:spPr>
      </p:sp>
      <p:sp>
        <p:nvSpPr>
          <p:cNvPr id="16" name="Text 14"/>
          <p:cNvSpPr/>
          <p:nvPr/>
        </p:nvSpPr>
        <p:spPr>
          <a:xfrm>
            <a:off x="8266176" y="1834896"/>
            <a:ext cx="2715768" cy="490728"/>
          </a:xfrm>
          <a:prstGeom prst="rect">
            <a:avLst/>
          </a:prstGeom>
          <a:noFill/>
          <a:ln/>
        </p:spPr>
        <p:txBody>
          <a:bodyPr wrap="square" lIns="0" tIns="0" rIns="0" bIns="0" rtlCol="0" anchor="ctr">
            <a:normAutofit/>
          </a:bodyPr>
          <a:lstStyle/>
          <a:p>
            <a:pPr indent="0" marL="0">
              <a:buNone/>
            </a:pPr>
            <a:r>
              <a:rPr lang="en-US" sz="1000" dirty="0">
                <a:solidFill>
                  <a:srgbClr val="24303F"/>
                </a:solidFill>
              </a:rPr>
              <a:t>High volume</a:t>
            </a:r>
            <a:endParaRPr lang="en-US" sz="1000" dirty="0"/>
          </a:p>
        </p:txBody>
      </p:sp>
      <p:sp>
        <p:nvSpPr>
          <p:cNvPr id="17" name="Shape 15"/>
          <p:cNvSpPr/>
          <p:nvPr/>
        </p:nvSpPr>
        <p:spPr>
          <a:xfrm>
            <a:off x="5715000" y="2362200"/>
            <a:ext cx="2514600" cy="563880"/>
          </a:xfrm>
          <a:prstGeom prst="rect">
            <a:avLst/>
          </a:prstGeom>
          <a:solidFill>
            <a:srgbClr val="FFFFFF"/>
          </a:solidFill>
          <a:ln w="12700">
            <a:solidFill>
              <a:srgbClr val="E7DFD0"/>
            </a:solidFill>
            <a:prstDash val="solid"/>
          </a:ln>
        </p:spPr>
      </p:sp>
      <p:sp>
        <p:nvSpPr>
          <p:cNvPr id="18" name="Text 16"/>
          <p:cNvSpPr/>
          <p:nvPr/>
        </p:nvSpPr>
        <p:spPr>
          <a:xfrm>
            <a:off x="5751576" y="2398776"/>
            <a:ext cx="2441448" cy="490728"/>
          </a:xfrm>
          <a:prstGeom prst="rect">
            <a:avLst/>
          </a:prstGeom>
          <a:noFill/>
          <a:ln/>
        </p:spPr>
        <p:txBody>
          <a:bodyPr wrap="square" lIns="0" tIns="0" rIns="0" bIns="0" rtlCol="0" anchor="ctr">
            <a:normAutofit/>
          </a:bodyPr>
          <a:lstStyle/>
          <a:p>
            <a:pPr indent="0" marL="0">
              <a:buNone/>
            </a:pPr>
            <a:r>
              <a:rPr lang="en-US" sz="1000" dirty="0">
                <a:solidFill>
                  <a:srgbClr val="24303F"/>
                </a:solidFill>
              </a:rPr>
              <a:t>Are rules clear?</a:t>
            </a:r>
            <a:endParaRPr lang="en-US" sz="1000" dirty="0"/>
          </a:p>
        </p:txBody>
      </p:sp>
      <p:sp>
        <p:nvSpPr>
          <p:cNvPr id="19" name="Shape 17"/>
          <p:cNvSpPr/>
          <p:nvPr/>
        </p:nvSpPr>
        <p:spPr>
          <a:xfrm>
            <a:off x="8229600" y="2362200"/>
            <a:ext cx="2788920" cy="563880"/>
          </a:xfrm>
          <a:prstGeom prst="rect">
            <a:avLst/>
          </a:prstGeom>
          <a:solidFill>
            <a:srgbClr val="FFFFFF"/>
          </a:solidFill>
          <a:ln w="12700">
            <a:solidFill>
              <a:srgbClr val="E7DFD0"/>
            </a:solidFill>
            <a:prstDash val="solid"/>
          </a:ln>
        </p:spPr>
      </p:sp>
      <p:sp>
        <p:nvSpPr>
          <p:cNvPr id="20" name="Text 18"/>
          <p:cNvSpPr/>
          <p:nvPr/>
        </p:nvSpPr>
        <p:spPr>
          <a:xfrm>
            <a:off x="8266176" y="2398776"/>
            <a:ext cx="2715768" cy="490728"/>
          </a:xfrm>
          <a:prstGeom prst="rect">
            <a:avLst/>
          </a:prstGeom>
          <a:noFill/>
          <a:ln/>
        </p:spPr>
        <p:txBody>
          <a:bodyPr wrap="square" lIns="0" tIns="0" rIns="0" bIns="0" rtlCol="0" anchor="ctr">
            <a:normAutofit/>
          </a:bodyPr>
          <a:lstStyle/>
          <a:p>
            <a:pPr indent="0" marL="0">
              <a:buNone/>
            </a:pPr>
            <a:r>
              <a:rPr lang="en-US" sz="1000" dirty="0">
                <a:solidFill>
                  <a:srgbClr val="24303F"/>
                </a:solidFill>
              </a:rPr>
              <a:t>Predictable path</a:t>
            </a:r>
            <a:endParaRPr lang="en-US" sz="1000" dirty="0"/>
          </a:p>
        </p:txBody>
      </p:sp>
      <p:sp>
        <p:nvSpPr>
          <p:cNvPr id="21" name="Shape 19"/>
          <p:cNvSpPr/>
          <p:nvPr/>
        </p:nvSpPr>
        <p:spPr>
          <a:xfrm>
            <a:off x="5715000" y="2926080"/>
            <a:ext cx="2514600" cy="563880"/>
          </a:xfrm>
          <a:prstGeom prst="rect">
            <a:avLst/>
          </a:prstGeom>
          <a:solidFill>
            <a:srgbClr val="FDFBF5"/>
          </a:solidFill>
          <a:ln w="12700">
            <a:solidFill>
              <a:srgbClr val="E7DFD0"/>
            </a:solidFill>
            <a:prstDash val="solid"/>
          </a:ln>
        </p:spPr>
      </p:sp>
      <p:sp>
        <p:nvSpPr>
          <p:cNvPr id="22" name="Text 20"/>
          <p:cNvSpPr/>
          <p:nvPr/>
        </p:nvSpPr>
        <p:spPr>
          <a:xfrm>
            <a:off x="5751576" y="2962656"/>
            <a:ext cx="2441448" cy="490728"/>
          </a:xfrm>
          <a:prstGeom prst="rect">
            <a:avLst/>
          </a:prstGeom>
          <a:noFill/>
          <a:ln/>
        </p:spPr>
        <p:txBody>
          <a:bodyPr wrap="square" lIns="0" tIns="0" rIns="0" bIns="0" rtlCol="0" anchor="ctr">
            <a:normAutofit/>
          </a:bodyPr>
          <a:lstStyle/>
          <a:p>
            <a:pPr indent="0" marL="0">
              <a:buNone/>
            </a:pPr>
            <a:r>
              <a:rPr lang="en-US" sz="1000" dirty="0">
                <a:solidFill>
                  <a:srgbClr val="24303F"/>
                </a:solidFill>
              </a:rPr>
              <a:t>Can templates work?</a:t>
            </a:r>
            <a:endParaRPr lang="en-US" sz="1000" dirty="0"/>
          </a:p>
        </p:txBody>
      </p:sp>
      <p:sp>
        <p:nvSpPr>
          <p:cNvPr id="23" name="Shape 21"/>
          <p:cNvSpPr/>
          <p:nvPr/>
        </p:nvSpPr>
        <p:spPr>
          <a:xfrm>
            <a:off x="8229600" y="2926080"/>
            <a:ext cx="2788920" cy="563880"/>
          </a:xfrm>
          <a:prstGeom prst="rect">
            <a:avLst/>
          </a:prstGeom>
          <a:solidFill>
            <a:srgbClr val="FDFBF5"/>
          </a:solidFill>
          <a:ln w="12700">
            <a:solidFill>
              <a:srgbClr val="E7DFD0"/>
            </a:solidFill>
            <a:prstDash val="solid"/>
          </a:ln>
        </p:spPr>
      </p:sp>
      <p:sp>
        <p:nvSpPr>
          <p:cNvPr id="24" name="Text 22"/>
          <p:cNvSpPr/>
          <p:nvPr/>
        </p:nvSpPr>
        <p:spPr>
          <a:xfrm>
            <a:off x="8266176" y="2962656"/>
            <a:ext cx="2715768" cy="490728"/>
          </a:xfrm>
          <a:prstGeom prst="rect">
            <a:avLst/>
          </a:prstGeom>
          <a:noFill/>
          <a:ln/>
        </p:spPr>
        <p:txBody>
          <a:bodyPr wrap="square" lIns="0" tIns="0" rIns="0" bIns="0" rtlCol="0" anchor="ctr">
            <a:normAutofit/>
          </a:bodyPr>
          <a:lstStyle/>
          <a:p>
            <a:pPr indent="0" marL="0">
              <a:buNone/>
            </a:pPr>
            <a:r>
              <a:rPr lang="en-US" sz="1000" dirty="0">
                <a:solidFill>
                  <a:srgbClr val="24303F"/>
                </a:solidFill>
              </a:rPr>
              <a:t>Low variation</a:t>
            </a:r>
            <a:endParaRPr lang="en-US" sz="1000" dirty="0"/>
          </a:p>
        </p:txBody>
      </p:sp>
      <p:sp>
        <p:nvSpPr>
          <p:cNvPr id="25" name="Shape 23"/>
          <p:cNvSpPr/>
          <p:nvPr/>
        </p:nvSpPr>
        <p:spPr>
          <a:xfrm>
            <a:off x="5715000" y="3489960"/>
            <a:ext cx="2514600" cy="563880"/>
          </a:xfrm>
          <a:prstGeom prst="rect">
            <a:avLst/>
          </a:prstGeom>
          <a:solidFill>
            <a:srgbClr val="FFFFFF"/>
          </a:solidFill>
          <a:ln w="12700">
            <a:solidFill>
              <a:srgbClr val="E7DFD0"/>
            </a:solidFill>
            <a:prstDash val="solid"/>
          </a:ln>
        </p:spPr>
      </p:sp>
      <p:sp>
        <p:nvSpPr>
          <p:cNvPr id="26" name="Text 24"/>
          <p:cNvSpPr/>
          <p:nvPr/>
        </p:nvSpPr>
        <p:spPr>
          <a:xfrm>
            <a:off x="5751576" y="3526536"/>
            <a:ext cx="2441448" cy="490728"/>
          </a:xfrm>
          <a:prstGeom prst="rect">
            <a:avLst/>
          </a:prstGeom>
          <a:noFill/>
          <a:ln/>
        </p:spPr>
        <p:txBody>
          <a:bodyPr wrap="square" lIns="0" tIns="0" rIns="0" bIns="0" rtlCol="0" anchor="ctr">
            <a:normAutofit/>
          </a:bodyPr>
          <a:lstStyle/>
          <a:p>
            <a:pPr indent="0" marL="0">
              <a:buNone/>
            </a:pPr>
            <a:r>
              <a:rPr lang="en-US" sz="1000" dirty="0">
                <a:solidFill>
                  <a:srgbClr val="24303F"/>
                </a:solidFill>
              </a:rPr>
              <a:t>Is data structured?</a:t>
            </a:r>
            <a:endParaRPr lang="en-US" sz="1000" dirty="0"/>
          </a:p>
        </p:txBody>
      </p:sp>
      <p:sp>
        <p:nvSpPr>
          <p:cNvPr id="27" name="Shape 25"/>
          <p:cNvSpPr/>
          <p:nvPr/>
        </p:nvSpPr>
        <p:spPr>
          <a:xfrm>
            <a:off x="8229600" y="3489960"/>
            <a:ext cx="2788920" cy="563880"/>
          </a:xfrm>
          <a:prstGeom prst="rect">
            <a:avLst/>
          </a:prstGeom>
          <a:solidFill>
            <a:srgbClr val="FFFFFF"/>
          </a:solidFill>
          <a:ln w="12700">
            <a:solidFill>
              <a:srgbClr val="E7DFD0"/>
            </a:solidFill>
            <a:prstDash val="solid"/>
          </a:ln>
        </p:spPr>
      </p:sp>
      <p:sp>
        <p:nvSpPr>
          <p:cNvPr id="28" name="Text 26"/>
          <p:cNvSpPr/>
          <p:nvPr/>
        </p:nvSpPr>
        <p:spPr>
          <a:xfrm>
            <a:off x="8266176" y="3526536"/>
            <a:ext cx="2715768" cy="490728"/>
          </a:xfrm>
          <a:prstGeom prst="rect">
            <a:avLst/>
          </a:prstGeom>
          <a:noFill/>
          <a:ln/>
        </p:spPr>
        <p:txBody>
          <a:bodyPr wrap="square" lIns="0" tIns="0" rIns="0" bIns="0" rtlCol="0" anchor="ctr">
            <a:normAutofit/>
          </a:bodyPr>
          <a:lstStyle/>
          <a:p>
            <a:pPr indent="0" marL="0">
              <a:buNone/>
            </a:pPr>
            <a:r>
              <a:rPr lang="en-US" sz="1000" dirty="0">
                <a:solidFill>
                  <a:srgbClr val="24303F"/>
                </a:solidFill>
              </a:rPr>
              <a:t>Form fields exist</a:t>
            </a:r>
            <a:endParaRPr lang="en-US" sz="1000" dirty="0"/>
          </a:p>
        </p:txBody>
      </p:sp>
      <p:sp>
        <p:nvSpPr>
          <p:cNvPr id="29" name="Shape 27"/>
          <p:cNvSpPr/>
          <p:nvPr/>
        </p:nvSpPr>
        <p:spPr>
          <a:xfrm>
            <a:off x="5715000" y="4053840"/>
            <a:ext cx="2514600" cy="563880"/>
          </a:xfrm>
          <a:prstGeom prst="rect">
            <a:avLst/>
          </a:prstGeom>
          <a:solidFill>
            <a:srgbClr val="FDFBF5"/>
          </a:solidFill>
          <a:ln w="12700">
            <a:solidFill>
              <a:srgbClr val="E7DFD0"/>
            </a:solidFill>
            <a:prstDash val="solid"/>
          </a:ln>
        </p:spPr>
      </p:sp>
      <p:sp>
        <p:nvSpPr>
          <p:cNvPr id="30" name="Text 28"/>
          <p:cNvSpPr/>
          <p:nvPr/>
        </p:nvSpPr>
        <p:spPr>
          <a:xfrm>
            <a:off x="5751576" y="4090416"/>
            <a:ext cx="2441448" cy="490728"/>
          </a:xfrm>
          <a:prstGeom prst="rect">
            <a:avLst/>
          </a:prstGeom>
          <a:noFill/>
          <a:ln/>
        </p:spPr>
        <p:txBody>
          <a:bodyPr wrap="square" lIns="0" tIns="0" rIns="0" bIns="0" rtlCol="0" anchor="ctr">
            <a:normAutofit/>
          </a:bodyPr>
          <a:lstStyle/>
          <a:p>
            <a:pPr indent="0" marL="0">
              <a:buNone/>
            </a:pPr>
            <a:r>
              <a:rPr lang="en-US" sz="1000" dirty="0">
                <a:solidFill>
                  <a:srgbClr val="24303F"/>
                </a:solidFill>
              </a:rPr>
              <a:t>Can exceptions be reviewed?</a:t>
            </a:r>
            <a:endParaRPr lang="en-US" sz="1000" dirty="0"/>
          </a:p>
        </p:txBody>
      </p:sp>
      <p:sp>
        <p:nvSpPr>
          <p:cNvPr id="31" name="Shape 29"/>
          <p:cNvSpPr/>
          <p:nvPr/>
        </p:nvSpPr>
        <p:spPr>
          <a:xfrm>
            <a:off x="8229600" y="4053840"/>
            <a:ext cx="2788920" cy="563880"/>
          </a:xfrm>
          <a:prstGeom prst="rect">
            <a:avLst/>
          </a:prstGeom>
          <a:solidFill>
            <a:srgbClr val="FDFBF5"/>
          </a:solidFill>
          <a:ln w="12700">
            <a:solidFill>
              <a:srgbClr val="E7DFD0"/>
            </a:solidFill>
            <a:prstDash val="solid"/>
          </a:ln>
        </p:spPr>
      </p:sp>
      <p:sp>
        <p:nvSpPr>
          <p:cNvPr id="32" name="Text 30"/>
          <p:cNvSpPr/>
          <p:nvPr/>
        </p:nvSpPr>
        <p:spPr>
          <a:xfrm>
            <a:off x="8266176" y="4090416"/>
            <a:ext cx="2715768" cy="490728"/>
          </a:xfrm>
          <a:prstGeom prst="rect">
            <a:avLst/>
          </a:prstGeom>
          <a:noFill/>
          <a:ln/>
        </p:spPr>
        <p:txBody>
          <a:bodyPr wrap="square" lIns="0" tIns="0" rIns="0" bIns="0" rtlCol="0" anchor="ctr">
            <a:normAutofit/>
          </a:bodyPr>
          <a:lstStyle/>
          <a:p>
            <a:pPr indent="0" marL="0">
              <a:buNone/>
            </a:pPr>
            <a:r>
              <a:rPr lang="en-US" sz="1000" dirty="0">
                <a:solidFill>
                  <a:srgbClr val="24303F"/>
                </a:solidFill>
              </a:rPr>
              <a:t>Human escalation path</a:t>
            </a:r>
            <a:endParaRPr lang="en-US" sz="1000" dirty="0"/>
          </a:p>
        </p:txBody>
      </p:sp>
      <p:sp>
        <p:nvSpPr>
          <p:cNvPr id="33" name="Text 31"/>
          <p:cNvSpPr/>
          <p:nvPr/>
        </p:nvSpPr>
        <p:spPr>
          <a:xfrm>
            <a:off x="11384280" y="6428232"/>
            <a:ext cx="320040" cy="109728"/>
          </a:xfrm>
          <a:prstGeom prst="rect">
            <a:avLst/>
          </a:prstGeom>
          <a:noFill/>
          <a:ln/>
        </p:spPr>
        <p:txBody>
          <a:bodyPr wrap="square" lIns="0" tIns="0" rIns="0" bIns="0" rtlCol="0" anchor="ctr"/>
          <a:lstStyle/>
          <a:p>
            <a:pPr algn="r" indent="0" marL="0">
              <a:buNone/>
            </a:pPr>
            <a:r>
              <a:rPr lang="en-US" sz="700" dirty="0">
                <a:solidFill>
                  <a:srgbClr val="FFFFFF"/>
                </a:solidFill>
              </a:rPr>
              <a:t>17</a:t>
            </a:r>
            <a:endParaRPr lang="en-US" sz="7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3EA"/>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4213D"/>
          </a:solidFill>
          <a:ln w="12700">
            <a:solidFill>
              <a:srgbClr val="14213D">
                <a:alpha val="0"/>
              </a:srgbClr>
            </a:solidFill>
            <a:prstDash val="solid"/>
          </a:ln>
        </p:spPr>
      </p:sp>
      <p:sp>
        <p:nvSpPr>
          <p:cNvPr id="3" name="Shape 1"/>
          <p:cNvSpPr/>
          <p:nvPr/>
        </p:nvSpPr>
        <p:spPr>
          <a:xfrm>
            <a:off x="0" y="6693408"/>
            <a:ext cx="12191695" cy="164592"/>
          </a:xfrm>
          <a:prstGeom prst="rect">
            <a:avLst/>
          </a:prstGeom>
          <a:solidFill>
            <a:srgbClr val="14213D"/>
          </a:solidFill>
          <a:ln w="12700">
            <a:solidFill>
              <a:srgbClr val="14213D">
                <a:alpha val="0"/>
              </a:srgbClr>
            </a:solidFill>
            <a:prstDash val="solid"/>
          </a:ln>
        </p:spPr>
      </p:sp>
      <p:sp>
        <p:nvSpPr>
          <p:cNvPr id="4" name="Text 2"/>
          <p:cNvSpPr/>
          <p:nvPr/>
        </p:nvSpPr>
        <p:spPr>
          <a:xfrm>
            <a:off x="502920" y="256032"/>
            <a:ext cx="4480560" cy="164592"/>
          </a:xfrm>
          <a:prstGeom prst="rect">
            <a:avLst/>
          </a:prstGeom>
          <a:noFill/>
          <a:ln/>
        </p:spPr>
        <p:txBody>
          <a:bodyPr wrap="square" lIns="0" tIns="0" rIns="0" bIns="0" rtlCol="0" anchor="ctr"/>
          <a:lstStyle/>
          <a:p>
            <a:pPr indent="0" marL="0">
              <a:buNone/>
            </a:pPr>
            <a:r>
              <a:rPr lang="en-US" sz="700" b="1" dirty="0">
                <a:solidFill>
                  <a:srgbClr val="2A9D8F"/>
                </a:solidFill>
                <a:latin typeface="Aptos" pitchFamily="34" charset="0"/>
                <a:ea typeface="Aptos" pitchFamily="34" charset="-122"/>
                <a:cs typeface="Aptos" pitchFamily="34" charset="-120"/>
              </a:rPr>
              <a:t>SECTION 3</a:t>
            </a:r>
            <a:endParaRPr lang="en-US" sz="700" dirty="0"/>
          </a:p>
        </p:txBody>
      </p:sp>
      <p:sp>
        <p:nvSpPr>
          <p:cNvPr id="5" name="Text 3"/>
          <p:cNvSpPr/>
          <p:nvPr/>
        </p:nvSpPr>
        <p:spPr>
          <a:xfrm>
            <a:off x="9281160" y="219456"/>
            <a:ext cx="2423160" cy="182880"/>
          </a:xfrm>
          <a:prstGeom prst="rect">
            <a:avLst/>
          </a:prstGeom>
          <a:noFill/>
          <a:ln/>
        </p:spPr>
        <p:txBody>
          <a:bodyPr wrap="square" lIns="0" tIns="0" rIns="0" bIns="0" rtlCol="0" anchor="ctr"/>
          <a:lstStyle/>
          <a:p>
            <a:pPr algn="r" indent="0" marL="0">
              <a:buNone/>
            </a:pPr>
            <a:r>
              <a:rPr lang="en-US" sz="700" dirty="0">
                <a:solidFill>
                  <a:srgbClr val="6D7886"/>
                </a:solidFill>
              </a:rPr>
              <a:t>Jifunze.ai skill booster</a:t>
            </a:r>
            <a:endParaRPr lang="en-US" sz="700" dirty="0"/>
          </a:p>
        </p:txBody>
      </p:sp>
      <p:sp>
        <p:nvSpPr>
          <p:cNvPr id="6" name="Text 4"/>
          <p:cNvSpPr/>
          <p:nvPr/>
        </p:nvSpPr>
        <p:spPr>
          <a:xfrm>
            <a:off x="502920" y="502920"/>
            <a:ext cx="4617720" cy="475488"/>
          </a:xfrm>
          <a:prstGeom prst="rect">
            <a:avLst/>
          </a:prstGeom>
          <a:noFill/>
          <a:ln/>
        </p:spPr>
        <p:txBody>
          <a:bodyPr wrap="square" lIns="127" tIns="127" rIns="127" bIns="127" rtlCol="0" anchor="ctr">
            <a:normAutofit/>
          </a:bodyPr>
          <a:lstStyle/>
          <a:p>
            <a:pPr indent="0" marL="0">
              <a:buNone/>
            </a:pPr>
            <a:r>
              <a:rPr lang="en-US" sz="2500" b="1" dirty="0">
                <a:solidFill>
                  <a:srgbClr val="14213D"/>
                </a:solidFill>
                <a:latin typeface="Aptos Display" pitchFamily="34" charset="0"/>
                <a:ea typeface="Aptos Display" pitchFamily="34" charset="-122"/>
                <a:cs typeface="Aptos Display" pitchFamily="34" charset="-120"/>
              </a:rPr>
              <a:t>Human judgment vs automation decision tree</a:t>
            </a:r>
            <a:endParaRPr lang="en-US" sz="2500" dirty="0"/>
          </a:p>
        </p:txBody>
      </p:sp>
      <p:sp>
        <p:nvSpPr>
          <p:cNvPr id="7" name="Text 5"/>
          <p:cNvSpPr/>
          <p:nvPr/>
        </p:nvSpPr>
        <p:spPr>
          <a:xfrm>
            <a:off x="521208" y="1005840"/>
            <a:ext cx="4617720" cy="228600"/>
          </a:xfrm>
          <a:prstGeom prst="rect">
            <a:avLst/>
          </a:prstGeom>
          <a:noFill/>
          <a:ln/>
        </p:spPr>
        <p:txBody>
          <a:bodyPr wrap="square" lIns="0" tIns="0" rIns="0" bIns="0" rtlCol="0" anchor="ctr">
            <a:normAutofit/>
          </a:bodyPr>
          <a:lstStyle/>
          <a:p>
            <a:pPr indent="0" marL="0">
              <a:buNone/>
            </a:pPr>
            <a:r>
              <a:rPr lang="en-US" sz="1080" dirty="0">
                <a:solidFill>
                  <a:srgbClr val="24303F"/>
                </a:solidFill>
              </a:rPr>
              <a:t>Not every task should be automated end-to-end</a:t>
            </a:r>
            <a:endParaRPr lang="en-US" sz="1080" dirty="0"/>
          </a:p>
        </p:txBody>
      </p:sp>
      <p:sp>
        <p:nvSpPr>
          <p:cNvPr id="8" name="Text 6"/>
          <p:cNvSpPr/>
          <p:nvPr/>
        </p:nvSpPr>
        <p:spPr>
          <a:xfrm>
            <a:off x="594360" y="1417320"/>
            <a:ext cx="4617720" cy="4343400"/>
          </a:xfrm>
          <a:prstGeom prst="rect">
            <a:avLst/>
          </a:prstGeom>
          <a:noFill/>
          <a:ln/>
        </p:spPr>
        <p:txBody>
          <a:bodyPr wrap="square" lIns="635" tIns="635" rIns="635" bIns="635" rtlCol="0" anchor="ctr">
            <a:normAutofit/>
          </a:bodyPr>
          <a:lstStyle/>
          <a:p>
            <a:r>
              <a:rPr lang="en-US" sz="1450" dirty="0">
                <a:solidFill>
                  <a:srgbClr val="24303F"/>
                </a:solidFill>
              </a:rPr>
              <a:t>• Start with the trigger</a:t>
            </a:r>
            <a:endParaRPr lang="en-US" sz="1450" dirty="0"/>
          </a:p>
          <a:p>
            <a:r>
              <a:rPr lang="en-US" sz="1450" dirty="0">
                <a:solidFill>
                  <a:srgbClr val="24303F"/>
                </a:solidFill>
              </a:rPr>
              <a:t>• Check whether rules are stable</a:t>
            </a:r>
            <a:endParaRPr lang="en-US" sz="1450" dirty="0"/>
          </a:p>
          <a:p>
            <a:r>
              <a:rPr lang="en-US" sz="1450" dirty="0">
                <a:solidFill>
                  <a:srgbClr val="24303F"/>
                </a:solidFill>
              </a:rPr>
              <a:t>• Check whether risk is sensitive</a:t>
            </a:r>
            <a:endParaRPr lang="en-US" sz="1450" dirty="0"/>
          </a:p>
          <a:p>
            <a:r>
              <a:rPr lang="en-US" sz="1450" dirty="0">
                <a:solidFill>
                  <a:srgbClr val="24303F"/>
                </a:solidFill>
              </a:rPr>
              <a:t>• Route exceptions to humans</a:t>
            </a:r>
            <a:endParaRPr lang="en-US" sz="1450" dirty="0"/>
          </a:p>
          <a:p>
            <a:r>
              <a:rPr lang="en-US" sz="1450" dirty="0">
                <a:solidFill>
                  <a:srgbClr val="24303F"/>
                </a:solidFill>
              </a:rPr>
              <a:t>• Automate only the safe path first</a:t>
            </a:r>
            <a:endParaRPr lang="en-US" sz="1450" dirty="0"/>
          </a:p>
        </p:txBody>
      </p:sp>
      <p:sp>
        <p:nvSpPr>
          <p:cNvPr id="9" name="Shape 7"/>
          <p:cNvSpPr/>
          <p:nvPr/>
        </p:nvSpPr>
        <p:spPr>
          <a:xfrm>
            <a:off x="5989320" y="1005840"/>
            <a:ext cx="1920240" cy="502920"/>
          </a:xfrm>
          <a:prstGeom prst="roundRect">
            <a:avLst>
              <a:gd name="adj" fmla="val 14545"/>
            </a:avLst>
          </a:prstGeom>
          <a:solidFill>
            <a:srgbClr val="14213D"/>
          </a:solidFill>
          <a:ln w="12700">
            <a:solidFill>
              <a:srgbClr val="14213D"/>
            </a:solidFill>
            <a:prstDash val="solid"/>
          </a:ln>
        </p:spPr>
      </p:sp>
      <p:sp>
        <p:nvSpPr>
          <p:cNvPr id="10" name="Text 8"/>
          <p:cNvSpPr/>
          <p:nvPr/>
        </p:nvSpPr>
        <p:spPr>
          <a:xfrm>
            <a:off x="6099048" y="1097280"/>
            <a:ext cx="1700784" cy="338328"/>
          </a:xfrm>
          <a:prstGeom prst="rect">
            <a:avLst/>
          </a:prstGeom>
          <a:noFill/>
          <a:ln/>
        </p:spPr>
        <p:txBody>
          <a:bodyPr wrap="square" lIns="127" tIns="127" rIns="127" bIns="127" rtlCol="0" anchor="ctr">
            <a:normAutofit/>
          </a:bodyPr>
          <a:lstStyle/>
          <a:p>
            <a:pPr indent="0" marL="0">
              <a:buNone/>
            </a:pPr>
            <a:r>
              <a:rPr lang="en-US" sz="1100" b="1" dirty="0">
                <a:solidFill>
                  <a:srgbClr val="24303F"/>
                </a:solidFill>
              </a:rPr>
              <a:t>Is the task repeated?</a:t>
            </a:r>
            <a:endParaRPr lang="en-US" sz="1100" dirty="0"/>
          </a:p>
        </p:txBody>
      </p:sp>
      <p:sp>
        <p:nvSpPr>
          <p:cNvPr id="11" name="Shape 9"/>
          <p:cNvSpPr/>
          <p:nvPr/>
        </p:nvSpPr>
        <p:spPr>
          <a:xfrm>
            <a:off x="6949440" y="1508760"/>
            <a:ext cx="0" cy="320040"/>
          </a:xfrm>
          <a:prstGeom prst="line">
            <a:avLst/>
          </a:prstGeom>
          <a:noFill/>
          <a:ln w="12700">
            <a:solidFill>
              <a:srgbClr val="2A9D8F"/>
            </a:solidFill>
            <a:prstDash val="solid"/>
            <a:headEnd type="none"/>
            <a:tailEnd type="triangle"/>
          </a:ln>
        </p:spPr>
      </p:sp>
      <p:sp>
        <p:nvSpPr>
          <p:cNvPr id="12" name="Shape 10"/>
          <p:cNvSpPr/>
          <p:nvPr/>
        </p:nvSpPr>
        <p:spPr>
          <a:xfrm>
            <a:off x="5989320" y="1828800"/>
            <a:ext cx="1920240" cy="502920"/>
          </a:xfrm>
          <a:prstGeom prst="roundRect">
            <a:avLst>
              <a:gd name="adj" fmla="val 14545"/>
            </a:avLst>
          </a:prstGeom>
          <a:solidFill>
            <a:srgbClr val="FFFFFF"/>
          </a:solidFill>
          <a:ln w="12700">
            <a:solidFill>
              <a:srgbClr val="C9A44C"/>
            </a:solidFill>
            <a:prstDash val="solid"/>
          </a:ln>
        </p:spPr>
      </p:sp>
      <p:sp>
        <p:nvSpPr>
          <p:cNvPr id="13" name="Text 11"/>
          <p:cNvSpPr/>
          <p:nvPr/>
        </p:nvSpPr>
        <p:spPr>
          <a:xfrm>
            <a:off x="6099048" y="1920240"/>
            <a:ext cx="1700784" cy="338328"/>
          </a:xfrm>
          <a:prstGeom prst="rect">
            <a:avLst/>
          </a:prstGeom>
          <a:noFill/>
          <a:ln/>
        </p:spPr>
        <p:txBody>
          <a:bodyPr wrap="square" lIns="127" tIns="127" rIns="127" bIns="127" rtlCol="0" anchor="ctr">
            <a:normAutofit/>
          </a:bodyPr>
          <a:lstStyle/>
          <a:p>
            <a:pPr indent="0" marL="0">
              <a:buNone/>
            </a:pPr>
            <a:r>
              <a:rPr lang="en-US" sz="1100" b="1" dirty="0">
                <a:solidFill>
                  <a:srgbClr val="24303F"/>
                </a:solidFill>
              </a:rPr>
              <a:t>Are rules clear?</a:t>
            </a:r>
            <a:endParaRPr lang="en-US" sz="1100" dirty="0"/>
          </a:p>
        </p:txBody>
      </p:sp>
      <p:sp>
        <p:nvSpPr>
          <p:cNvPr id="14" name="Shape 12"/>
          <p:cNvSpPr/>
          <p:nvPr/>
        </p:nvSpPr>
        <p:spPr>
          <a:xfrm>
            <a:off x="6949440" y="2331720"/>
            <a:ext cx="0" cy="320040"/>
          </a:xfrm>
          <a:prstGeom prst="line">
            <a:avLst/>
          </a:prstGeom>
          <a:noFill/>
          <a:ln w="12700">
            <a:solidFill>
              <a:srgbClr val="2A9D8F"/>
            </a:solidFill>
            <a:prstDash val="solid"/>
            <a:headEnd type="none"/>
            <a:tailEnd type="triangle"/>
          </a:ln>
        </p:spPr>
      </p:sp>
      <p:sp>
        <p:nvSpPr>
          <p:cNvPr id="15" name="Shape 13"/>
          <p:cNvSpPr/>
          <p:nvPr/>
        </p:nvSpPr>
        <p:spPr>
          <a:xfrm>
            <a:off x="5989320" y="2651760"/>
            <a:ext cx="1920240" cy="502920"/>
          </a:xfrm>
          <a:prstGeom prst="roundRect">
            <a:avLst>
              <a:gd name="adj" fmla="val 14545"/>
            </a:avLst>
          </a:prstGeom>
          <a:solidFill>
            <a:srgbClr val="FFFFFF"/>
          </a:solidFill>
          <a:ln w="12700">
            <a:solidFill>
              <a:srgbClr val="B85C5C"/>
            </a:solidFill>
            <a:prstDash val="solid"/>
          </a:ln>
        </p:spPr>
      </p:sp>
      <p:sp>
        <p:nvSpPr>
          <p:cNvPr id="16" name="Text 14"/>
          <p:cNvSpPr/>
          <p:nvPr/>
        </p:nvSpPr>
        <p:spPr>
          <a:xfrm>
            <a:off x="6099048" y="2743200"/>
            <a:ext cx="1700784" cy="338328"/>
          </a:xfrm>
          <a:prstGeom prst="rect">
            <a:avLst/>
          </a:prstGeom>
          <a:noFill/>
          <a:ln/>
        </p:spPr>
        <p:txBody>
          <a:bodyPr wrap="square" lIns="127" tIns="127" rIns="127" bIns="127" rtlCol="0" anchor="ctr">
            <a:normAutofit/>
          </a:bodyPr>
          <a:lstStyle/>
          <a:p>
            <a:pPr indent="0" marL="0">
              <a:buNone/>
            </a:pPr>
            <a:r>
              <a:rPr lang="en-US" sz="1100" b="1" dirty="0">
                <a:solidFill>
                  <a:srgbClr val="24303F"/>
                </a:solidFill>
              </a:rPr>
              <a:t>Sensitive judgment?</a:t>
            </a:r>
            <a:endParaRPr lang="en-US" sz="1100" dirty="0"/>
          </a:p>
        </p:txBody>
      </p:sp>
      <p:sp>
        <p:nvSpPr>
          <p:cNvPr id="17" name="Shape 15"/>
          <p:cNvSpPr/>
          <p:nvPr/>
        </p:nvSpPr>
        <p:spPr>
          <a:xfrm>
            <a:off x="7909560" y="2898648"/>
            <a:ext cx="640080" cy="0"/>
          </a:xfrm>
          <a:prstGeom prst="line">
            <a:avLst/>
          </a:prstGeom>
          <a:noFill/>
          <a:ln w="12700">
            <a:solidFill>
              <a:srgbClr val="2A9D8F"/>
            </a:solidFill>
            <a:prstDash val="solid"/>
            <a:headEnd type="none"/>
            <a:tailEnd type="triangle"/>
          </a:ln>
        </p:spPr>
      </p:sp>
      <p:sp>
        <p:nvSpPr>
          <p:cNvPr id="18" name="Shape 16"/>
          <p:cNvSpPr/>
          <p:nvPr/>
        </p:nvSpPr>
        <p:spPr>
          <a:xfrm>
            <a:off x="8549640" y="2651760"/>
            <a:ext cx="1828800" cy="502920"/>
          </a:xfrm>
          <a:prstGeom prst="roundRect">
            <a:avLst>
              <a:gd name="adj" fmla="val 14545"/>
            </a:avLst>
          </a:prstGeom>
          <a:solidFill>
            <a:srgbClr val="FDFBF5"/>
          </a:solidFill>
          <a:ln w="12700">
            <a:solidFill>
              <a:srgbClr val="B85C5C"/>
            </a:solidFill>
            <a:prstDash val="solid"/>
          </a:ln>
        </p:spPr>
      </p:sp>
      <p:sp>
        <p:nvSpPr>
          <p:cNvPr id="19" name="Text 17"/>
          <p:cNvSpPr/>
          <p:nvPr/>
        </p:nvSpPr>
        <p:spPr>
          <a:xfrm>
            <a:off x="8659368" y="2743200"/>
            <a:ext cx="1609344" cy="338328"/>
          </a:xfrm>
          <a:prstGeom prst="rect">
            <a:avLst/>
          </a:prstGeom>
          <a:noFill/>
          <a:ln/>
        </p:spPr>
        <p:txBody>
          <a:bodyPr wrap="square" lIns="127" tIns="127" rIns="127" bIns="127" rtlCol="0" anchor="ctr">
            <a:normAutofit/>
          </a:bodyPr>
          <a:lstStyle/>
          <a:p>
            <a:pPr indent="0" marL="0">
              <a:buNone/>
            </a:pPr>
            <a:r>
              <a:rPr lang="en-US" sz="1100" b="1" dirty="0">
                <a:solidFill>
                  <a:srgbClr val="24303F"/>
                </a:solidFill>
              </a:rPr>
              <a:t>Human review</a:t>
            </a:r>
            <a:endParaRPr lang="en-US" sz="1100" dirty="0"/>
          </a:p>
        </p:txBody>
      </p:sp>
      <p:sp>
        <p:nvSpPr>
          <p:cNvPr id="20" name="Shape 18"/>
          <p:cNvSpPr/>
          <p:nvPr/>
        </p:nvSpPr>
        <p:spPr>
          <a:xfrm>
            <a:off x="6949440" y="3154680"/>
            <a:ext cx="0" cy="365760"/>
          </a:xfrm>
          <a:prstGeom prst="line">
            <a:avLst/>
          </a:prstGeom>
          <a:noFill/>
          <a:ln w="12700">
            <a:solidFill>
              <a:srgbClr val="2A9D8F"/>
            </a:solidFill>
            <a:prstDash val="solid"/>
            <a:headEnd type="none"/>
            <a:tailEnd type="triangle"/>
          </a:ln>
        </p:spPr>
      </p:sp>
      <p:sp>
        <p:nvSpPr>
          <p:cNvPr id="21" name="Shape 19"/>
          <p:cNvSpPr/>
          <p:nvPr/>
        </p:nvSpPr>
        <p:spPr>
          <a:xfrm>
            <a:off x="5897880" y="3520440"/>
            <a:ext cx="2103120" cy="594360"/>
          </a:xfrm>
          <a:prstGeom prst="roundRect">
            <a:avLst>
              <a:gd name="adj" fmla="val 12308"/>
            </a:avLst>
          </a:prstGeom>
          <a:solidFill>
            <a:srgbClr val="FFFFFF"/>
          </a:solidFill>
          <a:ln w="12700">
            <a:solidFill>
              <a:srgbClr val="2A9D8F"/>
            </a:solidFill>
            <a:prstDash val="solid"/>
          </a:ln>
        </p:spPr>
      </p:sp>
      <p:sp>
        <p:nvSpPr>
          <p:cNvPr id="22" name="Text 20"/>
          <p:cNvSpPr/>
          <p:nvPr/>
        </p:nvSpPr>
        <p:spPr>
          <a:xfrm>
            <a:off x="6007608" y="3611880"/>
            <a:ext cx="1883664" cy="429768"/>
          </a:xfrm>
          <a:prstGeom prst="rect">
            <a:avLst/>
          </a:prstGeom>
          <a:noFill/>
          <a:ln/>
        </p:spPr>
        <p:txBody>
          <a:bodyPr wrap="square" lIns="127" tIns="127" rIns="127" bIns="127" rtlCol="0" anchor="ctr">
            <a:normAutofit/>
          </a:bodyPr>
          <a:lstStyle/>
          <a:p>
            <a:pPr indent="0" marL="0">
              <a:buNone/>
            </a:pPr>
            <a:r>
              <a:rPr lang="en-US" sz="1200" b="1" dirty="0">
                <a:solidFill>
                  <a:srgbClr val="24303F"/>
                </a:solidFill>
              </a:rPr>
              <a:t>Automate safe path</a:t>
            </a:r>
            <a:endParaRPr lang="en-US" sz="1200" dirty="0"/>
          </a:p>
        </p:txBody>
      </p:sp>
      <p:sp>
        <p:nvSpPr>
          <p:cNvPr id="23" name="Text 21"/>
          <p:cNvSpPr/>
          <p:nvPr/>
        </p:nvSpPr>
        <p:spPr>
          <a:xfrm>
            <a:off x="11384280" y="6428232"/>
            <a:ext cx="320040" cy="109728"/>
          </a:xfrm>
          <a:prstGeom prst="rect">
            <a:avLst/>
          </a:prstGeom>
          <a:noFill/>
          <a:ln/>
        </p:spPr>
        <p:txBody>
          <a:bodyPr wrap="square" lIns="0" tIns="0" rIns="0" bIns="0" rtlCol="0" anchor="ctr"/>
          <a:lstStyle/>
          <a:p>
            <a:pPr algn="r" indent="0" marL="0">
              <a:buNone/>
            </a:pPr>
            <a:r>
              <a:rPr lang="en-US" sz="700" dirty="0">
                <a:solidFill>
                  <a:srgbClr val="FFFFFF"/>
                </a:solidFill>
              </a:rPr>
              <a:t>18</a:t>
            </a:r>
            <a:endParaRPr lang="en-US" sz="7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3EA"/>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4213D"/>
          </a:solidFill>
          <a:ln w="12700">
            <a:solidFill>
              <a:srgbClr val="14213D">
                <a:alpha val="0"/>
              </a:srgbClr>
            </a:solidFill>
            <a:prstDash val="solid"/>
          </a:ln>
        </p:spPr>
      </p:sp>
      <p:sp>
        <p:nvSpPr>
          <p:cNvPr id="3" name="Shape 1"/>
          <p:cNvSpPr/>
          <p:nvPr/>
        </p:nvSpPr>
        <p:spPr>
          <a:xfrm>
            <a:off x="0" y="6693408"/>
            <a:ext cx="12191695" cy="164592"/>
          </a:xfrm>
          <a:prstGeom prst="rect">
            <a:avLst/>
          </a:prstGeom>
          <a:solidFill>
            <a:srgbClr val="14213D"/>
          </a:solidFill>
          <a:ln w="12700">
            <a:solidFill>
              <a:srgbClr val="14213D">
                <a:alpha val="0"/>
              </a:srgbClr>
            </a:solidFill>
            <a:prstDash val="solid"/>
          </a:ln>
        </p:spPr>
      </p:sp>
      <p:sp>
        <p:nvSpPr>
          <p:cNvPr id="4" name="Text 2"/>
          <p:cNvSpPr/>
          <p:nvPr/>
        </p:nvSpPr>
        <p:spPr>
          <a:xfrm>
            <a:off x="502920" y="256032"/>
            <a:ext cx="4480560" cy="164592"/>
          </a:xfrm>
          <a:prstGeom prst="rect">
            <a:avLst/>
          </a:prstGeom>
          <a:noFill/>
          <a:ln/>
        </p:spPr>
        <p:txBody>
          <a:bodyPr wrap="square" lIns="0" tIns="0" rIns="0" bIns="0" rtlCol="0" anchor="ctr"/>
          <a:lstStyle/>
          <a:p>
            <a:pPr indent="0" marL="0">
              <a:buNone/>
            </a:pPr>
            <a:r>
              <a:rPr lang="en-US" sz="700" b="1" dirty="0">
                <a:solidFill>
                  <a:srgbClr val="2A9D8F"/>
                </a:solidFill>
                <a:latin typeface="Aptos" pitchFamily="34" charset="0"/>
                <a:ea typeface="Aptos" pitchFamily="34" charset="-122"/>
                <a:cs typeface="Aptos" pitchFamily="34" charset="-120"/>
              </a:rPr>
              <a:t>SECTION 3</a:t>
            </a:r>
            <a:endParaRPr lang="en-US" sz="700" dirty="0"/>
          </a:p>
        </p:txBody>
      </p:sp>
      <p:sp>
        <p:nvSpPr>
          <p:cNvPr id="5" name="Text 3"/>
          <p:cNvSpPr/>
          <p:nvPr/>
        </p:nvSpPr>
        <p:spPr>
          <a:xfrm>
            <a:off x="9281160" y="219456"/>
            <a:ext cx="2423160" cy="182880"/>
          </a:xfrm>
          <a:prstGeom prst="rect">
            <a:avLst/>
          </a:prstGeom>
          <a:noFill/>
          <a:ln/>
        </p:spPr>
        <p:txBody>
          <a:bodyPr wrap="square" lIns="0" tIns="0" rIns="0" bIns="0" rtlCol="0" anchor="ctr"/>
          <a:lstStyle/>
          <a:p>
            <a:pPr algn="r" indent="0" marL="0">
              <a:buNone/>
            </a:pPr>
            <a:r>
              <a:rPr lang="en-US" sz="700" dirty="0">
                <a:solidFill>
                  <a:srgbClr val="6D7886"/>
                </a:solidFill>
              </a:rPr>
              <a:t>Jifunze.ai skill booster</a:t>
            </a:r>
            <a:endParaRPr lang="en-US" sz="700" dirty="0"/>
          </a:p>
        </p:txBody>
      </p:sp>
      <p:sp>
        <p:nvSpPr>
          <p:cNvPr id="6" name="Text 4"/>
          <p:cNvSpPr/>
          <p:nvPr/>
        </p:nvSpPr>
        <p:spPr>
          <a:xfrm>
            <a:off x="502920" y="502920"/>
            <a:ext cx="4617720" cy="475488"/>
          </a:xfrm>
          <a:prstGeom prst="rect">
            <a:avLst/>
          </a:prstGeom>
          <a:noFill/>
          <a:ln/>
        </p:spPr>
        <p:txBody>
          <a:bodyPr wrap="square" lIns="127" tIns="127" rIns="127" bIns="127" rtlCol="0" anchor="ctr">
            <a:normAutofit/>
          </a:bodyPr>
          <a:lstStyle/>
          <a:p>
            <a:pPr indent="0" marL="0">
              <a:buNone/>
            </a:pPr>
            <a:r>
              <a:rPr lang="en-US" sz="2500" b="1" dirty="0">
                <a:solidFill>
                  <a:srgbClr val="14213D"/>
                </a:solidFill>
                <a:latin typeface="Aptos Display" pitchFamily="34" charset="0"/>
                <a:ea typeface="Aptos Display" pitchFamily="34" charset="-122"/>
                <a:cs typeface="Aptos Display" pitchFamily="34" charset="-120"/>
              </a:rPr>
              <a:t>Automation suitability scoring</a:t>
            </a:r>
            <a:endParaRPr lang="en-US" sz="2500" dirty="0"/>
          </a:p>
        </p:txBody>
      </p:sp>
      <p:sp>
        <p:nvSpPr>
          <p:cNvPr id="7" name="Text 5"/>
          <p:cNvSpPr/>
          <p:nvPr/>
        </p:nvSpPr>
        <p:spPr>
          <a:xfrm>
            <a:off x="521208" y="1005840"/>
            <a:ext cx="4617720" cy="228600"/>
          </a:xfrm>
          <a:prstGeom prst="rect">
            <a:avLst/>
          </a:prstGeom>
          <a:noFill/>
          <a:ln/>
        </p:spPr>
        <p:txBody>
          <a:bodyPr wrap="square" lIns="0" tIns="0" rIns="0" bIns="0" rtlCol="0" anchor="ctr">
            <a:normAutofit/>
          </a:bodyPr>
          <a:lstStyle/>
          <a:p>
            <a:pPr indent="0" marL="0">
              <a:buNone/>
            </a:pPr>
            <a:r>
              <a:rPr lang="en-US" sz="1080" dirty="0">
                <a:solidFill>
                  <a:srgbClr val="24303F"/>
                </a:solidFill>
              </a:rPr>
              <a:t>Score opportunities before choosing tools</a:t>
            </a:r>
            <a:endParaRPr lang="en-US" sz="1080" dirty="0"/>
          </a:p>
        </p:txBody>
      </p:sp>
      <p:sp>
        <p:nvSpPr>
          <p:cNvPr id="8" name="Text 6"/>
          <p:cNvSpPr/>
          <p:nvPr/>
        </p:nvSpPr>
        <p:spPr>
          <a:xfrm>
            <a:off x="594360" y="1417320"/>
            <a:ext cx="4617720" cy="4343400"/>
          </a:xfrm>
          <a:prstGeom prst="rect">
            <a:avLst/>
          </a:prstGeom>
          <a:noFill/>
          <a:ln/>
        </p:spPr>
        <p:txBody>
          <a:bodyPr wrap="square" lIns="635" tIns="635" rIns="635" bIns="635" rtlCol="0" anchor="ctr">
            <a:normAutofit/>
          </a:bodyPr>
          <a:lstStyle/>
          <a:p>
            <a:r>
              <a:rPr lang="en-US" sz="1450" dirty="0">
                <a:solidFill>
                  <a:srgbClr val="24303F"/>
                </a:solidFill>
              </a:rPr>
              <a:t>• Score time saved, error reduction, learner impact</a:t>
            </a:r>
            <a:endParaRPr lang="en-US" sz="1450" dirty="0"/>
          </a:p>
          <a:p>
            <a:r>
              <a:rPr lang="en-US" sz="1450" dirty="0">
                <a:solidFill>
                  <a:srgbClr val="24303F"/>
                </a:solidFill>
              </a:rPr>
              <a:t>• Subtract implementation effort and risk complexity</a:t>
            </a:r>
            <a:endParaRPr lang="en-US" sz="1450" dirty="0"/>
          </a:p>
          <a:p>
            <a:r>
              <a:rPr lang="en-US" sz="1450" dirty="0">
                <a:solidFill>
                  <a:srgbClr val="24303F"/>
                </a:solidFill>
              </a:rPr>
              <a:t>• Priority score = benefits - friction</a:t>
            </a:r>
            <a:endParaRPr lang="en-US" sz="1450" dirty="0"/>
          </a:p>
          <a:p>
            <a:r>
              <a:rPr lang="en-US" sz="1450" dirty="0">
                <a:solidFill>
                  <a:srgbClr val="24303F"/>
                </a:solidFill>
              </a:rPr>
              <a:t>• Use scoring to support judgment, not replace it</a:t>
            </a:r>
            <a:endParaRPr lang="en-US" sz="1450" dirty="0"/>
          </a:p>
        </p:txBody>
      </p:sp>
      <p:sp>
        <p:nvSpPr>
          <p:cNvPr id="9" name="Shape 7"/>
          <p:cNvSpPr/>
          <p:nvPr/>
        </p:nvSpPr>
        <p:spPr>
          <a:xfrm>
            <a:off x="5440680" y="1143000"/>
            <a:ext cx="2468880" cy="515983"/>
          </a:xfrm>
          <a:prstGeom prst="rect">
            <a:avLst/>
          </a:prstGeom>
          <a:solidFill>
            <a:srgbClr val="14213D"/>
          </a:solidFill>
          <a:ln w="12700">
            <a:solidFill>
              <a:srgbClr val="FFFFFF"/>
            </a:solidFill>
            <a:prstDash val="solid"/>
          </a:ln>
        </p:spPr>
      </p:sp>
      <p:sp>
        <p:nvSpPr>
          <p:cNvPr id="10" name="Text 8"/>
          <p:cNvSpPr/>
          <p:nvPr/>
        </p:nvSpPr>
        <p:spPr>
          <a:xfrm>
            <a:off x="5477256" y="1188720"/>
            <a:ext cx="2395728" cy="442831"/>
          </a:xfrm>
          <a:prstGeom prst="rect">
            <a:avLst/>
          </a:prstGeom>
          <a:noFill/>
          <a:ln/>
        </p:spPr>
        <p:txBody>
          <a:bodyPr wrap="square" lIns="0" tIns="0" rIns="0" bIns="0" rtlCol="0" anchor="ctr">
            <a:normAutofit/>
          </a:bodyPr>
          <a:lstStyle/>
          <a:p>
            <a:pPr indent="0" marL="0">
              <a:buNone/>
            </a:pPr>
            <a:r>
              <a:rPr lang="en-US" sz="680" b="1" dirty="0">
                <a:solidFill>
                  <a:srgbClr val="FFFFFF"/>
                </a:solidFill>
              </a:rPr>
              <a:t>Candidate</a:t>
            </a:r>
            <a:endParaRPr lang="en-US" sz="680" dirty="0"/>
          </a:p>
        </p:txBody>
      </p:sp>
      <p:sp>
        <p:nvSpPr>
          <p:cNvPr id="11" name="Shape 9"/>
          <p:cNvSpPr/>
          <p:nvPr/>
        </p:nvSpPr>
        <p:spPr>
          <a:xfrm>
            <a:off x="7909560" y="1143000"/>
            <a:ext cx="548640" cy="515983"/>
          </a:xfrm>
          <a:prstGeom prst="rect">
            <a:avLst/>
          </a:prstGeom>
          <a:solidFill>
            <a:srgbClr val="14213D"/>
          </a:solidFill>
          <a:ln w="12700">
            <a:solidFill>
              <a:srgbClr val="FFFFFF"/>
            </a:solidFill>
            <a:prstDash val="solid"/>
          </a:ln>
        </p:spPr>
      </p:sp>
      <p:sp>
        <p:nvSpPr>
          <p:cNvPr id="12" name="Text 10"/>
          <p:cNvSpPr/>
          <p:nvPr/>
        </p:nvSpPr>
        <p:spPr>
          <a:xfrm>
            <a:off x="7946136" y="1188720"/>
            <a:ext cx="475488" cy="442831"/>
          </a:xfrm>
          <a:prstGeom prst="rect">
            <a:avLst/>
          </a:prstGeom>
          <a:noFill/>
          <a:ln/>
        </p:spPr>
        <p:txBody>
          <a:bodyPr wrap="square" lIns="0" tIns="0" rIns="0" bIns="0" rtlCol="0" anchor="ctr">
            <a:normAutofit/>
          </a:bodyPr>
          <a:lstStyle/>
          <a:p>
            <a:pPr indent="0" marL="0">
              <a:buNone/>
            </a:pPr>
            <a:r>
              <a:rPr lang="en-US" sz="680" b="1" dirty="0">
                <a:solidFill>
                  <a:srgbClr val="FFFFFF"/>
                </a:solidFill>
              </a:rPr>
              <a:t>Time</a:t>
            </a:r>
            <a:endParaRPr lang="en-US" sz="680" dirty="0"/>
          </a:p>
        </p:txBody>
      </p:sp>
      <p:sp>
        <p:nvSpPr>
          <p:cNvPr id="13" name="Shape 11"/>
          <p:cNvSpPr/>
          <p:nvPr/>
        </p:nvSpPr>
        <p:spPr>
          <a:xfrm>
            <a:off x="8458200" y="1143000"/>
            <a:ext cx="548640" cy="515983"/>
          </a:xfrm>
          <a:prstGeom prst="rect">
            <a:avLst/>
          </a:prstGeom>
          <a:solidFill>
            <a:srgbClr val="14213D"/>
          </a:solidFill>
          <a:ln w="12700">
            <a:solidFill>
              <a:srgbClr val="FFFFFF"/>
            </a:solidFill>
            <a:prstDash val="solid"/>
          </a:ln>
        </p:spPr>
      </p:sp>
      <p:sp>
        <p:nvSpPr>
          <p:cNvPr id="14" name="Text 12"/>
          <p:cNvSpPr/>
          <p:nvPr/>
        </p:nvSpPr>
        <p:spPr>
          <a:xfrm>
            <a:off x="8494776" y="1188720"/>
            <a:ext cx="475488" cy="442831"/>
          </a:xfrm>
          <a:prstGeom prst="rect">
            <a:avLst/>
          </a:prstGeom>
          <a:noFill/>
          <a:ln/>
        </p:spPr>
        <p:txBody>
          <a:bodyPr wrap="square" lIns="0" tIns="0" rIns="0" bIns="0" rtlCol="0" anchor="ctr">
            <a:normAutofit/>
          </a:bodyPr>
          <a:lstStyle/>
          <a:p>
            <a:pPr indent="0" marL="0">
              <a:buNone/>
            </a:pPr>
            <a:r>
              <a:rPr lang="en-US" sz="680" b="1" dirty="0">
                <a:solidFill>
                  <a:srgbClr val="FFFFFF"/>
                </a:solidFill>
              </a:rPr>
              <a:t>Error</a:t>
            </a:r>
            <a:endParaRPr lang="en-US" sz="680" dirty="0"/>
          </a:p>
        </p:txBody>
      </p:sp>
      <p:sp>
        <p:nvSpPr>
          <p:cNvPr id="15" name="Shape 13"/>
          <p:cNvSpPr/>
          <p:nvPr/>
        </p:nvSpPr>
        <p:spPr>
          <a:xfrm>
            <a:off x="9006840" y="1143000"/>
            <a:ext cx="640080" cy="515983"/>
          </a:xfrm>
          <a:prstGeom prst="rect">
            <a:avLst/>
          </a:prstGeom>
          <a:solidFill>
            <a:srgbClr val="14213D"/>
          </a:solidFill>
          <a:ln w="12700">
            <a:solidFill>
              <a:srgbClr val="FFFFFF"/>
            </a:solidFill>
            <a:prstDash val="solid"/>
          </a:ln>
        </p:spPr>
      </p:sp>
      <p:sp>
        <p:nvSpPr>
          <p:cNvPr id="16" name="Text 14"/>
          <p:cNvSpPr/>
          <p:nvPr/>
        </p:nvSpPr>
        <p:spPr>
          <a:xfrm>
            <a:off x="9043416" y="1188720"/>
            <a:ext cx="566928" cy="442831"/>
          </a:xfrm>
          <a:prstGeom prst="rect">
            <a:avLst/>
          </a:prstGeom>
          <a:noFill/>
          <a:ln/>
        </p:spPr>
        <p:txBody>
          <a:bodyPr wrap="square" lIns="0" tIns="0" rIns="0" bIns="0" rtlCol="0" anchor="ctr">
            <a:normAutofit/>
          </a:bodyPr>
          <a:lstStyle/>
          <a:p>
            <a:pPr indent="0" marL="0">
              <a:buNone/>
            </a:pPr>
            <a:r>
              <a:rPr lang="en-US" sz="680" b="1" dirty="0">
                <a:solidFill>
                  <a:srgbClr val="FFFFFF"/>
                </a:solidFill>
              </a:rPr>
              <a:t>Learner</a:t>
            </a:r>
            <a:endParaRPr lang="en-US" sz="680" dirty="0"/>
          </a:p>
        </p:txBody>
      </p:sp>
      <p:sp>
        <p:nvSpPr>
          <p:cNvPr id="17" name="Shape 15"/>
          <p:cNvSpPr/>
          <p:nvPr/>
        </p:nvSpPr>
        <p:spPr>
          <a:xfrm>
            <a:off x="9646920" y="1143000"/>
            <a:ext cx="594360" cy="515983"/>
          </a:xfrm>
          <a:prstGeom prst="rect">
            <a:avLst/>
          </a:prstGeom>
          <a:solidFill>
            <a:srgbClr val="14213D"/>
          </a:solidFill>
          <a:ln w="12700">
            <a:solidFill>
              <a:srgbClr val="FFFFFF"/>
            </a:solidFill>
            <a:prstDash val="solid"/>
          </a:ln>
        </p:spPr>
      </p:sp>
      <p:sp>
        <p:nvSpPr>
          <p:cNvPr id="18" name="Text 16"/>
          <p:cNvSpPr/>
          <p:nvPr/>
        </p:nvSpPr>
        <p:spPr>
          <a:xfrm>
            <a:off x="9683496" y="1188720"/>
            <a:ext cx="521208" cy="442831"/>
          </a:xfrm>
          <a:prstGeom prst="rect">
            <a:avLst/>
          </a:prstGeom>
          <a:noFill/>
          <a:ln/>
        </p:spPr>
        <p:txBody>
          <a:bodyPr wrap="square" lIns="0" tIns="0" rIns="0" bIns="0" rtlCol="0" anchor="ctr">
            <a:normAutofit/>
          </a:bodyPr>
          <a:lstStyle/>
          <a:p>
            <a:pPr indent="0" marL="0">
              <a:buNone/>
            </a:pPr>
            <a:r>
              <a:rPr lang="en-US" sz="680" b="1" dirty="0">
                <a:solidFill>
                  <a:srgbClr val="FFFFFF"/>
                </a:solidFill>
              </a:rPr>
              <a:t>Effort</a:t>
            </a:r>
            <a:endParaRPr lang="en-US" sz="680" dirty="0"/>
          </a:p>
        </p:txBody>
      </p:sp>
      <p:sp>
        <p:nvSpPr>
          <p:cNvPr id="19" name="Shape 17"/>
          <p:cNvSpPr/>
          <p:nvPr/>
        </p:nvSpPr>
        <p:spPr>
          <a:xfrm>
            <a:off x="10241280" y="1143000"/>
            <a:ext cx="502920" cy="515983"/>
          </a:xfrm>
          <a:prstGeom prst="rect">
            <a:avLst/>
          </a:prstGeom>
          <a:solidFill>
            <a:srgbClr val="14213D"/>
          </a:solidFill>
          <a:ln w="12700">
            <a:solidFill>
              <a:srgbClr val="FFFFFF"/>
            </a:solidFill>
            <a:prstDash val="solid"/>
          </a:ln>
        </p:spPr>
      </p:sp>
      <p:sp>
        <p:nvSpPr>
          <p:cNvPr id="20" name="Text 18"/>
          <p:cNvSpPr/>
          <p:nvPr/>
        </p:nvSpPr>
        <p:spPr>
          <a:xfrm>
            <a:off x="10277856" y="1188720"/>
            <a:ext cx="429768" cy="442831"/>
          </a:xfrm>
          <a:prstGeom prst="rect">
            <a:avLst/>
          </a:prstGeom>
          <a:noFill/>
          <a:ln/>
        </p:spPr>
        <p:txBody>
          <a:bodyPr wrap="square" lIns="0" tIns="0" rIns="0" bIns="0" rtlCol="0" anchor="ctr">
            <a:normAutofit/>
          </a:bodyPr>
          <a:lstStyle/>
          <a:p>
            <a:pPr indent="0" marL="0">
              <a:buNone/>
            </a:pPr>
            <a:r>
              <a:rPr lang="en-US" sz="680" b="1" dirty="0">
                <a:solidFill>
                  <a:srgbClr val="FFFFFF"/>
                </a:solidFill>
              </a:rPr>
              <a:t>Risk</a:t>
            </a:r>
            <a:endParaRPr lang="en-US" sz="680" dirty="0"/>
          </a:p>
        </p:txBody>
      </p:sp>
      <p:sp>
        <p:nvSpPr>
          <p:cNvPr id="21" name="Shape 19"/>
          <p:cNvSpPr/>
          <p:nvPr/>
        </p:nvSpPr>
        <p:spPr>
          <a:xfrm>
            <a:off x="10744200" y="1143000"/>
            <a:ext cx="594360" cy="515983"/>
          </a:xfrm>
          <a:prstGeom prst="rect">
            <a:avLst/>
          </a:prstGeom>
          <a:solidFill>
            <a:srgbClr val="14213D"/>
          </a:solidFill>
          <a:ln w="12700">
            <a:solidFill>
              <a:srgbClr val="FFFFFF"/>
            </a:solidFill>
            <a:prstDash val="solid"/>
          </a:ln>
        </p:spPr>
      </p:sp>
      <p:sp>
        <p:nvSpPr>
          <p:cNvPr id="22" name="Text 20"/>
          <p:cNvSpPr/>
          <p:nvPr/>
        </p:nvSpPr>
        <p:spPr>
          <a:xfrm>
            <a:off x="10780776" y="1188720"/>
            <a:ext cx="521208" cy="442831"/>
          </a:xfrm>
          <a:prstGeom prst="rect">
            <a:avLst/>
          </a:prstGeom>
          <a:noFill/>
          <a:ln/>
        </p:spPr>
        <p:txBody>
          <a:bodyPr wrap="square" lIns="0" tIns="0" rIns="0" bIns="0" rtlCol="0" anchor="ctr">
            <a:normAutofit/>
          </a:bodyPr>
          <a:lstStyle/>
          <a:p>
            <a:pPr indent="0" marL="0">
              <a:buNone/>
            </a:pPr>
            <a:r>
              <a:rPr lang="en-US" sz="680" b="1" dirty="0">
                <a:solidFill>
                  <a:srgbClr val="FFFFFF"/>
                </a:solidFill>
              </a:rPr>
              <a:t>Score</a:t>
            </a:r>
            <a:endParaRPr lang="en-US" sz="680" dirty="0"/>
          </a:p>
        </p:txBody>
      </p:sp>
      <p:sp>
        <p:nvSpPr>
          <p:cNvPr id="23" name="Shape 21"/>
          <p:cNvSpPr/>
          <p:nvPr/>
        </p:nvSpPr>
        <p:spPr>
          <a:xfrm>
            <a:off x="5440680" y="1658983"/>
            <a:ext cx="2468880" cy="515983"/>
          </a:xfrm>
          <a:prstGeom prst="rect">
            <a:avLst/>
          </a:prstGeom>
          <a:solidFill>
            <a:srgbClr val="FDFBF5"/>
          </a:solidFill>
          <a:ln w="12700">
            <a:solidFill>
              <a:srgbClr val="E7DFD0"/>
            </a:solidFill>
            <a:prstDash val="solid"/>
          </a:ln>
        </p:spPr>
      </p:sp>
      <p:sp>
        <p:nvSpPr>
          <p:cNvPr id="24" name="Text 22"/>
          <p:cNvSpPr/>
          <p:nvPr/>
        </p:nvSpPr>
        <p:spPr>
          <a:xfrm>
            <a:off x="5477256" y="1695559"/>
            <a:ext cx="2395728" cy="442831"/>
          </a:xfrm>
          <a:prstGeom prst="rect">
            <a:avLst/>
          </a:prstGeom>
          <a:noFill/>
          <a:ln/>
        </p:spPr>
        <p:txBody>
          <a:bodyPr wrap="square" lIns="0" tIns="0" rIns="0" bIns="0" rtlCol="0" anchor="ctr">
            <a:normAutofit/>
          </a:bodyPr>
          <a:lstStyle/>
          <a:p>
            <a:pPr indent="0" marL="0">
              <a:buNone/>
            </a:pPr>
            <a:r>
              <a:rPr lang="en-US" sz="680" dirty="0">
                <a:solidFill>
                  <a:srgbClr val="24303F"/>
                </a:solidFill>
              </a:rPr>
              <a:t>Automated course info email</a:t>
            </a:r>
            <a:endParaRPr lang="en-US" sz="680" dirty="0"/>
          </a:p>
        </p:txBody>
      </p:sp>
      <p:sp>
        <p:nvSpPr>
          <p:cNvPr id="25" name="Shape 23"/>
          <p:cNvSpPr/>
          <p:nvPr/>
        </p:nvSpPr>
        <p:spPr>
          <a:xfrm>
            <a:off x="7909560" y="1658983"/>
            <a:ext cx="548640" cy="515983"/>
          </a:xfrm>
          <a:prstGeom prst="rect">
            <a:avLst/>
          </a:prstGeom>
          <a:solidFill>
            <a:srgbClr val="FDFBF5"/>
          </a:solidFill>
          <a:ln w="12700">
            <a:solidFill>
              <a:srgbClr val="E7DFD0"/>
            </a:solidFill>
            <a:prstDash val="solid"/>
          </a:ln>
        </p:spPr>
      </p:sp>
      <p:sp>
        <p:nvSpPr>
          <p:cNvPr id="26" name="Text 24"/>
          <p:cNvSpPr/>
          <p:nvPr/>
        </p:nvSpPr>
        <p:spPr>
          <a:xfrm>
            <a:off x="7946136" y="1695559"/>
            <a:ext cx="475488" cy="442831"/>
          </a:xfrm>
          <a:prstGeom prst="rect">
            <a:avLst/>
          </a:prstGeom>
          <a:noFill/>
          <a:ln/>
        </p:spPr>
        <p:txBody>
          <a:bodyPr wrap="square" lIns="0" tIns="0" rIns="0" bIns="0" rtlCol="0" anchor="ctr">
            <a:normAutofit/>
          </a:bodyPr>
          <a:lstStyle/>
          <a:p>
            <a:pPr indent="0" marL="0">
              <a:buNone/>
            </a:pPr>
            <a:r>
              <a:rPr lang="en-US" sz="680" dirty="0">
                <a:solidFill>
                  <a:srgbClr val="24303F"/>
                </a:solidFill>
              </a:rPr>
              <a:t>5</a:t>
            </a:r>
            <a:endParaRPr lang="en-US" sz="680" dirty="0"/>
          </a:p>
        </p:txBody>
      </p:sp>
      <p:sp>
        <p:nvSpPr>
          <p:cNvPr id="27" name="Shape 25"/>
          <p:cNvSpPr/>
          <p:nvPr/>
        </p:nvSpPr>
        <p:spPr>
          <a:xfrm>
            <a:off x="8458200" y="1658983"/>
            <a:ext cx="548640" cy="515983"/>
          </a:xfrm>
          <a:prstGeom prst="rect">
            <a:avLst/>
          </a:prstGeom>
          <a:solidFill>
            <a:srgbClr val="FDFBF5"/>
          </a:solidFill>
          <a:ln w="12700">
            <a:solidFill>
              <a:srgbClr val="E7DFD0"/>
            </a:solidFill>
            <a:prstDash val="solid"/>
          </a:ln>
        </p:spPr>
      </p:sp>
      <p:sp>
        <p:nvSpPr>
          <p:cNvPr id="28" name="Text 26"/>
          <p:cNvSpPr/>
          <p:nvPr/>
        </p:nvSpPr>
        <p:spPr>
          <a:xfrm>
            <a:off x="8494776" y="1695559"/>
            <a:ext cx="475488" cy="442831"/>
          </a:xfrm>
          <a:prstGeom prst="rect">
            <a:avLst/>
          </a:prstGeom>
          <a:noFill/>
          <a:ln/>
        </p:spPr>
        <p:txBody>
          <a:bodyPr wrap="square" lIns="0" tIns="0" rIns="0" bIns="0" rtlCol="0" anchor="ctr">
            <a:normAutofit/>
          </a:bodyPr>
          <a:lstStyle/>
          <a:p>
            <a:pPr indent="0" marL="0">
              <a:buNone/>
            </a:pPr>
            <a:r>
              <a:rPr lang="en-US" sz="680" dirty="0">
                <a:solidFill>
                  <a:srgbClr val="24303F"/>
                </a:solidFill>
              </a:rPr>
              <a:t>4</a:t>
            </a:r>
            <a:endParaRPr lang="en-US" sz="680" dirty="0"/>
          </a:p>
        </p:txBody>
      </p:sp>
      <p:sp>
        <p:nvSpPr>
          <p:cNvPr id="29" name="Shape 27"/>
          <p:cNvSpPr/>
          <p:nvPr/>
        </p:nvSpPr>
        <p:spPr>
          <a:xfrm>
            <a:off x="9006840" y="1658983"/>
            <a:ext cx="640080" cy="515983"/>
          </a:xfrm>
          <a:prstGeom prst="rect">
            <a:avLst/>
          </a:prstGeom>
          <a:solidFill>
            <a:srgbClr val="FDFBF5"/>
          </a:solidFill>
          <a:ln w="12700">
            <a:solidFill>
              <a:srgbClr val="E7DFD0"/>
            </a:solidFill>
            <a:prstDash val="solid"/>
          </a:ln>
        </p:spPr>
      </p:sp>
      <p:sp>
        <p:nvSpPr>
          <p:cNvPr id="30" name="Text 28"/>
          <p:cNvSpPr/>
          <p:nvPr/>
        </p:nvSpPr>
        <p:spPr>
          <a:xfrm>
            <a:off x="9043416" y="1695559"/>
            <a:ext cx="566928" cy="442831"/>
          </a:xfrm>
          <a:prstGeom prst="rect">
            <a:avLst/>
          </a:prstGeom>
          <a:noFill/>
          <a:ln/>
        </p:spPr>
        <p:txBody>
          <a:bodyPr wrap="square" lIns="0" tIns="0" rIns="0" bIns="0" rtlCol="0" anchor="ctr">
            <a:normAutofit/>
          </a:bodyPr>
          <a:lstStyle/>
          <a:p>
            <a:pPr indent="0" marL="0">
              <a:buNone/>
            </a:pPr>
            <a:r>
              <a:rPr lang="en-US" sz="680" dirty="0">
                <a:solidFill>
                  <a:srgbClr val="24303F"/>
                </a:solidFill>
              </a:rPr>
              <a:t>5</a:t>
            </a:r>
            <a:endParaRPr lang="en-US" sz="680" dirty="0"/>
          </a:p>
        </p:txBody>
      </p:sp>
      <p:sp>
        <p:nvSpPr>
          <p:cNvPr id="31" name="Shape 29"/>
          <p:cNvSpPr/>
          <p:nvPr/>
        </p:nvSpPr>
        <p:spPr>
          <a:xfrm>
            <a:off x="9646920" y="1658983"/>
            <a:ext cx="594360" cy="515983"/>
          </a:xfrm>
          <a:prstGeom prst="rect">
            <a:avLst/>
          </a:prstGeom>
          <a:solidFill>
            <a:srgbClr val="FDFBF5"/>
          </a:solidFill>
          <a:ln w="12700">
            <a:solidFill>
              <a:srgbClr val="E7DFD0"/>
            </a:solidFill>
            <a:prstDash val="solid"/>
          </a:ln>
        </p:spPr>
      </p:sp>
      <p:sp>
        <p:nvSpPr>
          <p:cNvPr id="32" name="Text 30"/>
          <p:cNvSpPr/>
          <p:nvPr/>
        </p:nvSpPr>
        <p:spPr>
          <a:xfrm>
            <a:off x="9683496" y="1695559"/>
            <a:ext cx="521208" cy="442831"/>
          </a:xfrm>
          <a:prstGeom prst="rect">
            <a:avLst/>
          </a:prstGeom>
          <a:noFill/>
          <a:ln/>
        </p:spPr>
        <p:txBody>
          <a:bodyPr wrap="square" lIns="0" tIns="0" rIns="0" bIns="0" rtlCol="0" anchor="ctr">
            <a:normAutofit/>
          </a:bodyPr>
          <a:lstStyle/>
          <a:p>
            <a:pPr indent="0" marL="0">
              <a:buNone/>
            </a:pPr>
            <a:r>
              <a:rPr lang="en-US" sz="680" dirty="0">
                <a:solidFill>
                  <a:srgbClr val="24303F"/>
                </a:solidFill>
              </a:rPr>
              <a:t>1</a:t>
            </a:r>
            <a:endParaRPr lang="en-US" sz="680" dirty="0"/>
          </a:p>
        </p:txBody>
      </p:sp>
      <p:sp>
        <p:nvSpPr>
          <p:cNvPr id="33" name="Shape 31"/>
          <p:cNvSpPr/>
          <p:nvPr/>
        </p:nvSpPr>
        <p:spPr>
          <a:xfrm>
            <a:off x="10241280" y="1658983"/>
            <a:ext cx="502920" cy="515983"/>
          </a:xfrm>
          <a:prstGeom prst="rect">
            <a:avLst/>
          </a:prstGeom>
          <a:solidFill>
            <a:srgbClr val="FDFBF5"/>
          </a:solidFill>
          <a:ln w="12700">
            <a:solidFill>
              <a:srgbClr val="E7DFD0"/>
            </a:solidFill>
            <a:prstDash val="solid"/>
          </a:ln>
        </p:spPr>
      </p:sp>
      <p:sp>
        <p:nvSpPr>
          <p:cNvPr id="34" name="Text 32"/>
          <p:cNvSpPr/>
          <p:nvPr/>
        </p:nvSpPr>
        <p:spPr>
          <a:xfrm>
            <a:off x="10277856" y="1695559"/>
            <a:ext cx="429768" cy="442831"/>
          </a:xfrm>
          <a:prstGeom prst="rect">
            <a:avLst/>
          </a:prstGeom>
          <a:noFill/>
          <a:ln/>
        </p:spPr>
        <p:txBody>
          <a:bodyPr wrap="square" lIns="0" tIns="0" rIns="0" bIns="0" rtlCol="0" anchor="ctr">
            <a:normAutofit/>
          </a:bodyPr>
          <a:lstStyle/>
          <a:p>
            <a:pPr indent="0" marL="0">
              <a:buNone/>
            </a:pPr>
            <a:r>
              <a:rPr lang="en-US" sz="680" dirty="0">
                <a:solidFill>
                  <a:srgbClr val="24303F"/>
                </a:solidFill>
              </a:rPr>
              <a:t>1</a:t>
            </a:r>
            <a:endParaRPr lang="en-US" sz="680" dirty="0"/>
          </a:p>
        </p:txBody>
      </p:sp>
      <p:sp>
        <p:nvSpPr>
          <p:cNvPr id="35" name="Shape 33"/>
          <p:cNvSpPr/>
          <p:nvPr/>
        </p:nvSpPr>
        <p:spPr>
          <a:xfrm>
            <a:off x="10744200" y="1658983"/>
            <a:ext cx="594360" cy="515983"/>
          </a:xfrm>
          <a:prstGeom prst="rect">
            <a:avLst/>
          </a:prstGeom>
          <a:solidFill>
            <a:srgbClr val="FDFBF5"/>
          </a:solidFill>
          <a:ln w="12700">
            <a:solidFill>
              <a:srgbClr val="E7DFD0"/>
            </a:solidFill>
            <a:prstDash val="solid"/>
          </a:ln>
        </p:spPr>
      </p:sp>
      <p:sp>
        <p:nvSpPr>
          <p:cNvPr id="36" name="Text 34"/>
          <p:cNvSpPr/>
          <p:nvPr/>
        </p:nvSpPr>
        <p:spPr>
          <a:xfrm>
            <a:off x="10780776" y="1695559"/>
            <a:ext cx="521208" cy="442831"/>
          </a:xfrm>
          <a:prstGeom prst="rect">
            <a:avLst/>
          </a:prstGeom>
          <a:noFill/>
          <a:ln/>
        </p:spPr>
        <p:txBody>
          <a:bodyPr wrap="square" lIns="0" tIns="0" rIns="0" bIns="0" rtlCol="0" anchor="ctr">
            <a:normAutofit/>
          </a:bodyPr>
          <a:lstStyle/>
          <a:p>
            <a:pPr indent="0" marL="0">
              <a:buNone/>
            </a:pPr>
            <a:r>
              <a:rPr lang="en-US" sz="680" dirty="0">
                <a:solidFill>
                  <a:srgbClr val="24303F"/>
                </a:solidFill>
              </a:rPr>
              <a:t>12</a:t>
            </a:r>
            <a:endParaRPr lang="en-US" sz="680" dirty="0"/>
          </a:p>
        </p:txBody>
      </p:sp>
      <p:sp>
        <p:nvSpPr>
          <p:cNvPr id="37" name="Shape 35"/>
          <p:cNvSpPr/>
          <p:nvPr/>
        </p:nvSpPr>
        <p:spPr>
          <a:xfrm>
            <a:off x="5440680" y="2174966"/>
            <a:ext cx="2468880" cy="515983"/>
          </a:xfrm>
          <a:prstGeom prst="rect">
            <a:avLst/>
          </a:prstGeom>
          <a:solidFill>
            <a:srgbClr val="FFFFFF"/>
          </a:solidFill>
          <a:ln w="12700">
            <a:solidFill>
              <a:srgbClr val="E7DFD0"/>
            </a:solidFill>
            <a:prstDash val="solid"/>
          </a:ln>
        </p:spPr>
      </p:sp>
      <p:sp>
        <p:nvSpPr>
          <p:cNvPr id="38" name="Text 36"/>
          <p:cNvSpPr/>
          <p:nvPr/>
        </p:nvSpPr>
        <p:spPr>
          <a:xfrm>
            <a:off x="5477256" y="2211542"/>
            <a:ext cx="2395728" cy="442831"/>
          </a:xfrm>
          <a:prstGeom prst="rect">
            <a:avLst/>
          </a:prstGeom>
          <a:noFill/>
          <a:ln/>
        </p:spPr>
        <p:txBody>
          <a:bodyPr wrap="square" lIns="0" tIns="0" rIns="0" bIns="0" rtlCol="0" anchor="ctr">
            <a:normAutofit/>
          </a:bodyPr>
          <a:lstStyle/>
          <a:p>
            <a:pPr indent="0" marL="0">
              <a:buNone/>
            </a:pPr>
            <a:r>
              <a:rPr lang="en-US" sz="680" dirty="0">
                <a:solidFill>
                  <a:srgbClr val="24303F"/>
                </a:solidFill>
              </a:rPr>
              <a:t>Structured enquiry and registration form</a:t>
            </a:r>
            <a:endParaRPr lang="en-US" sz="680" dirty="0"/>
          </a:p>
        </p:txBody>
      </p:sp>
      <p:sp>
        <p:nvSpPr>
          <p:cNvPr id="39" name="Shape 37"/>
          <p:cNvSpPr/>
          <p:nvPr/>
        </p:nvSpPr>
        <p:spPr>
          <a:xfrm>
            <a:off x="7909560" y="2174966"/>
            <a:ext cx="548640" cy="515983"/>
          </a:xfrm>
          <a:prstGeom prst="rect">
            <a:avLst/>
          </a:prstGeom>
          <a:solidFill>
            <a:srgbClr val="FFFFFF"/>
          </a:solidFill>
          <a:ln w="12700">
            <a:solidFill>
              <a:srgbClr val="E7DFD0"/>
            </a:solidFill>
            <a:prstDash val="solid"/>
          </a:ln>
        </p:spPr>
      </p:sp>
      <p:sp>
        <p:nvSpPr>
          <p:cNvPr id="40" name="Text 38"/>
          <p:cNvSpPr/>
          <p:nvPr/>
        </p:nvSpPr>
        <p:spPr>
          <a:xfrm>
            <a:off x="7946136" y="2211542"/>
            <a:ext cx="475488" cy="442831"/>
          </a:xfrm>
          <a:prstGeom prst="rect">
            <a:avLst/>
          </a:prstGeom>
          <a:noFill/>
          <a:ln/>
        </p:spPr>
        <p:txBody>
          <a:bodyPr wrap="square" lIns="0" tIns="0" rIns="0" bIns="0" rtlCol="0" anchor="ctr">
            <a:normAutofit/>
          </a:bodyPr>
          <a:lstStyle/>
          <a:p>
            <a:pPr indent="0" marL="0">
              <a:buNone/>
            </a:pPr>
            <a:r>
              <a:rPr lang="en-US" sz="680" dirty="0">
                <a:solidFill>
                  <a:srgbClr val="24303F"/>
                </a:solidFill>
              </a:rPr>
              <a:t>4</a:t>
            </a:r>
            <a:endParaRPr lang="en-US" sz="680" dirty="0"/>
          </a:p>
        </p:txBody>
      </p:sp>
      <p:sp>
        <p:nvSpPr>
          <p:cNvPr id="41" name="Shape 39"/>
          <p:cNvSpPr/>
          <p:nvPr/>
        </p:nvSpPr>
        <p:spPr>
          <a:xfrm>
            <a:off x="8458200" y="2174966"/>
            <a:ext cx="548640" cy="515983"/>
          </a:xfrm>
          <a:prstGeom prst="rect">
            <a:avLst/>
          </a:prstGeom>
          <a:solidFill>
            <a:srgbClr val="FFFFFF"/>
          </a:solidFill>
          <a:ln w="12700">
            <a:solidFill>
              <a:srgbClr val="E7DFD0"/>
            </a:solidFill>
            <a:prstDash val="solid"/>
          </a:ln>
        </p:spPr>
      </p:sp>
      <p:sp>
        <p:nvSpPr>
          <p:cNvPr id="42" name="Text 40"/>
          <p:cNvSpPr/>
          <p:nvPr/>
        </p:nvSpPr>
        <p:spPr>
          <a:xfrm>
            <a:off x="8494776" y="2211542"/>
            <a:ext cx="475488" cy="442831"/>
          </a:xfrm>
          <a:prstGeom prst="rect">
            <a:avLst/>
          </a:prstGeom>
          <a:noFill/>
          <a:ln/>
        </p:spPr>
        <p:txBody>
          <a:bodyPr wrap="square" lIns="0" tIns="0" rIns="0" bIns="0" rtlCol="0" anchor="ctr">
            <a:normAutofit/>
          </a:bodyPr>
          <a:lstStyle/>
          <a:p>
            <a:pPr indent="0" marL="0">
              <a:buNone/>
            </a:pPr>
            <a:r>
              <a:rPr lang="en-US" sz="680" dirty="0">
                <a:solidFill>
                  <a:srgbClr val="24303F"/>
                </a:solidFill>
              </a:rPr>
              <a:t>5</a:t>
            </a:r>
            <a:endParaRPr lang="en-US" sz="680" dirty="0"/>
          </a:p>
        </p:txBody>
      </p:sp>
      <p:sp>
        <p:nvSpPr>
          <p:cNvPr id="43" name="Shape 41"/>
          <p:cNvSpPr/>
          <p:nvPr/>
        </p:nvSpPr>
        <p:spPr>
          <a:xfrm>
            <a:off x="9006840" y="2174966"/>
            <a:ext cx="640080" cy="515983"/>
          </a:xfrm>
          <a:prstGeom prst="rect">
            <a:avLst/>
          </a:prstGeom>
          <a:solidFill>
            <a:srgbClr val="FFFFFF"/>
          </a:solidFill>
          <a:ln w="12700">
            <a:solidFill>
              <a:srgbClr val="E7DFD0"/>
            </a:solidFill>
            <a:prstDash val="solid"/>
          </a:ln>
        </p:spPr>
      </p:sp>
      <p:sp>
        <p:nvSpPr>
          <p:cNvPr id="44" name="Text 42"/>
          <p:cNvSpPr/>
          <p:nvPr/>
        </p:nvSpPr>
        <p:spPr>
          <a:xfrm>
            <a:off x="9043416" y="2211542"/>
            <a:ext cx="566928" cy="442831"/>
          </a:xfrm>
          <a:prstGeom prst="rect">
            <a:avLst/>
          </a:prstGeom>
          <a:noFill/>
          <a:ln/>
        </p:spPr>
        <p:txBody>
          <a:bodyPr wrap="square" lIns="0" tIns="0" rIns="0" bIns="0" rtlCol="0" anchor="ctr">
            <a:normAutofit/>
          </a:bodyPr>
          <a:lstStyle/>
          <a:p>
            <a:pPr indent="0" marL="0">
              <a:buNone/>
            </a:pPr>
            <a:r>
              <a:rPr lang="en-US" sz="680" dirty="0">
                <a:solidFill>
                  <a:srgbClr val="24303F"/>
                </a:solidFill>
              </a:rPr>
              <a:t>5</a:t>
            </a:r>
            <a:endParaRPr lang="en-US" sz="680" dirty="0"/>
          </a:p>
        </p:txBody>
      </p:sp>
      <p:sp>
        <p:nvSpPr>
          <p:cNvPr id="45" name="Shape 43"/>
          <p:cNvSpPr/>
          <p:nvPr/>
        </p:nvSpPr>
        <p:spPr>
          <a:xfrm>
            <a:off x="9646920" y="2174966"/>
            <a:ext cx="594360" cy="515983"/>
          </a:xfrm>
          <a:prstGeom prst="rect">
            <a:avLst/>
          </a:prstGeom>
          <a:solidFill>
            <a:srgbClr val="FFFFFF"/>
          </a:solidFill>
          <a:ln w="12700">
            <a:solidFill>
              <a:srgbClr val="E7DFD0"/>
            </a:solidFill>
            <a:prstDash val="solid"/>
          </a:ln>
        </p:spPr>
      </p:sp>
      <p:sp>
        <p:nvSpPr>
          <p:cNvPr id="46" name="Text 44"/>
          <p:cNvSpPr/>
          <p:nvPr/>
        </p:nvSpPr>
        <p:spPr>
          <a:xfrm>
            <a:off x="9683496" y="2211542"/>
            <a:ext cx="521208" cy="442831"/>
          </a:xfrm>
          <a:prstGeom prst="rect">
            <a:avLst/>
          </a:prstGeom>
          <a:noFill/>
          <a:ln/>
        </p:spPr>
        <p:txBody>
          <a:bodyPr wrap="square" lIns="0" tIns="0" rIns="0" bIns="0" rtlCol="0" anchor="ctr">
            <a:normAutofit/>
          </a:bodyPr>
          <a:lstStyle/>
          <a:p>
            <a:pPr indent="0" marL="0">
              <a:buNone/>
            </a:pPr>
            <a:r>
              <a:rPr lang="en-US" sz="680" dirty="0">
                <a:solidFill>
                  <a:srgbClr val="24303F"/>
                </a:solidFill>
              </a:rPr>
              <a:t>2</a:t>
            </a:r>
            <a:endParaRPr lang="en-US" sz="680" dirty="0"/>
          </a:p>
        </p:txBody>
      </p:sp>
      <p:sp>
        <p:nvSpPr>
          <p:cNvPr id="47" name="Shape 45"/>
          <p:cNvSpPr/>
          <p:nvPr/>
        </p:nvSpPr>
        <p:spPr>
          <a:xfrm>
            <a:off x="10241280" y="2174966"/>
            <a:ext cx="502920" cy="515983"/>
          </a:xfrm>
          <a:prstGeom prst="rect">
            <a:avLst/>
          </a:prstGeom>
          <a:solidFill>
            <a:srgbClr val="FFFFFF"/>
          </a:solidFill>
          <a:ln w="12700">
            <a:solidFill>
              <a:srgbClr val="E7DFD0"/>
            </a:solidFill>
            <a:prstDash val="solid"/>
          </a:ln>
        </p:spPr>
      </p:sp>
      <p:sp>
        <p:nvSpPr>
          <p:cNvPr id="48" name="Text 46"/>
          <p:cNvSpPr/>
          <p:nvPr/>
        </p:nvSpPr>
        <p:spPr>
          <a:xfrm>
            <a:off x="10277856" y="2211542"/>
            <a:ext cx="429768" cy="442831"/>
          </a:xfrm>
          <a:prstGeom prst="rect">
            <a:avLst/>
          </a:prstGeom>
          <a:noFill/>
          <a:ln/>
        </p:spPr>
        <p:txBody>
          <a:bodyPr wrap="square" lIns="0" tIns="0" rIns="0" bIns="0" rtlCol="0" anchor="ctr">
            <a:normAutofit/>
          </a:bodyPr>
          <a:lstStyle/>
          <a:p>
            <a:pPr indent="0" marL="0">
              <a:buNone/>
            </a:pPr>
            <a:r>
              <a:rPr lang="en-US" sz="680" dirty="0">
                <a:solidFill>
                  <a:srgbClr val="24303F"/>
                </a:solidFill>
              </a:rPr>
              <a:t>2</a:t>
            </a:r>
            <a:endParaRPr lang="en-US" sz="680" dirty="0"/>
          </a:p>
        </p:txBody>
      </p:sp>
      <p:sp>
        <p:nvSpPr>
          <p:cNvPr id="49" name="Shape 47"/>
          <p:cNvSpPr/>
          <p:nvPr/>
        </p:nvSpPr>
        <p:spPr>
          <a:xfrm>
            <a:off x="10744200" y="2174966"/>
            <a:ext cx="594360" cy="515983"/>
          </a:xfrm>
          <a:prstGeom prst="rect">
            <a:avLst/>
          </a:prstGeom>
          <a:solidFill>
            <a:srgbClr val="FFFFFF"/>
          </a:solidFill>
          <a:ln w="12700">
            <a:solidFill>
              <a:srgbClr val="E7DFD0"/>
            </a:solidFill>
            <a:prstDash val="solid"/>
          </a:ln>
        </p:spPr>
      </p:sp>
      <p:sp>
        <p:nvSpPr>
          <p:cNvPr id="50" name="Text 48"/>
          <p:cNvSpPr/>
          <p:nvPr/>
        </p:nvSpPr>
        <p:spPr>
          <a:xfrm>
            <a:off x="10780776" y="2211542"/>
            <a:ext cx="521208" cy="442831"/>
          </a:xfrm>
          <a:prstGeom prst="rect">
            <a:avLst/>
          </a:prstGeom>
          <a:noFill/>
          <a:ln/>
        </p:spPr>
        <p:txBody>
          <a:bodyPr wrap="square" lIns="0" tIns="0" rIns="0" bIns="0" rtlCol="0" anchor="ctr">
            <a:normAutofit/>
          </a:bodyPr>
          <a:lstStyle/>
          <a:p>
            <a:pPr indent="0" marL="0">
              <a:buNone/>
            </a:pPr>
            <a:r>
              <a:rPr lang="en-US" sz="680" dirty="0">
                <a:solidFill>
                  <a:srgbClr val="24303F"/>
                </a:solidFill>
              </a:rPr>
              <a:t>10</a:t>
            </a:r>
            <a:endParaRPr lang="en-US" sz="680" dirty="0"/>
          </a:p>
        </p:txBody>
      </p:sp>
      <p:sp>
        <p:nvSpPr>
          <p:cNvPr id="51" name="Shape 49"/>
          <p:cNvSpPr/>
          <p:nvPr/>
        </p:nvSpPr>
        <p:spPr>
          <a:xfrm>
            <a:off x="5440680" y="2690949"/>
            <a:ext cx="2468880" cy="515983"/>
          </a:xfrm>
          <a:prstGeom prst="rect">
            <a:avLst/>
          </a:prstGeom>
          <a:solidFill>
            <a:srgbClr val="FDFBF5"/>
          </a:solidFill>
          <a:ln w="12700">
            <a:solidFill>
              <a:srgbClr val="E7DFD0"/>
            </a:solidFill>
            <a:prstDash val="solid"/>
          </a:ln>
        </p:spPr>
      </p:sp>
      <p:sp>
        <p:nvSpPr>
          <p:cNvPr id="52" name="Text 50"/>
          <p:cNvSpPr/>
          <p:nvPr/>
        </p:nvSpPr>
        <p:spPr>
          <a:xfrm>
            <a:off x="5477256" y="2727525"/>
            <a:ext cx="2395728" cy="442831"/>
          </a:xfrm>
          <a:prstGeom prst="rect">
            <a:avLst/>
          </a:prstGeom>
          <a:noFill/>
          <a:ln/>
        </p:spPr>
        <p:txBody>
          <a:bodyPr wrap="square" lIns="0" tIns="0" rIns="0" bIns="0" rtlCol="0" anchor="ctr">
            <a:normAutofit/>
          </a:bodyPr>
          <a:lstStyle/>
          <a:p>
            <a:pPr indent="0" marL="0">
              <a:buNone/>
            </a:pPr>
            <a:r>
              <a:rPr lang="en-US" sz="680" dirty="0">
                <a:solidFill>
                  <a:srgbClr val="24303F"/>
                </a:solidFill>
              </a:rPr>
              <a:t>Class reminder automation</a:t>
            </a:r>
            <a:endParaRPr lang="en-US" sz="680" dirty="0"/>
          </a:p>
        </p:txBody>
      </p:sp>
      <p:sp>
        <p:nvSpPr>
          <p:cNvPr id="53" name="Shape 51"/>
          <p:cNvSpPr/>
          <p:nvPr/>
        </p:nvSpPr>
        <p:spPr>
          <a:xfrm>
            <a:off x="7909560" y="2690949"/>
            <a:ext cx="548640" cy="515983"/>
          </a:xfrm>
          <a:prstGeom prst="rect">
            <a:avLst/>
          </a:prstGeom>
          <a:solidFill>
            <a:srgbClr val="FDFBF5"/>
          </a:solidFill>
          <a:ln w="12700">
            <a:solidFill>
              <a:srgbClr val="E7DFD0"/>
            </a:solidFill>
            <a:prstDash val="solid"/>
          </a:ln>
        </p:spPr>
      </p:sp>
      <p:sp>
        <p:nvSpPr>
          <p:cNvPr id="54" name="Text 52"/>
          <p:cNvSpPr/>
          <p:nvPr/>
        </p:nvSpPr>
        <p:spPr>
          <a:xfrm>
            <a:off x="7946136" y="2727525"/>
            <a:ext cx="475488" cy="442831"/>
          </a:xfrm>
          <a:prstGeom prst="rect">
            <a:avLst/>
          </a:prstGeom>
          <a:noFill/>
          <a:ln/>
        </p:spPr>
        <p:txBody>
          <a:bodyPr wrap="square" lIns="0" tIns="0" rIns="0" bIns="0" rtlCol="0" anchor="ctr">
            <a:normAutofit/>
          </a:bodyPr>
          <a:lstStyle/>
          <a:p>
            <a:pPr indent="0" marL="0">
              <a:buNone/>
            </a:pPr>
            <a:r>
              <a:rPr lang="en-US" sz="680" dirty="0">
                <a:solidFill>
                  <a:srgbClr val="24303F"/>
                </a:solidFill>
              </a:rPr>
              <a:t>3</a:t>
            </a:r>
            <a:endParaRPr lang="en-US" sz="680" dirty="0"/>
          </a:p>
        </p:txBody>
      </p:sp>
      <p:sp>
        <p:nvSpPr>
          <p:cNvPr id="55" name="Shape 53"/>
          <p:cNvSpPr/>
          <p:nvPr/>
        </p:nvSpPr>
        <p:spPr>
          <a:xfrm>
            <a:off x="8458200" y="2690949"/>
            <a:ext cx="548640" cy="515983"/>
          </a:xfrm>
          <a:prstGeom prst="rect">
            <a:avLst/>
          </a:prstGeom>
          <a:solidFill>
            <a:srgbClr val="FDFBF5"/>
          </a:solidFill>
          <a:ln w="12700">
            <a:solidFill>
              <a:srgbClr val="E7DFD0"/>
            </a:solidFill>
            <a:prstDash val="solid"/>
          </a:ln>
        </p:spPr>
      </p:sp>
      <p:sp>
        <p:nvSpPr>
          <p:cNvPr id="56" name="Text 54"/>
          <p:cNvSpPr/>
          <p:nvPr/>
        </p:nvSpPr>
        <p:spPr>
          <a:xfrm>
            <a:off x="8494776" y="2727525"/>
            <a:ext cx="475488" cy="442831"/>
          </a:xfrm>
          <a:prstGeom prst="rect">
            <a:avLst/>
          </a:prstGeom>
          <a:noFill/>
          <a:ln/>
        </p:spPr>
        <p:txBody>
          <a:bodyPr wrap="square" lIns="0" tIns="0" rIns="0" bIns="0" rtlCol="0" anchor="ctr">
            <a:normAutofit/>
          </a:bodyPr>
          <a:lstStyle/>
          <a:p>
            <a:pPr indent="0" marL="0">
              <a:buNone/>
            </a:pPr>
            <a:r>
              <a:rPr lang="en-US" sz="680" dirty="0">
                <a:solidFill>
                  <a:srgbClr val="24303F"/>
                </a:solidFill>
              </a:rPr>
              <a:t>4</a:t>
            </a:r>
            <a:endParaRPr lang="en-US" sz="680" dirty="0"/>
          </a:p>
        </p:txBody>
      </p:sp>
      <p:sp>
        <p:nvSpPr>
          <p:cNvPr id="57" name="Shape 55"/>
          <p:cNvSpPr/>
          <p:nvPr/>
        </p:nvSpPr>
        <p:spPr>
          <a:xfrm>
            <a:off x="9006840" y="2690949"/>
            <a:ext cx="640080" cy="515983"/>
          </a:xfrm>
          <a:prstGeom prst="rect">
            <a:avLst/>
          </a:prstGeom>
          <a:solidFill>
            <a:srgbClr val="FDFBF5"/>
          </a:solidFill>
          <a:ln w="12700">
            <a:solidFill>
              <a:srgbClr val="E7DFD0"/>
            </a:solidFill>
            <a:prstDash val="solid"/>
          </a:ln>
        </p:spPr>
      </p:sp>
      <p:sp>
        <p:nvSpPr>
          <p:cNvPr id="58" name="Text 56"/>
          <p:cNvSpPr/>
          <p:nvPr/>
        </p:nvSpPr>
        <p:spPr>
          <a:xfrm>
            <a:off x="9043416" y="2727525"/>
            <a:ext cx="566928" cy="442831"/>
          </a:xfrm>
          <a:prstGeom prst="rect">
            <a:avLst/>
          </a:prstGeom>
          <a:noFill/>
          <a:ln/>
        </p:spPr>
        <p:txBody>
          <a:bodyPr wrap="square" lIns="0" tIns="0" rIns="0" bIns="0" rtlCol="0" anchor="ctr">
            <a:normAutofit/>
          </a:bodyPr>
          <a:lstStyle/>
          <a:p>
            <a:pPr indent="0" marL="0">
              <a:buNone/>
            </a:pPr>
            <a:r>
              <a:rPr lang="en-US" sz="680" dirty="0">
                <a:solidFill>
                  <a:srgbClr val="24303F"/>
                </a:solidFill>
              </a:rPr>
              <a:t>5</a:t>
            </a:r>
            <a:endParaRPr lang="en-US" sz="680" dirty="0"/>
          </a:p>
        </p:txBody>
      </p:sp>
      <p:sp>
        <p:nvSpPr>
          <p:cNvPr id="59" name="Shape 57"/>
          <p:cNvSpPr/>
          <p:nvPr/>
        </p:nvSpPr>
        <p:spPr>
          <a:xfrm>
            <a:off x="9646920" y="2690949"/>
            <a:ext cx="594360" cy="515983"/>
          </a:xfrm>
          <a:prstGeom prst="rect">
            <a:avLst/>
          </a:prstGeom>
          <a:solidFill>
            <a:srgbClr val="FDFBF5"/>
          </a:solidFill>
          <a:ln w="12700">
            <a:solidFill>
              <a:srgbClr val="E7DFD0"/>
            </a:solidFill>
            <a:prstDash val="solid"/>
          </a:ln>
        </p:spPr>
      </p:sp>
      <p:sp>
        <p:nvSpPr>
          <p:cNvPr id="60" name="Text 58"/>
          <p:cNvSpPr/>
          <p:nvPr/>
        </p:nvSpPr>
        <p:spPr>
          <a:xfrm>
            <a:off x="9683496" y="2727525"/>
            <a:ext cx="521208" cy="442831"/>
          </a:xfrm>
          <a:prstGeom prst="rect">
            <a:avLst/>
          </a:prstGeom>
          <a:noFill/>
          <a:ln/>
        </p:spPr>
        <p:txBody>
          <a:bodyPr wrap="square" lIns="0" tIns="0" rIns="0" bIns="0" rtlCol="0" anchor="ctr">
            <a:normAutofit/>
          </a:bodyPr>
          <a:lstStyle/>
          <a:p>
            <a:pPr indent="0" marL="0">
              <a:buNone/>
            </a:pPr>
            <a:r>
              <a:rPr lang="en-US" sz="680" dirty="0">
                <a:solidFill>
                  <a:srgbClr val="24303F"/>
                </a:solidFill>
              </a:rPr>
              <a:t>1</a:t>
            </a:r>
            <a:endParaRPr lang="en-US" sz="680" dirty="0"/>
          </a:p>
        </p:txBody>
      </p:sp>
      <p:sp>
        <p:nvSpPr>
          <p:cNvPr id="61" name="Shape 59"/>
          <p:cNvSpPr/>
          <p:nvPr/>
        </p:nvSpPr>
        <p:spPr>
          <a:xfrm>
            <a:off x="10241280" y="2690949"/>
            <a:ext cx="502920" cy="515983"/>
          </a:xfrm>
          <a:prstGeom prst="rect">
            <a:avLst/>
          </a:prstGeom>
          <a:solidFill>
            <a:srgbClr val="FDFBF5"/>
          </a:solidFill>
          <a:ln w="12700">
            <a:solidFill>
              <a:srgbClr val="E7DFD0"/>
            </a:solidFill>
            <a:prstDash val="solid"/>
          </a:ln>
        </p:spPr>
      </p:sp>
      <p:sp>
        <p:nvSpPr>
          <p:cNvPr id="62" name="Text 60"/>
          <p:cNvSpPr/>
          <p:nvPr/>
        </p:nvSpPr>
        <p:spPr>
          <a:xfrm>
            <a:off x="10277856" y="2727525"/>
            <a:ext cx="429768" cy="442831"/>
          </a:xfrm>
          <a:prstGeom prst="rect">
            <a:avLst/>
          </a:prstGeom>
          <a:noFill/>
          <a:ln/>
        </p:spPr>
        <p:txBody>
          <a:bodyPr wrap="square" lIns="0" tIns="0" rIns="0" bIns="0" rtlCol="0" anchor="ctr">
            <a:normAutofit/>
          </a:bodyPr>
          <a:lstStyle/>
          <a:p>
            <a:pPr indent="0" marL="0">
              <a:buNone/>
            </a:pPr>
            <a:r>
              <a:rPr lang="en-US" sz="680" dirty="0">
                <a:solidFill>
                  <a:srgbClr val="24303F"/>
                </a:solidFill>
              </a:rPr>
              <a:t>1</a:t>
            </a:r>
            <a:endParaRPr lang="en-US" sz="680" dirty="0"/>
          </a:p>
        </p:txBody>
      </p:sp>
      <p:sp>
        <p:nvSpPr>
          <p:cNvPr id="63" name="Shape 61"/>
          <p:cNvSpPr/>
          <p:nvPr/>
        </p:nvSpPr>
        <p:spPr>
          <a:xfrm>
            <a:off x="10744200" y="2690949"/>
            <a:ext cx="594360" cy="515983"/>
          </a:xfrm>
          <a:prstGeom prst="rect">
            <a:avLst/>
          </a:prstGeom>
          <a:solidFill>
            <a:srgbClr val="FDFBF5"/>
          </a:solidFill>
          <a:ln w="12700">
            <a:solidFill>
              <a:srgbClr val="E7DFD0"/>
            </a:solidFill>
            <a:prstDash val="solid"/>
          </a:ln>
        </p:spPr>
      </p:sp>
      <p:sp>
        <p:nvSpPr>
          <p:cNvPr id="64" name="Text 62"/>
          <p:cNvSpPr/>
          <p:nvPr/>
        </p:nvSpPr>
        <p:spPr>
          <a:xfrm>
            <a:off x="10780776" y="2727525"/>
            <a:ext cx="521208" cy="442831"/>
          </a:xfrm>
          <a:prstGeom prst="rect">
            <a:avLst/>
          </a:prstGeom>
          <a:noFill/>
          <a:ln/>
        </p:spPr>
        <p:txBody>
          <a:bodyPr wrap="square" lIns="0" tIns="0" rIns="0" bIns="0" rtlCol="0" anchor="ctr">
            <a:normAutofit/>
          </a:bodyPr>
          <a:lstStyle/>
          <a:p>
            <a:pPr indent="0" marL="0">
              <a:buNone/>
            </a:pPr>
            <a:r>
              <a:rPr lang="en-US" sz="680" dirty="0">
                <a:solidFill>
                  <a:srgbClr val="24303F"/>
                </a:solidFill>
              </a:rPr>
              <a:t>10</a:t>
            </a:r>
            <a:endParaRPr lang="en-US" sz="680" dirty="0"/>
          </a:p>
        </p:txBody>
      </p:sp>
      <p:sp>
        <p:nvSpPr>
          <p:cNvPr id="65" name="Shape 63"/>
          <p:cNvSpPr/>
          <p:nvPr/>
        </p:nvSpPr>
        <p:spPr>
          <a:xfrm>
            <a:off x="5440680" y="3206931"/>
            <a:ext cx="2468880" cy="515983"/>
          </a:xfrm>
          <a:prstGeom prst="rect">
            <a:avLst/>
          </a:prstGeom>
          <a:solidFill>
            <a:srgbClr val="FFFFFF"/>
          </a:solidFill>
          <a:ln w="12700">
            <a:solidFill>
              <a:srgbClr val="E7DFD0"/>
            </a:solidFill>
            <a:prstDash val="solid"/>
          </a:ln>
        </p:spPr>
      </p:sp>
      <p:sp>
        <p:nvSpPr>
          <p:cNvPr id="66" name="Text 64"/>
          <p:cNvSpPr/>
          <p:nvPr/>
        </p:nvSpPr>
        <p:spPr>
          <a:xfrm>
            <a:off x="5477256" y="3243507"/>
            <a:ext cx="2395728" cy="442831"/>
          </a:xfrm>
          <a:prstGeom prst="rect">
            <a:avLst/>
          </a:prstGeom>
          <a:noFill/>
          <a:ln/>
        </p:spPr>
        <p:txBody>
          <a:bodyPr wrap="square" lIns="0" tIns="0" rIns="0" bIns="0" rtlCol="0" anchor="ctr">
            <a:normAutofit/>
          </a:bodyPr>
          <a:lstStyle/>
          <a:p>
            <a:pPr indent="0" marL="0">
              <a:buNone/>
            </a:pPr>
            <a:r>
              <a:rPr lang="en-US" sz="680" dirty="0">
                <a:solidFill>
                  <a:srgbClr val="24303F"/>
                </a:solidFill>
              </a:rPr>
              <a:t>Certificate template automation</a:t>
            </a:r>
            <a:endParaRPr lang="en-US" sz="680" dirty="0"/>
          </a:p>
        </p:txBody>
      </p:sp>
      <p:sp>
        <p:nvSpPr>
          <p:cNvPr id="67" name="Shape 65"/>
          <p:cNvSpPr/>
          <p:nvPr/>
        </p:nvSpPr>
        <p:spPr>
          <a:xfrm>
            <a:off x="7909560" y="3206931"/>
            <a:ext cx="548640" cy="515983"/>
          </a:xfrm>
          <a:prstGeom prst="rect">
            <a:avLst/>
          </a:prstGeom>
          <a:solidFill>
            <a:srgbClr val="FFFFFF"/>
          </a:solidFill>
          <a:ln w="12700">
            <a:solidFill>
              <a:srgbClr val="E7DFD0"/>
            </a:solidFill>
            <a:prstDash val="solid"/>
          </a:ln>
        </p:spPr>
      </p:sp>
      <p:sp>
        <p:nvSpPr>
          <p:cNvPr id="68" name="Text 66"/>
          <p:cNvSpPr/>
          <p:nvPr/>
        </p:nvSpPr>
        <p:spPr>
          <a:xfrm>
            <a:off x="7946136" y="3243507"/>
            <a:ext cx="475488" cy="442831"/>
          </a:xfrm>
          <a:prstGeom prst="rect">
            <a:avLst/>
          </a:prstGeom>
          <a:noFill/>
          <a:ln/>
        </p:spPr>
        <p:txBody>
          <a:bodyPr wrap="square" lIns="0" tIns="0" rIns="0" bIns="0" rtlCol="0" anchor="ctr">
            <a:normAutofit/>
          </a:bodyPr>
          <a:lstStyle/>
          <a:p>
            <a:pPr indent="0" marL="0">
              <a:buNone/>
            </a:pPr>
            <a:r>
              <a:rPr lang="en-US" sz="680" dirty="0">
                <a:solidFill>
                  <a:srgbClr val="24303F"/>
                </a:solidFill>
              </a:rPr>
              <a:t>4</a:t>
            </a:r>
            <a:endParaRPr lang="en-US" sz="680" dirty="0"/>
          </a:p>
        </p:txBody>
      </p:sp>
      <p:sp>
        <p:nvSpPr>
          <p:cNvPr id="69" name="Shape 67"/>
          <p:cNvSpPr/>
          <p:nvPr/>
        </p:nvSpPr>
        <p:spPr>
          <a:xfrm>
            <a:off x="8458200" y="3206931"/>
            <a:ext cx="548640" cy="515983"/>
          </a:xfrm>
          <a:prstGeom prst="rect">
            <a:avLst/>
          </a:prstGeom>
          <a:solidFill>
            <a:srgbClr val="FFFFFF"/>
          </a:solidFill>
          <a:ln w="12700">
            <a:solidFill>
              <a:srgbClr val="E7DFD0"/>
            </a:solidFill>
            <a:prstDash val="solid"/>
          </a:ln>
        </p:spPr>
      </p:sp>
      <p:sp>
        <p:nvSpPr>
          <p:cNvPr id="70" name="Text 68"/>
          <p:cNvSpPr/>
          <p:nvPr/>
        </p:nvSpPr>
        <p:spPr>
          <a:xfrm>
            <a:off x="8494776" y="3243507"/>
            <a:ext cx="475488" cy="442831"/>
          </a:xfrm>
          <a:prstGeom prst="rect">
            <a:avLst/>
          </a:prstGeom>
          <a:noFill/>
          <a:ln/>
        </p:spPr>
        <p:txBody>
          <a:bodyPr wrap="square" lIns="0" tIns="0" rIns="0" bIns="0" rtlCol="0" anchor="ctr">
            <a:normAutofit/>
          </a:bodyPr>
          <a:lstStyle/>
          <a:p>
            <a:pPr indent="0" marL="0">
              <a:buNone/>
            </a:pPr>
            <a:r>
              <a:rPr lang="en-US" sz="680" dirty="0">
                <a:solidFill>
                  <a:srgbClr val="24303F"/>
                </a:solidFill>
              </a:rPr>
              <a:t>5</a:t>
            </a:r>
            <a:endParaRPr lang="en-US" sz="680" dirty="0"/>
          </a:p>
        </p:txBody>
      </p:sp>
      <p:sp>
        <p:nvSpPr>
          <p:cNvPr id="71" name="Shape 69"/>
          <p:cNvSpPr/>
          <p:nvPr/>
        </p:nvSpPr>
        <p:spPr>
          <a:xfrm>
            <a:off x="9006840" y="3206931"/>
            <a:ext cx="640080" cy="515983"/>
          </a:xfrm>
          <a:prstGeom prst="rect">
            <a:avLst/>
          </a:prstGeom>
          <a:solidFill>
            <a:srgbClr val="FFFFFF"/>
          </a:solidFill>
          <a:ln w="12700">
            <a:solidFill>
              <a:srgbClr val="E7DFD0"/>
            </a:solidFill>
            <a:prstDash val="solid"/>
          </a:ln>
        </p:spPr>
      </p:sp>
      <p:sp>
        <p:nvSpPr>
          <p:cNvPr id="72" name="Text 70"/>
          <p:cNvSpPr/>
          <p:nvPr/>
        </p:nvSpPr>
        <p:spPr>
          <a:xfrm>
            <a:off x="9043416" y="3243507"/>
            <a:ext cx="566928" cy="442831"/>
          </a:xfrm>
          <a:prstGeom prst="rect">
            <a:avLst/>
          </a:prstGeom>
          <a:noFill/>
          <a:ln/>
        </p:spPr>
        <p:txBody>
          <a:bodyPr wrap="square" lIns="0" tIns="0" rIns="0" bIns="0" rtlCol="0" anchor="ctr">
            <a:normAutofit/>
          </a:bodyPr>
          <a:lstStyle/>
          <a:p>
            <a:pPr indent="0" marL="0">
              <a:buNone/>
            </a:pPr>
            <a:r>
              <a:rPr lang="en-US" sz="680" dirty="0">
                <a:solidFill>
                  <a:srgbClr val="24303F"/>
                </a:solidFill>
              </a:rPr>
              <a:t>5</a:t>
            </a:r>
            <a:endParaRPr lang="en-US" sz="680" dirty="0"/>
          </a:p>
        </p:txBody>
      </p:sp>
      <p:sp>
        <p:nvSpPr>
          <p:cNvPr id="73" name="Shape 71"/>
          <p:cNvSpPr/>
          <p:nvPr/>
        </p:nvSpPr>
        <p:spPr>
          <a:xfrm>
            <a:off x="9646920" y="3206931"/>
            <a:ext cx="594360" cy="515983"/>
          </a:xfrm>
          <a:prstGeom prst="rect">
            <a:avLst/>
          </a:prstGeom>
          <a:solidFill>
            <a:srgbClr val="FFFFFF"/>
          </a:solidFill>
          <a:ln w="12700">
            <a:solidFill>
              <a:srgbClr val="E7DFD0"/>
            </a:solidFill>
            <a:prstDash val="solid"/>
          </a:ln>
        </p:spPr>
      </p:sp>
      <p:sp>
        <p:nvSpPr>
          <p:cNvPr id="74" name="Text 72"/>
          <p:cNvSpPr/>
          <p:nvPr/>
        </p:nvSpPr>
        <p:spPr>
          <a:xfrm>
            <a:off x="9683496" y="3243507"/>
            <a:ext cx="521208" cy="442831"/>
          </a:xfrm>
          <a:prstGeom prst="rect">
            <a:avLst/>
          </a:prstGeom>
          <a:noFill/>
          <a:ln/>
        </p:spPr>
        <p:txBody>
          <a:bodyPr wrap="square" lIns="0" tIns="0" rIns="0" bIns="0" rtlCol="0" anchor="ctr">
            <a:normAutofit/>
          </a:bodyPr>
          <a:lstStyle/>
          <a:p>
            <a:pPr indent="0" marL="0">
              <a:buNone/>
            </a:pPr>
            <a:r>
              <a:rPr lang="en-US" sz="680" dirty="0">
                <a:solidFill>
                  <a:srgbClr val="24303F"/>
                </a:solidFill>
              </a:rPr>
              <a:t>3</a:t>
            </a:r>
            <a:endParaRPr lang="en-US" sz="680" dirty="0"/>
          </a:p>
        </p:txBody>
      </p:sp>
      <p:sp>
        <p:nvSpPr>
          <p:cNvPr id="75" name="Shape 73"/>
          <p:cNvSpPr/>
          <p:nvPr/>
        </p:nvSpPr>
        <p:spPr>
          <a:xfrm>
            <a:off x="10241280" y="3206931"/>
            <a:ext cx="502920" cy="515983"/>
          </a:xfrm>
          <a:prstGeom prst="rect">
            <a:avLst/>
          </a:prstGeom>
          <a:solidFill>
            <a:srgbClr val="FFFFFF"/>
          </a:solidFill>
          <a:ln w="12700">
            <a:solidFill>
              <a:srgbClr val="E7DFD0"/>
            </a:solidFill>
            <a:prstDash val="solid"/>
          </a:ln>
        </p:spPr>
      </p:sp>
      <p:sp>
        <p:nvSpPr>
          <p:cNvPr id="76" name="Text 74"/>
          <p:cNvSpPr/>
          <p:nvPr/>
        </p:nvSpPr>
        <p:spPr>
          <a:xfrm>
            <a:off x="10277856" y="3243507"/>
            <a:ext cx="429768" cy="442831"/>
          </a:xfrm>
          <a:prstGeom prst="rect">
            <a:avLst/>
          </a:prstGeom>
          <a:noFill/>
          <a:ln/>
        </p:spPr>
        <p:txBody>
          <a:bodyPr wrap="square" lIns="0" tIns="0" rIns="0" bIns="0" rtlCol="0" anchor="ctr">
            <a:normAutofit/>
          </a:bodyPr>
          <a:lstStyle/>
          <a:p>
            <a:pPr indent="0" marL="0">
              <a:buNone/>
            </a:pPr>
            <a:r>
              <a:rPr lang="en-US" sz="680" dirty="0">
                <a:solidFill>
                  <a:srgbClr val="24303F"/>
                </a:solidFill>
              </a:rPr>
              <a:t>2</a:t>
            </a:r>
            <a:endParaRPr lang="en-US" sz="680" dirty="0"/>
          </a:p>
        </p:txBody>
      </p:sp>
      <p:sp>
        <p:nvSpPr>
          <p:cNvPr id="77" name="Shape 75"/>
          <p:cNvSpPr/>
          <p:nvPr/>
        </p:nvSpPr>
        <p:spPr>
          <a:xfrm>
            <a:off x="10744200" y="3206931"/>
            <a:ext cx="594360" cy="515983"/>
          </a:xfrm>
          <a:prstGeom prst="rect">
            <a:avLst/>
          </a:prstGeom>
          <a:solidFill>
            <a:srgbClr val="FFFFFF"/>
          </a:solidFill>
          <a:ln w="12700">
            <a:solidFill>
              <a:srgbClr val="E7DFD0"/>
            </a:solidFill>
            <a:prstDash val="solid"/>
          </a:ln>
        </p:spPr>
      </p:sp>
      <p:sp>
        <p:nvSpPr>
          <p:cNvPr id="78" name="Text 76"/>
          <p:cNvSpPr/>
          <p:nvPr/>
        </p:nvSpPr>
        <p:spPr>
          <a:xfrm>
            <a:off x="10780776" y="3243507"/>
            <a:ext cx="521208" cy="442831"/>
          </a:xfrm>
          <a:prstGeom prst="rect">
            <a:avLst/>
          </a:prstGeom>
          <a:noFill/>
          <a:ln/>
        </p:spPr>
        <p:txBody>
          <a:bodyPr wrap="square" lIns="0" tIns="0" rIns="0" bIns="0" rtlCol="0" anchor="ctr">
            <a:normAutofit/>
          </a:bodyPr>
          <a:lstStyle/>
          <a:p>
            <a:pPr indent="0" marL="0">
              <a:buNone/>
            </a:pPr>
            <a:r>
              <a:rPr lang="en-US" sz="680" dirty="0">
                <a:solidFill>
                  <a:srgbClr val="24303F"/>
                </a:solidFill>
              </a:rPr>
              <a:t>9</a:t>
            </a:r>
            <a:endParaRPr lang="en-US" sz="680" dirty="0"/>
          </a:p>
        </p:txBody>
      </p:sp>
      <p:sp>
        <p:nvSpPr>
          <p:cNvPr id="79" name="Shape 77"/>
          <p:cNvSpPr/>
          <p:nvPr/>
        </p:nvSpPr>
        <p:spPr>
          <a:xfrm>
            <a:off x="5440680" y="3722914"/>
            <a:ext cx="2468880" cy="515983"/>
          </a:xfrm>
          <a:prstGeom prst="rect">
            <a:avLst/>
          </a:prstGeom>
          <a:solidFill>
            <a:srgbClr val="FDFBF5"/>
          </a:solidFill>
          <a:ln w="12700">
            <a:solidFill>
              <a:srgbClr val="E7DFD0"/>
            </a:solidFill>
            <a:prstDash val="solid"/>
          </a:ln>
        </p:spPr>
      </p:sp>
      <p:sp>
        <p:nvSpPr>
          <p:cNvPr id="80" name="Text 78"/>
          <p:cNvSpPr/>
          <p:nvPr/>
        </p:nvSpPr>
        <p:spPr>
          <a:xfrm>
            <a:off x="5477256" y="3759490"/>
            <a:ext cx="2395728" cy="442831"/>
          </a:xfrm>
          <a:prstGeom prst="rect">
            <a:avLst/>
          </a:prstGeom>
          <a:noFill/>
          <a:ln/>
        </p:spPr>
        <p:txBody>
          <a:bodyPr wrap="square" lIns="0" tIns="0" rIns="0" bIns="0" rtlCol="0" anchor="ctr">
            <a:normAutofit/>
          </a:bodyPr>
          <a:lstStyle/>
          <a:p>
            <a:pPr indent="0" marL="0">
              <a:buNone/>
            </a:pPr>
            <a:r>
              <a:rPr lang="en-US" sz="680" dirty="0">
                <a:solidFill>
                  <a:srgbClr val="24303F"/>
                </a:solidFill>
              </a:rPr>
              <a:t>Payment follow-up tracker</a:t>
            </a:r>
            <a:endParaRPr lang="en-US" sz="680" dirty="0"/>
          </a:p>
        </p:txBody>
      </p:sp>
      <p:sp>
        <p:nvSpPr>
          <p:cNvPr id="81" name="Shape 79"/>
          <p:cNvSpPr/>
          <p:nvPr/>
        </p:nvSpPr>
        <p:spPr>
          <a:xfrm>
            <a:off x="7909560" y="3722914"/>
            <a:ext cx="548640" cy="515983"/>
          </a:xfrm>
          <a:prstGeom prst="rect">
            <a:avLst/>
          </a:prstGeom>
          <a:solidFill>
            <a:srgbClr val="FDFBF5"/>
          </a:solidFill>
          <a:ln w="12700">
            <a:solidFill>
              <a:srgbClr val="E7DFD0"/>
            </a:solidFill>
            <a:prstDash val="solid"/>
          </a:ln>
        </p:spPr>
      </p:sp>
      <p:sp>
        <p:nvSpPr>
          <p:cNvPr id="82" name="Text 80"/>
          <p:cNvSpPr/>
          <p:nvPr/>
        </p:nvSpPr>
        <p:spPr>
          <a:xfrm>
            <a:off x="7946136" y="3759490"/>
            <a:ext cx="475488" cy="442831"/>
          </a:xfrm>
          <a:prstGeom prst="rect">
            <a:avLst/>
          </a:prstGeom>
          <a:noFill/>
          <a:ln/>
        </p:spPr>
        <p:txBody>
          <a:bodyPr wrap="square" lIns="0" tIns="0" rIns="0" bIns="0" rtlCol="0" anchor="ctr">
            <a:normAutofit/>
          </a:bodyPr>
          <a:lstStyle/>
          <a:p>
            <a:pPr indent="0" marL="0">
              <a:buNone/>
            </a:pPr>
            <a:r>
              <a:rPr lang="en-US" sz="680" dirty="0">
                <a:solidFill>
                  <a:srgbClr val="24303F"/>
                </a:solidFill>
              </a:rPr>
              <a:t>3</a:t>
            </a:r>
            <a:endParaRPr lang="en-US" sz="680" dirty="0"/>
          </a:p>
        </p:txBody>
      </p:sp>
      <p:sp>
        <p:nvSpPr>
          <p:cNvPr id="83" name="Shape 81"/>
          <p:cNvSpPr/>
          <p:nvPr/>
        </p:nvSpPr>
        <p:spPr>
          <a:xfrm>
            <a:off x="8458200" y="3722914"/>
            <a:ext cx="548640" cy="515983"/>
          </a:xfrm>
          <a:prstGeom prst="rect">
            <a:avLst/>
          </a:prstGeom>
          <a:solidFill>
            <a:srgbClr val="FDFBF5"/>
          </a:solidFill>
          <a:ln w="12700">
            <a:solidFill>
              <a:srgbClr val="E7DFD0"/>
            </a:solidFill>
            <a:prstDash val="solid"/>
          </a:ln>
        </p:spPr>
      </p:sp>
      <p:sp>
        <p:nvSpPr>
          <p:cNvPr id="84" name="Text 82"/>
          <p:cNvSpPr/>
          <p:nvPr/>
        </p:nvSpPr>
        <p:spPr>
          <a:xfrm>
            <a:off x="8494776" y="3759490"/>
            <a:ext cx="475488" cy="442831"/>
          </a:xfrm>
          <a:prstGeom prst="rect">
            <a:avLst/>
          </a:prstGeom>
          <a:noFill/>
          <a:ln/>
        </p:spPr>
        <p:txBody>
          <a:bodyPr wrap="square" lIns="0" tIns="0" rIns="0" bIns="0" rtlCol="0" anchor="ctr">
            <a:normAutofit/>
          </a:bodyPr>
          <a:lstStyle/>
          <a:p>
            <a:pPr indent="0" marL="0">
              <a:buNone/>
            </a:pPr>
            <a:r>
              <a:rPr lang="en-US" sz="680" dirty="0">
                <a:solidFill>
                  <a:srgbClr val="24303F"/>
                </a:solidFill>
              </a:rPr>
              <a:t>4</a:t>
            </a:r>
            <a:endParaRPr lang="en-US" sz="680" dirty="0"/>
          </a:p>
        </p:txBody>
      </p:sp>
      <p:sp>
        <p:nvSpPr>
          <p:cNvPr id="85" name="Shape 83"/>
          <p:cNvSpPr/>
          <p:nvPr/>
        </p:nvSpPr>
        <p:spPr>
          <a:xfrm>
            <a:off x="9006840" y="3722914"/>
            <a:ext cx="640080" cy="515983"/>
          </a:xfrm>
          <a:prstGeom prst="rect">
            <a:avLst/>
          </a:prstGeom>
          <a:solidFill>
            <a:srgbClr val="FDFBF5"/>
          </a:solidFill>
          <a:ln w="12700">
            <a:solidFill>
              <a:srgbClr val="E7DFD0"/>
            </a:solidFill>
            <a:prstDash val="solid"/>
          </a:ln>
        </p:spPr>
      </p:sp>
      <p:sp>
        <p:nvSpPr>
          <p:cNvPr id="86" name="Text 84"/>
          <p:cNvSpPr/>
          <p:nvPr/>
        </p:nvSpPr>
        <p:spPr>
          <a:xfrm>
            <a:off x="9043416" y="3759490"/>
            <a:ext cx="566928" cy="442831"/>
          </a:xfrm>
          <a:prstGeom prst="rect">
            <a:avLst/>
          </a:prstGeom>
          <a:noFill/>
          <a:ln/>
        </p:spPr>
        <p:txBody>
          <a:bodyPr wrap="square" lIns="0" tIns="0" rIns="0" bIns="0" rtlCol="0" anchor="ctr">
            <a:normAutofit/>
          </a:bodyPr>
          <a:lstStyle/>
          <a:p>
            <a:pPr indent="0" marL="0">
              <a:buNone/>
            </a:pPr>
            <a:r>
              <a:rPr lang="en-US" sz="680" dirty="0">
                <a:solidFill>
                  <a:srgbClr val="24303F"/>
                </a:solidFill>
              </a:rPr>
              <a:t>4</a:t>
            </a:r>
            <a:endParaRPr lang="en-US" sz="680" dirty="0"/>
          </a:p>
        </p:txBody>
      </p:sp>
      <p:sp>
        <p:nvSpPr>
          <p:cNvPr id="87" name="Shape 85"/>
          <p:cNvSpPr/>
          <p:nvPr/>
        </p:nvSpPr>
        <p:spPr>
          <a:xfrm>
            <a:off x="9646920" y="3722914"/>
            <a:ext cx="594360" cy="515983"/>
          </a:xfrm>
          <a:prstGeom prst="rect">
            <a:avLst/>
          </a:prstGeom>
          <a:solidFill>
            <a:srgbClr val="FDFBF5"/>
          </a:solidFill>
          <a:ln w="12700">
            <a:solidFill>
              <a:srgbClr val="E7DFD0"/>
            </a:solidFill>
            <a:prstDash val="solid"/>
          </a:ln>
        </p:spPr>
      </p:sp>
      <p:sp>
        <p:nvSpPr>
          <p:cNvPr id="88" name="Text 86"/>
          <p:cNvSpPr/>
          <p:nvPr/>
        </p:nvSpPr>
        <p:spPr>
          <a:xfrm>
            <a:off x="9683496" y="3759490"/>
            <a:ext cx="521208" cy="442831"/>
          </a:xfrm>
          <a:prstGeom prst="rect">
            <a:avLst/>
          </a:prstGeom>
          <a:noFill/>
          <a:ln/>
        </p:spPr>
        <p:txBody>
          <a:bodyPr wrap="square" lIns="0" tIns="0" rIns="0" bIns="0" rtlCol="0" anchor="ctr">
            <a:normAutofit/>
          </a:bodyPr>
          <a:lstStyle/>
          <a:p>
            <a:pPr indent="0" marL="0">
              <a:buNone/>
            </a:pPr>
            <a:r>
              <a:rPr lang="en-US" sz="680" dirty="0">
                <a:solidFill>
                  <a:srgbClr val="24303F"/>
                </a:solidFill>
              </a:rPr>
              <a:t>2</a:t>
            </a:r>
            <a:endParaRPr lang="en-US" sz="680" dirty="0"/>
          </a:p>
        </p:txBody>
      </p:sp>
      <p:sp>
        <p:nvSpPr>
          <p:cNvPr id="89" name="Shape 87"/>
          <p:cNvSpPr/>
          <p:nvPr/>
        </p:nvSpPr>
        <p:spPr>
          <a:xfrm>
            <a:off x="10241280" y="3722914"/>
            <a:ext cx="502920" cy="515983"/>
          </a:xfrm>
          <a:prstGeom prst="rect">
            <a:avLst/>
          </a:prstGeom>
          <a:solidFill>
            <a:srgbClr val="FDFBF5"/>
          </a:solidFill>
          <a:ln w="12700">
            <a:solidFill>
              <a:srgbClr val="E7DFD0"/>
            </a:solidFill>
            <a:prstDash val="solid"/>
          </a:ln>
        </p:spPr>
      </p:sp>
      <p:sp>
        <p:nvSpPr>
          <p:cNvPr id="90" name="Text 88"/>
          <p:cNvSpPr/>
          <p:nvPr/>
        </p:nvSpPr>
        <p:spPr>
          <a:xfrm>
            <a:off x="10277856" y="3759490"/>
            <a:ext cx="429768" cy="442831"/>
          </a:xfrm>
          <a:prstGeom prst="rect">
            <a:avLst/>
          </a:prstGeom>
          <a:noFill/>
          <a:ln/>
        </p:spPr>
        <p:txBody>
          <a:bodyPr wrap="square" lIns="0" tIns="0" rIns="0" bIns="0" rtlCol="0" anchor="ctr">
            <a:normAutofit/>
          </a:bodyPr>
          <a:lstStyle/>
          <a:p>
            <a:pPr indent="0" marL="0">
              <a:buNone/>
            </a:pPr>
            <a:r>
              <a:rPr lang="en-US" sz="680" dirty="0">
                <a:solidFill>
                  <a:srgbClr val="24303F"/>
                </a:solidFill>
              </a:rPr>
              <a:t>3</a:t>
            </a:r>
            <a:endParaRPr lang="en-US" sz="680" dirty="0"/>
          </a:p>
        </p:txBody>
      </p:sp>
      <p:sp>
        <p:nvSpPr>
          <p:cNvPr id="91" name="Shape 89"/>
          <p:cNvSpPr/>
          <p:nvPr/>
        </p:nvSpPr>
        <p:spPr>
          <a:xfrm>
            <a:off x="10744200" y="3722914"/>
            <a:ext cx="594360" cy="515983"/>
          </a:xfrm>
          <a:prstGeom prst="rect">
            <a:avLst/>
          </a:prstGeom>
          <a:solidFill>
            <a:srgbClr val="FDFBF5"/>
          </a:solidFill>
          <a:ln w="12700">
            <a:solidFill>
              <a:srgbClr val="E7DFD0"/>
            </a:solidFill>
            <a:prstDash val="solid"/>
          </a:ln>
        </p:spPr>
      </p:sp>
      <p:sp>
        <p:nvSpPr>
          <p:cNvPr id="92" name="Text 90"/>
          <p:cNvSpPr/>
          <p:nvPr/>
        </p:nvSpPr>
        <p:spPr>
          <a:xfrm>
            <a:off x="10780776" y="3759490"/>
            <a:ext cx="521208" cy="442831"/>
          </a:xfrm>
          <a:prstGeom prst="rect">
            <a:avLst/>
          </a:prstGeom>
          <a:noFill/>
          <a:ln/>
        </p:spPr>
        <p:txBody>
          <a:bodyPr wrap="square" lIns="0" tIns="0" rIns="0" bIns="0" rtlCol="0" anchor="ctr">
            <a:normAutofit/>
          </a:bodyPr>
          <a:lstStyle/>
          <a:p>
            <a:pPr indent="0" marL="0">
              <a:buNone/>
            </a:pPr>
            <a:r>
              <a:rPr lang="en-US" sz="680" dirty="0">
                <a:solidFill>
                  <a:srgbClr val="24303F"/>
                </a:solidFill>
              </a:rPr>
              <a:t>6</a:t>
            </a:r>
            <a:endParaRPr lang="en-US" sz="680" dirty="0"/>
          </a:p>
        </p:txBody>
      </p:sp>
      <p:sp>
        <p:nvSpPr>
          <p:cNvPr id="93" name="Shape 91"/>
          <p:cNvSpPr/>
          <p:nvPr/>
        </p:nvSpPr>
        <p:spPr>
          <a:xfrm>
            <a:off x="5440680" y="4238897"/>
            <a:ext cx="2468880" cy="515983"/>
          </a:xfrm>
          <a:prstGeom prst="rect">
            <a:avLst/>
          </a:prstGeom>
          <a:solidFill>
            <a:srgbClr val="FFFFFF"/>
          </a:solidFill>
          <a:ln w="12700">
            <a:solidFill>
              <a:srgbClr val="E7DFD0"/>
            </a:solidFill>
            <a:prstDash val="solid"/>
          </a:ln>
        </p:spPr>
      </p:sp>
      <p:sp>
        <p:nvSpPr>
          <p:cNvPr id="94" name="Text 92"/>
          <p:cNvSpPr/>
          <p:nvPr/>
        </p:nvSpPr>
        <p:spPr>
          <a:xfrm>
            <a:off x="5477256" y="4275473"/>
            <a:ext cx="2395728" cy="442831"/>
          </a:xfrm>
          <a:prstGeom prst="rect">
            <a:avLst/>
          </a:prstGeom>
          <a:noFill/>
          <a:ln/>
        </p:spPr>
        <p:txBody>
          <a:bodyPr wrap="square" lIns="0" tIns="0" rIns="0" bIns="0" rtlCol="0" anchor="ctr">
            <a:normAutofit/>
          </a:bodyPr>
          <a:lstStyle/>
          <a:p>
            <a:pPr indent="0" marL="0">
              <a:buNone/>
            </a:pPr>
            <a:r>
              <a:rPr lang="en-US" sz="680" dirty="0">
                <a:solidFill>
                  <a:srgbClr val="24303F"/>
                </a:solidFill>
              </a:rPr>
              <a:t>Attendance QR/form check-in</a:t>
            </a:r>
            <a:endParaRPr lang="en-US" sz="680" dirty="0"/>
          </a:p>
        </p:txBody>
      </p:sp>
      <p:sp>
        <p:nvSpPr>
          <p:cNvPr id="95" name="Shape 93"/>
          <p:cNvSpPr/>
          <p:nvPr/>
        </p:nvSpPr>
        <p:spPr>
          <a:xfrm>
            <a:off x="7909560" y="4238897"/>
            <a:ext cx="548640" cy="515983"/>
          </a:xfrm>
          <a:prstGeom prst="rect">
            <a:avLst/>
          </a:prstGeom>
          <a:solidFill>
            <a:srgbClr val="FFFFFF"/>
          </a:solidFill>
          <a:ln w="12700">
            <a:solidFill>
              <a:srgbClr val="E7DFD0"/>
            </a:solidFill>
            <a:prstDash val="solid"/>
          </a:ln>
        </p:spPr>
      </p:sp>
      <p:sp>
        <p:nvSpPr>
          <p:cNvPr id="96" name="Text 94"/>
          <p:cNvSpPr/>
          <p:nvPr/>
        </p:nvSpPr>
        <p:spPr>
          <a:xfrm>
            <a:off x="7946136" y="4275473"/>
            <a:ext cx="475488" cy="442831"/>
          </a:xfrm>
          <a:prstGeom prst="rect">
            <a:avLst/>
          </a:prstGeom>
          <a:noFill/>
          <a:ln/>
        </p:spPr>
        <p:txBody>
          <a:bodyPr wrap="square" lIns="0" tIns="0" rIns="0" bIns="0" rtlCol="0" anchor="ctr">
            <a:normAutofit/>
          </a:bodyPr>
          <a:lstStyle/>
          <a:p>
            <a:pPr indent="0" marL="0">
              <a:buNone/>
            </a:pPr>
            <a:r>
              <a:rPr lang="en-US" sz="680" dirty="0">
                <a:solidFill>
                  <a:srgbClr val="24303F"/>
                </a:solidFill>
              </a:rPr>
              <a:t>3</a:t>
            </a:r>
            <a:endParaRPr lang="en-US" sz="680" dirty="0"/>
          </a:p>
        </p:txBody>
      </p:sp>
      <p:sp>
        <p:nvSpPr>
          <p:cNvPr id="97" name="Shape 95"/>
          <p:cNvSpPr/>
          <p:nvPr/>
        </p:nvSpPr>
        <p:spPr>
          <a:xfrm>
            <a:off x="8458200" y="4238897"/>
            <a:ext cx="548640" cy="515983"/>
          </a:xfrm>
          <a:prstGeom prst="rect">
            <a:avLst/>
          </a:prstGeom>
          <a:solidFill>
            <a:srgbClr val="FFFFFF"/>
          </a:solidFill>
          <a:ln w="12700">
            <a:solidFill>
              <a:srgbClr val="E7DFD0"/>
            </a:solidFill>
            <a:prstDash val="solid"/>
          </a:ln>
        </p:spPr>
      </p:sp>
      <p:sp>
        <p:nvSpPr>
          <p:cNvPr id="98" name="Text 96"/>
          <p:cNvSpPr/>
          <p:nvPr/>
        </p:nvSpPr>
        <p:spPr>
          <a:xfrm>
            <a:off x="8494776" y="4275473"/>
            <a:ext cx="475488" cy="442831"/>
          </a:xfrm>
          <a:prstGeom prst="rect">
            <a:avLst/>
          </a:prstGeom>
          <a:noFill/>
          <a:ln/>
        </p:spPr>
        <p:txBody>
          <a:bodyPr wrap="square" lIns="0" tIns="0" rIns="0" bIns="0" rtlCol="0" anchor="ctr">
            <a:normAutofit/>
          </a:bodyPr>
          <a:lstStyle/>
          <a:p>
            <a:pPr indent="0" marL="0">
              <a:buNone/>
            </a:pPr>
            <a:r>
              <a:rPr lang="en-US" sz="680" dirty="0">
                <a:solidFill>
                  <a:srgbClr val="24303F"/>
                </a:solidFill>
              </a:rPr>
              <a:t>3</a:t>
            </a:r>
            <a:endParaRPr lang="en-US" sz="680" dirty="0"/>
          </a:p>
        </p:txBody>
      </p:sp>
      <p:sp>
        <p:nvSpPr>
          <p:cNvPr id="99" name="Shape 97"/>
          <p:cNvSpPr/>
          <p:nvPr/>
        </p:nvSpPr>
        <p:spPr>
          <a:xfrm>
            <a:off x="9006840" y="4238897"/>
            <a:ext cx="640080" cy="515983"/>
          </a:xfrm>
          <a:prstGeom prst="rect">
            <a:avLst/>
          </a:prstGeom>
          <a:solidFill>
            <a:srgbClr val="FFFFFF"/>
          </a:solidFill>
          <a:ln w="12700">
            <a:solidFill>
              <a:srgbClr val="E7DFD0"/>
            </a:solidFill>
            <a:prstDash val="solid"/>
          </a:ln>
        </p:spPr>
      </p:sp>
      <p:sp>
        <p:nvSpPr>
          <p:cNvPr id="100" name="Text 98"/>
          <p:cNvSpPr/>
          <p:nvPr/>
        </p:nvSpPr>
        <p:spPr>
          <a:xfrm>
            <a:off x="9043416" y="4275473"/>
            <a:ext cx="566928" cy="442831"/>
          </a:xfrm>
          <a:prstGeom prst="rect">
            <a:avLst/>
          </a:prstGeom>
          <a:noFill/>
          <a:ln/>
        </p:spPr>
        <p:txBody>
          <a:bodyPr wrap="square" lIns="0" tIns="0" rIns="0" bIns="0" rtlCol="0" anchor="ctr">
            <a:normAutofit/>
          </a:bodyPr>
          <a:lstStyle/>
          <a:p>
            <a:pPr indent="0" marL="0">
              <a:buNone/>
            </a:pPr>
            <a:r>
              <a:rPr lang="en-US" sz="680" dirty="0">
                <a:solidFill>
                  <a:srgbClr val="24303F"/>
                </a:solidFill>
              </a:rPr>
              <a:t>4</a:t>
            </a:r>
            <a:endParaRPr lang="en-US" sz="680" dirty="0"/>
          </a:p>
        </p:txBody>
      </p:sp>
      <p:sp>
        <p:nvSpPr>
          <p:cNvPr id="101" name="Shape 99"/>
          <p:cNvSpPr/>
          <p:nvPr/>
        </p:nvSpPr>
        <p:spPr>
          <a:xfrm>
            <a:off x="9646920" y="4238897"/>
            <a:ext cx="594360" cy="515983"/>
          </a:xfrm>
          <a:prstGeom prst="rect">
            <a:avLst/>
          </a:prstGeom>
          <a:solidFill>
            <a:srgbClr val="FFFFFF"/>
          </a:solidFill>
          <a:ln w="12700">
            <a:solidFill>
              <a:srgbClr val="E7DFD0"/>
            </a:solidFill>
            <a:prstDash val="solid"/>
          </a:ln>
        </p:spPr>
      </p:sp>
      <p:sp>
        <p:nvSpPr>
          <p:cNvPr id="102" name="Text 100"/>
          <p:cNvSpPr/>
          <p:nvPr/>
        </p:nvSpPr>
        <p:spPr>
          <a:xfrm>
            <a:off x="9683496" y="4275473"/>
            <a:ext cx="521208" cy="442831"/>
          </a:xfrm>
          <a:prstGeom prst="rect">
            <a:avLst/>
          </a:prstGeom>
          <a:noFill/>
          <a:ln/>
        </p:spPr>
        <p:txBody>
          <a:bodyPr wrap="square" lIns="0" tIns="0" rIns="0" bIns="0" rtlCol="0" anchor="ctr">
            <a:normAutofit/>
          </a:bodyPr>
          <a:lstStyle/>
          <a:p>
            <a:pPr indent="0" marL="0">
              <a:buNone/>
            </a:pPr>
            <a:r>
              <a:rPr lang="en-US" sz="680" dirty="0">
                <a:solidFill>
                  <a:srgbClr val="24303F"/>
                </a:solidFill>
              </a:rPr>
              <a:t>2</a:t>
            </a:r>
            <a:endParaRPr lang="en-US" sz="680" dirty="0"/>
          </a:p>
        </p:txBody>
      </p:sp>
      <p:sp>
        <p:nvSpPr>
          <p:cNvPr id="103" name="Shape 101"/>
          <p:cNvSpPr/>
          <p:nvPr/>
        </p:nvSpPr>
        <p:spPr>
          <a:xfrm>
            <a:off x="10241280" y="4238897"/>
            <a:ext cx="502920" cy="515983"/>
          </a:xfrm>
          <a:prstGeom prst="rect">
            <a:avLst/>
          </a:prstGeom>
          <a:solidFill>
            <a:srgbClr val="FFFFFF"/>
          </a:solidFill>
          <a:ln w="12700">
            <a:solidFill>
              <a:srgbClr val="E7DFD0"/>
            </a:solidFill>
            <a:prstDash val="solid"/>
          </a:ln>
        </p:spPr>
      </p:sp>
      <p:sp>
        <p:nvSpPr>
          <p:cNvPr id="104" name="Text 102"/>
          <p:cNvSpPr/>
          <p:nvPr/>
        </p:nvSpPr>
        <p:spPr>
          <a:xfrm>
            <a:off x="10277856" y="4275473"/>
            <a:ext cx="429768" cy="442831"/>
          </a:xfrm>
          <a:prstGeom prst="rect">
            <a:avLst/>
          </a:prstGeom>
          <a:noFill/>
          <a:ln/>
        </p:spPr>
        <p:txBody>
          <a:bodyPr wrap="square" lIns="0" tIns="0" rIns="0" bIns="0" rtlCol="0" anchor="ctr">
            <a:normAutofit/>
          </a:bodyPr>
          <a:lstStyle/>
          <a:p>
            <a:pPr indent="0" marL="0">
              <a:buNone/>
            </a:pPr>
            <a:r>
              <a:rPr lang="en-US" sz="680" dirty="0">
                <a:solidFill>
                  <a:srgbClr val="24303F"/>
                </a:solidFill>
              </a:rPr>
              <a:t>2</a:t>
            </a:r>
            <a:endParaRPr lang="en-US" sz="680" dirty="0"/>
          </a:p>
        </p:txBody>
      </p:sp>
      <p:sp>
        <p:nvSpPr>
          <p:cNvPr id="105" name="Shape 103"/>
          <p:cNvSpPr/>
          <p:nvPr/>
        </p:nvSpPr>
        <p:spPr>
          <a:xfrm>
            <a:off x="10744200" y="4238897"/>
            <a:ext cx="594360" cy="515983"/>
          </a:xfrm>
          <a:prstGeom prst="rect">
            <a:avLst/>
          </a:prstGeom>
          <a:solidFill>
            <a:srgbClr val="FFFFFF"/>
          </a:solidFill>
          <a:ln w="12700">
            <a:solidFill>
              <a:srgbClr val="E7DFD0"/>
            </a:solidFill>
            <a:prstDash val="solid"/>
          </a:ln>
        </p:spPr>
      </p:sp>
      <p:sp>
        <p:nvSpPr>
          <p:cNvPr id="106" name="Text 104"/>
          <p:cNvSpPr/>
          <p:nvPr/>
        </p:nvSpPr>
        <p:spPr>
          <a:xfrm>
            <a:off x="10780776" y="4275473"/>
            <a:ext cx="521208" cy="442831"/>
          </a:xfrm>
          <a:prstGeom prst="rect">
            <a:avLst/>
          </a:prstGeom>
          <a:noFill/>
          <a:ln/>
        </p:spPr>
        <p:txBody>
          <a:bodyPr wrap="square" lIns="0" tIns="0" rIns="0" bIns="0" rtlCol="0" anchor="ctr">
            <a:normAutofit/>
          </a:bodyPr>
          <a:lstStyle/>
          <a:p>
            <a:pPr indent="0" marL="0">
              <a:buNone/>
            </a:pPr>
            <a:r>
              <a:rPr lang="en-US" sz="680" dirty="0">
                <a:solidFill>
                  <a:srgbClr val="24303F"/>
                </a:solidFill>
              </a:rPr>
              <a:t>6</a:t>
            </a:r>
            <a:endParaRPr lang="en-US" sz="680" dirty="0"/>
          </a:p>
        </p:txBody>
      </p:sp>
      <p:sp>
        <p:nvSpPr>
          <p:cNvPr id="107" name="Shape 105"/>
          <p:cNvSpPr/>
          <p:nvPr/>
        </p:nvSpPr>
        <p:spPr>
          <a:xfrm>
            <a:off x="5669280" y="5166360"/>
            <a:ext cx="5029200" cy="502920"/>
          </a:xfrm>
          <a:prstGeom prst="roundRect">
            <a:avLst>
              <a:gd name="adj" fmla="val 14545"/>
            </a:avLst>
          </a:prstGeom>
          <a:solidFill>
            <a:srgbClr val="FDFBF5"/>
          </a:solidFill>
          <a:ln w="12700">
            <a:solidFill>
              <a:srgbClr val="C9A44C"/>
            </a:solidFill>
            <a:prstDash val="solid"/>
          </a:ln>
        </p:spPr>
      </p:sp>
      <p:sp>
        <p:nvSpPr>
          <p:cNvPr id="108" name="Text 106"/>
          <p:cNvSpPr/>
          <p:nvPr/>
        </p:nvSpPr>
        <p:spPr>
          <a:xfrm>
            <a:off x="5779008" y="5257800"/>
            <a:ext cx="4809744" cy="338328"/>
          </a:xfrm>
          <a:prstGeom prst="rect">
            <a:avLst/>
          </a:prstGeom>
          <a:noFill/>
          <a:ln/>
        </p:spPr>
        <p:txBody>
          <a:bodyPr wrap="square" lIns="127" tIns="127" rIns="127" bIns="127" rtlCol="0" anchor="ctr">
            <a:normAutofit/>
          </a:bodyPr>
          <a:lstStyle/>
          <a:p>
            <a:pPr indent="0" marL="0">
              <a:buNone/>
            </a:pPr>
            <a:r>
              <a:rPr lang="en-US" sz="1300" b="1" dirty="0">
                <a:solidFill>
                  <a:srgbClr val="24303F"/>
                </a:solidFill>
              </a:rPr>
              <a:t>Top score does not remove management judgment.</a:t>
            </a:r>
            <a:endParaRPr lang="en-US" sz="1300" dirty="0"/>
          </a:p>
        </p:txBody>
      </p:sp>
      <p:sp>
        <p:nvSpPr>
          <p:cNvPr id="109" name="Text 107"/>
          <p:cNvSpPr/>
          <p:nvPr/>
        </p:nvSpPr>
        <p:spPr>
          <a:xfrm>
            <a:off x="11384280" y="6428232"/>
            <a:ext cx="320040" cy="109728"/>
          </a:xfrm>
          <a:prstGeom prst="rect">
            <a:avLst/>
          </a:prstGeom>
          <a:noFill/>
          <a:ln/>
        </p:spPr>
        <p:txBody>
          <a:bodyPr wrap="square" lIns="0" tIns="0" rIns="0" bIns="0" rtlCol="0" anchor="ctr"/>
          <a:lstStyle/>
          <a:p>
            <a:pPr algn="r" indent="0" marL="0">
              <a:buNone/>
            </a:pPr>
            <a:r>
              <a:rPr lang="en-US" sz="700" dirty="0">
                <a:solidFill>
                  <a:srgbClr val="FFFFFF"/>
                </a:solidFill>
              </a:rPr>
              <a:t>19</a:t>
            </a:r>
            <a:endParaRPr lang="en-US" sz="7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3EA"/>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4213D"/>
          </a:solidFill>
          <a:ln w="12700">
            <a:solidFill>
              <a:srgbClr val="14213D">
                <a:alpha val="0"/>
              </a:srgbClr>
            </a:solidFill>
            <a:prstDash val="solid"/>
          </a:ln>
        </p:spPr>
      </p:sp>
      <p:sp>
        <p:nvSpPr>
          <p:cNvPr id="3" name="Shape 1"/>
          <p:cNvSpPr/>
          <p:nvPr/>
        </p:nvSpPr>
        <p:spPr>
          <a:xfrm>
            <a:off x="0" y="6693408"/>
            <a:ext cx="12191695" cy="164592"/>
          </a:xfrm>
          <a:prstGeom prst="rect">
            <a:avLst/>
          </a:prstGeom>
          <a:solidFill>
            <a:srgbClr val="14213D"/>
          </a:solidFill>
          <a:ln w="12700">
            <a:solidFill>
              <a:srgbClr val="14213D">
                <a:alpha val="0"/>
              </a:srgbClr>
            </a:solidFill>
            <a:prstDash val="solid"/>
          </a:ln>
        </p:spPr>
      </p:sp>
      <p:sp>
        <p:nvSpPr>
          <p:cNvPr id="4" name="Text 2"/>
          <p:cNvSpPr/>
          <p:nvPr/>
        </p:nvSpPr>
        <p:spPr>
          <a:xfrm>
            <a:off x="502920" y="256032"/>
            <a:ext cx="4480560" cy="164592"/>
          </a:xfrm>
          <a:prstGeom prst="rect">
            <a:avLst/>
          </a:prstGeom>
          <a:noFill/>
          <a:ln/>
        </p:spPr>
        <p:txBody>
          <a:bodyPr wrap="square" lIns="0" tIns="0" rIns="0" bIns="0" rtlCol="0" anchor="ctr"/>
          <a:lstStyle/>
          <a:p>
            <a:pPr indent="0" marL="0">
              <a:buNone/>
            </a:pPr>
            <a:r>
              <a:rPr lang="en-US" sz="700" b="1" dirty="0">
                <a:solidFill>
                  <a:srgbClr val="2A9D8F"/>
                </a:solidFill>
                <a:latin typeface="Aptos" pitchFamily="34" charset="0"/>
                <a:ea typeface="Aptos" pitchFamily="34" charset="-122"/>
                <a:cs typeface="Aptos" pitchFamily="34" charset="-120"/>
              </a:rPr>
              <a:t>SECTION 3</a:t>
            </a:r>
            <a:endParaRPr lang="en-US" sz="700" dirty="0"/>
          </a:p>
        </p:txBody>
      </p:sp>
      <p:sp>
        <p:nvSpPr>
          <p:cNvPr id="5" name="Text 3"/>
          <p:cNvSpPr/>
          <p:nvPr/>
        </p:nvSpPr>
        <p:spPr>
          <a:xfrm>
            <a:off x="9281160" y="219456"/>
            <a:ext cx="2423160" cy="182880"/>
          </a:xfrm>
          <a:prstGeom prst="rect">
            <a:avLst/>
          </a:prstGeom>
          <a:noFill/>
          <a:ln/>
        </p:spPr>
        <p:txBody>
          <a:bodyPr wrap="square" lIns="0" tIns="0" rIns="0" bIns="0" rtlCol="0" anchor="ctr"/>
          <a:lstStyle/>
          <a:p>
            <a:pPr algn="r" indent="0" marL="0">
              <a:buNone/>
            </a:pPr>
            <a:r>
              <a:rPr lang="en-US" sz="700" dirty="0">
                <a:solidFill>
                  <a:srgbClr val="6D7886"/>
                </a:solidFill>
              </a:rPr>
              <a:t>Jifunze.ai skill booster</a:t>
            </a:r>
            <a:endParaRPr lang="en-US" sz="700" dirty="0"/>
          </a:p>
        </p:txBody>
      </p:sp>
      <p:sp>
        <p:nvSpPr>
          <p:cNvPr id="6" name="Text 4"/>
          <p:cNvSpPr/>
          <p:nvPr/>
        </p:nvSpPr>
        <p:spPr>
          <a:xfrm>
            <a:off x="502920" y="502920"/>
            <a:ext cx="4617720" cy="475488"/>
          </a:xfrm>
          <a:prstGeom prst="rect">
            <a:avLst/>
          </a:prstGeom>
          <a:noFill/>
          <a:ln/>
        </p:spPr>
        <p:txBody>
          <a:bodyPr wrap="square" lIns="127" tIns="127" rIns="127" bIns="127" rtlCol="0" anchor="ctr">
            <a:normAutofit/>
          </a:bodyPr>
          <a:lstStyle/>
          <a:p>
            <a:pPr indent="0" marL="0">
              <a:buNone/>
            </a:pPr>
            <a:r>
              <a:rPr lang="en-US" sz="2500" b="1" dirty="0">
                <a:solidFill>
                  <a:srgbClr val="14213D"/>
                </a:solidFill>
                <a:latin typeface="Aptos Display" pitchFamily="34" charset="0"/>
                <a:ea typeface="Aptos Display" pitchFamily="34" charset="-122"/>
                <a:cs typeface="Aptos Display" pitchFamily="34" charset="-120"/>
              </a:rPr>
              <a:t>Impact vs effort matrix</a:t>
            </a:r>
            <a:endParaRPr lang="en-US" sz="2500" dirty="0"/>
          </a:p>
        </p:txBody>
      </p:sp>
      <p:sp>
        <p:nvSpPr>
          <p:cNvPr id="7" name="Text 5"/>
          <p:cNvSpPr/>
          <p:nvPr/>
        </p:nvSpPr>
        <p:spPr>
          <a:xfrm>
            <a:off x="521208" y="1005840"/>
            <a:ext cx="4617720" cy="228600"/>
          </a:xfrm>
          <a:prstGeom prst="rect">
            <a:avLst/>
          </a:prstGeom>
          <a:noFill/>
          <a:ln/>
        </p:spPr>
        <p:txBody>
          <a:bodyPr wrap="square" lIns="0" tIns="0" rIns="0" bIns="0" rtlCol="0" anchor="ctr">
            <a:normAutofit/>
          </a:bodyPr>
          <a:lstStyle/>
          <a:p>
            <a:pPr indent="0" marL="0">
              <a:buNone/>
            </a:pPr>
            <a:r>
              <a:rPr lang="en-US" sz="1080" dirty="0">
                <a:solidFill>
                  <a:srgbClr val="24303F"/>
                </a:solidFill>
              </a:rPr>
              <a:t>Prioritize high-impact, low-effort automation first</a:t>
            </a:r>
            <a:endParaRPr lang="en-US" sz="1080" dirty="0"/>
          </a:p>
        </p:txBody>
      </p:sp>
      <p:sp>
        <p:nvSpPr>
          <p:cNvPr id="8" name="Text 6"/>
          <p:cNvSpPr/>
          <p:nvPr/>
        </p:nvSpPr>
        <p:spPr>
          <a:xfrm>
            <a:off x="594360" y="1417320"/>
            <a:ext cx="4617720" cy="4343400"/>
          </a:xfrm>
          <a:prstGeom prst="rect">
            <a:avLst/>
          </a:prstGeom>
          <a:noFill/>
          <a:ln/>
        </p:spPr>
        <p:txBody>
          <a:bodyPr wrap="square" lIns="635" tIns="635" rIns="635" bIns="635" rtlCol="0" anchor="ctr">
            <a:normAutofit/>
          </a:bodyPr>
          <a:lstStyle/>
          <a:p>
            <a:r>
              <a:rPr lang="en-US" sz="1450" dirty="0">
                <a:solidFill>
                  <a:srgbClr val="24303F"/>
                </a:solidFill>
              </a:rPr>
              <a:t>• Quick wins: course info emails and reminders</a:t>
            </a:r>
            <a:endParaRPr lang="en-US" sz="1450" dirty="0"/>
          </a:p>
          <a:p>
            <a:r>
              <a:rPr lang="en-US" sz="1450" dirty="0">
                <a:solidFill>
                  <a:srgbClr val="24303F"/>
                </a:solidFill>
              </a:rPr>
              <a:t>• Strategic foundations: structured forms and cleaner data</a:t>
            </a:r>
            <a:endParaRPr lang="en-US" sz="1450" dirty="0"/>
          </a:p>
          <a:p>
            <a:r>
              <a:rPr lang="en-US" sz="1450" dirty="0">
                <a:solidFill>
                  <a:srgbClr val="24303F"/>
                </a:solidFill>
              </a:rPr>
              <a:t>• High impact but dependent: certificate automation</a:t>
            </a:r>
            <a:endParaRPr lang="en-US" sz="1450" dirty="0"/>
          </a:p>
          <a:p>
            <a:r>
              <a:rPr lang="en-US" sz="1450" dirty="0">
                <a:solidFill>
                  <a:srgbClr val="24303F"/>
                </a:solidFill>
              </a:rPr>
              <a:t>• Avoid shiny tools with high effort and unclear value</a:t>
            </a:r>
            <a:endParaRPr lang="en-US" sz="1450" dirty="0"/>
          </a:p>
        </p:txBody>
      </p:sp>
      <p:sp>
        <p:nvSpPr>
          <p:cNvPr id="9" name="Shape 7"/>
          <p:cNvSpPr/>
          <p:nvPr/>
        </p:nvSpPr>
        <p:spPr>
          <a:xfrm>
            <a:off x="5669280" y="1143000"/>
            <a:ext cx="4754880" cy="3931920"/>
          </a:xfrm>
          <a:prstGeom prst="rect">
            <a:avLst/>
          </a:prstGeom>
          <a:solidFill>
            <a:srgbClr val="FFFFFF"/>
          </a:solidFill>
          <a:ln w="12700">
            <a:solidFill>
              <a:srgbClr val="E7DFD0"/>
            </a:solidFill>
            <a:prstDash val="solid"/>
          </a:ln>
        </p:spPr>
      </p:sp>
      <p:sp>
        <p:nvSpPr>
          <p:cNvPr id="10" name="Shape 8"/>
          <p:cNvSpPr/>
          <p:nvPr/>
        </p:nvSpPr>
        <p:spPr>
          <a:xfrm>
            <a:off x="8046720" y="1143000"/>
            <a:ext cx="0" cy="3931920"/>
          </a:xfrm>
          <a:prstGeom prst="line">
            <a:avLst/>
          </a:prstGeom>
          <a:noFill/>
          <a:ln w="12700">
            <a:solidFill>
              <a:srgbClr val="E7DFD0"/>
            </a:solidFill>
            <a:prstDash val="solid"/>
          </a:ln>
        </p:spPr>
      </p:sp>
      <p:sp>
        <p:nvSpPr>
          <p:cNvPr id="11" name="Shape 9"/>
          <p:cNvSpPr/>
          <p:nvPr/>
        </p:nvSpPr>
        <p:spPr>
          <a:xfrm>
            <a:off x="5669280" y="3108960"/>
            <a:ext cx="4754880" cy="0"/>
          </a:xfrm>
          <a:prstGeom prst="line">
            <a:avLst/>
          </a:prstGeom>
          <a:noFill/>
          <a:ln w="12700">
            <a:solidFill>
              <a:srgbClr val="E7DFD0"/>
            </a:solidFill>
            <a:prstDash val="solid"/>
          </a:ln>
        </p:spPr>
      </p:sp>
      <p:sp>
        <p:nvSpPr>
          <p:cNvPr id="12" name="Text 10"/>
          <p:cNvSpPr/>
          <p:nvPr/>
        </p:nvSpPr>
        <p:spPr>
          <a:xfrm>
            <a:off x="5669280" y="5193792"/>
            <a:ext cx="1097280" cy="109728"/>
          </a:xfrm>
          <a:prstGeom prst="rect">
            <a:avLst/>
          </a:prstGeom>
          <a:noFill/>
          <a:ln/>
        </p:spPr>
        <p:txBody>
          <a:bodyPr wrap="square" lIns="0" tIns="0" rIns="0" bIns="0" rtlCol="0" anchor="ctr"/>
          <a:lstStyle/>
          <a:p>
            <a:pPr indent="0" marL="0">
              <a:buNone/>
            </a:pPr>
            <a:r>
              <a:rPr lang="en-US" sz="700" dirty="0">
                <a:solidFill>
                  <a:srgbClr val="6D7886"/>
                </a:solidFill>
              </a:rPr>
              <a:t>Low effort</a:t>
            </a:r>
            <a:endParaRPr lang="en-US" sz="700" dirty="0"/>
          </a:p>
        </p:txBody>
      </p:sp>
      <p:sp>
        <p:nvSpPr>
          <p:cNvPr id="13" name="Text 11"/>
          <p:cNvSpPr/>
          <p:nvPr/>
        </p:nvSpPr>
        <p:spPr>
          <a:xfrm>
            <a:off x="9235440" y="5193792"/>
            <a:ext cx="1097280" cy="109728"/>
          </a:xfrm>
          <a:prstGeom prst="rect">
            <a:avLst/>
          </a:prstGeom>
          <a:noFill/>
          <a:ln/>
        </p:spPr>
        <p:txBody>
          <a:bodyPr wrap="square" lIns="0" tIns="0" rIns="0" bIns="0" rtlCol="0" anchor="ctr"/>
          <a:lstStyle/>
          <a:p>
            <a:pPr indent="0" marL="0">
              <a:buNone/>
            </a:pPr>
            <a:r>
              <a:rPr lang="en-US" sz="700" dirty="0">
                <a:solidFill>
                  <a:srgbClr val="6D7886"/>
                </a:solidFill>
              </a:rPr>
              <a:t>High effort</a:t>
            </a:r>
            <a:endParaRPr lang="en-US" sz="700" dirty="0"/>
          </a:p>
        </p:txBody>
      </p:sp>
      <p:sp>
        <p:nvSpPr>
          <p:cNvPr id="14" name="Shape 12"/>
          <p:cNvSpPr/>
          <p:nvPr/>
        </p:nvSpPr>
        <p:spPr>
          <a:xfrm>
            <a:off x="6400800" y="1828800"/>
            <a:ext cx="960120" cy="329184"/>
          </a:xfrm>
          <a:prstGeom prst="roundRect">
            <a:avLst>
              <a:gd name="adj" fmla="val 22222"/>
            </a:avLst>
          </a:prstGeom>
          <a:solidFill>
            <a:srgbClr val="2A9D8F"/>
          </a:solidFill>
          <a:ln w="12700">
            <a:solidFill>
              <a:srgbClr val="2A9D8F">
                <a:alpha val="0"/>
              </a:srgbClr>
            </a:solidFill>
            <a:prstDash val="solid"/>
          </a:ln>
        </p:spPr>
      </p:sp>
      <p:sp>
        <p:nvSpPr>
          <p:cNvPr id="15" name="Text 13"/>
          <p:cNvSpPr/>
          <p:nvPr/>
        </p:nvSpPr>
        <p:spPr>
          <a:xfrm>
            <a:off x="6473952" y="1911096"/>
            <a:ext cx="813816" cy="146304"/>
          </a:xfrm>
          <a:prstGeom prst="rect">
            <a:avLst/>
          </a:prstGeom>
          <a:noFill/>
          <a:ln/>
        </p:spPr>
        <p:txBody>
          <a:bodyPr wrap="square" lIns="0" tIns="0" rIns="0" bIns="0" rtlCol="0" anchor="ctr"/>
          <a:lstStyle/>
          <a:p>
            <a:pPr algn="ctr" indent="0" marL="0">
              <a:buNone/>
            </a:pPr>
            <a:r>
              <a:rPr lang="en-US" sz="820" b="1" dirty="0">
                <a:solidFill>
                  <a:srgbClr val="FFFFFF"/>
                </a:solidFill>
              </a:rPr>
              <a:t>Info email</a:t>
            </a:r>
            <a:endParaRPr lang="en-US" sz="820" dirty="0"/>
          </a:p>
        </p:txBody>
      </p:sp>
      <p:sp>
        <p:nvSpPr>
          <p:cNvPr id="16" name="Shape 14"/>
          <p:cNvSpPr/>
          <p:nvPr/>
        </p:nvSpPr>
        <p:spPr>
          <a:xfrm>
            <a:off x="7635240" y="2011680"/>
            <a:ext cx="960120" cy="329184"/>
          </a:xfrm>
          <a:prstGeom prst="roundRect">
            <a:avLst>
              <a:gd name="adj" fmla="val 22222"/>
            </a:avLst>
          </a:prstGeom>
          <a:solidFill>
            <a:srgbClr val="C9A44C"/>
          </a:solidFill>
          <a:ln w="12700">
            <a:solidFill>
              <a:srgbClr val="C9A44C">
                <a:alpha val="0"/>
              </a:srgbClr>
            </a:solidFill>
            <a:prstDash val="solid"/>
          </a:ln>
        </p:spPr>
      </p:sp>
      <p:sp>
        <p:nvSpPr>
          <p:cNvPr id="17" name="Text 15"/>
          <p:cNvSpPr/>
          <p:nvPr/>
        </p:nvSpPr>
        <p:spPr>
          <a:xfrm>
            <a:off x="7708392" y="2093976"/>
            <a:ext cx="813816" cy="146304"/>
          </a:xfrm>
          <a:prstGeom prst="rect">
            <a:avLst/>
          </a:prstGeom>
          <a:noFill/>
          <a:ln/>
        </p:spPr>
        <p:txBody>
          <a:bodyPr wrap="square" lIns="0" tIns="0" rIns="0" bIns="0" rtlCol="0" anchor="ctr"/>
          <a:lstStyle/>
          <a:p>
            <a:pPr algn="ctr" indent="0" marL="0">
              <a:buNone/>
            </a:pPr>
            <a:r>
              <a:rPr lang="en-US" sz="820" b="1" dirty="0">
                <a:solidFill>
                  <a:srgbClr val="FFFFFF"/>
                </a:solidFill>
              </a:rPr>
              <a:t>Form intake</a:t>
            </a:r>
            <a:endParaRPr lang="en-US" sz="820" dirty="0"/>
          </a:p>
        </p:txBody>
      </p:sp>
      <p:sp>
        <p:nvSpPr>
          <p:cNvPr id="18" name="Shape 16"/>
          <p:cNvSpPr/>
          <p:nvPr/>
        </p:nvSpPr>
        <p:spPr>
          <a:xfrm>
            <a:off x="6766560" y="2468880"/>
            <a:ext cx="960120" cy="329184"/>
          </a:xfrm>
          <a:prstGeom prst="roundRect">
            <a:avLst>
              <a:gd name="adj" fmla="val 22222"/>
            </a:avLst>
          </a:prstGeom>
          <a:solidFill>
            <a:srgbClr val="2A9D8F"/>
          </a:solidFill>
          <a:ln w="12700">
            <a:solidFill>
              <a:srgbClr val="2A9D8F">
                <a:alpha val="0"/>
              </a:srgbClr>
            </a:solidFill>
            <a:prstDash val="solid"/>
          </a:ln>
        </p:spPr>
      </p:sp>
      <p:sp>
        <p:nvSpPr>
          <p:cNvPr id="19" name="Text 17"/>
          <p:cNvSpPr/>
          <p:nvPr/>
        </p:nvSpPr>
        <p:spPr>
          <a:xfrm>
            <a:off x="6839712" y="2551176"/>
            <a:ext cx="813816" cy="146304"/>
          </a:xfrm>
          <a:prstGeom prst="rect">
            <a:avLst/>
          </a:prstGeom>
          <a:noFill/>
          <a:ln/>
        </p:spPr>
        <p:txBody>
          <a:bodyPr wrap="square" lIns="0" tIns="0" rIns="0" bIns="0" rtlCol="0" anchor="ctr"/>
          <a:lstStyle/>
          <a:p>
            <a:pPr algn="ctr" indent="0" marL="0">
              <a:buNone/>
            </a:pPr>
            <a:r>
              <a:rPr lang="en-US" sz="820" b="1" dirty="0">
                <a:solidFill>
                  <a:srgbClr val="FFFFFF"/>
                </a:solidFill>
              </a:rPr>
              <a:t>Reminders</a:t>
            </a:r>
            <a:endParaRPr lang="en-US" sz="820" dirty="0"/>
          </a:p>
        </p:txBody>
      </p:sp>
      <p:sp>
        <p:nvSpPr>
          <p:cNvPr id="20" name="Shape 18"/>
          <p:cNvSpPr/>
          <p:nvPr/>
        </p:nvSpPr>
        <p:spPr>
          <a:xfrm>
            <a:off x="8869680" y="1828800"/>
            <a:ext cx="960120" cy="329184"/>
          </a:xfrm>
          <a:prstGeom prst="roundRect">
            <a:avLst>
              <a:gd name="adj" fmla="val 22222"/>
            </a:avLst>
          </a:prstGeom>
          <a:solidFill>
            <a:srgbClr val="D88738"/>
          </a:solidFill>
          <a:ln w="12700">
            <a:solidFill>
              <a:srgbClr val="D88738">
                <a:alpha val="0"/>
              </a:srgbClr>
            </a:solidFill>
            <a:prstDash val="solid"/>
          </a:ln>
        </p:spPr>
      </p:sp>
      <p:sp>
        <p:nvSpPr>
          <p:cNvPr id="21" name="Text 19"/>
          <p:cNvSpPr/>
          <p:nvPr/>
        </p:nvSpPr>
        <p:spPr>
          <a:xfrm>
            <a:off x="8942832" y="1911096"/>
            <a:ext cx="813816" cy="146304"/>
          </a:xfrm>
          <a:prstGeom prst="rect">
            <a:avLst/>
          </a:prstGeom>
          <a:noFill/>
          <a:ln/>
        </p:spPr>
        <p:txBody>
          <a:bodyPr wrap="square" lIns="0" tIns="0" rIns="0" bIns="0" rtlCol="0" anchor="ctr"/>
          <a:lstStyle/>
          <a:p>
            <a:pPr algn="ctr" indent="0" marL="0">
              <a:buNone/>
            </a:pPr>
            <a:r>
              <a:rPr lang="en-US" sz="820" b="1" dirty="0">
                <a:solidFill>
                  <a:srgbClr val="FFFFFF"/>
                </a:solidFill>
              </a:rPr>
              <a:t>Certificates</a:t>
            </a:r>
            <a:endParaRPr lang="en-US" sz="820" dirty="0"/>
          </a:p>
        </p:txBody>
      </p:sp>
      <p:sp>
        <p:nvSpPr>
          <p:cNvPr id="22" name="Shape 20"/>
          <p:cNvSpPr/>
          <p:nvPr/>
        </p:nvSpPr>
        <p:spPr>
          <a:xfrm>
            <a:off x="8046720" y="2743200"/>
            <a:ext cx="960120" cy="329184"/>
          </a:xfrm>
          <a:prstGeom prst="roundRect">
            <a:avLst>
              <a:gd name="adj" fmla="val 22222"/>
            </a:avLst>
          </a:prstGeom>
          <a:solidFill>
            <a:srgbClr val="C9A44C"/>
          </a:solidFill>
          <a:ln w="12700">
            <a:solidFill>
              <a:srgbClr val="C9A44C">
                <a:alpha val="0"/>
              </a:srgbClr>
            </a:solidFill>
            <a:prstDash val="solid"/>
          </a:ln>
        </p:spPr>
      </p:sp>
      <p:sp>
        <p:nvSpPr>
          <p:cNvPr id="23" name="Text 21"/>
          <p:cNvSpPr/>
          <p:nvPr/>
        </p:nvSpPr>
        <p:spPr>
          <a:xfrm>
            <a:off x="8119872" y="2825496"/>
            <a:ext cx="813816" cy="146304"/>
          </a:xfrm>
          <a:prstGeom prst="rect">
            <a:avLst/>
          </a:prstGeom>
          <a:noFill/>
          <a:ln/>
        </p:spPr>
        <p:txBody>
          <a:bodyPr wrap="square" lIns="0" tIns="0" rIns="0" bIns="0" rtlCol="0" anchor="ctr"/>
          <a:lstStyle/>
          <a:p>
            <a:pPr algn="ctr" indent="0" marL="0">
              <a:buNone/>
            </a:pPr>
            <a:r>
              <a:rPr lang="en-US" sz="820" b="1" dirty="0">
                <a:solidFill>
                  <a:srgbClr val="FFFFFF"/>
                </a:solidFill>
              </a:rPr>
              <a:t>Payment tracker</a:t>
            </a:r>
            <a:endParaRPr lang="en-US" sz="820" dirty="0"/>
          </a:p>
        </p:txBody>
      </p:sp>
      <p:sp>
        <p:nvSpPr>
          <p:cNvPr id="24" name="Shape 22"/>
          <p:cNvSpPr/>
          <p:nvPr/>
        </p:nvSpPr>
        <p:spPr>
          <a:xfrm>
            <a:off x="9144000" y="4023360"/>
            <a:ext cx="960120" cy="329184"/>
          </a:xfrm>
          <a:prstGeom prst="roundRect">
            <a:avLst>
              <a:gd name="adj" fmla="val 22222"/>
            </a:avLst>
          </a:prstGeom>
          <a:solidFill>
            <a:srgbClr val="6D7886"/>
          </a:solidFill>
          <a:ln w="12700">
            <a:solidFill>
              <a:srgbClr val="6D7886">
                <a:alpha val="0"/>
              </a:srgbClr>
            </a:solidFill>
            <a:prstDash val="solid"/>
          </a:ln>
        </p:spPr>
      </p:sp>
      <p:sp>
        <p:nvSpPr>
          <p:cNvPr id="25" name="Text 23"/>
          <p:cNvSpPr/>
          <p:nvPr/>
        </p:nvSpPr>
        <p:spPr>
          <a:xfrm>
            <a:off x="9217152" y="4105656"/>
            <a:ext cx="813816" cy="146304"/>
          </a:xfrm>
          <a:prstGeom prst="rect">
            <a:avLst/>
          </a:prstGeom>
          <a:noFill/>
          <a:ln/>
        </p:spPr>
        <p:txBody>
          <a:bodyPr wrap="square" lIns="0" tIns="0" rIns="0" bIns="0" rtlCol="0" anchor="ctr"/>
          <a:lstStyle/>
          <a:p>
            <a:pPr algn="ctr" indent="0" marL="0">
              <a:buNone/>
            </a:pPr>
            <a:r>
              <a:rPr lang="en-US" sz="820" b="1" dirty="0">
                <a:solidFill>
                  <a:srgbClr val="FFFFFF"/>
                </a:solidFill>
              </a:rPr>
              <a:t>AI FAQ</a:t>
            </a:r>
            <a:endParaRPr lang="en-US" sz="820" dirty="0"/>
          </a:p>
        </p:txBody>
      </p:sp>
      <p:sp>
        <p:nvSpPr>
          <p:cNvPr id="26" name="Text 24"/>
          <p:cNvSpPr/>
          <p:nvPr/>
        </p:nvSpPr>
        <p:spPr>
          <a:xfrm>
            <a:off x="11384280" y="6428232"/>
            <a:ext cx="320040" cy="109728"/>
          </a:xfrm>
          <a:prstGeom prst="rect">
            <a:avLst/>
          </a:prstGeom>
          <a:noFill/>
          <a:ln/>
        </p:spPr>
        <p:txBody>
          <a:bodyPr wrap="square" lIns="0" tIns="0" rIns="0" bIns="0" rtlCol="0" anchor="ctr"/>
          <a:lstStyle/>
          <a:p>
            <a:pPr algn="r" indent="0" marL="0">
              <a:buNone/>
            </a:pPr>
            <a:r>
              <a:rPr lang="en-US" sz="700" dirty="0">
                <a:solidFill>
                  <a:srgbClr val="FFFFFF"/>
                </a:solidFill>
              </a:rPr>
              <a:t>20</a:t>
            </a:r>
            <a:endParaRPr lang="en-US" sz="7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3EA"/>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4213D"/>
          </a:solidFill>
          <a:ln w="12700">
            <a:solidFill>
              <a:srgbClr val="14213D">
                <a:alpha val="0"/>
              </a:srgbClr>
            </a:solidFill>
            <a:prstDash val="solid"/>
          </a:ln>
        </p:spPr>
      </p:sp>
      <p:sp>
        <p:nvSpPr>
          <p:cNvPr id="3" name="Shape 1"/>
          <p:cNvSpPr/>
          <p:nvPr/>
        </p:nvSpPr>
        <p:spPr>
          <a:xfrm>
            <a:off x="0" y="6693408"/>
            <a:ext cx="12191695" cy="164592"/>
          </a:xfrm>
          <a:prstGeom prst="rect">
            <a:avLst/>
          </a:prstGeom>
          <a:solidFill>
            <a:srgbClr val="14213D"/>
          </a:solidFill>
          <a:ln w="12700">
            <a:solidFill>
              <a:srgbClr val="14213D">
                <a:alpha val="0"/>
              </a:srgbClr>
            </a:solidFill>
            <a:prstDash val="solid"/>
          </a:ln>
        </p:spPr>
      </p:sp>
      <p:sp>
        <p:nvSpPr>
          <p:cNvPr id="4" name="Text 2"/>
          <p:cNvSpPr/>
          <p:nvPr/>
        </p:nvSpPr>
        <p:spPr>
          <a:xfrm>
            <a:off x="502920" y="256032"/>
            <a:ext cx="4480560" cy="164592"/>
          </a:xfrm>
          <a:prstGeom prst="rect">
            <a:avLst/>
          </a:prstGeom>
          <a:noFill/>
          <a:ln/>
        </p:spPr>
        <p:txBody>
          <a:bodyPr wrap="square" lIns="0" tIns="0" rIns="0" bIns="0" rtlCol="0" anchor="ctr"/>
          <a:lstStyle/>
          <a:p>
            <a:pPr indent="0" marL="0">
              <a:buNone/>
            </a:pPr>
            <a:r>
              <a:rPr lang="en-US" sz="700" b="1" dirty="0">
                <a:solidFill>
                  <a:srgbClr val="2A9D8F"/>
                </a:solidFill>
                <a:latin typeface="Aptos" pitchFamily="34" charset="0"/>
                <a:ea typeface="Aptos" pitchFamily="34" charset="-122"/>
                <a:cs typeface="Aptos" pitchFamily="34" charset="-120"/>
              </a:rPr>
              <a:t>SECTION 3</a:t>
            </a:r>
            <a:endParaRPr lang="en-US" sz="700" dirty="0"/>
          </a:p>
        </p:txBody>
      </p:sp>
      <p:sp>
        <p:nvSpPr>
          <p:cNvPr id="5" name="Text 3"/>
          <p:cNvSpPr/>
          <p:nvPr/>
        </p:nvSpPr>
        <p:spPr>
          <a:xfrm>
            <a:off x="9281160" y="219456"/>
            <a:ext cx="2423160" cy="182880"/>
          </a:xfrm>
          <a:prstGeom prst="rect">
            <a:avLst/>
          </a:prstGeom>
          <a:noFill/>
          <a:ln/>
        </p:spPr>
        <p:txBody>
          <a:bodyPr wrap="square" lIns="0" tIns="0" rIns="0" bIns="0" rtlCol="0" anchor="ctr"/>
          <a:lstStyle/>
          <a:p>
            <a:pPr algn="r" indent="0" marL="0">
              <a:buNone/>
            </a:pPr>
            <a:r>
              <a:rPr lang="en-US" sz="700" dirty="0">
                <a:solidFill>
                  <a:srgbClr val="6D7886"/>
                </a:solidFill>
              </a:rPr>
              <a:t>Jifunze.ai skill booster</a:t>
            </a:r>
            <a:endParaRPr lang="en-US" sz="700" dirty="0"/>
          </a:p>
        </p:txBody>
      </p:sp>
      <p:sp>
        <p:nvSpPr>
          <p:cNvPr id="6" name="Text 4"/>
          <p:cNvSpPr/>
          <p:nvPr/>
        </p:nvSpPr>
        <p:spPr>
          <a:xfrm>
            <a:off x="502920" y="502920"/>
            <a:ext cx="4617720" cy="475488"/>
          </a:xfrm>
          <a:prstGeom prst="rect">
            <a:avLst/>
          </a:prstGeom>
          <a:noFill/>
          <a:ln/>
        </p:spPr>
        <p:txBody>
          <a:bodyPr wrap="square" lIns="127" tIns="127" rIns="127" bIns="127" rtlCol="0" anchor="ctr">
            <a:normAutofit/>
          </a:bodyPr>
          <a:lstStyle/>
          <a:p>
            <a:pPr indent="0" marL="0">
              <a:buNone/>
            </a:pPr>
            <a:r>
              <a:rPr lang="en-US" sz="2500" b="1" dirty="0">
                <a:solidFill>
                  <a:srgbClr val="14213D"/>
                </a:solidFill>
                <a:latin typeface="Aptos Display" pitchFamily="34" charset="0"/>
                <a:ea typeface="Aptos Display" pitchFamily="34" charset="-122"/>
                <a:cs typeface="Aptos Display" pitchFamily="34" charset="-120"/>
              </a:rPr>
              <a:t>Prioritizing high-value automation</a:t>
            </a:r>
            <a:endParaRPr lang="en-US" sz="2500" dirty="0"/>
          </a:p>
        </p:txBody>
      </p:sp>
      <p:sp>
        <p:nvSpPr>
          <p:cNvPr id="7" name="Text 5"/>
          <p:cNvSpPr/>
          <p:nvPr/>
        </p:nvSpPr>
        <p:spPr>
          <a:xfrm>
            <a:off x="521208" y="1005840"/>
            <a:ext cx="4617720" cy="228600"/>
          </a:xfrm>
          <a:prstGeom prst="rect">
            <a:avLst/>
          </a:prstGeom>
          <a:noFill/>
          <a:ln/>
        </p:spPr>
        <p:txBody>
          <a:bodyPr wrap="square" lIns="0" tIns="0" rIns="0" bIns="0" rtlCol="0" anchor="ctr">
            <a:normAutofit/>
          </a:bodyPr>
          <a:lstStyle/>
          <a:p>
            <a:pPr indent="0" marL="0">
              <a:buNone/>
            </a:pPr>
            <a:r>
              <a:rPr lang="en-US" sz="1080" dirty="0">
                <a:solidFill>
                  <a:srgbClr val="24303F"/>
                </a:solidFill>
              </a:rPr>
              <a:t>Recommended first phase: improve intake, information, and reminders</a:t>
            </a:r>
            <a:endParaRPr lang="en-US" sz="1080" dirty="0"/>
          </a:p>
        </p:txBody>
      </p:sp>
      <p:sp>
        <p:nvSpPr>
          <p:cNvPr id="8" name="Text 6"/>
          <p:cNvSpPr/>
          <p:nvPr/>
        </p:nvSpPr>
        <p:spPr>
          <a:xfrm>
            <a:off x="594360" y="1417320"/>
            <a:ext cx="4617720" cy="4343400"/>
          </a:xfrm>
          <a:prstGeom prst="rect">
            <a:avLst/>
          </a:prstGeom>
          <a:noFill/>
          <a:ln/>
        </p:spPr>
        <p:txBody>
          <a:bodyPr wrap="square" lIns="635" tIns="635" rIns="635" bIns="635" rtlCol="0" anchor="ctr">
            <a:normAutofit/>
          </a:bodyPr>
          <a:lstStyle/>
          <a:p>
            <a:r>
              <a:rPr lang="en-US" sz="1450" dirty="0">
                <a:solidFill>
                  <a:srgbClr val="24303F"/>
                </a:solidFill>
              </a:rPr>
              <a:t>• Automated course info email: 12.0 hours baseline and high repeatability</a:t>
            </a:r>
            <a:endParaRPr lang="en-US" sz="1450" dirty="0"/>
          </a:p>
          <a:p>
            <a:r>
              <a:rPr lang="en-US" sz="1450" dirty="0">
                <a:solidFill>
                  <a:srgbClr val="24303F"/>
                </a:solidFill>
              </a:rPr>
              <a:t>• Structured enquiry/registration form: cleaner data for every later step</a:t>
            </a:r>
            <a:endParaRPr lang="en-US" sz="1450" dirty="0"/>
          </a:p>
          <a:p>
            <a:r>
              <a:rPr lang="en-US" sz="1450" dirty="0">
                <a:solidFill>
                  <a:srgbClr val="24303F"/>
                </a:solidFill>
              </a:rPr>
              <a:t>• Class reminder automation: protects attendance and learner experience</a:t>
            </a:r>
            <a:endParaRPr lang="en-US" sz="1450" dirty="0"/>
          </a:p>
          <a:p>
            <a:r>
              <a:rPr lang="en-US" sz="1450" dirty="0">
                <a:solidFill>
                  <a:srgbClr val="24303F"/>
                </a:solidFill>
              </a:rPr>
              <a:t>• Certificate automation follows soon after attendance data is reliable</a:t>
            </a:r>
            <a:endParaRPr lang="en-US" sz="1450" dirty="0"/>
          </a:p>
        </p:txBody>
      </p:sp>
      <p:sp>
        <p:nvSpPr>
          <p:cNvPr id="9" name="Shape 7"/>
          <p:cNvSpPr/>
          <p:nvPr/>
        </p:nvSpPr>
        <p:spPr>
          <a:xfrm>
            <a:off x="5806440" y="1188720"/>
            <a:ext cx="4343400" cy="438912"/>
          </a:xfrm>
          <a:prstGeom prst="roundRect">
            <a:avLst>
              <a:gd name="adj" fmla="val 16667"/>
            </a:avLst>
          </a:prstGeom>
          <a:solidFill>
            <a:srgbClr val="14213D"/>
          </a:solidFill>
          <a:ln w="12700">
            <a:solidFill>
              <a:srgbClr val="14213D"/>
            </a:solidFill>
            <a:prstDash val="solid"/>
          </a:ln>
        </p:spPr>
      </p:sp>
      <p:sp>
        <p:nvSpPr>
          <p:cNvPr id="10" name="Text 8"/>
          <p:cNvSpPr/>
          <p:nvPr/>
        </p:nvSpPr>
        <p:spPr>
          <a:xfrm>
            <a:off x="5916168" y="1280160"/>
            <a:ext cx="4123944" cy="274320"/>
          </a:xfrm>
          <a:prstGeom prst="rect">
            <a:avLst/>
          </a:prstGeom>
          <a:noFill/>
          <a:ln/>
        </p:spPr>
        <p:txBody>
          <a:bodyPr wrap="square" lIns="127" tIns="127" rIns="127" bIns="127" rtlCol="0" anchor="ctr">
            <a:normAutofit/>
          </a:bodyPr>
          <a:lstStyle/>
          <a:p>
            <a:pPr indent="0" marL="0">
              <a:buNone/>
            </a:pPr>
            <a:r>
              <a:rPr lang="en-US" sz="1500" b="1" dirty="0">
                <a:solidFill>
                  <a:srgbClr val="24303F"/>
                </a:solidFill>
              </a:rPr>
              <a:t>First phase top 3</a:t>
            </a:r>
            <a:endParaRPr lang="en-US" sz="1500" dirty="0"/>
          </a:p>
        </p:txBody>
      </p:sp>
      <p:sp>
        <p:nvSpPr>
          <p:cNvPr id="11" name="Shape 9"/>
          <p:cNvSpPr/>
          <p:nvPr/>
        </p:nvSpPr>
        <p:spPr>
          <a:xfrm>
            <a:off x="5989320" y="1874520"/>
            <a:ext cx="3977640" cy="457200"/>
          </a:xfrm>
          <a:prstGeom prst="roundRect">
            <a:avLst>
              <a:gd name="adj" fmla="val 16000"/>
            </a:avLst>
          </a:prstGeom>
          <a:solidFill>
            <a:srgbClr val="FFFFFF"/>
          </a:solidFill>
          <a:ln w="12700">
            <a:solidFill>
              <a:srgbClr val="2A9D8F"/>
            </a:solidFill>
            <a:prstDash val="solid"/>
          </a:ln>
        </p:spPr>
      </p:sp>
      <p:sp>
        <p:nvSpPr>
          <p:cNvPr id="12" name="Text 10"/>
          <p:cNvSpPr/>
          <p:nvPr/>
        </p:nvSpPr>
        <p:spPr>
          <a:xfrm>
            <a:off x="6099048" y="1965960"/>
            <a:ext cx="3758184" cy="292608"/>
          </a:xfrm>
          <a:prstGeom prst="rect">
            <a:avLst/>
          </a:prstGeom>
          <a:noFill/>
          <a:ln/>
        </p:spPr>
        <p:txBody>
          <a:bodyPr wrap="square" lIns="127" tIns="127" rIns="127" bIns="127" rtlCol="0" anchor="ctr">
            <a:normAutofit/>
          </a:bodyPr>
          <a:lstStyle/>
          <a:p>
            <a:pPr indent="0" marL="0">
              <a:buNone/>
            </a:pPr>
            <a:r>
              <a:rPr lang="en-US" sz="1300" b="1" dirty="0">
                <a:solidFill>
                  <a:srgbClr val="24303F"/>
                </a:solidFill>
              </a:rPr>
              <a:t>1. Course info email</a:t>
            </a:r>
            <a:endParaRPr lang="en-US" sz="1300" dirty="0"/>
          </a:p>
        </p:txBody>
      </p:sp>
      <p:sp>
        <p:nvSpPr>
          <p:cNvPr id="13" name="Shape 11"/>
          <p:cNvSpPr/>
          <p:nvPr/>
        </p:nvSpPr>
        <p:spPr>
          <a:xfrm>
            <a:off x="5989320" y="2560320"/>
            <a:ext cx="3977640" cy="457200"/>
          </a:xfrm>
          <a:prstGeom prst="roundRect">
            <a:avLst>
              <a:gd name="adj" fmla="val 16000"/>
            </a:avLst>
          </a:prstGeom>
          <a:solidFill>
            <a:srgbClr val="FFFFFF"/>
          </a:solidFill>
          <a:ln w="12700">
            <a:solidFill>
              <a:srgbClr val="2A9D8F"/>
            </a:solidFill>
            <a:prstDash val="solid"/>
          </a:ln>
        </p:spPr>
      </p:sp>
      <p:sp>
        <p:nvSpPr>
          <p:cNvPr id="14" name="Text 12"/>
          <p:cNvSpPr/>
          <p:nvPr/>
        </p:nvSpPr>
        <p:spPr>
          <a:xfrm>
            <a:off x="6099048" y="2651760"/>
            <a:ext cx="3758184" cy="292608"/>
          </a:xfrm>
          <a:prstGeom prst="rect">
            <a:avLst/>
          </a:prstGeom>
          <a:noFill/>
          <a:ln/>
        </p:spPr>
        <p:txBody>
          <a:bodyPr wrap="square" lIns="127" tIns="127" rIns="127" bIns="127" rtlCol="0" anchor="ctr">
            <a:normAutofit/>
          </a:bodyPr>
          <a:lstStyle/>
          <a:p>
            <a:pPr indent="0" marL="0">
              <a:buNone/>
            </a:pPr>
            <a:r>
              <a:rPr lang="en-US" sz="1300" b="1" dirty="0">
                <a:solidFill>
                  <a:srgbClr val="24303F"/>
                </a:solidFill>
              </a:rPr>
              <a:t>2. Structured intake form</a:t>
            </a:r>
            <a:endParaRPr lang="en-US" sz="1300" dirty="0"/>
          </a:p>
        </p:txBody>
      </p:sp>
      <p:sp>
        <p:nvSpPr>
          <p:cNvPr id="15" name="Shape 13"/>
          <p:cNvSpPr/>
          <p:nvPr/>
        </p:nvSpPr>
        <p:spPr>
          <a:xfrm>
            <a:off x="5989320" y="3246120"/>
            <a:ext cx="3977640" cy="457200"/>
          </a:xfrm>
          <a:prstGeom prst="roundRect">
            <a:avLst>
              <a:gd name="adj" fmla="val 16000"/>
            </a:avLst>
          </a:prstGeom>
          <a:solidFill>
            <a:srgbClr val="FFFFFF"/>
          </a:solidFill>
          <a:ln w="12700">
            <a:solidFill>
              <a:srgbClr val="2A9D8F"/>
            </a:solidFill>
            <a:prstDash val="solid"/>
          </a:ln>
        </p:spPr>
      </p:sp>
      <p:sp>
        <p:nvSpPr>
          <p:cNvPr id="16" name="Text 14"/>
          <p:cNvSpPr/>
          <p:nvPr/>
        </p:nvSpPr>
        <p:spPr>
          <a:xfrm>
            <a:off x="6099048" y="3337560"/>
            <a:ext cx="3758184" cy="292608"/>
          </a:xfrm>
          <a:prstGeom prst="rect">
            <a:avLst/>
          </a:prstGeom>
          <a:noFill/>
          <a:ln/>
        </p:spPr>
        <p:txBody>
          <a:bodyPr wrap="square" lIns="127" tIns="127" rIns="127" bIns="127" rtlCol="0" anchor="ctr">
            <a:normAutofit/>
          </a:bodyPr>
          <a:lstStyle/>
          <a:p>
            <a:pPr indent="0" marL="0">
              <a:buNone/>
            </a:pPr>
            <a:r>
              <a:rPr lang="en-US" sz="1300" b="1" dirty="0">
                <a:solidFill>
                  <a:srgbClr val="24303F"/>
                </a:solidFill>
              </a:rPr>
              <a:t>3. Class reminder automation</a:t>
            </a:r>
            <a:endParaRPr lang="en-US" sz="1300" dirty="0"/>
          </a:p>
        </p:txBody>
      </p:sp>
      <p:sp>
        <p:nvSpPr>
          <p:cNvPr id="17" name="Shape 15"/>
          <p:cNvSpPr/>
          <p:nvPr/>
        </p:nvSpPr>
        <p:spPr>
          <a:xfrm>
            <a:off x="5989320" y="3931920"/>
            <a:ext cx="3977640" cy="457200"/>
          </a:xfrm>
          <a:prstGeom prst="roundRect">
            <a:avLst>
              <a:gd name="adj" fmla="val 16000"/>
            </a:avLst>
          </a:prstGeom>
          <a:solidFill>
            <a:srgbClr val="FDFBF5"/>
          </a:solidFill>
          <a:ln w="12700">
            <a:solidFill>
              <a:srgbClr val="C9A44C"/>
            </a:solidFill>
            <a:prstDash val="solid"/>
          </a:ln>
        </p:spPr>
      </p:sp>
      <p:sp>
        <p:nvSpPr>
          <p:cNvPr id="18" name="Text 16"/>
          <p:cNvSpPr/>
          <p:nvPr/>
        </p:nvSpPr>
        <p:spPr>
          <a:xfrm>
            <a:off x="6099048" y="4023360"/>
            <a:ext cx="3758184" cy="292608"/>
          </a:xfrm>
          <a:prstGeom prst="rect">
            <a:avLst/>
          </a:prstGeom>
          <a:noFill/>
          <a:ln/>
        </p:spPr>
        <p:txBody>
          <a:bodyPr wrap="square" lIns="127" tIns="127" rIns="127" bIns="127" rtlCol="0" anchor="ctr">
            <a:normAutofit/>
          </a:bodyPr>
          <a:lstStyle/>
          <a:p>
            <a:pPr indent="0" marL="0">
              <a:buNone/>
            </a:pPr>
            <a:r>
              <a:rPr lang="en-US" sz="1300" b="1" dirty="0">
                <a:solidFill>
                  <a:srgbClr val="24303F"/>
                </a:solidFill>
              </a:rPr>
              <a:t>Next: certificate automation</a:t>
            </a:r>
            <a:endParaRPr lang="en-US" sz="1300" dirty="0"/>
          </a:p>
        </p:txBody>
      </p:sp>
      <p:sp>
        <p:nvSpPr>
          <p:cNvPr id="19" name="Text 17"/>
          <p:cNvSpPr/>
          <p:nvPr/>
        </p:nvSpPr>
        <p:spPr>
          <a:xfrm>
            <a:off x="11384280" y="6428232"/>
            <a:ext cx="320040" cy="109728"/>
          </a:xfrm>
          <a:prstGeom prst="rect">
            <a:avLst/>
          </a:prstGeom>
          <a:noFill/>
          <a:ln/>
        </p:spPr>
        <p:txBody>
          <a:bodyPr wrap="square" lIns="0" tIns="0" rIns="0" bIns="0" rtlCol="0" anchor="ctr"/>
          <a:lstStyle/>
          <a:p>
            <a:pPr algn="r" indent="0" marL="0">
              <a:buNone/>
            </a:pPr>
            <a:r>
              <a:rPr lang="en-US" sz="700" dirty="0">
                <a:solidFill>
                  <a:srgbClr val="FFFFFF"/>
                </a:solidFill>
              </a:rPr>
              <a:t>21</a:t>
            </a:r>
            <a:endParaRPr lang="en-US" sz="7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3EA"/>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4213D"/>
          </a:solidFill>
          <a:ln w="12700">
            <a:solidFill>
              <a:srgbClr val="14213D">
                <a:alpha val="0"/>
              </a:srgbClr>
            </a:solidFill>
            <a:prstDash val="solid"/>
          </a:ln>
        </p:spPr>
      </p:sp>
      <p:sp>
        <p:nvSpPr>
          <p:cNvPr id="3" name="Shape 1"/>
          <p:cNvSpPr/>
          <p:nvPr/>
        </p:nvSpPr>
        <p:spPr>
          <a:xfrm>
            <a:off x="0" y="6693408"/>
            <a:ext cx="12191695" cy="164592"/>
          </a:xfrm>
          <a:prstGeom prst="rect">
            <a:avLst/>
          </a:prstGeom>
          <a:solidFill>
            <a:srgbClr val="14213D"/>
          </a:solidFill>
          <a:ln w="12700">
            <a:solidFill>
              <a:srgbClr val="14213D">
                <a:alpha val="0"/>
              </a:srgbClr>
            </a:solidFill>
            <a:prstDash val="solid"/>
          </a:ln>
        </p:spPr>
      </p:sp>
      <p:sp>
        <p:nvSpPr>
          <p:cNvPr id="4" name="Text 2"/>
          <p:cNvSpPr/>
          <p:nvPr/>
        </p:nvSpPr>
        <p:spPr>
          <a:xfrm>
            <a:off x="502920" y="256032"/>
            <a:ext cx="4480560" cy="164592"/>
          </a:xfrm>
          <a:prstGeom prst="rect">
            <a:avLst/>
          </a:prstGeom>
          <a:noFill/>
          <a:ln/>
        </p:spPr>
        <p:txBody>
          <a:bodyPr wrap="square" lIns="0" tIns="0" rIns="0" bIns="0" rtlCol="0" anchor="ctr"/>
          <a:lstStyle/>
          <a:p>
            <a:pPr indent="0" marL="0">
              <a:buNone/>
            </a:pPr>
            <a:r>
              <a:rPr lang="en-US" sz="700" b="1" dirty="0">
                <a:solidFill>
                  <a:srgbClr val="2A9D8F"/>
                </a:solidFill>
                <a:latin typeface="Aptos" pitchFamily="34" charset="0"/>
                <a:ea typeface="Aptos" pitchFamily="34" charset="-122"/>
                <a:cs typeface="Aptos" pitchFamily="34" charset="-120"/>
              </a:rPr>
              <a:t>SECTION 3</a:t>
            </a:r>
            <a:endParaRPr lang="en-US" sz="700" dirty="0"/>
          </a:p>
        </p:txBody>
      </p:sp>
      <p:sp>
        <p:nvSpPr>
          <p:cNvPr id="5" name="Text 3"/>
          <p:cNvSpPr/>
          <p:nvPr/>
        </p:nvSpPr>
        <p:spPr>
          <a:xfrm>
            <a:off x="9281160" y="219456"/>
            <a:ext cx="2423160" cy="182880"/>
          </a:xfrm>
          <a:prstGeom prst="rect">
            <a:avLst/>
          </a:prstGeom>
          <a:noFill/>
          <a:ln/>
        </p:spPr>
        <p:txBody>
          <a:bodyPr wrap="square" lIns="0" tIns="0" rIns="0" bIns="0" rtlCol="0" anchor="ctr"/>
          <a:lstStyle/>
          <a:p>
            <a:pPr algn="r" indent="0" marL="0">
              <a:buNone/>
            </a:pPr>
            <a:r>
              <a:rPr lang="en-US" sz="700" dirty="0">
                <a:solidFill>
                  <a:srgbClr val="6D7886"/>
                </a:solidFill>
              </a:rPr>
              <a:t>Jifunze.ai skill booster</a:t>
            </a:r>
            <a:endParaRPr lang="en-US" sz="700" dirty="0"/>
          </a:p>
        </p:txBody>
      </p:sp>
      <p:sp>
        <p:nvSpPr>
          <p:cNvPr id="6" name="Text 4"/>
          <p:cNvSpPr/>
          <p:nvPr/>
        </p:nvSpPr>
        <p:spPr>
          <a:xfrm>
            <a:off x="502920" y="502920"/>
            <a:ext cx="4617720" cy="475488"/>
          </a:xfrm>
          <a:prstGeom prst="rect">
            <a:avLst/>
          </a:prstGeom>
          <a:noFill/>
          <a:ln/>
        </p:spPr>
        <p:txBody>
          <a:bodyPr wrap="square" lIns="127" tIns="127" rIns="127" bIns="127" rtlCol="0" anchor="ctr">
            <a:normAutofit/>
          </a:bodyPr>
          <a:lstStyle/>
          <a:p>
            <a:pPr indent="0" marL="0">
              <a:buNone/>
            </a:pPr>
            <a:r>
              <a:rPr lang="en-US" sz="2500" b="1" dirty="0">
                <a:solidFill>
                  <a:srgbClr val="14213D"/>
                </a:solidFill>
                <a:latin typeface="Aptos Display" pitchFamily="34" charset="0"/>
                <a:ea typeface="Aptos Display" pitchFamily="34" charset="-122"/>
                <a:cs typeface="Aptos Display" pitchFamily="34" charset="-120"/>
              </a:rPr>
              <a:t>What not to automate yet</a:t>
            </a:r>
            <a:endParaRPr lang="en-US" sz="2500" dirty="0"/>
          </a:p>
        </p:txBody>
      </p:sp>
      <p:sp>
        <p:nvSpPr>
          <p:cNvPr id="7" name="Text 5"/>
          <p:cNvSpPr/>
          <p:nvPr/>
        </p:nvSpPr>
        <p:spPr>
          <a:xfrm>
            <a:off x="521208" y="1005840"/>
            <a:ext cx="4617720" cy="228600"/>
          </a:xfrm>
          <a:prstGeom prst="rect">
            <a:avLst/>
          </a:prstGeom>
          <a:noFill/>
          <a:ln/>
        </p:spPr>
        <p:txBody>
          <a:bodyPr wrap="square" lIns="0" tIns="0" rIns="0" bIns="0" rtlCol="0" anchor="ctr">
            <a:normAutofit/>
          </a:bodyPr>
          <a:lstStyle/>
          <a:p>
            <a:pPr indent="0" marL="0">
              <a:buNone/>
            </a:pPr>
            <a:r>
              <a:rPr lang="en-US" sz="1080" dirty="0">
                <a:solidFill>
                  <a:srgbClr val="24303F"/>
                </a:solidFill>
              </a:rPr>
              <a:t>Delay automation when the rules or data are not ready</a:t>
            </a:r>
            <a:endParaRPr lang="en-US" sz="1080" dirty="0"/>
          </a:p>
        </p:txBody>
      </p:sp>
      <p:sp>
        <p:nvSpPr>
          <p:cNvPr id="8" name="Text 6"/>
          <p:cNvSpPr/>
          <p:nvPr/>
        </p:nvSpPr>
        <p:spPr>
          <a:xfrm>
            <a:off x="594360" y="1417320"/>
            <a:ext cx="4617720" cy="4343400"/>
          </a:xfrm>
          <a:prstGeom prst="rect">
            <a:avLst/>
          </a:prstGeom>
          <a:noFill/>
          <a:ln/>
        </p:spPr>
        <p:txBody>
          <a:bodyPr wrap="square" lIns="635" tIns="635" rIns="635" bIns="635" rtlCol="0" anchor="ctr">
            <a:normAutofit/>
          </a:bodyPr>
          <a:lstStyle/>
          <a:p>
            <a:r>
              <a:rPr lang="en-US" sz="1450" dirty="0">
                <a:solidFill>
                  <a:srgbClr val="24303F"/>
                </a:solidFill>
              </a:rPr>
              <a:t>• Do not fully automate payment approval without controls</a:t>
            </a:r>
            <a:endParaRPr lang="en-US" sz="1450" dirty="0"/>
          </a:p>
          <a:p>
            <a:r>
              <a:rPr lang="en-US" sz="1450" dirty="0">
                <a:solidFill>
                  <a:srgbClr val="24303F"/>
                </a:solidFill>
              </a:rPr>
              <a:t>• Do not automate certificate release if attendance data is unreliable</a:t>
            </a:r>
            <a:endParaRPr lang="en-US" sz="1450" dirty="0"/>
          </a:p>
          <a:p>
            <a:r>
              <a:rPr lang="en-US" sz="1450" dirty="0">
                <a:solidFill>
                  <a:srgbClr val="24303F"/>
                </a:solidFill>
              </a:rPr>
              <a:t>• Do not use AI FAQ as the first fix if basic templates are missing</a:t>
            </a:r>
            <a:endParaRPr lang="en-US" sz="1450" dirty="0"/>
          </a:p>
          <a:p>
            <a:r>
              <a:rPr lang="en-US" sz="1450" dirty="0">
                <a:solidFill>
                  <a:srgbClr val="24303F"/>
                </a:solidFill>
              </a:rPr>
              <a:t>• Do not automate complaints or disputes without human review</a:t>
            </a:r>
            <a:endParaRPr lang="en-US" sz="1450" dirty="0"/>
          </a:p>
        </p:txBody>
      </p:sp>
      <p:sp>
        <p:nvSpPr>
          <p:cNvPr id="9" name="Shape 7"/>
          <p:cNvSpPr/>
          <p:nvPr/>
        </p:nvSpPr>
        <p:spPr>
          <a:xfrm>
            <a:off x="5623560" y="1325880"/>
            <a:ext cx="1828800" cy="621792"/>
          </a:xfrm>
          <a:prstGeom prst="rect">
            <a:avLst/>
          </a:prstGeom>
          <a:solidFill>
            <a:srgbClr val="14213D"/>
          </a:solidFill>
          <a:ln w="12700">
            <a:solidFill>
              <a:srgbClr val="FFFFFF"/>
            </a:solidFill>
            <a:prstDash val="solid"/>
          </a:ln>
        </p:spPr>
      </p:sp>
      <p:sp>
        <p:nvSpPr>
          <p:cNvPr id="10" name="Text 8"/>
          <p:cNvSpPr/>
          <p:nvPr/>
        </p:nvSpPr>
        <p:spPr>
          <a:xfrm>
            <a:off x="5660136" y="1371600"/>
            <a:ext cx="1755648" cy="548640"/>
          </a:xfrm>
          <a:prstGeom prst="rect">
            <a:avLst/>
          </a:prstGeom>
          <a:noFill/>
          <a:ln/>
        </p:spPr>
        <p:txBody>
          <a:bodyPr wrap="square" lIns="0" tIns="0" rIns="0" bIns="0" rtlCol="0" anchor="ctr">
            <a:normAutofit/>
          </a:bodyPr>
          <a:lstStyle/>
          <a:p>
            <a:pPr indent="0" marL="0">
              <a:buNone/>
            </a:pPr>
            <a:r>
              <a:rPr lang="en-US" sz="920" b="1" dirty="0">
                <a:solidFill>
                  <a:srgbClr val="FFFFFF"/>
                </a:solidFill>
              </a:rPr>
              <a:t>Avoid first</a:t>
            </a:r>
            <a:endParaRPr lang="en-US" sz="920" dirty="0"/>
          </a:p>
        </p:txBody>
      </p:sp>
      <p:sp>
        <p:nvSpPr>
          <p:cNvPr id="11" name="Shape 9"/>
          <p:cNvSpPr/>
          <p:nvPr/>
        </p:nvSpPr>
        <p:spPr>
          <a:xfrm>
            <a:off x="7452360" y="1325880"/>
            <a:ext cx="1828800" cy="621792"/>
          </a:xfrm>
          <a:prstGeom prst="rect">
            <a:avLst/>
          </a:prstGeom>
          <a:solidFill>
            <a:srgbClr val="14213D"/>
          </a:solidFill>
          <a:ln w="12700">
            <a:solidFill>
              <a:srgbClr val="FFFFFF"/>
            </a:solidFill>
            <a:prstDash val="solid"/>
          </a:ln>
        </p:spPr>
      </p:sp>
      <p:sp>
        <p:nvSpPr>
          <p:cNvPr id="12" name="Text 10"/>
          <p:cNvSpPr/>
          <p:nvPr/>
        </p:nvSpPr>
        <p:spPr>
          <a:xfrm>
            <a:off x="7488936" y="1371600"/>
            <a:ext cx="1755648" cy="548640"/>
          </a:xfrm>
          <a:prstGeom prst="rect">
            <a:avLst/>
          </a:prstGeom>
          <a:noFill/>
          <a:ln/>
        </p:spPr>
        <p:txBody>
          <a:bodyPr wrap="square" lIns="0" tIns="0" rIns="0" bIns="0" rtlCol="0" anchor="ctr">
            <a:normAutofit/>
          </a:bodyPr>
          <a:lstStyle/>
          <a:p>
            <a:pPr indent="0" marL="0">
              <a:buNone/>
            </a:pPr>
            <a:r>
              <a:rPr lang="en-US" sz="920" b="1" dirty="0">
                <a:solidFill>
                  <a:srgbClr val="FFFFFF"/>
                </a:solidFill>
              </a:rPr>
              <a:t>Reason</a:t>
            </a:r>
            <a:endParaRPr lang="en-US" sz="920" dirty="0"/>
          </a:p>
        </p:txBody>
      </p:sp>
      <p:sp>
        <p:nvSpPr>
          <p:cNvPr id="13" name="Shape 11"/>
          <p:cNvSpPr/>
          <p:nvPr/>
        </p:nvSpPr>
        <p:spPr>
          <a:xfrm>
            <a:off x="9281160" y="1325880"/>
            <a:ext cx="2057400" cy="621792"/>
          </a:xfrm>
          <a:prstGeom prst="rect">
            <a:avLst/>
          </a:prstGeom>
          <a:solidFill>
            <a:srgbClr val="14213D"/>
          </a:solidFill>
          <a:ln w="12700">
            <a:solidFill>
              <a:srgbClr val="FFFFFF"/>
            </a:solidFill>
            <a:prstDash val="solid"/>
          </a:ln>
        </p:spPr>
      </p:sp>
      <p:sp>
        <p:nvSpPr>
          <p:cNvPr id="14" name="Text 12"/>
          <p:cNvSpPr/>
          <p:nvPr/>
        </p:nvSpPr>
        <p:spPr>
          <a:xfrm>
            <a:off x="9317736" y="1371600"/>
            <a:ext cx="1984248" cy="548640"/>
          </a:xfrm>
          <a:prstGeom prst="rect">
            <a:avLst/>
          </a:prstGeom>
          <a:noFill/>
          <a:ln/>
        </p:spPr>
        <p:txBody>
          <a:bodyPr wrap="square" lIns="0" tIns="0" rIns="0" bIns="0" rtlCol="0" anchor="ctr">
            <a:normAutofit/>
          </a:bodyPr>
          <a:lstStyle/>
          <a:p>
            <a:pPr indent="0" marL="0">
              <a:buNone/>
            </a:pPr>
            <a:r>
              <a:rPr lang="en-US" sz="920" b="1" dirty="0">
                <a:solidFill>
                  <a:srgbClr val="FFFFFF"/>
                </a:solidFill>
              </a:rPr>
              <a:t>Safer first step</a:t>
            </a:r>
            <a:endParaRPr lang="en-US" sz="920" dirty="0"/>
          </a:p>
        </p:txBody>
      </p:sp>
      <p:sp>
        <p:nvSpPr>
          <p:cNvPr id="15" name="Shape 13"/>
          <p:cNvSpPr/>
          <p:nvPr/>
        </p:nvSpPr>
        <p:spPr>
          <a:xfrm>
            <a:off x="5623560" y="1947672"/>
            <a:ext cx="1828800" cy="621792"/>
          </a:xfrm>
          <a:prstGeom prst="rect">
            <a:avLst/>
          </a:prstGeom>
          <a:solidFill>
            <a:srgbClr val="FDFBF5"/>
          </a:solidFill>
          <a:ln w="12700">
            <a:solidFill>
              <a:srgbClr val="E7DFD0"/>
            </a:solidFill>
            <a:prstDash val="solid"/>
          </a:ln>
        </p:spPr>
      </p:sp>
      <p:sp>
        <p:nvSpPr>
          <p:cNvPr id="16" name="Text 14"/>
          <p:cNvSpPr/>
          <p:nvPr/>
        </p:nvSpPr>
        <p:spPr>
          <a:xfrm>
            <a:off x="5660136" y="1984248"/>
            <a:ext cx="1755648" cy="548640"/>
          </a:xfrm>
          <a:prstGeom prst="rect">
            <a:avLst/>
          </a:prstGeom>
          <a:noFill/>
          <a:ln/>
        </p:spPr>
        <p:txBody>
          <a:bodyPr wrap="square" lIns="0" tIns="0" rIns="0" bIns="0" rtlCol="0" anchor="ctr">
            <a:normAutofit/>
          </a:bodyPr>
          <a:lstStyle/>
          <a:p>
            <a:pPr indent="0" marL="0">
              <a:buNone/>
            </a:pPr>
            <a:r>
              <a:rPr lang="en-US" sz="940" dirty="0">
                <a:solidFill>
                  <a:srgbClr val="24303F"/>
                </a:solidFill>
              </a:rPr>
              <a:t>Full payment approval</a:t>
            </a:r>
            <a:endParaRPr lang="en-US" sz="940" dirty="0"/>
          </a:p>
        </p:txBody>
      </p:sp>
      <p:sp>
        <p:nvSpPr>
          <p:cNvPr id="17" name="Shape 15"/>
          <p:cNvSpPr/>
          <p:nvPr/>
        </p:nvSpPr>
        <p:spPr>
          <a:xfrm>
            <a:off x="7452360" y="1947672"/>
            <a:ext cx="1828800" cy="621792"/>
          </a:xfrm>
          <a:prstGeom prst="rect">
            <a:avLst/>
          </a:prstGeom>
          <a:solidFill>
            <a:srgbClr val="FDFBF5"/>
          </a:solidFill>
          <a:ln w="12700">
            <a:solidFill>
              <a:srgbClr val="E7DFD0"/>
            </a:solidFill>
            <a:prstDash val="solid"/>
          </a:ln>
        </p:spPr>
      </p:sp>
      <p:sp>
        <p:nvSpPr>
          <p:cNvPr id="18" name="Text 16"/>
          <p:cNvSpPr/>
          <p:nvPr/>
        </p:nvSpPr>
        <p:spPr>
          <a:xfrm>
            <a:off x="7488936" y="1984248"/>
            <a:ext cx="1755648" cy="548640"/>
          </a:xfrm>
          <a:prstGeom prst="rect">
            <a:avLst/>
          </a:prstGeom>
          <a:noFill/>
          <a:ln/>
        </p:spPr>
        <p:txBody>
          <a:bodyPr wrap="square" lIns="0" tIns="0" rIns="0" bIns="0" rtlCol="0" anchor="ctr">
            <a:normAutofit/>
          </a:bodyPr>
          <a:lstStyle/>
          <a:p>
            <a:pPr indent="0" marL="0">
              <a:buNone/>
            </a:pPr>
            <a:r>
              <a:rPr lang="en-US" sz="940" dirty="0">
                <a:solidFill>
                  <a:srgbClr val="24303F"/>
                </a:solidFill>
              </a:rPr>
              <a:t>Risk of false confirmation</a:t>
            </a:r>
            <a:endParaRPr lang="en-US" sz="940" dirty="0"/>
          </a:p>
        </p:txBody>
      </p:sp>
      <p:sp>
        <p:nvSpPr>
          <p:cNvPr id="19" name="Shape 17"/>
          <p:cNvSpPr/>
          <p:nvPr/>
        </p:nvSpPr>
        <p:spPr>
          <a:xfrm>
            <a:off x="9281160" y="1947672"/>
            <a:ext cx="2057400" cy="621792"/>
          </a:xfrm>
          <a:prstGeom prst="rect">
            <a:avLst/>
          </a:prstGeom>
          <a:solidFill>
            <a:srgbClr val="FDFBF5"/>
          </a:solidFill>
          <a:ln w="12700">
            <a:solidFill>
              <a:srgbClr val="E7DFD0"/>
            </a:solidFill>
            <a:prstDash val="solid"/>
          </a:ln>
        </p:spPr>
      </p:sp>
      <p:sp>
        <p:nvSpPr>
          <p:cNvPr id="20" name="Text 18"/>
          <p:cNvSpPr/>
          <p:nvPr/>
        </p:nvSpPr>
        <p:spPr>
          <a:xfrm>
            <a:off x="9317736" y="1984248"/>
            <a:ext cx="1984248" cy="548640"/>
          </a:xfrm>
          <a:prstGeom prst="rect">
            <a:avLst/>
          </a:prstGeom>
          <a:noFill/>
          <a:ln/>
        </p:spPr>
        <p:txBody>
          <a:bodyPr wrap="square" lIns="0" tIns="0" rIns="0" bIns="0" rtlCol="0" anchor="ctr">
            <a:normAutofit/>
          </a:bodyPr>
          <a:lstStyle/>
          <a:p>
            <a:pPr indent="0" marL="0">
              <a:buNone/>
            </a:pPr>
            <a:r>
              <a:rPr lang="en-US" sz="940" dirty="0">
                <a:solidFill>
                  <a:srgbClr val="24303F"/>
                </a:solidFill>
              </a:rPr>
              <a:t>Checklist/tracker</a:t>
            </a:r>
            <a:endParaRPr lang="en-US" sz="940" dirty="0"/>
          </a:p>
        </p:txBody>
      </p:sp>
      <p:sp>
        <p:nvSpPr>
          <p:cNvPr id="21" name="Shape 19"/>
          <p:cNvSpPr/>
          <p:nvPr/>
        </p:nvSpPr>
        <p:spPr>
          <a:xfrm>
            <a:off x="5623560" y="2569464"/>
            <a:ext cx="1828800" cy="621792"/>
          </a:xfrm>
          <a:prstGeom prst="rect">
            <a:avLst/>
          </a:prstGeom>
          <a:solidFill>
            <a:srgbClr val="FFFFFF"/>
          </a:solidFill>
          <a:ln w="12700">
            <a:solidFill>
              <a:srgbClr val="E7DFD0"/>
            </a:solidFill>
            <a:prstDash val="solid"/>
          </a:ln>
        </p:spPr>
      </p:sp>
      <p:sp>
        <p:nvSpPr>
          <p:cNvPr id="22" name="Text 20"/>
          <p:cNvSpPr/>
          <p:nvPr/>
        </p:nvSpPr>
        <p:spPr>
          <a:xfrm>
            <a:off x="5660136" y="2606040"/>
            <a:ext cx="1755648" cy="548640"/>
          </a:xfrm>
          <a:prstGeom prst="rect">
            <a:avLst/>
          </a:prstGeom>
          <a:noFill/>
          <a:ln/>
        </p:spPr>
        <p:txBody>
          <a:bodyPr wrap="square" lIns="0" tIns="0" rIns="0" bIns="0" rtlCol="0" anchor="ctr">
            <a:normAutofit/>
          </a:bodyPr>
          <a:lstStyle/>
          <a:p>
            <a:pPr indent="0" marL="0">
              <a:buNone/>
            </a:pPr>
            <a:r>
              <a:rPr lang="en-US" sz="940" dirty="0">
                <a:solidFill>
                  <a:srgbClr val="24303F"/>
                </a:solidFill>
              </a:rPr>
              <a:t>Auto certificate release</a:t>
            </a:r>
            <a:endParaRPr lang="en-US" sz="940" dirty="0"/>
          </a:p>
        </p:txBody>
      </p:sp>
      <p:sp>
        <p:nvSpPr>
          <p:cNvPr id="23" name="Shape 21"/>
          <p:cNvSpPr/>
          <p:nvPr/>
        </p:nvSpPr>
        <p:spPr>
          <a:xfrm>
            <a:off x="7452360" y="2569464"/>
            <a:ext cx="1828800" cy="621792"/>
          </a:xfrm>
          <a:prstGeom prst="rect">
            <a:avLst/>
          </a:prstGeom>
          <a:solidFill>
            <a:srgbClr val="FFFFFF"/>
          </a:solidFill>
          <a:ln w="12700">
            <a:solidFill>
              <a:srgbClr val="E7DFD0"/>
            </a:solidFill>
            <a:prstDash val="solid"/>
          </a:ln>
        </p:spPr>
      </p:sp>
      <p:sp>
        <p:nvSpPr>
          <p:cNvPr id="24" name="Text 22"/>
          <p:cNvSpPr/>
          <p:nvPr/>
        </p:nvSpPr>
        <p:spPr>
          <a:xfrm>
            <a:off x="7488936" y="2606040"/>
            <a:ext cx="1755648" cy="548640"/>
          </a:xfrm>
          <a:prstGeom prst="rect">
            <a:avLst/>
          </a:prstGeom>
          <a:noFill/>
          <a:ln/>
        </p:spPr>
        <p:txBody>
          <a:bodyPr wrap="square" lIns="0" tIns="0" rIns="0" bIns="0" rtlCol="0" anchor="ctr">
            <a:normAutofit/>
          </a:bodyPr>
          <a:lstStyle/>
          <a:p>
            <a:pPr indent="0" marL="0">
              <a:buNone/>
            </a:pPr>
            <a:r>
              <a:rPr lang="en-US" sz="940" dirty="0">
                <a:solidFill>
                  <a:srgbClr val="24303F"/>
                </a:solidFill>
              </a:rPr>
              <a:t>Bad attendance data</a:t>
            </a:r>
            <a:endParaRPr lang="en-US" sz="940" dirty="0"/>
          </a:p>
        </p:txBody>
      </p:sp>
      <p:sp>
        <p:nvSpPr>
          <p:cNvPr id="25" name="Shape 23"/>
          <p:cNvSpPr/>
          <p:nvPr/>
        </p:nvSpPr>
        <p:spPr>
          <a:xfrm>
            <a:off x="9281160" y="2569464"/>
            <a:ext cx="2057400" cy="621792"/>
          </a:xfrm>
          <a:prstGeom prst="rect">
            <a:avLst/>
          </a:prstGeom>
          <a:solidFill>
            <a:srgbClr val="FFFFFF"/>
          </a:solidFill>
          <a:ln w="12700">
            <a:solidFill>
              <a:srgbClr val="E7DFD0"/>
            </a:solidFill>
            <a:prstDash val="solid"/>
          </a:ln>
        </p:spPr>
      </p:sp>
      <p:sp>
        <p:nvSpPr>
          <p:cNvPr id="26" name="Text 24"/>
          <p:cNvSpPr/>
          <p:nvPr/>
        </p:nvSpPr>
        <p:spPr>
          <a:xfrm>
            <a:off x="9317736" y="2606040"/>
            <a:ext cx="1984248" cy="548640"/>
          </a:xfrm>
          <a:prstGeom prst="rect">
            <a:avLst/>
          </a:prstGeom>
          <a:noFill/>
          <a:ln/>
        </p:spPr>
        <p:txBody>
          <a:bodyPr wrap="square" lIns="0" tIns="0" rIns="0" bIns="0" rtlCol="0" anchor="ctr">
            <a:normAutofit/>
          </a:bodyPr>
          <a:lstStyle/>
          <a:p>
            <a:pPr indent="0" marL="0">
              <a:buNone/>
            </a:pPr>
            <a:r>
              <a:rPr lang="en-US" sz="940" dirty="0">
                <a:solidFill>
                  <a:srgbClr val="24303F"/>
                </a:solidFill>
              </a:rPr>
              <a:t>Template + review</a:t>
            </a:r>
            <a:endParaRPr lang="en-US" sz="940" dirty="0"/>
          </a:p>
        </p:txBody>
      </p:sp>
      <p:sp>
        <p:nvSpPr>
          <p:cNvPr id="27" name="Shape 25"/>
          <p:cNvSpPr/>
          <p:nvPr/>
        </p:nvSpPr>
        <p:spPr>
          <a:xfrm>
            <a:off x="5623560" y="3191256"/>
            <a:ext cx="1828800" cy="621792"/>
          </a:xfrm>
          <a:prstGeom prst="rect">
            <a:avLst/>
          </a:prstGeom>
          <a:solidFill>
            <a:srgbClr val="FDFBF5"/>
          </a:solidFill>
          <a:ln w="12700">
            <a:solidFill>
              <a:srgbClr val="E7DFD0"/>
            </a:solidFill>
            <a:prstDash val="solid"/>
          </a:ln>
        </p:spPr>
      </p:sp>
      <p:sp>
        <p:nvSpPr>
          <p:cNvPr id="28" name="Text 26"/>
          <p:cNvSpPr/>
          <p:nvPr/>
        </p:nvSpPr>
        <p:spPr>
          <a:xfrm>
            <a:off x="5660136" y="3227832"/>
            <a:ext cx="1755648" cy="548640"/>
          </a:xfrm>
          <a:prstGeom prst="rect">
            <a:avLst/>
          </a:prstGeom>
          <a:noFill/>
          <a:ln/>
        </p:spPr>
        <p:txBody>
          <a:bodyPr wrap="square" lIns="0" tIns="0" rIns="0" bIns="0" rtlCol="0" anchor="ctr">
            <a:normAutofit/>
          </a:bodyPr>
          <a:lstStyle/>
          <a:p>
            <a:pPr indent="0" marL="0">
              <a:buNone/>
            </a:pPr>
            <a:r>
              <a:rPr lang="en-US" sz="940" dirty="0">
                <a:solidFill>
                  <a:srgbClr val="24303F"/>
                </a:solidFill>
              </a:rPr>
              <a:t>AI FAQ bot</a:t>
            </a:r>
            <a:endParaRPr lang="en-US" sz="940" dirty="0"/>
          </a:p>
        </p:txBody>
      </p:sp>
      <p:sp>
        <p:nvSpPr>
          <p:cNvPr id="29" name="Shape 27"/>
          <p:cNvSpPr/>
          <p:nvPr/>
        </p:nvSpPr>
        <p:spPr>
          <a:xfrm>
            <a:off x="7452360" y="3191256"/>
            <a:ext cx="1828800" cy="621792"/>
          </a:xfrm>
          <a:prstGeom prst="rect">
            <a:avLst/>
          </a:prstGeom>
          <a:solidFill>
            <a:srgbClr val="FDFBF5"/>
          </a:solidFill>
          <a:ln w="12700">
            <a:solidFill>
              <a:srgbClr val="E7DFD0"/>
            </a:solidFill>
            <a:prstDash val="solid"/>
          </a:ln>
        </p:spPr>
      </p:sp>
      <p:sp>
        <p:nvSpPr>
          <p:cNvPr id="30" name="Text 28"/>
          <p:cNvSpPr/>
          <p:nvPr/>
        </p:nvSpPr>
        <p:spPr>
          <a:xfrm>
            <a:off x="7488936" y="3227832"/>
            <a:ext cx="1755648" cy="548640"/>
          </a:xfrm>
          <a:prstGeom prst="rect">
            <a:avLst/>
          </a:prstGeom>
          <a:noFill/>
          <a:ln/>
        </p:spPr>
        <p:txBody>
          <a:bodyPr wrap="square" lIns="0" tIns="0" rIns="0" bIns="0" rtlCol="0" anchor="ctr">
            <a:normAutofit/>
          </a:bodyPr>
          <a:lstStyle/>
          <a:p>
            <a:pPr indent="0" marL="0">
              <a:buNone/>
            </a:pPr>
            <a:r>
              <a:rPr lang="en-US" sz="940" dirty="0">
                <a:solidFill>
                  <a:srgbClr val="24303F"/>
                </a:solidFill>
              </a:rPr>
              <a:t>Unstable knowledge base</a:t>
            </a:r>
            <a:endParaRPr lang="en-US" sz="940" dirty="0"/>
          </a:p>
        </p:txBody>
      </p:sp>
      <p:sp>
        <p:nvSpPr>
          <p:cNvPr id="31" name="Shape 29"/>
          <p:cNvSpPr/>
          <p:nvPr/>
        </p:nvSpPr>
        <p:spPr>
          <a:xfrm>
            <a:off x="9281160" y="3191256"/>
            <a:ext cx="2057400" cy="621792"/>
          </a:xfrm>
          <a:prstGeom prst="rect">
            <a:avLst/>
          </a:prstGeom>
          <a:solidFill>
            <a:srgbClr val="FDFBF5"/>
          </a:solidFill>
          <a:ln w="12700">
            <a:solidFill>
              <a:srgbClr val="E7DFD0"/>
            </a:solidFill>
            <a:prstDash val="solid"/>
          </a:ln>
        </p:spPr>
      </p:sp>
      <p:sp>
        <p:nvSpPr>
          <p:cNvPr id="32" name="Text 30"/>
          <p:cNvSpPr/>
          <p:nvPr/>
        </p:nvSpPr>
        <p:spPr>
          <a:xfrm>
            <a:off x="9317736" y="3227832"/>
            <a:ext cx="1984248" cy="548640"/>
          </a:xfrm>
          <a:prstGeom prst="rect">
            <a:avLst/>
          </a:prstGeom>
          <a:noFill/>
          <a:ln/>
        </p:spPr>
        <p:txBody>
          <a:bodyPr wrap="square" lIns="0" tIns="0" rIns="0" bIns="0" rtlCol="0" anchor="ctr">
            <a:normAutofit/>
          </a:bodyPr>
          <a:lstStyle/>
          <a:p>
            <a:pPr indent="0" marL="0">
              <a:buNone/>
            </a:pPr>
            <a:r>
              <a:rPr lang="en-US" sz="940" dirty="0">
                <a:solidFill>
                  <a:srgbClr val="24303F"/>
                </a:solidFill>
              </a:rPr>
              <a:t>Standard info email</a:t>
            </a:r>
            <a:endParaRPr lang="en-US" sz="940" dirty="0"/>
          </a:p>
        </p:txBody>
      </p:sp>
      <p:sp>
        <p:nvSpPr>
          <p:cNvPr id="33" name="Shape 31"/>
          <p:cNvSpPr/>
          <p:nvPr/>
        </p:nvSpPr>
        <p:spPr>
          <a:xfrm>
            <a:off x="5623560" y="3813048"/>
            <a:ext cx="1828800" cy="621792"/>
          </a:xfrm>
          <a:prstGeom prst="rect">
            <a:avLst/>
          </a:prstGeom>
          <a:solidFill>
            <a:srgbClr val="FFFFFF"/>
          </a:solidFill>
          <a:ln w="12700">
            <a:solidFill>
              <a:srgbClr val="E7DFD0"/>
            </a:solidFill>
            <a:prstDash val="solid"/>
          </a:ln>
        </p:spPr>
      </p:sp>
      <p:sp>
        <p:nvSpPr>
          <p:cNvPr id="34" name="Text 32"/>
          <p:cNvSpPr/>
          <p:nvPr/>
        </p:nvSpPr>
        <p:spPr>
          <a:xfrm>
            <a:off x="5660136" y="3849624"/>
            <a:ext cx="1755648" cy="548640"/>
          </a:xfrm>
          <a:prstGeom prst="rect">
            <a:avLst/>
          </a:prstGeom>
          <a:noFill/>
          <a:ln/>
        </p:spPr>
        <p:txBody>
          <a:bodyPr wrap="square" lIns="0" tIns="0" rIns="0" bIns="0" rtlCol="0" anchor="ctr">
            <a:normAutofit/>
          </a:bodyPr>
          <a:lstStyle/>
          <a:p>
            <a:pPr indent="0" marL="0">
              <a:buNone/>
            </a:pPr>
            <a:r>
              <a:rPr lang="en-US" sz="940" dirty="0">
                <a:solidFill>
                  <a:srgbClr val="24303F"/>
                </a:solidFill>
              </a:rPr>
              <a:t>Complaint routing only</a:t>
            </a:r>
            <a:endParaRPr lang="en-US" sz="940" dirty="0"/>
          </a:p>
        </p:txBody>
      </p:sp>
      <p:sp>
        <p:nvSpPr>
          <p:cNvPr id="35" name="Shape 33"/>
          <p:cNvSpPr/>
          <p:nvPr/>
        </p:nvSpPr>
        <p:spPr>
          <a:xfrm>
            <a:off x="7452360" y="3813048"/>
            <a:ext cx="1828800" cy="621792"/>
          </a:xfrm>
          <a:prstGeom prst="rect">
            <a:avLst/>
          </a:prstGeom>
          <a:solidFill>
            <a:srgbClr val="FFFFFF"/>
          </a:solidFill>
          <a:ln w="12700">
            <a:solidFill>
              <a:srgbClr val="E7DFD0"/>
            </a:solidFill>
            <a:prstDash val="solid"/>
          </a:ln>
        </p:spPr>
      </p:sp>
      <p:sp>
        <p:nvSpPr>
          <p:cNvPr id="36" name="Text 34"/>
          <p:cNvSpPr/>
          <p:nvPr/>
        </p:nvSpPr>
        <p:spPr>
          <a:xfrm>
            <a:off x="7488936" y="3849624"/>
            <a:ext cx="1755648" cy="548640"/>
          </a:xfrm>
          <a:prstGeom prst="rect">
            <a:avLst/>
          </a:prstGeom>
          <a:noFill/>
          <a:ln/>
        </p:spPr>
        <p:txBody>
          <a:bodyPr wrap="square" lIns="0" tIns="0" rIns="0" bIns="0" rtlCol="0" anchor="ctr">
            <a:normAutofit/>
          </a:bodyPr>
          <a:lstStyle/>
          <a:p>
            <a:pPr indent="0" marL="0">
              <a:buNone/>
            </a:pPr>
            <a:r>
              <a:rPr lang="en-US" sz="940" dirty="0">
                <a:solidFill>
                  <a:srgbClr val="24303F"/>
                </a:solidFill>
              </a:rPr>
              <a:t>Sensitive context</a:t>
            </a:r>
            <a:endParaRPr lang="en-US" sz="940" dirty="0"/>
          </a:p>
        </p:txBody>
      </p:sp>
      <p:sp>
        <p:nvSpPr>
          <p:cNvPr id="37" name="Shape 35"/>
          <p:cNvSpPr/>
          <p:nvPr/>
        </p:nvSpPr>
        <p:spPr>
          <a:xfrm>
            <a:off x="9281160" y="3813048"/>
            <a:ext cx="2057400" cy="621792"/>
          </a:xfrm>
          <a:prstGeom prst="rect">
            <a:avLst/>
          </a:prstGeom>
          <a:solidFill>
            <a:srgbClr val="FFFFFF"/>
          </a:solidFill>
          <a:ln w="12700">
            <a:solidFill>
              <a:srgbClr val="E7DFD0"/>
            </a:solidFill>
            <a:prstDash val="solid"/>
          </a:ln>
        </p:spPr>
      </p:sp>
      <p:sp>
        <p:nvSpPr>
          <p:cNvPr id="38" name="Text 36"/>
          <p:cNvSpPr/>
          <p:nvPr/>
        </p:nvSpPr>
        <p:spPr>
          <a:xfrm>
            <a:off x="9317736" y="3849624"/>
            <a:ext cx="1984248" cy="548640"/>
          </a:xfrm>
          <a:prstGeom prst="rect">
            <a:avLst/>
          </a:prstGeom>
          <a:noFill/>
          <a:ln/>
        </p:spPr>
        <p:txBody>
          <a:bodyPr wrap="square" lIns="0" tIns="0" rIns="0" bIns="0" rtlCol="0" anchor="ctr">
            <a:normAutofit/>
          </a:bodyPr>
          <a:lstStyle/>
          <a:p>
            <a:pPr indent="0" marL="0">
              <a:buNone/>
            </a:pPr>
            <a:r>
              <a:rPr lang="en-US" sz="940" dirty="0">
                <a:solidFill>
                  <a:srgbClr val="24303F"/>
                </a:solidFill>
              </a:rPr>
              <a:t>Human escalation</a:t>
            </a:r>
            <a:endParaRPr lang="en-US" sz="940" dirty="0"/>
          </a:p>
        </p:txBody>
      </p:sp>
      <p:sp>
        <p:nvSpPr>
          <p:cNvPr id="39" name="Text 37"/>
          <p:cNvSpPr/>
          <p:nvPr/>
        </p:nvSpPr>
        <p:spPr>
          <a:xfrm>
            <a:off x="11384280" y="6428232"/>
            <a:ext cx="320040" cy="109728"/>
          </a:xfrm>
          <a:prstGeom prst="rect">
            <a:avLst/>
          </a:prstGeom>
          <a:noFill/>
          <a:ln/>
        </p:spPr>
        <p:txBody>
          <a:bodyPr wrap="square" lIns="0" tIns="0" rIns="0" bIns="0" rtlCol="0" anchor="ctr"/>
          <a:lstStyle/>
          <a:p>
            <a:pPr algn="r" indent="0" marL="0">
              <a:buNone/>
            </a:pPr>
            <a:r>
              <a:rPr lang="en-US" sz="700" dirty="0">
                <a:solidFill>
                  <a:srgbClr val="FFFFFF"/>
                </a:solidFill>
              </a:rPr>
              <a:t>22</a:t>
            </a:r>
            <a:endParaRPr lang="en-US" sz="7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7F3EA"/>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4213D"/>
          </a:solidFill>
          <a:ln w="12700">
            <a:solidFill>
              <a:srgbClr val="14213D">
                <a:alpha val="0"/>
              </a:srgbClr>
            </a:solidFill>
            <a:prstDash val="solid"/>
          </a:ln>
        </p:spPr>
      </p:sp>
      <p:sp>
        <p:nvSpPr>
          <p:cNvPr id="3" name="Shape 1"/>
          <p:cNvSpPr/>
          <p:nvPr/>
        </p:nvSpPr>
        <p:spPr>
          <a:xfrm>
            <a:off x="0" y="6693408"/>
            <a:ext cx="12191695" cy="164592"/>
          </a:xfrm>
          <a:prstGeom prst="rect">
            <a:avLst/>
          </a:prstGeom>
          <a:solidFill>
            <a:srgbClr val="14213D"/>
          </a:solidFill>
          <a:ln w="12700">
            <a:solidFill>
              <a:srgbClr val="14213D">
                <a:alpha val="0"/>
              </a:srgbClr>
            </a:solidFill>
            <a:prstDash val="solid"/>
          </a:ln>
        </p:spPr>
      </p:sp>
      <p:sp>
        <p:nvSpPr>
          <p:cNvPr id="4" name="Text 2"/>
          <p:cNvSpPr/>
          <p:nvPr/>
        </p:nvSpPr>
        <p:spPr>
          <a:xfrm>
            <a:off x="502920" y="256032"/>
            <a:ext cx="4480560" cy="164592"/>
          </a:xfrm>
          <a:prstGeom prst="rect">
            <a:avLst/>
          </a:prstGeom>
          <a:noFill/>
          <a:ln/>
        </p:spPr>
        <p:txBody>
          <a:bodyPr wrap="square" lIns="0" tIns="0" rIns="0" bIns="0" rtlCol="0" anchor="ctr"/>
          <a:lstStyle/>
          <a:p>
            <a:pPr indent="0" marL="0">
              <a:buNone/>
            </a:pPr>
            <a:r>
              <a:rPr lang="en-US" sz="700" b="1" dirty="0">
                <a:solidFill>
                  <a:srgbClr val="2A9D8F"/>
                </a:solidFill>
                <a:latin typeface="Aptos" pitchFamily="34" charset="0"/>
                <a:ea typeface="Aptos" pitchFamily="34" charset="-122"/>
                <a:cs typeface="Aptos" pitchFamily="34" charset="-120"/>
              </a:rPr>
              <a:t>SECTION 3</a:t>
            </a:r>
            <a:endParaRPr lang="en-US" sz="700" dirty="0"/>
          </a:p>
        </p:txBody>
      </p:sp>
      <p:sp>
        <p:nvSpPr>
          <p:cNvPr id="5" name="Text 3"/>
          <p:cNvSpPr/>
          <p:nvPr/>
        </p:nvSpPr>
        <p:spPr>
          <a:xfrm>
            <a:off x="9281160" y="219456"/>
            <a:ext cx="2423160" cy="182880"/>
          </a:xfrm>
          <a:prstGeom prst="rect">
            <a:avLst/>
          </a:prstGeom>
          <a:noFill/>
          <a:ln/>
        </p:spPr>
        <p:txBody>
          <a:bodyPr wrap="square" lIns="0" tIns="0" rIns="0" bIns="0" rtlCol="0" anchor="ctr"/>
          <a:lstStyle/>
          <a:p>
            <a:pPr algn="r" indent="0" marL="0">
              <a:buNone/>
            </a:pPr>
            <a:r>
              <a:rPr lang="en-US" sz="700" dirty="0">
                <a:solidFill>
                  <a:srgbClr val="6D7886"/>
                </a:solidFill>
              </a:rPr>
              <a:t>Jifunze.ai skill booster</a:t>
            </a:r>
            <a:endParaRPr lang="en-US" sz="700" dirty="0"/>
          </a:p>
        </p:txBody>
      </p:sp>
      <p:sp>
        <p:nvSpPr>
          <p:cNvPr id="6" name="Text 4"/>
          <p:cNvSpPr/>
          <p:nvPr/>
        </p:nvSpPr>
        <p:spPr>
          <a:xfrm>
            <a:off x="502920" y="502920"/>
            <a:ext cx="4617720" cy="475488"/>
          </a:xfrm>
          <a:prstGeom prst="rect">
            <a:avLst/>
          </a:prstGeom>
          <a:noFill/>
          <a:ln/>
        </p:spPr>
        <p:txBody>
          <a:bodyPr wrap="square" lIns="127" tIns="127" rIns="127" bIns="127" rtlCol="0" anchor="ctr">
            <a:normAutofit/>
          </a:bodyPr>
          <a:lstStyle/>
          <a:p>
            <a:pPr indent="0" marL="0">
              <a:buNone/>
            </a:pPr>
            <a:r>
              <a:rPr lang="en-US" sz="2500" b="1" dirty="0">
                <a:solidFill>
                  <a:srgbClr val="14213D"/>
                </a:solidFill>
                <a:latin typeface="Aptos Display" pitchFamily="34" charset="0"/>
                <a:ea typeface="Aptos Display" pitchFamily="34" charset="-122"/>
                <a:cs typeface="Aptos Display" pitchFamily="34" charset="-120"/>
              </a:rPr>
              <a:t>Data quality and structured intake</a:t>
            </a:r>
            <a:endParaRPr lang="en-US" sz="2500" dirty="0"/>
          </a:p>
        </p:txBody>
      </p:sp>
      <p:sp>
        <p:nvSpPr>
          <p:cNvPr id="7" name="Text 5"/>
          <p:cNvSpPr/>
          <p:nvPr/>
        </p:nvSpPr>
        <p:spPr>
          <a:xfrm>
            <a:off x="521208" y="1005840"/>
            <a:ext cx="4617720" cy="228600"/>
          </a:xfrm>
          <a:prstGeom prst="rect">
            <a:avLst/>
          </a:prstGeom>
          <a:noFill/>
          <a:ln/>
        </p:spPr>
        <p:txBody>
          <a:bodyPr wrap="square" lIns="0" tIns="0" rIns="0" bIns="0" rtlCol="0" anchor="ctr">
            <a:normAutofit/>
          </a:bodyPr>
          <a:lstStyle/>
          <a:p>
            <a:pPr indent="0" marL="0">
              <a:buNone/>
            </a:pPr>
            <a:r>
              <a:rPr lang="en-US" sz="1080" dirty="0">
                <a:solidFill>
                  <a:srgbClr val="24303F"/>
                </a:solidFill>
              </a:rPr>
              <a:t>Automation improves when inputs are clean</a:t>
            </a:r>
            <a:endParaRPr lang="en-US" sz="1080" dirty="0"/>
          </a:p>
        </p:txBody>
      </p:sp>
      <p:sp>
        <p:nvSpPr>
          <p:cNvPr id="8" name="Text 6"/>
          <p:cNvSpPr/>
          <p:nvPr/>
        </p:nvSpPr>
        <p:spPr>
          <a:xfrm>
            <a:off x="594360" y="1417320"/>
            <a:ext cx="4617720" cy="4343400"/>
          </a:xfrm>
          <a:prstGeom prst="rect">
            <a:avLst/>
          </a:prstGeom>
          <a:noFill/>
          <a:ln/>
        </p:spPr>
        <p:txBody>
          <a:bodyPr wrap="square" lIns="635" tIns="635" rIns="635" bIns="635" rtlCol="0" anchor="ctr">
            <a:normAutofit/>
          </a:bodyPr>
          <a:lstStyle/>
          <a:p>
            <a:r>
              <a:rPr lang="en-US" sz="1450" dirty="0">
                <a:solidFill>
                  <a:srgbClr val="24303F"/>
                </a:solidFill>
              </a:rPr>
              <a:t>• Use standard fields: name, email, course, cohort, payment status</a:t>
            </a:r>
            <a:endParaRPr lang="en-US" sz="1450" dirty="0"/>
          </a:p>
          <a:p>
            <a:r>
              <a:rPr lang="en-US" sz="1450" dirty="0">
                <a:solidFill>
                  <a:srgbClr val="24303F"/>
                </a:solidFill>
              </a:rPr>
              <a:t>• Reduce free-text where choices are predictable</a:t>
            </a:r>
            <a:endParaRPr lang="en-US" sz="1450" dirty="0"/>
          </a:p>
          <a:p>
            <a:r>
              <a:rPr lang="en-US" sz="1450" dirty="0">
                <a:solidFill>
                  <a:srgbClr val="24303F"/>
                </a:solidFill>
              </a:rPr>
              <a:t>• Validate required fields before submission</a:t>
            </a:r>
            <a:endParaRPr lang="en-US" sz="1450" dirty="0"/>
          </a:p>
          <a:p>
            <a:r>
              <a:rPr lang="en-US" sz="1450" dirty="0">
                <a:solidFill>
                  <a:srgbClr val="24303F"/>
                </a:solidFill>
              </a:rPr>
              <a:t>• Use one record per learner</a:t>
            </a:r>
            <a:endParaRPr lang="en-US" sz="1450" dirty="0"/>
          </a:p>
          <a:p>
            <a:r>
              <a:rPr lang="en-US" sz="1450" dirty="0">
                <a:solidFill>
                  <a:srgbClr val="24303F"/>
                </a:solidFill>
              </a:rPr>
              <a:t>• Keep consent and privacy notices clear</a:t>
            </a:r>
            <a:endParaRPr lang="en-US" sz="1450" dirty="0"/>
          </a:p>
        </p:txBody>
      </p:sp>
      <p:sp>
        <p:nvSpPr>
          <p:cNvPr id="9" name="Shape 7"/>
          <p:cNvSpPr/>
          <p:nvPr/>
        </p:nvSpPr>
        <p:spPr>
          <a:xfrm>
            <a:off x="5806440" y="1463040"/>
            <a:ext cx="4480560" cy="685800"/>
          </a:xfrm>
          <a:prstGeom prst="roundRect">
            <a:avLst>
              <a:gd name="adj" fmla="val 10667"/>
            </a:avLst>
          </a:prstGeom>
          <a:solidFill>
            <a:srgbClr val="FFFFFF"/>
          </a:solidFill>
          <a:ln w="12700">
            <a:solidFill>
              <a:srgbClr val="B85C5C"/>
            </a:solidFill>
            <a:prstDash val="solid"/>
          </a:ln>
        </p:spPr>
      </p:sp>
      <p:sp>
        <p:nvSpPr>
          <p:cNvPr id="10" name="Text 8"/>
          <p:cNvSpPr/>
          <p:nvPr/>
        </p:nvSpPr>
        <p:spPr>
          <a:xfrm>
            <a:off x="5916168" y="1554480"/>
            <a:ext cx="4261104" cy="521208"/>
          </a:xfrm>
          <a:prstGeom prst="rect">
            <a:avLst/>
          </a:prstGeom>
          <a:noFill/>
          <a:ln/>
        </p:spPr>
        <p:txBody>
          <a:bodyPr wrap="square" lIns="127" tIns="127" rIns="127" bIns="127" rtlCol="0" anchor="ctr">
            <a:normAutofit/>
          </a:bodyPr>
          <a:lstStyle/>
          <a:p>
            <a:pPr indent="0" marL="0">
              <a:buNone/>
            </a:pPr>
            <a:r>
              <a:rPr lang="en-US" sz="1500" b="1" dirty="0">
                <a:solidFill>
                  <a:srgbClr val="24303F"/>
                </a:solidFill>
              </a:rPr>
              <a:t>Before: scattered messages + screenshots</a:t>
            </a:r>
            <a:endParaRPr lang="en-US" sz="1500" dirty="0"/>
          </a:p>
        </p:txBody>
      </p:sp>
      <p:sp>
        <p:nvSpPr>
          <p:cNvPr id="11" name="Shape 9"/>
          <p:cNvSpPr/>
          <p:nvPr/>
        </p:nvSpPr>
        <p:spPr>
          <a:xfrm>
            <a:off x="8046720" y="2148840"/>
            <a:ext cx="0" cy="594360"/>
          </a:xfrm>
          <a:prstGeom prst="line">
            <a:avLst/>
          </a:prstGeom>
          <a:noFill/>
          <a:ln w="12700">
            <a:solidFill>
              <a:srgbClr val="2A9D8F"/>
            </a:solidFill>
            <a:prstDash val="solid"/>
            <a:headEnd type="none"/>
            <a:tailEnd type="triangle"/>
          </a:ln>
        </p:spPr>
      </p:sp>
      <p:sp>
        <p:nvSpPr>
          <p:cNvPr id="12" name="Shape 10"/>
          <p:cNvSpPr/>
          <p:nvPr/>
        </p:nvSpPr>
        <p:spPr>
          <a:xfrm>
            <a:off x="5806440" y="2743200"/>
            <a:ext cx="4480560" cy="685800"/>
          </a:xfrm>
          <a:prstGeom prst="roundRect">
            <a:avLst>
              <a:gd name="adj" fmla="val 10667"/>
            </a:avLst>
          </a:prstGeom>
          <a:solidFill>
            <a:srgbClr val="FFFFFF"/>
          </a:solidFill>
          <a:ln w="12700">
            <a:solidFill>
              <a:srgbClr val="2A9D8F"/>
            </a:solidFill>
            <a:prstDash val="solid"/>
          </a:ln>
        </p:spPr>
      </p:sp>
      <p:sp>
        <p:nvSpPr>
          <p:cNvPr id="13" name="Text 11"/>
          <p:cNvSpPr/>
          <p:nvPr/>
        </p:nvSpPr>
        <p:spPr>
          <a:xfrm>
            <a:off x="5916168" y="2834640"/>
            <a:ext cx="4261104" cy="521208"/>
          </a:xfrm>
          <a:prstGeom prst="rect">
            <a:avLst/>
          </a:prstGeom>
          <a:noFill/>
          <a:ln/>
        </p:spPr>
        <p:txBody>
          <a:bodyPr wrap="square" lIns="127" tIns="127" rIns="127" bIns="127" rtlCol="0" anchor="ctr">
            <a:normAutofit/>
          </a:bodyPr>
          <a:lstStyle/>
          <a:p>
            <a:pPr indent="0" marL="0">
              <a:buNone/>
            </a:pPr>
            <a:r>
              <a:rPr lang="en-US" sz="1500" b="1" dirty="0">
                <a:solidFill>
                  <a:srgbClr val="24303F"/>
                </a:solidFill>
              </a:rPr>
              <a:t>After: structured learner record</a:t>
            </a:r>
            <a:endParaRPr lang="en-US" sz="1500" dirty="0"/>
          </a:p>
        </p:txBody>
      </p:sp>
      <p:sp>
        <p:nvSpPr>
          <p:cNvPr id="14" name="Shape 12"/>
          <p:cNvSpPr/>
          <p:nvPr/>
        </p:nvSpPr>
        <p:spPr>
          <a:xfrm>
            <a:off x="6126480" y="3794760"/>
            <a:ext cx="1463040" cy="259080"/>
          </a:xfrm>
          <a:prstGeom prst="rect">
            <a:avLst/>
          </a:prstGeom>
          <a:solidFill>
            <a:srgbClr val="14213D"/>
          </a:solidFill>
          <a:ln w="12700">
            <a:solidFill>
              <a:srgbClr val="FFFFFF"/>
            </a:solidFill>
            <a:prstDash val="solid"/>
          </a:ln>
        </p:spPr>
      </p:sp>
      <p:sp>
        <p:nvSpPr>
          <p:cNvPr id="15" name="Text 13"/>
          <p:cNvSpPr/>
          <p:nvPr/>
        </p:nvSpPr>
        <p:spPr>
          <a:xfrm>
            <a:off x="6163056" y="3840480"/>
            <a:ext cx="1389888" cy="185928"/>
          </a:xfrm>
          <a:prstGeom prst="rect">
            <a:avLst/>
          </a:prstGeom>
          <a:noFill/>
          <a:ln/>
        </p:spPr>
        <p:txBody>
          <a:bodyPr wrap="square" lIns="0" tIns="0" rIns="0" bIns="0" rtlCol="0" anchor="ctr">
            <a:normAutofit/>
          </a:bodyPr>
          <a:lstStyle/>
          <a:p>
            <a:pPr indent="0" marL="0">
              <a:buNone/>
            </a:pPr>
            <a:r>
              <a:rPr lang="en-US" sz="800" b="1" dirty="0">
                <a:solidFill>
                  <a:srgbClr val="FFFFFF"/>
                </a:solidFill>
              </a:rPr>
              <a:t>Field</a:t>
            </a:r>
            <a:endParaRPr lang="en-US" sz="800" dirty="0"/>
          </a:p>
        </p:txBody>
      </p:sp>
      <p:sp>
        <p:nvSpPr>
          <p:cNvPr id="16" name="Shape 14"/>
          <p:cNvSpPr/>
          <p:nvPr/>
        </p:nvSpPr>
        <p:spPr>
          <a:xfrm>
            <a:off x="7589520" y="3794760"/>
            <a:ext cx="2286000" cy="259080"/>
          </a:xfrm>
          <a:prstGeom prst="rect">
            <a:avLst/>
          </a:prstGeom>
          <a:solidFill>
            <a:srgbClr val="14213D"/>
          </a:solidFill>
          <a:ln w="12700">
            <a:solidFill>
              <a:srgbClr val="FFFFFF"/>
            </a:solidFill>
            <a:prstDash val="solid"/>
          </a:ln>
        </p:spPr>
      </p:sp>
      <p:sp>
        <p:nvSpPr>
          <p:cNvPr id="17" name="Text 15"/>
          <p:cNvSpPr/>
          <p:nvPr/>
        </p:nvSpPr>
        <p:spPr>
          <a:xfrm>
            <a:off x="7626096" y="3840480"/>
            <a:ext cx="2212848" cy="185928"/>
          </a:xfrm>
          <a:prstGeom prst="rect">
            <a:avLst/>
          </a:prstGeom>
          <a:noFill/>
          <a:ln/>
        </p:spPr>
        <p:txBody>
          <a:bodyPr wrap="square" lIns="0" tIns="0" rIns="0" bIns="0" rtlCol="0" anchor="ctr">
            <a:normAutofit/>
          </a:bodyPr>
          <a:lstStyle/>
          <a:p>
            <a:pPr indent="0" marL="0">
              <a:buNone/>
            </a:pPr>
            <a:r>
              <a:rPr lang="en-US" sz="800" b="1" dirty="0">
                <a:solidFill>
                  <a:srgbClr val="FFFFFF"/>
                </a:solidFill>
              </a:rPr>
              <a:t>Example</a:t>
            </a:r>
            <a:endParaRPr lang="en-US" sz="800" dirty="0"/>
          </a:p>
        </p:txBody>
      </p:sp>
      <p:sp>
        <p:nvSpPr>
          <p:cNvPr id="18" name="Shape 16"/>
          <p:cNvSpPr/>
          <p:nvPr/>
        </p:nvSpPr>
        <p:spPr>
          <a:xfrm>
            <a:off x="6126480" y="4053840"/>
            <a:ext cx="1463040" cy="259080"/>
          </a:xfrm>
          <a:prstGeom prst="rect">
            <a:avLst/>
          </a:prstGeom>
          <a:solidFill>
            <a:srgbClr val="FDFBF5"/>
          </a:solidFill>
          <a:ln w="12700">
            <a:solidFill>
              <a:srgbClr val="E7DFD0"/>
            </a:solidFill>
            <a:prstDash val="solid"/>
          </a:ln>
        </p:spPr>
      </p:sp>
      <p:sp>
        <p:nvSpPr>
          <p:cNvPr id="19" name="Text 17"/>
          <p:cNvSpPr/>
          <p:nvPr/>
        </p:nvSpPr>
        <p:spPr>
          <a:xfrm>
            <a:off x="6163056" y="4090416"/>
            <a:ext cx="1389888" cy="185928"/>
          </a:xfrm>
          <a:prstGeom prst="rect">
            <a:avLst/>
          </a:prstGeom>
          <a:noFill/>
          <a:ln/>
        </p:spPr>
        <p:txBody>
          <a:bodyPr wrap="square" lIns="0" tIns="0" rIns="0" bIns="0" rtlCol="0" anchor="ctr">
            <a:normAutofit/>
          </a:bodyPr>
          <a:lstStyle/>
          <a:p>
            <a:pPr indent="0" marL="0">
              <a:buNone/>
            </a:pPr>
            <a:r>
              <a:rPr lang="en-US" sz="800" dirty="0">
                <a:solidFill>
                  <a:srgbClr val="24303F"/>
                </a:solidFill>
              </a:rPr>
              <a:t>Full name</a:t>
            </a:r>
            <a:endParaRPr lang="en-US" sz="800" dirty="0"/>
          </a:p>
        </p:txBody>
      </p:sp>
      <p:sp>
        <p:nvSpPr>
          <p:cNvPr id="20" name="Shape 18"/>
          <p:cNvSpPr/>
          <p:nvPr/>
        </p:nvSpPr>
        <p:spPr>
          <a:xfrm>
            <a:off x="7589520" y="4053840"/>
            <a:ext cx="2286000" cy="259080"/>
          </a:xfrm>
          <a:prstGeom prst="rect">
            <a:avLst/>
          </a:prstGeom>
          <a:solidFill>
            <a:srgbClr val="FDFBF5"/>
          </a:solidFill>
          <a:ln w="12700">
            <a:solidFill>
              <a:srgbClr val="E7DFD0"/>
            </a:solidFill>
            <a:prstDash val="solid"/>
          </a:ln>
        </p:spPr>
      </p:sp>
      <p:sp>
        <p:nvSpPr>
          <p:cNvPr id="21" name="Text 19"/>
          <p:cNvSpPr/>
          <p:nvPr/>
        </p:nvSpPr>
        <p:spPr>
          <a:xfrm>
            <a:off x="7626096" y="4090416"/>
            <a:ext cx="2212848" cy="185928"/>
          </a:xfrm>
          <a:prstGeom prst="rect">
            <a:avLst/>
          </a:prstGeom>
          <a:noFill/>
          <a:ln/>
        </p:spPr>
        <p:txBody>
          <a:bodyPr wrap="square" lIns="0" tIns="0" rIns="0" bIns="0" rtlCol="0" anchor="ctr">
            <a:normAutofit/>
          </a:bodyPr>
          <a:lstStyle/>
          <a:p>
            <a:pPr indent="0" marL="0">
              <a:buNone/>
            </a:pPr>
            <a:r>
              <a:rPr lang="en-US" sz="800" dirty="0">
                <a:solidFill>
                  <a:srgbClr val="24303F"/>
                </a:solidFill>
              </a:rPr>
              <a:t>Amina Otieno</a:t>
            </a:r>
            <a:endParaRPr lang="en-US" sz="800" dirty="0"/>
          </a:p>
        </p:txBody>
      </p:sp>
      <p:sp>
        <p:nvSpPr>
          <p:cNvPr id="22" name="Shape 20"/>
          <p:cNvSpPr/>
          <p:nvPr/>
        </p:nvSpPr>
        <p:spPr>
          <a:xfrm>
            <a:off x="6126480" y="4312920"/>
            <a:ext cx="1463040" cy="259080"/>
          </a:xfrm>
          <a:prstGeom prst="rect">
            <a:avLst/>
          </a:prstGeom>
          <a:solidFill>
            <a:srgbClr val="FFFFFF"/>
          </a:solidFill>
          <a:ln w="12700">
            <a:solidFill>
              <a:srgbClr val="E7DFD0"/>
            </a:solidFill>
            <a:prstDash val="solid"/>
          </a:ln>
        </p:spPr>
      </p:sp>
      <p:sp>
        <p:nvSpPr>
          <p:cNvPr id="23" name="Text 21"/>
          <p:cNvSpPr/>
          <p:nvPr/>
        </p:nvSpPr>
        <p:spPr>
          <a:xfrm>
            <a:off x="6163056" y="4349496"/>
            <a:ext cx="1389888" cy="185928"/>
          </a:xfrm>
          <a:prstGeom prst="rect">
            <a:avLst/>
          </a:prstGeom>
          <a:noFill/>
          <a:ln/>
        </p:spPr>
        <p:txBody>
          <a:bodyPr wrap="square" lIns="0" tIns="0" rIns="0" bIns="0" rtlCol="0" anchor="ctr">
            <a:normAutofit/>
          </a:bodyPr>
          <a:lstStyle/>
          <a:p>
            <a:pPr indent="0" marL="0">
              <a:buNone/>
            </a:pPr>
            <a:r>
              <a:rPr lang="en-US" sz="800" dirty="0">
                <a:solidFill>
                  <a:srgbClr val="24303F"/>
                </a:solidFill>
              </a:rPr>
              <a:t>Course</a:t>
            </a:r>
            <a:endParaRPr lang="en-US" sz="800" dirty="0"/>
          </a:p>
        </p:txBody>
      </p:sp>
      <p:sp>
        <p:nvSpPr>
          <p:cNvPr id="24" name="Shape 22"/>
          <p:cNvSpPr/>
          <p:nvPr/>
        </p:nvSpPr>
        <p:spPr>
          <a:xfrm>
            <a:off x="7589520" y="4312920"/>
            <a:ext cx="2286000" cy="259080"/>
          </a:xfrm>
          <a:prstGeom prst="rect">
            <a:avLst/>
          </a:prstGeom>
          <a:solidFill>
            <a:srgbClr val="FFFFFF"/>
          </a:solidFill>
          <a:ln w="12700">
            <a:solidFill>
              <a:srgbClr val="E7DFD0"/>
            </a:solidFill>
            <a:prstDash val="solid"/>
          </a:ln>
        </p:spPr>
      </p:sp>
      <p:sp>
        <p:nvSpPr>
          <p:cNvPr id="25" name="Text 23"/>
          <p:cNvSpPr/>
          <p:nvPr/>
        </p:nvSpPr>
        <p:spPr>
          <a:xfrm>
            <a:off x="7626096" y="4349496"/>
            <a:ext cx="2212848" cy="185928"/>
          </a:xfrm>
          <a:prstGeom prst="rect">
            <a:avLst/>
          </a:prstGeom>
          <a:noFill/>
          <a:ln/>
        </p:spPr>
        <p:txBody>
          <a:bodyPr wrap="square" lIns="0" tIns="0" rIns="0" bIns="0" rtlCol="0" anchor="ctr">
            <a:normAutofit/>
          </a:bodyPr>
          <a:lstStyle/>
          <a:p>
            <a:pPr indent="0" marL="0">
              <a:buNone/>
            </a:pPr>
            <a:r>
              <a:rPr lang="en-US" sz="800" dirty="0">
                <a:solidFill>
                  <a:srgbClr val="24303F"/>
                </a:solidFill>
              </a:rPr>
              <a:t>Business Automation</a:t>
            </a:r>
            <a:endParaRPr lang="en-US" sz="800" dirty="0"/>
          </a:p>
        </p:txBody>
      </p:sp>
      <p:sp>
        <p:nvSpPr>
          <p:cNvPr id="26" name="Shape 24"/>
          <p:cNvSpPr/>
          <p:nvPr/>
        </p:nvSpPr>
        <p:spPr>
          <a:xfrm>
            <a:off x="6126480" y="4572000"/>
            <a:ext cx="1463040" cy="259080"/>
          </a:xfrm>
          <a:prstGeom prst="rect">
            <a:avLst/>
          </a:prstGeom>
          <a:solidFill>
            <a:srgbClr val="FDFBF5"/>
          </a:solidFill>
          <a:ln w="12700">
            <a:solidFill>
              <a:srgbClr val="E7DFD0"/>
            </a:solidFill>
            <a:prstDash val="solid"/>
          </a:ln>
        </p:spPr>
      </p:sp>
      <p:sp>
        <p:nvSpPr>
          <p:cNvPr id="27" name="Text 25"/>
          <p:cNvSpPr/>
          <p:nvPr/>
        </p:nvSpPr>
        <p:spPr>
          <a:xfrm>
            <a:off x="6163056" y="4608576"/>
            <a:ext cx="1389888" cy="185928"/>
          </a:xfrm>
          <a:prstGeom prst="rect">
            <a:avLst/>
          </a:prstGeom>
          <a:noFill/>
          <a:ln/>
        </p:spPr>
        <p:txBody>
          <a:bodyPr wrap="square" lIns="0" tIns="0" rIns="0" bIns="0" rtlCol="0" anchor="ctr">
            <a:normAutofit/>
          </a:bodyPr>
          <a:lstStyle/>
          <a:p>
            <a:pPr indent="0" marL="0">
              <a:buNone/>
            </a:pPr>
            <a:r>
              <a:rPr lang="en-US" sz="800" dirty="0">
                <a:solidFill>
                  <a:srgbClr val="24303F"/>
                </a:solidFill>
              </a:rPr>
              <a:t>Cohort</a:t>
            </a:r>
            <a:endParaRPr lang="en-US" sz="800" dirty="0"/>
          </a:p>
        </p:txBody>
      </p:sp>
      <p:sp>
        <p:nvSpPr>
          <p:cNvPr id="28" name="Shape 26"/>
          <p:cNvSpPr/>
          <p:nvPr/>
        </p:nvSpPr>
        <p:spPr>
          <a:xfrm>
            <a:off x="7589520" y="4572000"/>
            <a:ext cx="2286000" cy="259080"/>
          </a:xfrm>
          <a:prstGeom prst="rect">
            <a:avLst/>
          </a:prstGeom>
          <a:solidFill>
            <a:srgbClr val="FDFBF5"/>
          </a:solidFill>
          <a:ln w="12700">
            <a:solidFill>
              <a:srgbClr val="E7DFD0"/>
            </a:solidFill>
            <a:prstDash val="solid"/>
          </a:ln>
        </p:spPr>
      </p:sp>
      <p:sp>
        <p:nvSpPr>
          <p:cNvPr id="29" name="Text 27"/>
          <p:cNvSpPr/>
          <p:nvPr/>
        </p:nvSpPr>
        <p:spPr>
          <a:xfrm>
            <a:off x="7626096" y="4608576"/>
            <a:ext cx="2212848" cy="185928"/>
          </a:xfrm>
          <a:prstGeom prst="rect">
            <a:avLst/>
          </a:prstGeom>
          <a:noFill/>
          <a:ln/>
        </p:spPr>
        <p:txBody>
          <a:bodyPr wrap="square" lIns="0" tIns="0" rIns="0" bIns="0" rtlCol="0" anchor="ctr">
            <a:normAutofit/>
          </a:bodyPr>
          <a:lstStyle/>
          <a:p>
            <a:pPr indent="0" marL="0">
              <a:buNone/>
            </a:pPr>
            <a:r>
              <a:rPr lang="en-US" sz="800" dirty="0">
                <a:solidFill>
                  <a:srgbClr val="24303F"/>
                </a:solidFill>
              </a:rPr>
              <a:t>May Saturday</a:t>
            </a:r>
            <a:endParaRPr lang="en-US" sz="800" dirty="0"/>
          </a:p>
        </p:txBody>
      </p:sp>
      <p:sp>
        <p:nvSpPr>
          <p:cNvPr id="30" name="Shape 28"/>
          <p:cNvSpPr/>
          <p:nvPr/>
        </p:nvSpPr>
        <p:spPr>
          <a:xfrm>
            <a:off x="6126480" y="4831080"/>
            <a:ext cx="1463040" cy="259080"/>
          </a:xfrm>
          <a:prstGeom prst="rect">
            <a:avLst/>
          </a:prstGeom>
          <a:solidFill>
            <a:srgbClr val="FFFFFF"/>
          </a:solidFill>
          <a:ln w="12700">
            <a:solidFill>
              <a:srgbClr val="E7DFD0"/>
            </a:solidFill>
            <a:prstDash val="solid"/>
          </a:ln>
        </p:spPr>
      </p:sp>
      <p:sp>
        <p:nvSpPr>
          <p:cNvPr id="31" name="Text 29"/>
          <p:cNvSpPr/>
          <p:nvPr/>
        </p:nvSpPr>
        <p:spPr>
          <a:xfrm>
            <a:off x="6163056" y="4867656"/>
            <a:ext cx="1389888" cy="185928"/>
          </a:xfrm>
          <a:prstGeom prst="rect">
            <a:avLst/>
          </a:prstGeom>
          <a:noFill/>
          <a:ln/>
        </p:spPr>
        <p:txBody>
          <a:bodyPr wrap="square" lIns="0" tIns="0" rIns="0" bIns="0" rtlCol="0" anchor="ctr">
            <a:normAutofit/>
          </a:bodyPr>
          <a:lstStyle/>
          <a:p>
            <a:pPr indent="0" marL="0">
              <a:buNone/>
            </a:pPr>
            <a:r>
              <a:rPr lang="en-US" sz="800" dirty="0">
                <a:solidFill>
                  <a:srgbClr val="24303F"/>
                </a:solidFill>
              </a:rPr>
              <a:t>Payment status</a:t>
            </a:r>
            <a:endParaRPr lang="en-US" sz="800" dirty="0"/>
          </a:p>
        </p:txBody>
      </p:sp>
      <p:sp>
        <p:nvSpPr>
          <p:cNvPr id="32" name="Shape 30"/>
          <p:cNvSpPr/>
          <p:nvPr/>
        </p:nvSpPr>
        <p:spPr>
          <a:xfrm>
            <a:off x="7589520" y="4831080"/>
            <a:ext cx="2286000" cy="259080"/>
          </a:xfrm>
          <a:prstGeom prst="rect">
            <a:avLst/>
          </a:prstGeom>
          <a:solidFill>
            <a:srgbClr val="FFFFFF"/>
          </a:solidFill>
          <a:ln w="12700">
            <a:solidFill>
              <a:srgbClr val="E7DFD0"/>
            </a:solidFill>
            <a:prstDash val="solid"/>
          </a:ln>
        </p:spPr>
      </p:sp>
      <p:sp>
        <p:nvSpPr>
          <p:cNvPr id="33" name="Text 31"/>
          <p:cNvSpPr/>
          <p:nvPr/>
        </p:nvSpPr>
        <p:spPr>
          <a:xfrm>
            <a:off x="7626096" y="4867656"/>
            <a:ext cx="2212848" cy="185928"/>
          </a:xfrm>
          <a:prstGeom prst="rect">
            <a:avLst/>
          </a:prstGeom>
          <a:noFill/>
          <a:ln/>
        </p:spPr>
        <p:txBody>
          <a:bodyPr wrap="square" lIns="0" tIns="0" rIns="0" bIns="0" rtlCol="0" anchor="ctr">
            <a:normAutofit/>
          </a:bodyPr>
          <a:lstStyle/>
          <a:p>
            <a:pPr indent="0" marL="0">
              <a:buNone/>
            </a:pPr>
            <a:r>
              <a:rPr lang="en-US" sz="800" dirty="0">
                <a:solidFill>
                  <a:srgbClr val="24303F"/>
                </a:solidFill>
              </a:rPr>
              <a:t>Pending / Confirmed</a:t>
            </a:r>
            <a:endParaRPr lang="en-US" sz="800" dirty="0"/>
          </a:p>
        </p:txBody>
      </p:sp>
      <p:sp>
        <p:nvSpPr>
          <p:cNvPr id="34" name="Shape 32"/>
          <p:cNvSpPr/>
          <p:nvPr/>
        </p:nvSpPr>
        <p:spPr>
          <a:xfrm>
            <a:off x="6126480" y="5090160"/>
            <a:ext cx="1463040" cy="259080"/>
          </a:xfrm>
          <a:prstGeom prst="rect">
            <a:avLst/>
          </a:prstGeom>
          <a:solidFill>
            <a:srgbClr val="FDFBF5"/>
          </a:solidFill>
          <a:ln w="12700">
            <a:solidFill>
              <a:srgbClr val="E7DFD0"/>
            </a:solidFill>
            <a:prstDash val="solid"/>
          </a:ln>
        </p:spPr>
      </p:sp>
      <p:sp>
        <p:nvSpPr>
          <p:cNvPr id="35" name="Text 33"/>
          <p:cNvSpPr/>
          <p:nvPr/>
        </p:nvSpPr>
        <p:spPr>
          <a:xfrm>
            <a:off x="6163056" y="5126736"/>
            <a:ext cx="1389888" cy="185928"/>
          </a:xfrm>
          <a:prstGeom prst="rect">
            <a:avLst/>
          </a:prstGeom>
          <a:noFill/>
          <a:ln/>
        </p:spPr>
        <p:txBody>
          <a:bodyPr wrap="square" lIns="0" tIns="0" rIns="0" bIns="0" rtlCol="0" anchor="ctr">
            <a:normAutofit/>
          </a:bodyPr>
          <a:lstStyle/>
          <a:p>
            <a:pPr indent="0" marL="0">
              <a:buNone/>
            </a:pPr>
            <a:r>
              <a:rPr lang="en-US" sz="800" dirty="0">
                <a:solidFill>
                  <a:srgbClr val="24303F"/>
                </a:solidFill>
              </a:rPr>
              <a:t>Consent</a:t>
            </a:r>
            <a:endParaRPr lang="en-US" sz="800" dirty="0"/>
          </a:p>
        </p:txBody>
      </p:sp>
      <p:sp>
        <p:nvSpPr>
          <p:cNvPr id="36" name="Shape 34"/>
          <p:cNvSpPr/>
          <p:nvPr/>
        </p:nvSpPr>
        <p:spPr>
          <a:xfrm>
            <a:off x="7589520" y="5090160"/>
            <a:ext cx="2286000" cy="259080"/>
          </a:xfrm>
          <a:prstGeom prst="rect">
            <a:avLst/>
          </a:prstGeom>
          <a:solidFill>
            <a:srgbClr val="FDFBF5"/>
          </a:solidFill>
          <a:ln w="12700">
            <a:solidFill>
              <a:srgbClr val="E7DFD0"/>
            </a:solidFill>
            <a:prstDash val="solid"/>
          </a:ln>
        </p:spPr>
      </p:sp>
      <p:sp>
        <p:nvSpPr>
          <p:cNvPr id="37" name="Text 35"/>
          <p:cNvSpPr/>
          <p:nvPr/>
        </p:nvSpPr>
        <p:spPr>
          <a:xfrm>
            <a:off x="7626096" y="5126736"/>
            <a:ext cx="2212848" cy="185928"/>
          </a:xfrm>
          <a:prstGeom prst="rect">
            <a:avLst/>
          </a:prstGeom>
          <a:noFill/>
          <a:ln/>
        </p:spPr>
        <p:txBody>
          <a:bodyPr wrap="square" lIns="0" tIns="0" rIns="0" bIns="0" rtlCol="0" anchor="ctr">
            <a:normAutofit/>
          </a:bodyPr>
          <a:lstStyle/>
          <a:p>
            <a:pPr indent="0" marL="0">
              <a:buNone/>
            </a:pPr>
            <a:r>
              <a:rPr lang="en-US" sz="800" dirty="0">
                <a:solidFill>
                  <a:srgbClr val="24303F"/>
                </a:solidFill>
              </a:rPr>
              <a:t>Yes</a:t>
            </a:r>
            <a:endParaRPr lang="en-US" sz="800" dirty="0"/>
          </a:p>
        </p:txBody>
      </p:sp>
      <p:sp>
        <p:nvSpPr>
          <p:cNvPr id="38" name="Text 36"/>
          <p:cNvSpPr/>
          <p:nvPr/>
        </p:nvSpPr>
        <p:spPr>
          <a:xfrm>
            <a:off x="11384280" y="6428232"/>
            <a:ext cx="320040" cy="109728"/>
          </a:xfrm>
          <a:prstGeom prst="rect">
            <a:avLst/>
          </a:prstGeom>
          <a:noFill/>
          <a:ln/>
        </p:spPr>
        <p:txBody>
          <a:bodyPr wrap="square" lIns="0" tIns="0" rIns="0" bIns="0" rtlCol="0" anchor="ctr"/>
          <a:lstStyle/>
          <a:p>
            <a:pPr algn="r" indent="0" marL="0">
              <a:buNone/>
            </a:pPr>
            <a:r>
              <a:rPr lang="en-US" sz="700" dirty="0">
                <a:solidFill>
                  <a:srgbClr val="FFFFFF"/>
                </a:solidFill>
              </a:rPr>
              <a:t>23</a:t>
            </a:r>
            <a:endParaRPr lang="en-US" sz="7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7F3EA"/>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4213D"/>
          </a:solidFill>
          <a:ln w="12700">
            <a:solidFill>
              <a:srgbClr val="14213D">
                <a:alpha val="0"/>
              </a:srgbClr>
            </a:solidFill>
            <a:prstDash val="solid"/>
          </a:ln>
        </p:spPr>
      </p:sp>
      <p:sp>
        <p:nvSpPr>
          <p:cNvPr id="3" name="Shape 1"/>
          <p:cNvSpPr/>
          <p:nvPr/>
        </p:nvSpPr>
        <p:spPr>
          <a:xfrm>
            <a:off x="0" y="6693408"/>
            <a:ext cx="12191695" cy="164592"/>
          </a:xfrm>
          <a:prstGeom prst="rect">
            <a:avLst/>
          </a:prstGeom>
          <a:solidFill>
            <a:srgbClr val="14213D"/>
          </a:solidFill>
          <a:ln w="12700">
            <a:solidFill>
              <a:srgbClr val="14213D">
                <a:alpha val="0"/>
              </a:srgbClr>
            </a:solidFill>
            <a:prstDash val="solid"/>
          </a:ln>
        </p:spPr>
      </p:sp>
      <p:sp>
        <p:nvSpPr>
          <p:cNvPr id="4" name="Text 2"/>
          <p:cNvSpPr/>
          <p:nvPr/>
        </p:nvSpPr>
        <p:spPr>
          <a:xfrm>
            <a:off x="502920" y="256032"/>
            <a:ext cx="4480560" cy="164592"/>
          </a:xfrm>
          <a:prstGeom prst="rect">
            <a:avLst/>
          </a:prstGeom>
          <a:noFill/>
          <a:ln/>
        </p:spPr>
        <p:txBody>
          <a:bodyPr wrap="square" lIns="0" tIns="0" rIns="0" bIns="0" rtlCol="0" anchor="ctr"/>
          <a:lstStyle/>
          <a:p>
            <a:pPr indent="0" marL="0">
              <a:buNone/>
            </a:pPr>
            <a:r>
              <a:rPr lang="en-US" sz="700" b="1" dirty="0">
                <a:solidFill>
                  <a:srgbClr val="2A9D8F"/>
                </a:solidFill>
                <a:latin typeface="Aptos" pitchFamily="34" charset="0"/>
                <a:ea typeface="Aptos" pitchFamily="34" charset="-122"/>
                <a:cs typeface="Aptos" pitchFamily="34" charset="-120"/>
              </a:rPr>
              <a:t>SECTION 3</a:t>
            </a:r>
            <a:endParaRPr lang="en-US" sz="700" dirty="0"/>
          </a:p>
        </p:txBody>
      </p:sp>
      <p:sp>
        <p:nvSpPr>
          <p:cNvPr id="5" name="Text 3"/>
          <p:cNvSpPr/>
          <p:nvPr/>
        </p:nvSpPr>
        <p:spPr>
          <a:xfrm>
            <a:off x="9281160" y="219456"/>
            <a:ext cx="2423160" cy="182880"/>
          </a:xfrm>
          <a:prstGeom prst="rect">
            <a:avLst/>
          </a:prstGeom>
          <a:noFill/>
          <a:ln/>
        </p:spPr>
        <p:txBody>
          <a:bodyPr wrap="square" lIns="0" tIns="0" rIns="0" bIns="0" rtlCol="0" anchor="ctr"/>
          <a:lstStyle/>
          <a:p>
            <a:pPr algn="r" indent="0" marL="0">
              <a:buNone/>
            </a:pPr>
            <a:r>
              <a:rPr lang="en-US" sz="700" dirty="0">
                <a:solidFill>
                  <a:srgbClr val="6D7886"/>
                </a:solidFill>
              </a:rPr>
              <a:t>Jifunze.ai skill booster</a:t>
            </a:r>
            <a:endParaRPr lang="en-US" sz="700" dirty="0"/>
          </a:p>
        </p:txBody>
      </p:sp>
      <p:sp>
        <p:nvSpPr>
          <p:cNvPr id="6" name="Text 4"/>
          <p:cNvSpPr/>
          <p:nvPr/>
        </p:nvSpPr>
        <p:spPr>
          <a:xfrm>
            <a:off x="502920" y="502920"/>
            <a:ext cx="4617720" cy="475488"/>
          </a:xfrm>
          <a:prstGeom prst="rect">
            <a:avLst/>
          </a:prstGeom>
          <a:noFill/>
          <a:ln/>
        </p:spPr>
        <p:txBody>
          <a:bodyPr wrap="square" lIns="127" tIns="127" rIns="127" bIns="127" rtlCol="0" anchor="ctr">
            <a:normAutofit/>
          </a:bodyPr>
          <a:lstStyle/>
          <a:p>
            <a:pPr indent="0" marL="0">
              <a:buNone/>
            </a:pPr>
            <a:r>
              <a:rPr lang="en-US" sz="2500" b="1" dirty="0">
                <a:solidFill>
                  <a:srgbClr val="14213D"/>
                </a:solidFill>
                <a:latin typeface="Aptos Display" pitchFamily="34" charset="0"/>
                <a:ea typeface="Aptos Display" pitchFamily="34" charset="-122"/>
                <a:cs typeface="Aptos Display" pitchFamily="34" charset="-120"/>
              </a:rPr>
              <a:t>Exception handling and escalation</a:t>
            </a:r>
            <a:endParaRPr lang="en-US" sz="2500" dirty="0"/>
          </a:p>
        </p:txBody>
      </p:sp>
      <p:sp>
        <p:nvSpPr>
          <p:cNvPr id="7" name="Text 5"/>
          <p:cNvSpPr/>
          <p:nvPr/>
        </p:nvSpPr>
        <p:spPr>
          <a:xfrm>
            <a:off x="521208" y="1005840"/>
            <a:ext cx="4617720" cy="228600"/>
          </a:xfrm>
          <a:prstGeom prst="rect">
            <a:avLst/>
          </a:prstGeom>
          <a:noFill/>
          <a:ln/>
        </p:spPr>
        <p:txBody>
          <a:bodyPr wrap="square" lIns="0" tIns="0" rIns="0" bIns="0" rtlCol="0" anchor="ctr">
            <a:normAutofit/>
          </a:bodyPr>
          <a:lstStyle/>
          <a:p>
            <a:pPr indent="0" marL="0">
              <a:buNone/>
            </a:pPr>
            <a:r>
              <a:rPr lang="en-US" sz="1080" dirty="0">
                <a:solidFill>
                  <a:srgbClr val="24303F"/>
                </a:solidFill>
              </a:rPr>
              <a:t>Automation must know when to stop</a:t>
            </a:r>
            <a:endParaRPr lang="en-US" sz="1080" dirty="0"/>
          </a:p>
        </p:txBody>
      </p:sp>
      <p:sp>
        <p:nvSpPr>
          <p:cNvPr id="8" name="Text 6"/>
          <p:cNvSpPr/>
          <p:nvPr/>
        </p:nvSpPr>
        <p:spPr>
          <a:xfrm>
            <a:off x="594360" y="1417320"/>
            <a:ext cx="4617720" cy="4343400"/>
          </a:xfrm>
          <a:prstGeom prst="rect">
            <a:avLst/>
          </a:prstGeom>
          <a:noFill/>
          <a:ln/>
        </p:spPr>
        <p:txBody>
          <a:bodyPr wrap="square" lIns="635" tIns="635" rIns="635" bIns="635" rtlCol="0" anchor="ctr">
            <a:normAutofit/>
          </a:bodyPr>
          <a:lstStyle/>
          <a:p>
            <a:r>
              <a:rPr lang="en-US" sz="1450" dirty="0">
                <a:solidFill>
                  <a:srgbClr val="24303F"/>
                </a:solidFill>
              </a:rPr>
              <a:t>• Create clear exception categories</a:t>
            </a:r>
            <a:endParaRPr lang="en-US" sz="1450" dirty="0"/>
          </a:p>
          <a:p>
            <a:r>
              <a:rPr lang="en-US" sz="1450" dirty="0">
                <a:solidFill>
                  <a:srgbClr val="24303F"/>
                </a:solidFill>
              </a:rPr>
              <a:t>• Assign an owner for each exception</a:t>
            </a:r>
            <a:endParaRPr lang="en-US" sz="1450" dirty="0"/>
          </a:p>
          <a:p>
            <a:r>
              <a:rPr lang="en-US" sz="1450" dirty="0">
                <a:solidFill>
                  <a:srgbClr val="24303F"/>
                </a:solidFill>
              </a:rPr>
              <a:t>• Track unresolved exceptions daily during pilot</a:t>
            </a:r>
            <a:endParaRPr lang="en-US" sz="1450" dirty="0"/>
          </a:p>
          <a:p>
            <a:r>
              <a:rPr lang="en-US" sz="1450" dirty="0">
                <a:solidFill>
                  <a:srgbClr val="24303F"/>
                </a:solidFill>
              </a:rPr>
              <a:t>• Do not hide exceptions in inboxes</a:t>
            </a:r>
            <a:endParaRPr lang="en-US" sz="1450" dirty="0"/>
          </a:p>
          <a:p>
            <a:r>
              <a:rPr lang="en-US" sz="1450" dirty="0">
                <a:solidFill>
                  <a:srgbClr val="24303F"/>
                </a:solidFill>
              </a:rPr>
              <a:t>• Use manual fallback for urgent cases</a:t>
            </a:r>
            <a:endParaRPr lang="en-US" sz="1450" dirty="0"/>
          </a:p>
        </p:txBody>
      </p:sp>
      <p:sp>
        <p:nvSpPr>
          <p:cNvPr id="9" name="Shape 7"/>
          <p:cNvSpPr/>
          <p:nvPr/>
        </p:nvSpPr>
        <p:spPr>
          <a:xfrm>
            <a:off x="5623560" y="1645920"/>
            <a:ext cx="1325880" cy="493776"/>
          </a:xfrm>
          <a:prstGeom prst="roundRect">
            <a:avLst>
              <a:gd name="adj" fmla="val 14815"/>
            </a:avLst>
          </a:prstGeom>
          <a:solidFill>
            <a:srgbClr val="FFFFFF"/>
          </a:solidFill>
          <a:ln w="12700">
            <a:solidFill>
              <a:srgbClr val="C9A44C"/>
            </a:solidFill>
            <a:prstDash val="solid"/>
          </a:ln>
        </p:spPr>
      </p:sp>
      <p:sp>
        <p:nvSpPr>
          <p:cNvPr id="10" name="Text 8"/>
          <p:cNvSpPr/>
          <p:nvPr/>
        </p:nvSpPr>
        <p:spPr>
          <a:xfrm>
            <a:off x="5733288" y="1737360"/>
            <a:ext cx="1106424" cy="329184"/>
          </a:xfrm>
          <a:prstGeom prst="rect">
            <a:avLst/>
          </a:prstGeom>
          <a:noFill/>
          <a:ln/>
        </p:spPr>
        <p:txBody>
          <a:bodyPr wrap="square" lIns="127" tIns="127" rIns="127" bIns="127" rtlCol="0" anchor="ctr">
            <a:normAutofit/>
          </a:bodyPr>
          <a:lstStyle/>
          <a:p>
            <a:pPr indent="0" marL="0">
              <a:buNone/>
            </a:pPr>
            <a:r>
              <a:rPr lang="en-US" sz="760" b="1" dirty="0">
                <a:solidFill>
                  <a:srgbClr val="24303F"/>
                </a:solidFill>
              </a:rPr>
              <a:t>Normal path</a:t>
            </a:r>
            <a:endParaRPr lang="en-US" sz="760" dirty="0"/>
          </a:p>
        </p:txBody>
      </p:sp>
      <p:sp>
        <p:nvSpPr>
          <p:cNvPr id="11" name="Shape 9"/>
          <p:cNvSpPr/>
          <p:nvPr/>
        </p:nvSpPr>
        <p:spPr>
          <a:xfrm>
            <a:off x="6949440" y="1892808"/>
            <a:ext cx="109728" cy="0"/>
          </a:xfrm>
          <a:prstGeom prst="line">
            <a:avLst/>
          </a:prstGeom>
          <a:noFill/>
          <a:ln w="12700">
            <a:solidFill>
              <a:srgbClr val="2A9D8F"/>
            </a:solidFill>
            <a:prstDash val="solid"/>
            <a:headEnd type="none"/>
            <a:tailEnd type="triangle"/>
          </a:ln>
        </p:spPr>
      </p:sp>
      <p:sp>
        <p:nvSpPr>
          <p:cNvPr id="12" name="Shape 10"/>
          <p:cNvSpPr/>
          <p:nvPr/>
        </p:nvSpPr>
        <p:spPr>
          <a:xfrm>
            <a:off x="7095744" y="1645920"/>
            <a:ext cx="1325880" cy="493776"/>
          </a:xfrm>
          <a:prstGeom prst="roundRect">
            <a:avLst>
              <a:gd name="adj" fmla="val 14815"/>
            </a:avLst>
          </a:prstGeom>
          <a:solidFill>
            <a:srgbClr val="FFFFFF"/>
          </a:solidFill>
          <a:ln w="12700">
            <a:solidFill>
              <a:srgbClr val="C9A44C"/>
            </a:solidFill>
            <a:prstDash val="solid"/>
          </a:ln>
        </p:spPr>
      </p:sp>
      <p:sp>
        <p:nvSpPr>
          <p:cNvPr id="13" name="Text 11"/>
          <p:cNvSpPr/>
          <p:nvPr/>
        </p:nvSpPr>
        <p:spPr>
          <a:xfrm>
            <a:off x="7205472" y="1737360"/>
            <a:ext cx="1106424" cy="329184"/>
          </a:xfrm>
          <a:prstGeom prst="rect">
            <a:avLst/>
          </a:prstGeom>
          <a:noFill/>
          <a:ln/>
        </p:spPr>
        <p:txBody>
          <a:bodyPr wrap="square" lIns="127" tIns="127" rIns="127" bIns="127" rtlCol="0" anchor="ctr">
            <a:normAutofit/>
          </a:bodyPr>
          <a:lstStyle/>
          <a:p>
            <a:pPr indent="0" marL="0">
              <a:buNone/>
            </a:pPr>
            <a:r>
              <a:rPr lang="en-US" sz="760" b="1" dirty="0">
                <a:solidFill>
                  <a:srgbClr val="24303F"/>
                </a:solidFill>
              </a:rPr>
              <a:t>Automate</a:t>
            </a:r>
            <a:endParaRPr lang="en-US" sz="760" dirty="0"/>
          </a:p>
        </p:txBody>
      </p:sp>
      <p:sp>
        <p:nvSpPr>
          <p:cNvPr id="14" name="Shape 12"/>
          <p:cNvSpPr/>
          <p:nvPr/>
        </p:nvSpPr>
        <p:spPr>
          <a:xfrm>
            <a:off x="8421624" y="1892808"/>
            <a:ext cx="109728" cy="0"/>
          </a:xfrm>
          <a:prstGeom prst="line">
            <a:avLst/>
          </a:prstGeom>
          <a:noFill/>
          <a:ln w="12700">
            <a:solidFill>
              <a:srgbClr val="2A9D8F"/>
            </a:solidFill>
            <a:prstDash val="solid"/>
            <a:headEnd type="none"/>
            <a:tailEnd type="triangle"/>
          </a:ln>
        </p:spPr>
      </p:sp>
      <p:sp>
        <p:nvSpPr>
          <p:cNvPr id="15" name="Shape 13"/>
          <p:cNvSpPr/>
          <p:nvPr/>
        </p:nvSpPr>
        <p:spPr>
          <a:xfrm>
            <a:off x="8567928" y="1645920"/>
            <a:ext cx="1325880" cy="493776"/>
          </a:xfrm>
          <a:prstGeom prst="roundRect">
            <a:avLst>
              <a:gd name="adj" fmla="val 14815"/>
            </a:avLst>
          </a:prstGeom>
          <a:solidFill>
            <a:srgbClr val="FFFFFF"/>
          </a:solidFill>
          <a:ln w="12700">
            <a:solidFill>
              <a:srgbClr val="C9A44C"/>
            </a:solidFill>
            <a:prstDash val="solid"/>
          </a:ln>
        </p:spPr>
      </p:sp>
      <p:sp>
        <p:nvSpPr>
          <p:cNvPr id="16" name="Text 14"/>
          <p:cNvSpPr/>
          <p:nvPr/>
        </p:nvSpPr>
        <p:spPr>
          <a:xfrm>
            <a:off x="8677656" y="1737360"/>
            <a:ext cx="1106424" cy="329184"/>
          </a:xfrm>
          <a:prstGeom prst="rect">
            <a:avLst/>
          </a:prstGeom>
          <a:noFill/>
          <a:ln/>
        </p:spPr>
        <p:txBody>
          <a:bodyPr wrap="square" lIns="127" tIns="127" rIns="127" bIns="127" rtlCol="0" anchor="ctr">
            <a:normAutofit/>
          </a:bodyPr>
          <a:lstStyle/>
          <a:p>
            <a:pPr indent="0" marL="0">
              <a:buNone/>
            </a:pPr>
            <a:r>
              <a:rPr lang="en-US" sz="760" b="1" dirty="0">
                <a:solidFill>
                  <a:srgbClr val="24303F"/>
                </a:solidFill>
              </a:rPr>
              <a:t>Log status</a:t>
            </a:r>
            <a:endParaRPr lang="en-US" sz="760" dirty="0"/>
          </a:p>
        </p:txBody>
      </p:sp>
      <p:sp>
        <p:nvSpPr>
          <p:cNvPr id="17" name="Shape 15"/>
          <p:cNvSpPr/>
          <p:nvPr/>
        </p:nvSpPr>
        <p:spPr>
          <a:xfrm>
            <a:off x="9893808" y="1892808"/>
            <a:ext cx="109728" cy="0"/>
          </a:xfrm>
          <a:prstGeom prst="line">
            <a:avLst/>
          </a:prstGeom>
          <a:noFill/>
          <a:ln w="12700">
            <a:solidFill>
              <a:srgbClr val="2A9D8F"/>
            </a:solidFill>
            <a:prstDash val="solid"/>
            <a:headEnd type="none"/>
            <a:tailEnd type="triangle"/>
          </a:ln>
        </p:spPr>
      </p:sp>
      <p:sp>
        <p:nvSpPr>
          <p:cNvPr id="18" name="Shape 16"/>
          <p:cNvSpPr/>
          <p:nvPr/>
        </p:nvSpPr>
        <p:spPr>
          <a:xfrm>
            <a:off x="10040112" y="1645920"/>
            <a:ext cx="1325880" cy="493776"/>
          </a:xfrm>
          <a:prstGeom prst="roundRect">
            <a:avLst>
              <a:gd name="adj" fmla="val 14815"/>
            </a:avLst>
          </a:prstGeom>
          <a:solidFill>
            <a:srgbClr val="FFFFFF"/>
          </a:solidFill>
          <a:ln w="12700">
            <a:solidFill>
              <a:srgbClr val="C9A44C"/>
            </a:solidFill>
            <a:prstDash val="solid"/>
          </a:ln>
        </p:spPr>
      </p:sp>
      <p:sp>
        <p:nvSpPr>
          <p:cNvPr id="19" name="Text 17"/>
          <p:cNvSpPr/>
          <p:nvPr/>
        </p:nvSpPr>
        <p:spPr>
          <a:xfrm>
            <a:off x="10149840" y="1737360"/>
            <a:ext cx="1106424" cy="329184"/>
          </a:xfrm>
          <a:prstGeom prst="rect">
            <a:avLst/>
          </a:prstGeom>
          <a:noFill/>
          <a:ln/>
        </p:spPr>
        <p:txBody>
          <a:bodyPr wrap="square" lIns="127" tIns="127" rIns="127" bIns="127" rtlCol="0" anchor="ctr">
            <a:normAutofit/>
          </a:bodyPr>
          <a:lstStyle/>
          <a:p>
            <a:pPr indent="0" marL="0">
              <a:buNone/>
            </a:pPr>
            <a:r>
              <a:rPr lang="en-US" sz="760" b="1" dirty="0">
                <a:solidFill>
                  <a:srgbClr val="24303F"/>
                </a:solidFill>
              </a:rPr>
              <a:t>Complete</a:t>
            </a:r>
            <a:endParaRPr lang="en-US" sz="760" dirty="0"/>
          </a:p>
        </p:txBody>
      </p:sp>
      <p:sp>
        <p:nvSpPr>
          <p:cNvPr id="20" name="Shape 18"/>
          <p:cNvSpPr/>
          <p:nvPr/>
        </p:nvSpPr>
        <p:spPr>
          <a:xfrm>
            <a:off x="5623560" y="2880360"/>
            <a:ext cx="1325880" cy="493776"/>
          </a:xfrm>
          <a:prstGeom prst="roundRect">
            <a:avLst>
              <a:gd name="adj" fmla="val 14815"/>
            </a:avLst>
          </a:prstGeom>
          <a:solidFill>
            <a:srgbClr val="FFFFFF"/>
          </a:solidFill>
          <a:ln w="12700">
            <a:solidFill>
              <a:srgbClr val="C9A44C"/>
            </a:solidFill>
            <a:prstDash val="solid"/>
          </a:ln>
        </p:spPr>
      </p:sp>
      <p:sp>
        <p:nvSpPr>
          <p:cNvPr id="21" name="Text 19"/>
          <p:cNvSpPr/>
          <p:nvPr/>
        </p:nvSpPr>
        <p:spPr>
          <a:xfrm>
            <a:off x="5733288" y="2971800"/>
            <a:ext cx="1106424" cy="329184"/>
          </a:xfrm>
          <a:prstGeom prst="rect">
            <a:avLst/>
          </a:prstGeom>
          <a:noFill/>
          <a:ln/>
        </p:spPr>
        <p:txBody>
          <a:bodyPr wrap="square" lIns="127" tIns="127" rIns="127" bIns="127" rtlCol="0" anchor="ctr">
            <a:normAutofit/>
          </a:bodyPr>
          <a:lstStyle/>
          <a:p>
            <a:pPr indent="0" marL="0">
              <a:buNone/>
            </a:pPr>
            <a:r>
              <a:rPr lang="en-US" sz="760" b="1" dirty="0">
                <a:solidFill>
                  <a:srgbClr val="24303F"/>
                </a:solidFill>
              </a:rPr>
              <a:t>Exception</a:t>
            </a:r>
            <a:endParaRPr lang="en-US" sz="760" dirty="0"/>
          </a:p>
        </p:txBody>
      </p:sp>
      <p:sp>
        <p:nvSpPr>
          <p:cNvPr id="22" name="Shape 20"/>
          <p:cNvSpPr/>
          <p:nvPr/>
        </p:nvSpPr>
        <p:spPr>
          <a:xfrm>
            <a:off x="6949440" y="3127248"/>
            <a:ext cx="109728" cy="0"/>
          </a:xfrm>
          <a:prstGeom prst="line">
            <a:avLst/>
          </a:prstGeom>
          <a:noFill/>
          <a:ln w="12700">
            <a:solidFill>
              <a:srgbClr val="2A9D8F"/>
            </a:solidFill>
            <a:prstDash val="solid"/>
            <a:headEnd type="none"/>
            <a:tailEnd type="triangle"/>
          </a:ln>
        </p:spPr>
      </p:sp>
      <p:sp>
        <p:nvSpPr>
          <p:cNvPr id="23" name="Shape 21"/>
          <p:cNvSpPr/>
          <p:nvPr/>
        </p:nvSpPr>
        <p:spPr>
          <a:xfrm>
            <a:off x="7095744" y="2880360"/>
            <a:ext cx="1325880" cy="493776"/>
          </a:xfrm>
          <a:prstGeom prst="roundRect">
            <a:avLst>
              <a:gd name="adj" fmla="val 14815"/>
            </a:avLst>
          </a:prstGeom>
          <a:solidFill>
            <a:srgbClr val="FFFFFF"/>
          </a:solidFill>
          <a:ln w="12700">
            <a:solidFill>
              <a:srgbClr val="C9A44C"/>
            </a:solidFill>
            <a:prstDash val="solid"/>
          </a:ln>
        </p:spPr>
      </p:sp>
      <p:sp>
        <p:nvSpPr>
          <p:cNvPr id="24" name="Text 22"/>
          <p:cNvSpPr/>
          <p:nvPr/>
        </p:nvSpPr>
        <p:spPr>
          <a:xfrm>
            <a:off x="7205472" y="2971800"/>
            <a:ext cx="1106424" cy="329184"/>
          </a:xfrm>
          <a:prstGeom prst="rect">
            <a:avLst/>
          </a:prstGeom>
          <a:noFill/>
          <a:ln/>
        </p:spPr>
        <p:txBody>
          <a:bodyPr wrap="square" lIns="127" tIns="127" rIns="127" bIns="127" rtlCol="0" anchor="ctr">
            <a:normAutofit/>
          </a:bodyPr>
          <a:lstStyle/>
          <a:p>
            <a:pPr indent="0" marL="0">
              <a:buNone/>
            </a:pPr>
            <a:r>
              <a:rPr lang="en-US" sz="760" b="1" dirty="0">
                <a:solidFill>
                  <a:srgbClr val="24303F"/>
                </a:solidFill>
              </a:rPr>
              <a:t>Route owner</a:t>
            </a:r>
            <a:endParaRPr lang="en-US" sz="760" dirty="0"/>
          </a:p>
        </p:txBody>
      </p:sp>
      <p:sp>
        <p:nvSpPr>
          <p:cNvPr id="25" name="Shape 23"/>
          <p:cNvSpPr/>
          <p:nvPr/>
        </p:nvSpPr>
        <p:spPr>
          <a:xfrm>
            <a:off x="8421624" y="3127248"/>
            <a:ext cx="109728" cy="0"/>
          </a:xfrm>
          <a:prstGeom prst="line">
            <a:avLst/>
          </a:prstGeom>
          <a:noFill/>
          <a:ln w="12700">
            <a:solidFill>
              <a:srgbClr val="2A9D8F"/>
            </a:solidFill>
            <a:prstDash val="solid"/>
            <a:headEnd type="none"/>
            <a:tailEnd type="triangle"/>
          </a:ln>
        </p:spPr>
      </p:sp>
      <p:sp>
        <p:nvSpPr>
          <p:cNvPr id="26" name="Shape 24"/>
          <p:cNvSpPr/>
          <p:nvPr/>
        </p:nvSpPr>
        <p:spPr>
          <a:xfrm>
            <a:off x="8567928" y="2880360"/>
            <a:ext cx="1325880" cy="493776"/>
          </a:xfrm>
          <a:prstGeom prst="roundRect">
            <a:avLst>
              <a:gd name="adj" fmla="val 14815"/>
            </a:avLst>
          </a:prstGeom>
          <a:solidFill>
            <a:srgbClr val="FFFFFF"/>
          </a:solidFill>
          <a:ln w="12700">
            <a:solidFill>
              <a:srgbClr val="C9A44C"/>
            </a:solidFill>
            <a:prstDash val="solid"/>
          </a:ln>
        </p:spPr>
      </p:sp>
      <p:sp>
        <p:nvSpPr>
          <p:cNvPr id="27" name="Text 25"/>
          <p:cNvSpPr/>
          <p:nvPr/>
        </p:nvSpPr>
        <p:spPr>
          <a:xfrm>
            <a:off x="8677656" y="2971800"/>
            <a:ext cx="1106424" cy="329184"/>
          </a:xfrm>
          <a:prstGeom prst="rect">
            <a:avLst/>
          </a:prstGeom>
          <a:noFill/>
          <a:ln/>
        </p:spPr>
        <p:txBody>
          <a:bodyPr wrap="square" lIns="127" tIns="127" rIns="127" bIns="127" rtlCol="0" anchor="ctr">
            <a:normAutofit/>
          </a:bodyPr>
          <a:lstStyle/>
          <a:p>
            <a:pPr indent="0" marL="0">
              <a:buNone/>
            </a:pPr>
            <a:r>
              <a:rPr lang="en-US" sz="760" b="1" dirty="0">
                <a:solidFill>
                  <a:srgbClr val="24303F"/>
                </a:solidFill>
              </a:rPr>
              <a:t>Review</a:t>
            </a:r>
            <a:endParaRPr lang="en-US" sz="760" dirty="0"/>
          </a:p>
        </p:txBody>
      </p:sp>
      <p:sp>
        <p:nvSpPr>
          <p:cNvPr id="28" name="Shape 26"/>
          <p:cNvSpPr/>
          <p:nvPr/>
        </p:nvSpPr>
        <p:spPr>
          <a:xfrm>
            <a:off x="9893808" y="3127248"/>
            <a:ext cx="109728" cy="0"/>
          </a:xfrm>
          <a:prstGeom prst="line">
            <a:avLst/>
          </a:prstGeom>
          <a:noFill/>
          <a:ln w="12700">
            <a:solidFill>
              <a:srgbClr val="2A9D8F"/>
            </a:solidFill>
            <a:prstDash val="solid"/>
            <a:headEnd type="none"/>
            <a:tailEnd type="triangle"/>
          </a:ln>
        </p:spPr>
      </p:sp>
      <p:sp>
        <p:nvSpPr>
          <p:cNvPr id="29" name="Shape 27"/>
          <p:cNvSpPr/>
          <p:nvPr/>
        </p:nvSpPr>
        <p:spPr>
          <a:xfrm>
            <a:off x="10040112" y="2880360"/>
            <a:ext cx="1325880" cy="493776"/>
          </a:xfrm>
          <a:prstGeom prst="roundRect">
            <a:avLst>
              <a:gd name="adj" fmla="val 14815"/>
            </a:avLst>
          </a:prstGeom>
          <a:solidFill>
            <a:srgbClr val="FFFFFF"/>
          </a:solidFill>
          <a:ln w="12700">
            <a:solidFill>
              <a:srgbClr val="C9A44C"/>
            </a:solidFill>
            <a:prstDash val="solid"/>
          </a:ln>
        </p:spPr>
      </p:sp>
      <p:sp>
        <p:nvSpPr>
          <p:cNvPr id="30" name="Text 28"/>
          <p:cNvSpPr/>
          <p:nvPr/>
        </p:nvSpPr>
        <p:spPr>
          <a:xfrm>
            <a:off x="10149840" y="2971800"/>
            <a:ext cx="1106424" cy="329184"/>
          </a:xfrm>
          <a:prstGeom prst="rect">
            <a:avLst/>
          </a:prstGeom>
          <a:noFill/>
          <a:ln/>
        </p:spPr>
        <p:txBody>
          <a:bodyPr wrap="square" lIns="127" tIns="127" rIns="127" bIns="127" rtlCol="0" anchor="ctr">
            <a:normAutofit/>
          </a:bodyPr>
          <a:lstStyle/>
          <a:p>
            <a:pPr indent="0" marL="0">
              <a:buNone/>
            </a:pPr>
            <a:r>
              <a:rPr lang="en-US" sz="760" b="1" dirty="0">
                <a:solidFill>
                  <a:srgbClr val="24303F"/>
                </a:solidFill>
              </a:rPr>
              <a:t>Resolve</a:t>
            </a:r>
            <a:endParaRPr lang="en-US" sz="760" dirty="0"/>
          </a:p>
        </p:txBody>
      </p:sp>
      <p:sp>
        <p:nvSpPr>
          <p:cNvPr id="31" name="Shape 29"/>
          <p:cNvSpPr/>
          <p:nvPr/>
        </p:nvSpPr>
        <p:spPr>
          <a:xfrm>
            <a:off x="5715000" y="4389120"/>
            <a:ext cx="5212080" cy="685800"/>
          </a:xfrm>
          <a:prstGeom prst="roundRect">
            <a:avLst>
              <a:gd name="adj" fmla="val 10667"/>
            </a:avLst>
          </a:prstGeom>
          <a:solidFill>
            <a:srgbClr val="FDFBF5"/>
          </a:solidFill>
          <a:ln w="12700">
            <a:solidFill>
              <a:srgbClr val="C9A44C"/>
            </a:solidFill>
            <a:prstDash val="solid"/>
          </a:ln>
        </p:spPr>
      </p:sp>
      <p:sp>
        <p:nvSpPr>
          <p:cNvPr id="32" name="Text 30"/>
          <p:cNvSpPr/>
          <p:nvPr/>
        </p:nvSpPr>
        <p:spPr>
          <a:xfrm>
            <a:off x="5824728" y="4480560"/>
            <a:ext cx="4992624" cy="521208"/>
          </a:xfrm>
          <a:prstGeom prst="rect">
            <a:avLst/>
          </a:prstGeom>
          <a:noFill/>
          <a:ln/>
        </p:spPr>
        <p:txBody>
          <a:bodyPr wrap="square" lIns="127" tIns="127" rIns="127" bIns="127" rtlCol="0" anchor="ctr">
            <a:normAutofit/>
          </a:bodyPr>
          <a:lstStyle/>
          <a:p>
            <a:pPr indent="0" marL="0">
              <a:buNone/>
            </a:pPr>
            <a:r>
              <a:rPr lang="en-US" sz="1300" b="1" dirty="0">
                <a:solidFill>
                  <a:srgbClr val="24303F"/>
                </a:solidFill>
              </a:rPr>
              <a:t>Examples: duplicate payment screenshot, wrong course selected, missing email, attendance mismatch.</a:t>
            </a:r>
            <a:endParaRPr lang="en-US" sz="1300" dirty="0"/>
          </a:p>
        </p:txBody>
      </p:sp>
      <p:sp>
        <p:nvSpPr>
          <p:cNvPr id="33" name="Text 31"/>
          <p:cNvSpPr/>
          <p:nvPr/>
        </p:nvSpPr>
        <p:spPr>
          <a:xfrm>
            <a:off x="11384280" y="6428232"/>
            <a:ext cx="320040" cy="109728"/>
          </a:xfrm>
          <a:prstGeom prst="rect">
            <a:avLst/>
          </a:prstGeom>
          <a:noFill/>
          <a:ln/>
        </p:spPr>
        <p:txBody>
          <a:bodyPr wrap="square" lIns="0" tIns="0" rIns="0" bIns="0" rtlCol="0" anchor="ctr"/>
          <a:lstStyle/>
          <a:p>
            <a:pPr algn="r" indent="0" marL="0">
              <a:buNone/>
            </a:pPr>
            <a:r>
              <a:rPr lang="en-US" sz="700" dirty="0">
                <a:solidFill>
                  <a:srgbClr val="FFFFFF"/>
                </a:solidFill>
              </a:rPr>
              <a:t>24</a:t>
            </a:r>
            <a:endParaRPr lang="en-US" sz="7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7F3EA"/>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4213D"/>
          </a:solidFill>
          <a:ln w="12700">
            <a:solidFill>
              <a:srgbClr val="14213D">
                <a:alpha val="0"/>
              </a:srgbClr>
            </a:solidFill>
            <a:prstDash val="solid"/>
          </a:ln>
        </p:spPr>
      </p:sp>
      <p:sp>
        <p:nvSpPr>
          <p:cNvPr id="3" name="Shape 1"/>
          <p:cNvSpPr/>
          <p:nvPr/>
        </p:nvSpPr>
        <p:spPr>
          <a:xfrm>
            <a:off x="0" y="6693408"/>
            <a:ext cx="12191695" cy="164592"/>
          </a:xfrm>
          <a:prstGeom prst="rect">
            <a:avLst/>
          </a:prstGeom>
          <a:solidFill>
            <a:srgbClr val="14213D"/>
          </a:solidFill>
          <a:ln w="12700">
            <a:solidFill>
              <a:srgbClr val="14213D">
                <a:alpha val="0"/>
              </a:srgbClr>
            </a:solidFill>
            <a:prstDash val="solid"/>
          </a:ln>
        </p:spPr>
      </p:sp>
      <p:sp>
        <p:nvSpPr>
          <p:cNvPr id="4" name="Text 2"/>
          <p:cNvSpPr/>
          <p:nvPr/>
        </p:nvSpPr>
        <p:spPr>
          <a:xfrm>
            <a:off x="502920" y="256032"/>
            <a:ext cx="4480560" cy="164592"/>
          </a:xfrm>
          <a:prstGeom prst="rect">
            <a:avLst/>
          </a:prstGeom>
          <a:noFill/>
          <a:ln/>
        </p:spPr>
        <p:txBody>
          <a:bodyPr wrap="square" lIns="0" tIns="0" rIns="0" bIns="0" rtlCol="0" anchor="ctr"/>
          <a:lstStyle/>
          <a:p>
            <a:pPr indent="0" marL="0">
              <a:buNone/>
            </a:pPr>
            <a:r>
              <a:rPr lang="en-US" sz="700" b="1" dirty="0">
                <a:solidFill>
                  <a:srgbClr val="2A9D8F"/>
                </a:solidFill>
                <a:latin typeface="Aptos" pitchFamily="34" charset="0"/>
                <a:ea typeface="Aptos" pitchFamily="34" charset="-122"/>
                <a:cs typeface="Aptos" pitchFamily="34" charset="-120"/>
              </a:rPr>
              <a:t>SECTION 4</a:t>
            </a:r>
            <a:endParaRPr lang="en-US" sz="700" dirty="0"/>
          </a:p>
        </p:txBody>
      </p:sp>
      <p:sp>
        <p:nvSpPr>
          <p:cNvPr id="5" name="Text 3"/>
          <p:cNvSpPr/>
          <p:nvPr/>
        </p:nvSpPr>
        <p:spPr>
          <a:xfrm>
            <a:off x="9281160" y="219456"/>
            <a:ext cx="2423160" cy="182880"/>
          </a:xfrm>
          <a:prstGeom prst="rect">
            <a:avLst/>
          </a:prstGeom>
          <a:noFill/>
          <a:ln/>
        </p:spPr>
        <p:txBody>
          <a:bodyPr wrap="square" lIns="0" tIns="0" rIns="0" bIns="0" rtlCol="0" anchor="ctr"/>
          <a:lstStyle/>
          <a:p>
            <a:pPr algn="r" indent="0" marL="0">
              <a:buNone/>
            </a:pPr>
            <a:r>
              <a:rPr lang="en-US" sz="700" dirty="0">
                <a:solidFill>
                  <a:srgbClr val="6D7886"/>
                </a:solidFill>
              </a:rPr>
              <a:t>Jifunze.ai skill booster</a:t>
            </a:r>
            <a:endParaRPr lang="en-US" sz="700" dirty="0"/>
          </a:p>
        </p:txBody>
      </p:sp>
      <p:sp>
        <p:nvSpPr>
          <p:cNvPr id="6" name="Text 4"/>
          <p:cNvSpPr/>
          <p:nvPr/>
        </p:nvSpPr>
        <p:spPr>
          <a:xfrm>
            <a:off x="502920" y="502920"/>
            <a:ext cx="4617720" cy="475488"/>
          </a:xfrm>
          <a:prstGeom prst="rect">
            <a:avLst/>
          </a:prstGeom>
          <a:noFill/>
          <a:ln/>
        </p:spPr>
        <p:txBody>
          <a:bodyPr wrap="square" lIns="127" tIns="127" rIns="127" bIns="127" rtlCol="0" anchor="ctr">
            <a:normAutofit/>
          </a:bodyPr>
          <a:lstStyle/>
          <a:p>
            <a:pPr indent="0" marL="0">
              <a:buNone/>
            </a:pPr>
            <a:r>
              <a:rPr lang="en-US" sz="2500" b="1" dirty="0">
                <a:solidFill>
                  <a:srgbClr val="14213D"/>
                </a:solidFill>
                <a:latin typeface="Aptos Display" pitchFamily="34" charset="0"/>
                <a:ea typeface="Aptos Display" pitchFamily="34" charset="-122"/>
                <a:cs typeface="Aptos Display" pitchFamily="34" charset="-120"/>
              </a:rPr>
              <a:t>Option 1: structured enquiry and registration forms</a:t>
            </a:r>
            <a:endParaRPr lang="en-US" sz="2500" dirty="0"/>
          </a:p>
        </p:txBody>
      </p:sp>
      <p:sp>
        <p:nvSpPr>
          <p:cNvPr id="7" name="Text 5"/>
          <p:cNvSpPr/>
          <p:nvPr/>
        </p:nvSpPr>
        <p:spPr>
          <a:xfrm>
            <a:off x="521208" y="1005840"/>
            <a:ext cx="4617720" cy="228600"/>
          </a:xfrm>
          <a:prstGeom prst="rect">
            <a:avLst/>
          </a:prstGeom>
          <a:noFill/>
          <a:ln/>
        </p:spPr>
        <p:txBody>
          <a:bodyPr wrap="square" lIns="0" tIns="0" rIns="0" bIns="0" rtlCol="0" anchor="ctr">
            <a:normAutofit/>
          </a:bodyPr>
          <a:lstStyle/>
          <a:p>
            <a:pPr indent="0" marL="0">
              <a:buNone/>
            </a:pPr>
            <a:r>
              <a:rPr lang="en-US" sz="1080" dirty="0">
                <a:solidFill>
                  <a:srgbClr val="24303F"/>
                </a:solidFill>
              </a:rPr>
              <a:t>Build the foundation for cleaner automation</a:t>
            </a:r>
            <a:endParaRPr lang="en-US" sz="1080" dirty="0"/>
          </a:p>
        </p:txBody>
      </p:sp>
      <p:sp>
        <p:nvSpPr>
          <p:cNvPr id="8" name="Text 6"/>
          <p:cNvSpPr/>
          <p:nvPr/>
        </p:nvSpPr>
        <p:spPr>
          <a:xfrm>
            <a:off x="594360" y="1417320"/>
            <a:ext cx="4617720" cy="4343400"/>
          </a:xfrm>
          <a:prstGeom prst="rect">
            <a:avLst/>
          </a:prstGeom>
          <a:noFill/>
          <a:ln/>
        </p:spPr>
        <p:txBody>
          <a:bodyPr wrap="square" lIns="635" tIns="635" rIns="635" bIns="635" rtlCol="0" anchor="ctr">
            <a:normAutofit/>
          </a:bodyPr>
          <a:lstStyle/>
          <a:p>
            <a:r>
              <a:rPr lang="en-US" sz="1450" dirty="0">
                <a:solidFill>
                  <a:srgbClr val="24303F"/>
                </a:solidFill>
              </a:rPr>
              <a:t>• Replaces scattered WhatsApp/email details with required fields</a:t>
            </a:r>
            <a:endParaRPr lang="en-US" sz="1450" dirty="0"/>
          </a:p>
          <a:p>
            <a:r>
              <a:rPr lang="en-US" sz="1450" dirty="0">
                <a:solidFill>
                  <a:srgbClr val="24303F"/>
                </a:solidFill>
              </a:rPr>
              <a:t>• Reduces incomplete enquiries by 50%</a:t>
            </a:r>
            <a:endParaRPr lang="en-US" sz="1450" dirty="0"/>
          </a:p>
          <a:p>
            <a:r>
              <a:rPr lang="en-US" sz="1450" dirty="0">
                <a:solidFill>
                  <a:srgbClr val="24303F"/>
                </a:solidFill>
              </a:rPr>
              <a:t>• Reduces registration errors by 60%</a:t>
            </a:r>
            <a:endParaRPr lang="en-US" sz="1450" dirty="0"/>
          </a:p>
          <a:p>
            <a:r>
              <a:rPr lang="en-US" sz="1450" dirty="0">
                <a:solidFill>
                  <a:srgbClr val="24303F"/>
                </a:solidFill>
              </a:rPr>
              <a:t>• Creates reliable data for reminders, attendance, and certificates</a:t>
            </a:r>
            <a:endParaRPr lang="en-US" sz="1450" dirty="0"/>
          </a:p>
        </p:txBody>
      </p:sp>
      <p:sp>
        <p:nvSpPr>
          <p:cNvPr id="9" name="Shape 7"/>
          <p:cNvSpPr/>
          <p:nvPr/>
        </p:nvSpPr>
        <p:spPr>
          <a:xfrm>
            <a:off x="5715000" y="1417320"/>
            <a:ext cx="2468880" cy="594360"/>
          </a:xfrm>
          <a:prstGeom prst="rect">
            <a:avLst/>
          </a:prstGeom>
          <a:solidFill>
            <a:srgbClr val="14213D"/>
          </a:solidFill>
          <a:ln w="12700">
            <a:solidFill>
              <a:srgbClr val="FFFFFF"/>
            </a:solidFill>
            <a:prstDash val="solid"/>
          </a:ln>
        </p:spPr>
      </p:sp>
      <p:sp>
        <p:nvSpPr>
          <p:cNvPr id="10" name="Text 8"/>
          <p:cNvSpPr/>
          <p:nvPr/>
        </p:nvSpPr>
        <p:spPr>
          <a:xfrm>
            <a:off x="5751576" y="1463040"/>
            <a:ext cx="2395728" cy="521208"/>
          </a:xfrm>
          <a:prstGeom prst="rect">
            <a:avLst/>
          </a:prstGeom>
          <a:noFill/>
          <a:ln/>
        </p:spPr>
        <p:txBody>
          <a:bodyPr wrap="square" lIns="0" tIns="0" rIns="0" bIns="0" rtlCol="0" anchor="ctr">
            <a:normAutofit/>
          </a:bodyPr>
          <a:lstStyle/>
          <a:p>
            <a:pPr indent="0" marL="0">
              <a:buNone/>
            </a:pPr>
            <a:r>
              <a:rPr lang="en-US" sz="1000" b="1" dirty="0">
                <a:solidFill>
                  <a:srgbClr val="FFFFFF"/>
                </a:solidFill>
              </a:rPr>
              <a:t>Current issue</a:t>
            </a:r>
            <a:endParaRPr lang="en-US" sz="1000" dirty="0"/>
          </a:p>
        </p:txBody>
      </p:sp>
      <p:sp>
        <p:nvSpPr>
          <p:cNvPr id="11" name="Shape 9"/>
          <p:cNvSpPr/>
          <p:nvPr/>
        </p:nvSpPr>
        <p:spPr>
          <a:xfrm>
            <a:off x="8183880" y="1417320"/>
            <a:ext cx="2560320" cy="594360"/>
          </a:xfrm>
          <a:prstGeom prst="rect">
            <a:avLst/>
          </a:prstGeom>
          <a:solidFill>
            <a:srgbClr val="14213D"/>
          </a:solidFill>
          <a:ln w="12700">
            <a:solidFill>
              <a:srgbClr val="FFFFFF"/>
            </a:solidFill>
            <a:prstDash val="solid"/>
          </a:ln>
        </p:spPr>
      </p:sp>
      <p:sp>
        <p:nvSpPr>
          <p:cNvPr id="12" name="Text 10"/>
          <p:cNvSpPr/>
          <p:nvPr/>
        </p:nvSpPr>
        <p:spPr>
          <a:xfrm>
            <a:off x="8220456" y="1463040"/>
            <a:ext cx="2487168" cy="521208"/>
          </a:xfrm>
          <a:prstGeom prst="rect">
            <a:avLst/>
          </a:prstGeom>
          <a:noFill/>
          <a:ln/>
        </p:spPr>
        <p:txBody>
          <a:bodyPr wrap="square" lIns="0" tIns="0" rIns="0" bIns="0" rtlCol="0" anchor="ctr">
            <a:normAutofit/>
          </a:bodyPr>
          <a:lstStyle/>
          <a:p>
            <a:pPr indent="0" marL="0">
              <a:buNone/>
            </a:pPr>
            <a:r>
              <a:rPr lang="en-US" sz="1000" b="1" dirty="0">
                <a:solidFill>
                  <a:srgbClr val="FFFFFF"/>
                </a:solidFill>
              </a:rPr>
              <a:t>Target improvement</a:t>
            </a:r>
            <a:endParaRPr lang="en-US" sz="1000" dirty="0"/>
          </a:p>
        </p:txBody>
      </p:sp>
      <p:sp>
        <p:nvSpPr>
          <p:cNvPr id="13" name="Shape 11"/>
          <p:cNvSpPr/>
          <p:nvPr/>
        </p:nvSpPr>
        <p:spPr>
          <a:xfrm>
            <a:off x="5715000" y="2011680"/>
            <a:ext cx="2468880" cy="594360"/>
          </a:xfrm>
          <a:prstGeom prst="rect">
            <a:avLst/>
          </a:prstGeom>
          <a:solidFill>
            <a:srgbClr val="FDFBF5"/>
          </a:solidFill>
          <a:ln w="12700">
            <a:solidFill>
              <a:srgbClr val="E7DFD0"/>
            </a:solidFill>
            <a:prstDash val="solid"/>
          </a:ln>
        </p:spPr>
      </p:sp>
      <p:sp>
        <p:nvSpPr>
          <p:cNvPr id="14" name="Text 12"/>
          <p:cNvSpPr/>
          <p:nvPr/>
        </p:nvSpPr>
        <p:spPr>
          <a:xfrm>
            <a:off x="5751576" y="2048256"/>
            <a:ext cx="2395728" cy="521208"/>
          </a:xfrm>
          <a:prstGeom prst="rect">
            <a:avLst/>
          </a:prstGeom>
          <a:noFill/>
          <a:ln/>
        </p:spPr>
        <p:txBody>
          <a:bodyPr wrap="square" lIns="0" tIns="0" rIns="0" bIns="0" rtlCol="0" anchor="ctr">
            <a:normAutofit/>
          </a:bodyPr>
          <a:lstStyle/>
          <a:p>
            <a:pPr indent="0" marL="0">
              <a:buNone/>
            </a:pPr>
            <a:r>
              <a:rPr lang="en-US" sz="1000" dirty="0">
                <a:solidFill>
                  <a:srgbClr val="24303F"/>
                </a:solidFill>
              </a:rPr>
              <a:t>Incomplete enquiries</a:t>
            </a:r>
            <a:endParaRPr lang="en-US" sz="1000" dirty="0"/>
          </a:p>
        </p:txBody>
      </p:sp>
      <p:sp>
        <p:nvSpPr>
          <p:cNvPr id="15" name="Shape 13"/>
          <p:cNvSpPr/>
          <p:nvPr/>
        </p:nvSpPr>
        <p:spPr>
          <a:xfrm>
            <a:off x="8183880" y="2011680"/>
            <a:ext cx="2560320" cy="594360"/>
          </a:xfrm>
          <a:prstGeom prst="rect">
            <a:avLst/>
          </a:prstGeom>
          <a:solidFill>
            <a:srgbClr val="FDFBF5"/>
          </a:solidFill>
          <a:ln w="12700">
            <a:solidFill>
              <a:srgbClr val="E7DFD0"/>
            </a:solidFill>
            <a:prstDash val="solid"/>
          </a:ln>
        </p:spPr>
      </p:sp>
      <p:sp>
        <p:nvSpPr>
          <p:cNvPr id="16" name="Text 14"/>
          <p:cNvSpPr/>
          <p:nvPr/>
        </p:nvSpPr>
        <p:spPr>
          <a:xfrm>
            <a:off x="8220456" y="2048256"/>
            <a:ext cx="2487168" cy="521208"/>
          </a:xfrm>
          <a:prstGeom prst="rect">
            <a:avLst/>
          </a:prstGeom>
          <a:noFill/>
          <a:ln/>
        </p:spPr>
        <p:txBody>
          <a:bodyPr wrap="square" lIns="0" tIns="0" rIns="0" bIns="0" rtlCol="0" anchor="ctr">
            <a:normAutofit/>
          </a:bodyPr>
          <a:lstStyle/>
          <a:p>
            <a:pPr indent="0" marL="0">
              <a:buNone/>
            </a:pPr>
            <a:r>
              <a:rPr lang="en-US" sz="1000" dirty="0">
                <a:solidFill>
                  <a:srgbClr val="24303F"/>
                </a:solidFill>
              </a:rPr>
              <a:t>50% reduction</a:t>
            </a:r>
            <a:endParaRPr lang="en-US" sz="1000" dirty="0"/>
          </a:p>
        </p:txBody>
      </p:sp>
      <p:sp>
        <p:nvSpPr>
          <p:cNvPr id="17" name="Shape 15"/>
          <p:cNvSpPr/>
          <p:nvPr/>
        </p:nvSpPr>
        <p:spPr>
          <a:xfrm>
            <a:off x="5715000" y="2606040"/>
            <a:ext cx="2468880" cy="594360"/>
          </a:xfrm>
          <a:prstGeom prst="rect">
            <a:avLst/>
          </a:prstGeom>
          <a:solidFill>
            <a:srgbClr val="FFFFFF"/>
          </a:solidFill>
          <a:ln w="12700">
            <a:solidFill>
              <a:srgbClr val="E7DFD0"/>
            </a:solidFill>
            <a:prstDash val="solid"/>
          </a:ln>
        </p:spPr>
      </p:sp>
      <p:sp>
        <p:nvSpPr>
          <p:cNvPr id="18" name="Text 16"/>
          <p:cNvSpPr/>
          <p:nvPr/>
        </p:nvSpPr>
        <p:spPr>
          <a:xfrm>
            <a:off x="5751576" y="2642616"/>
            <a:ext cx="2395728" cy="521208"/>
          </a:xfrm>
          <a:prstGeom prst="rect">
            <a:avLst/>
          </a:prstGeom>
          <a:noFill/>
          <a:ln/>
        </p:spPr>
        <p:txBody>
          <a:bodyPr wrap="square" lIns="0" tIns="0" rIns="0" bIns="0" rtlCol="0" anchor="ctr">
            <a:normAutofit/>
          </a:bodyPr>
          <a:lstStyle/>
          <a:p>
            <a:pPr indent="0" marL="0">
              <a:buNone/>
            </a:pPr>
            <a:r>
              <a:rPr lang="en-US" sz="1000" dirty="0">
                <a:solidFill>
                  <a:srgbClr val="24303F"/>
                </a:solidFill>
              </a:rPr>
              <a:t>Registration errors</a:t>
            </a:r>
            <a:endParaRPr lang="en-US" sz="1000" dirty="0"/>
          </a:p>
        </p:txBody>
      </p:sp>
      <p:sp>
        <p:nvSpPr>
          <p:cNvPr id="19" name="Shape 17"/>
          <p:cNvSpPr/>
          <p:nvPr/>
        </p:nvSpPr>
        <p:spPr>
          <a:xfrm>
            <a:off x="8183880" y="2606040"/>
            <a:ext cx="2560320" cy="594360"/>
          </a:xfrm>
          <a:prstGeom prst="rect">
            <a:avLst/>
          </a:prstGeom>
          <a:solidFill>
            <a:srgbClr val="FFFFFF"/>
          </a:solidFill>
          <a:ln w="12700">
            <a:solidFill>
              <a:srgbClr val="E7DFD0"/>
            </a:solidFill>
            <a:prstDash val="solid"/>
          </a:ln>
        </p:spPr>
      </p:sp>
      <p:sp>
        <p:nvSpPr>
          <p:cNvPr id="20" name="Text 18"/>
          <p:cNvSpPr/>
          <p:nvPr/>
        </p:nvSpPr>
        <p:spPr>
          <a:xfrm>
            <a:off x="8220456" y="2642616"/>
            <a:ext cx="2487168" cy="521208"/>
          </a:xfrm>
          <a:prstGeom prst="rect">
            <a:avLst/>
          </a:prstGeom>
          <a:noFill/>
          <a:ln/>
        </p:spPr>
        <p:txBody>
          <a:bodyPr wrap="square" lIns="0" tIns="0" rIns="0" bIns="0" rtlCol="0" anchor="ctr">
            <a:normAutofit/>
          </a:bodyPr>
          <a:lstStyle/>
          <a:p>
            <a:pPr indent="0" marL="0">
              <a:buNone/>
            </a:pPr>
            <a:r>
              <a:rPr lang="en-US" sz="1000" dirty="0">
                <a:solidFill>
                  <a:srgbClr val="24303F"/>
                </a:solidFill>
              </a:rPr>
              <a:t>60% reduction</a:t>
            </a:r>
            <a:endParaRPr lang="en-US" sz="1000" dirty="0"/>
          </a:p>
        </p:txBody>
      </p:sp>
      <p:sp>
        <p:nvSpPr>
          <p:cNvPr id="21" name="Shape 19"/>
          <p:cNvSpPr/>
          <p:nvPr/>
        </p:nvSpPr>
        <p:spPr>
          <a:xfrm>
            <a:off x="5715000" y="3200400"/>
            <a:ext cx="2468880" cy="594360"/>
          </a:xfrm>
          <a:prstGeom prst="rect">
            <a:avLst/>
          </a:prstGeom>
          <a:solidFill>
            <a:srgbClr val="FDFBF5"/>
          </a:solidFill>
          <a:ln w="12700">
            <a:solidFill>
              <a:srgbClr val="E7DFD0"/>
            </a:solidFill>
            <a:prstDash val="solid"/>
          </a:ln>
        </p:spPr>
      </p:sp>
      <p:sp>
        <p:nvSpPr>
          <p:cNvPr id="22" name="Text 20"/>
          <p:cNvSpPr/>
          <p:nvPr/>
        </p:nvSpPr>
        <p:spPr>
          <a:xfrm>
            <a:off x="5751576" y="3236976"/>
            <a:ext cx="2395728" cy="521208"/>
          </a:xfrm>
          <a:prstGeom prst="rect">
            <a:avLst/>
          </a:prstGeom>
          <a:noFill/>
          <a:ln/>
        </p:spPr>
        <p:txBody>
          <a:bodyPr wrap="square" lIns="0" tIns="0" rIns="0" bIns="0" rtlCol="0" anchor="ctr">
            <a:normAutofit/>
          </a:bodyPr>
          <a:lstStyle/>
          <a:p>
            <a:pPr indent="0" marL="0">
              <a:buNone/>
            </a:pPr>
            <a:r>
              <a:rPr lang="en-US" sz="1000" dirty="0">
                <a:solidFill>
                  <a:srgbClr val="24303F"/>
                </a:solidFill>
              </a:rPr>
              <a:t>Duplicate entry</a:t>
            </a:r>
            <a:endParaRPr lang="en-US" sz="1000" dirty="0"/>
          </a:p>
        </p:txBody>
      </p:sp>
      <p:sp>
        <p:nvSpPr>
          <p:cNvPr id="23" name="Shape 21"/>
          <p:cNvSpPr/>
          <p:nvPr/>
        </p:nvSpPr>
        <p:spPr>
          <a:xfrm>
            <a:off x="8183880" y="3200400"/>
            <a:ext cx="2560320" cy="594360"/>
          </a:xfrm>
          <a:prstGeom prst="rect">
            <a:avLst/>
          </a:prstGeom>
          <a:solidFill>
            <a:srgbClr val="FDFBF5"/>
          </a:solidFill>
          <a:ln w="12700">
            <a:solidFill>
              <a:srgbClr val="E7DFD0"/>
            </a:solidFill>
            <a:prstDash val="solid"/>
          </a:ln>
        </p:spPr>
      </p:sp>
      <p:sp>
        <p:nvSpPr>
          <p:cNvPr id="24" name="Text 22"/>
          <p:cNvSpPr/>
          <p:nvPr/>
        </p:nvSpPr>
        <p:spPr>
          <a:xfrm>
            <a:off x="8220456" y="3236976"/>
            <a:ext cx="2487168" cy="521208"/>
          </a:xfrm>
          <a:prstGeom prst="rect">
            <a:avLst/>
          </a:prstGeom>
          <a:noFill/>
          <a:ln/>
        </p:spPr>
        <p:txBody>
          <a:bodyPr wrap="square" lIns="0" tIns="0" rIns="0" bIns="0" rtlCol="0" anchor="ctr">
            <a:normAutofit/>
          </a:bodyPr>
          <a:lstStyle/>
          <a:p>
            <a:pPr indent="0" marL="0">
              <a:buNone/>
            </a:pPr>
            <a:r>
              <a:rPr lang="en-US" sz="1000" dirty="0">
                <a:solidFill>
                  <a:srgbClr val="24303F"/>
                </a:solidFill>
              </a:rPr>
              <a:t>Cleaner single record</a:t>
            </a:r>
            <a:endParaRPr lang="en-US" sz="1000" dirty="0"/>
          </a:p>
        </p:txBody>
      </p:sp>
      <p:sp>
        <p:nvSpPr>
          <p:cNvPr id="25" name="Shape 23"/>
          <p:cNvSpPr/>
          <p:nvPr/>
        </p:nvSpPr>
        <p:spPr>
          <a:xfrm>
            <a:off x="5715000" y="3794760"/>
            <a:ext cx="2468880" cy="594360"/>
          </a:xfrm>
          <a:prstGeom prst="rect">
            <a:avLst/>
          </a:prstGeom>
          <a:solidFill>
            <a:srgbClr val="FFFFFF"/>
          </a:solidFill>
          <a:ln w="12700">
            <a:solidFill>
              <a:srgbClr val="E7DFD0"/>
            </a:solidFill>
            <a:prstDash val="solid"/>
          </a:ln>
        </p:spPr>
      </p:sp>
      <p:sp>
        <p:nvSpPr>
          <p:cNvPr id="26" name="Text 24"/>
          <p:cNvSpPr/>
          <p:nvPr/>
        </p:nvSpPr>
        <p:spPr>
          <a:xfrm>
            <a:off x="5751576" y="3831336"/>
            <a:ext cx="2395728" cy="521208"/>
          </a:xfrm>
          <a:prstGeom prst="rect">
            <a:avLst/>
          </a:prstGeom>
          <a:noFill/>
          <a:ln/>
        </p:spPr>
        <p:txBody>
          <a:bodyPr wrap="square" lIns="0" tIns="0" rIns="0" bIns="0" rtlCol="0" anchor="ctr">
            <a:normAutofit/>
          </a:bodyPr>
          <a:lstStyle/>
          <a:p>
            <a:pPr indent="0" marL="0">
              <a:buNone/>
            </a:pPr>
            <a:r>
              <a:rPr lang="en-US" sz="1000" dirty="0">
                <a:solidFill>
                  <a:srgbClr val="24303F"/>
                </a:solidFill>
              </a:rPr>
              <a:t>Status confusion</a:t>
            </a:r>
            <a:endParaRPr lang="en-US" sz="1000" dirty="0"/>
          </a:p>
        </p:txBody>
      </p:sp>
      <p:sp>
        <p:nvSpPr>
          <p:cNvPr id="27" name="Shape 25"/>
          <p:cNvSpPr/>
          <p:nvPr/>
        </p:nvSpPr>
        <p:spPr>
          <a:xfrm>
            <a:off x="8183880" y="3794760"/>
            <a:ext cx="2560320" cy="594360"/>
          </a:xfrm>
          <a:prstGeom prst="rect">
            <a:avLst/>
          </a:prstGeom>
          <a:solidFill>
            <a:srgbClr val="FFFFFF"/>
          </a:solidFill>
          <a:ln w="12700">
            <a:solidFill>
              <a:srgbClr val="E7DFD0"/>
            </a:solidFill>
            <a:prstDash val="solid"/>
          </a:ln>
        </p:spPr>
      </p:sp>
      <p:sp>
        <p:nvSpPr>
          <p:cNvPr id="28" name="Text 26"/>
          <p:cNvSpPr/>
          <p:nvPr/>
        </p:nvSpPr>
        <p:spPr>
          <a:xfrm>
            <a:off x="8220456" y="3831336"/>
            <a:ext cx="2487168" cy="521208"/>
          </a:xfrm>
          <a:prstGeom prst="rect">
            <a:avLst/>
          </a:prstGeom>
          <a:noFill/>
          <a:ln/>
        </p:spPr>
        <p:txBody>
          <a:bodyPr wrap="square" lIns="0" tIns="0" rIns="0" bIns="0" rtlCol="0" anchor="ctr">
            <a:normAutofit/>
          </a:bodyPr>
          <a:lstStyle/>
          <a:p>
            <a:pPr indent="0" marL="0">
              <a:buNone/>
            </a:pPr>
            <a:r>
              <a:rPr lang="en-US" sz="1000" dirty="0">
                <a:solidFill>
                  <a:srgbClr val="24303F"/>
                </a:solidFill>
              </a:rPr>
              <a:t>Shared tracker</a:t>
            </a:r>
            <a:endParaRPr lang="en-US" sz="1000" dirty="0"/>
          </a:p>
        </p:txBody>
      </p:sp>
      <p:sp>
        <p:nvSpPr>
          <p:cNvPr id="29" name="Text 27"/>
          <p:cNvSpPr/>
          <p:nvPr/>
        </p:nvSpPr>
        <p:spPr>
          <a:xfrm>
            <a:off x="11384280" y="6428232"/>
            <a:ext cx="320040" cy="109728"/>
          </a:xfrm>
          <a:prstGeom prst="rect">
            <a:avLst/>
          </a:prstGeom>
          <a:noFill/>
          <a:ln/>
        </p:spPr>
        <p:txBody>
          <a:bodyPr wrap="square" lIns="0" tIns="0" rIns="0" bIns="0" rtlCol="0" anchor="ctr"/>
          <a:lstStyle/>
          <a:p>
            <a:pPr algn="r" indent="0" marL="0">
              <a:buNone/>
            </a:pPr>
            <a:r>
              <a:rPr lang="en-US" sz="700" dirty="0">
                <a:solidFill>
                  <a:srgbClr val="FFFFFF"/>
                </a:solidFill>
              </a:rPr>
              <a:t>25</a:t>
            </a:r>
            <a:endParaRPr lang="en-US" sz="7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7F3EA"/>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4213D"/>
          </a:solidFill>
          <a:ln w="12700">
            <a:solidFill>
              <a:srgbClr val="14213D">
                <a:alpha val="0"/>
              </a:srgbClr>
            </a:solidFill>
            <a:prstDash val="solid"/>
          </a:ln>
        </p:spPr>
      </p:sp>
      <p:sp>
        <p:nvSpPr>
          <p:cNvPr id="3" name="Shape 1"/>
          <p:cNvSpPr/>
          <p:nvPr/>
        </p:nvSpPr>
        <p:spPr>
          <a:xfrm>
            <a:off x="0" y="6693408"/>
            <a:ext cx="12191695" cy="164592"/>
          </a:xfrm>
          <a:prstGeom prst="rect">
            <a:avLst/>
          </a:prstGeom>
          <a:solidFill>
            <a:srgbClr val="14213D"/>
          </a:solidFill>
          <a:ln w="12700">
            <a:solidFill>
              <a:srgbClr val="14213D">
                <a:alpha val="0"/>
              </a:srgbClr>
            </a:solidFill>
            <a:prstDash val="solid"/>
          </a:ln>
        </p:spPr>
      </p:sp>
      <p:sp>
        <p:nvSpPr>
          <p:cNvPr id="4" name="Text 2"/>
          <p:cNvSpPr/>
          <p:nvPr/>
        </p:nvSpPr>
        <p:spPr>
          <a:xfrm>
            <a:off x="502920" y="256032"/>
            <a:ext cx="4480560" cy="164592"/>
          </a:xfrm>
          <a:prstGeom prst="rect">
            <a:avLst/>
          </a:prstGeom>
          <a:noFill/>
          <a:ln/>
        </p:spPr>
        <p:txBody>
          <a:bodyPr wrap="square" lIns="0" tIns="0" rIns="0" bIns="0" rtlCol="0" anchor="ctr"/>
          <a:lstStyle/>
          <a:p>
            <a:pPr indent="0" marL="0">
              <a:buNone/>
            </a:pPr>
            <a:r>
              <a:rPr lang="en-US" sz="700" b="1" dirty="0">
                <a:solidFill>
                  <a:srgbClr val="2A9D8F"/>
                </a:solidFill>
                <a:latin typeface="Aptos" pitchFamily="34" charset="0"/>
                <a:ea typeface="Aptos" pitchFamily="34" charset="-122"/>
                <a:cs typeface="Aptos" pitchFamily="34" charset="-120"/>
              </a:rPr>
              <a:t>SECTION 4</a:t>
            </a:r>
            <a:endParaRPr lang="en-US" sz="700" dirty="0"/>
          </a:p>
        </p:txBody>
      </p:sp>
      <p:sp>
        <p:nvSpPr>
          <p:cNvPr id="5" name="Text 3"/>
          <p:cNvSpPr/>
          <p:nvPr/>
        </p:nvSpPr>
        <p:spPr>
          <a:xfrm>
            <a:off x="9281160" y="219456"/>
            <a:ext cx="2423160" cy="182880"/>
          </a:xfrm>
          <a:prstGeom prst="rect">
            <a:avLst/>
          </a:prstGeom>
          <a:noFill/>
          <a:ln/>
        </p:spPr>
        <p:txBody>
          <a:bodyPr wrap="square" lIns="0" tIns="0" rIns="0" bIns="0" rtlCol="0" anchor="ctr"/>
          <a:lstStyle/>
          <a:p>
            <a:pPr algn="r" indent="0" marL="0">
              <a:buNone/>
            </a:pPr>
            <a:r>
              <a:rPr lang="en-US" sz="700" dirty="0">
                <a:solidFill>
                  <a:srgbClr val="6D7886"/>
                </a:solidFill>
              </a:rPr>
              <a:t>Jifunze.ai skill booster</a:t>
            </a:r>
            <a:endParaRPr lang="en-US" sz="700" dirty="0"/>
          </a:p>
        </p:txBody>
      </p:sp>
      <p:sp>
        <p:nvSpPr>
          <p:cNvPr id="6" name="Text 4"/>
          <p:cNvSpPr/>
          <p:nvPr/>
        </p:nvSpPr>
        <p:spPr>
          <a:xfrm>
            <a:off x="502920" y="502920"/>
            <a:ext cx="4617720" cy="475488"/>
          </a:xfrm>
          <a:prstGeom prst="rect">
            <a:avLst/>
          </a:prstGeom>
          <a:noFill/>
          <a:ln/>
        </p:spPr>
        <p:txBody>
          <a:bodyPr wrap="square" lIns="127" tIns="127" rIns="127" bIns="127" rtlCol="0" anchor="ctr">
            <a:normAutofit/>
          </a:bodyPr>
          <a:lstStyle/>
          <a:p>
            <a:pPr indent="0" marL="0">
              <a:buNone/>
            </a:pPr>
            <a:r>
              <a:rPr lang="en-US" sz="2500" b="1" dirty="0">
                <a:solidFill>
                  <a:srgbClr val="14213D"/>
                </a:solidFill>
                <a:latin typeface="Aptos Display" pitchFamily="34" charset="0"/>
                <a:ea typeface="Aptos Display" pitchFamily="34" charset="-122"/>
                <a:cs typeface="Aptos Display" pitchFamily="34" charset="-120"/>
              </a:rPr>
              <a:t>Option 2: automated course info and reminders</a:t>
            </a:r>
            <a:endParaRPr lang="en-US" sz="2500" dirty="0"/>
          </a:p>
        </p:txBody>
      </p:sp>
      <p:sp>
        <p:nvSpPr>
          <p:cNvPr id="7" name="Text 5"/>
          <p:cNvSpPr/>
          <p:nvPr/>
        </p:nvSpPr>
        <p:spPr>
          <a:xfrm>
            <a:off x="521208" y="1005840"/>
            <a:ext cx="4617720" cy="228600"/>
          </a:xfrm>
          <a:prstGeom prst="rect">
            <a:avLst/>
          </a:prstGeom>
          <a:noFill/>
          <a:ln/>
        </p:spPr>
        <p:txBody>
          <a:bodyPr wrap="square" lIns="0" tIns="0" rIns="0" bIns="0" rtlCol="0" anchor="ctr">
            <a:normAutofit/>
          </a:bodyPr>
          <a:lstStyle/>
          <a:p>
            <a:pPr indent="0" marL="0">
              <a:buNone/>
            </a:pPr>
            <a:r>
              <a:rPr lang="en-US" sz="1080" dirty="0">
                <a:solidFill>
                  <a:srgbClr val="24303F"/>
                </a:solidFill>
              </a:rPr>
              <a:t>Automate high-volume communication safely</a:t>
            </a:r>
            <a:endParaRPr lang="en-US" sz="1080" dirty="0"/>
          </a:p>
        </p:txBody>
      </p:sp>
      <p:sp>
        <p:nvSpPr>
          <p:cNvPr id="8" name="Text 6"/>
          <p:cNvSpPr/>
          <p:nvPr/>
        </p:nvSpPr>
        <p:spPr>
          <a:xfrm>
            <a:off x="594360" y="1417320"/>
            <a:ext cx="4617720" cy="4343400"/>
          </a:xfrm>
          <a:prstGeom prst="rect">
            <a:avLst/>
          </a:prstGeom>
          <a:noFill/>
          <a:ln/>
        </p:spPr>
        <p:txBody>
          <a:bodyPr wrap="square" lIns="635" tIns="635" rIns="635" bIns="635" rtlCol="0" anchor="ctr">
            <a:normAutofit/>
          </a:bodyPr>
          <a:lstStyle/>
          <a:p>
            <a:r>
              <a:rPr lang="en-US" sz="1450" dirty="0">
                <a:solidFill>
                  <a:srgbClr val="24303F"/>
                </a:solidFill>
              </a:rPr>
              <a:t>• Course info email saves 6 minutes per enquiry</a:t>
            </a:r>
            <a:endParaRPr lang="en-US" sz="1450" dirty="0"/>
          </a:p>
          <a:p>
            <a:r>
              <a:rPr lang="en-US" sz="1450" dirty="0">
                <a:solidFill>
                  <a:srgbClr val="24303F"/>
                </a:solidFill>
              </a:rPr>
              <a:t>• Class reminders reduce missed reminders by 80%</a:t>
            </a:r>
            <a:endParaRPr lang="en-US" sz="1450" dirty="0"/>
          </a:p>
          <a:p>
            <a:r>
              <a:rPr lang="en-US" sz="1450" dirty="0">
                <a:solidFill>
                  <a:srgbClr val="24303F"/>
                </a:solidFill>
              </a:rPr>
              <a:t>• Templates preserve consistency and tone</a:t>
            </a:r>
            <a:endParaRPr lang="en-US" sz="1450" dirty="0"/>
          </a:p>
          <a:p>
            <a:r>
              <a:rPr lang="en-US" sz="1450" dirty="0">
                <a:solidFill>
                  <a:srgbClr val="24303F"/>
                </a:solidFill>
              </a:rPr>
              <a:t>• Staff still handle unusual questions and exceptions</a:t>
            </a:r>
            <a:endParaRPr lang="en-US" sz="1450" dirty="0"/>
          </a:p>
        </p:txBody>
      </p:sp>
      <p:sp>
        <p:nvSpPr>
          <p:cNvPr id="9" name="Shape 7"/>
          <p:cNvSpPr/>
          <p:nvPr/>
        </p:nvSpPr>
        <p:spPr>
          <a:xfrm>
            <a:off x="5760720" y="1508760"/>
            <a:ext cx="2148840" cy="594360"/>
          </a:xfrm>
          <a:prstGeom prst="roundRect">
            <a:avLst>
              <a:gd name="adj" fmla="val 12308"/>
            </a:avLst>
          </a:prstGeom>
          <a:solidFill>
            <a:srgbClr val="FFFFFF"/>
          </a:solidFill>
          <a:ln w="12700">
            <a:solidFill>
              <a:srgbClr val="2A9D8F"/>
            </a:solidFill>
            <a:prstDash val="solid"/>
          </a:ln>
        </p:spPr>
      </p:sp>
      <p:sp>
        <p:nvSpPr>
          <p:cNvPr id="10" name="Text 8"/>
          <p:cNvSpPr/>
          <p:nvPr/>
        </p:nvSpPr>
        <p:spPr>
          <a:xfrm>
            <a:off x="5870448" y="1600200"/>
            <a:ext cx="1929384" cy="429768"/>
          </a:xfrm>
          <a:prstGeom prst="rect">
            <a:avLst/>
          </a:prstGeom>
          <a:noFill/>
          <a:ln/>
        </p:spPr>
        <p:txBody>
          <a:bodyPr wrap="square" lIns="127" tIns="127" rIns="127" bIns="127" rtlCol="0" anchor="ctr">
            <a:normAutofit/>
          </a:bodyPr>
          <a:lstStyle/>
          <a:p>
            <a:pPr indent="0" marL="0">
              <a:buNone/>
            </a:pPr>
            <a:r>
              <a:rPr lang="en-US" sz="1300" b="1" dirty="0">
                <a:solidFill>
                  <a:srgbClr val="24303F"/>
                </a:solidFill>
              </a:rPr>
              <a:t>Course info email</a:t>
            </a:r>
            <a:endParaRPr lang="en-US" sz="1300" dirty="0"/>
          </a:p>
        </p:txBody>
      </p:sp>
      <p:sp>
        <p:nvSpPr>
          <p:cNvPr id="11" name="Shape 9"/>
          <p:cNvSpPr/>
          <p:nvPr/>
        </p:nvSpPr>
        <p:spPr>
          <a:xfrm>
            <a:off x="8138160" y="1508760"/>
            <a:ext cx="3108960" cy="594360"/>
          </a:xfrm>
          <a:prstGeom prst="roundRect">
            <a:avLst>
              <a:gd name="adj" fmla="val 12308"/>
            </a:avLst>
          </a:prstGeom>
          <a:solidFill>
            <a:srgbClr val="FDFBF5"/>
          </a:solidFill>
          <a:ln w="12700">
            <a:solidFill>
              <a:srgbClr val="C9A44C"/>
            </a:solidFill>
            <a:prstDash val="solid"/>
          </a:ln>
        </p:spPr>
      </p:sp>
      <p:sp>
        <p:nvSpPr>
          <p:cNvPr id="12" name="Text 10"/>
          <p:cNvSpPr/>
          <p:nvPr/>
        </p:nvSpPr>
        <p:spPr>
          <a:xfrm>
            <a:off x="8247888" y="1600200"/>
            <a:ext cx="2889504" cy="429768"/>
          </a:xfrm>
          <a:prstGeom prst="rect">
            <a:avLst/>
          </a:prstGeom>
          <a:noFill/>
          <a:ln/>
        </p:spPr>
        <p:txBody>
          <a:bodyPr wrap="square" lIns="127" tIns="127" rIns="127" bIns="127" rtlCol="0" anchor="ctr">
            <a:normAutofit/>
          </a:bodyPr>
          <a:lstStyle/>
          <a:p>
            <a:pPr indent="0" marL="0">
              <a:buNone/>
            </a:pPr>
            <a:r>
              <a:rPr lang="en-US" sz="1200" b="1" dirty="0">
                <a:solidFill>
                  <a:srgbClr val="24303F"/>
                </a:solidFill>
              </a:rPr>
              <a:t>120 × 6 minutes = 12.0 hours/month baseline</a:t>
            </a:r>
            <a:endParaRPr lang="en-US" sz="1200" dirty="0"/>
          </a:p>
        </p:txBody>
      </p:sp>
      <p:sp>
        <p:nvSpPr>
          <p:cNvPr id="13" name="Shape 11"/>
          <p:cNvSpPr/>
          <p:nvPr/>
        </p:nvSpPr>
        <p:spPr>
          <a:xfrm>
            <a:off x="5760720" y="2743200"/>
            <a:ext cx="2148840" cy="594360"/>
          </a:xfrm>
          <a:prstGeom prst="roundRect">
            <a:avLst>
              <a:gd name="adj" fmla="val 12308"/>
            </a:avLst>
          </a:prstGeom>
          <a:solidFill>
            <a:srgbClr val="FFFFFF"/>
          </a:solidFill>
          <a:ln w="12700">
            <a:solidFill>
              <a:srgbClr val="2A9D8F"/>
            </a:solidFill>
            <a:prstDash val="solid"/>
          </a:ln>
        </p:spPr>
      </p:sp>
      <p:sp>
        <p:nvSpPr>
          <p:cNvPr id="14" name="Text 12"/>
          <p:cNvSpPr/>
          <p:nvPr/>
        </p:nvSpPr>
        <p:spPr>
          <a:xfrm>
            <a:off x="5870448" y="2834640"/>
            <a:ext cx="1929384" cy="429768"/>
          </a:xfrm>
          <a:prstGeom prst="rect">
            <a:avLst/>
          </a:prstGeom>
          <a:noFill/>
          <a:ln/>
        </p:spPr>
        <p:txBody>
          <a:bodyPr wrap="square" lIns="127" tIns="127" rIns="127" bIns="127" rtlCol="0" anchor="ctr">
            <a:normAutofit/>
          </a:bodyPr>
          <a:lstStyle/>
          <a:p>
            <a:pPr indent="0" marL="0">
              <a:buNone/>
            </a:pPr>
            <a:r>
              <a:rPr lang="en-US" sz="1300" b="1" dirty="0">
                <a:solidFill>
                  <a:srgbClr val="24303F"/>
                </a:solidFill>
              </a:rPr>
              <a:t>Class reminders</a:t>
            </a:r>
            <a:endParaRPr lang="en-US" sz="1300" dirty="0"/>
          </a:p>
        </p:txBody>
      </p:sp>
      <p:sp>
        <p:nvSpPr>
          <p:cNvPr id="15" name="Shape 13"/>
          <p:cNvSpPr/>
          <p:nvPr/>
        </p:nvSpPr>
        <p:spPr>
          <a:xfrm>
            <a:off x="8138160" y="2743200"/>
            <a:ext cx="3108960" cy="594360"/>
          </a:xfrm>
          <a:prstGeom prst="roundRect">
            <a:avLst>
              <a:gd name="adj" fmla="val 12308"/>
            </a:avLst>
          </a:prstGeom>
          <a:solidFill>
            <a:srgbClr val="FDFBF5"/>
          </a:solidFill>
          <a:ln w="12700">
            <a:solidFill>
              <a:srgbClr val="C9A44C"/>
            </a:solidFill>
            <a:prstDash val="solid"/>
          </a:ln>
        </p:spPr>
      </p:sp>
      <p:sp>
        <p:nvSpPr>
          <p:cNvPr id="16" name="Text 14"/>
          <p:cNvSpPr/>
          <p:nvPr/>
        </p:nvSpPr>
        <p:spPr>
          <a:xfrm>
            <a:off x="8247888" y="2834640"/>
            <a:ext cx="2889504" cy="429768"/>
          </a:xfrm>
          <a:prstGeom prst="rect">
            <a:avLst/>
          </a:prstGeom>
          <a:noFill/>
          <a:ln/>
        </p:spPr>
        <p:txBody>
          <a:bodyPr wrap="square" lIns="127" tIns="127" rIns="127" bIns="127" rtlCol="0" anchor="ctr">
            <a:normAutofit/>
          </a:bodyPr>
          <a:lstStyle/>
          <a:p>
            <a:pPr indent="0" marL="0">
              <a:buNone/>
            </a:pPr>
            <a:r>
              <a:rPr lang="en-US" sz="1200" b="1" dirty="0">
                <a:solidFill>
                  <a:srgbClr val="24303F"/>
                </a:solidFill>
              </a:rPr>
              <a:t>64 × 5 minutes = 5.3 hours/month baseline</a:t>
            </a:r>
            <a:endParaRPr lang="en-US" sz="1200" dirty="0"/>
          </a:p>
        </p:txBody>
      </p:sp>
      <p:sp>
        <p:nvSpPr>
          <p:cNvPr id="17" name="Text 15"/>
          <p:cNvSpPr/>
          <p:nvPr/>
        </p:nvSpPr>
        <p:spPr>
          <a:xfrm>
            <a:off x="11384280" y="6428232"/>
            <a:ext cx="320040" cy="109728"/>
          </a:xfrm>
          <a:prstGeom prst="rect">
            <a:avLst/>
          </a:prstGeom>
          <a:noFill/>
          <a:ln/>
        </p:spPr>
        <p:txBody>
          <a:bodyPr wrap="square" lIns="0" tIns="0" rIns="0" bIns="0" rtlCol="0" anchor="ctr"/>
          <a:lstStyle/>
          <a:p>
            <a:pPr algn="r" indent="0" marL="0">
              <a:buNone/>
            </a:pPr>
            <a:r>
              <a:rPr lang="en-US" sz="700" dirty="0">
                <a:solidFill>
                  <a:srgbClr val="FFFFFF"/>
                </a:solidFill>
              </a:rPr>
              <a:t>26</a:t>
            </a:r>
            <a:endParaRPr lang="en-US" sz="7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7F3EA"/>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4213D"/>
          </a:solidFill>
          <a:ln w="12700">
            <a:solidFill>
              <a:srgbClr val="14213D">
                <a:alpha val="0"/>
              </a:srgbClr>
            </a:solidFill>
            <a:prstDash val="solid"/>
          </a:ln>
        </p:spPr>
      </p:sp>
      <p:sp>
        <p:nvSpPr>
          <p:cNvPr id="3" name="Shape 1"/>
          <p:cNvSpPr/>
          <p:nvPr/>
        </p:nvSpPr>
        <p:spPr>
          <a:xfrm>
            <a:off x="0" y="6693408"/>
            <a:ext cx="12191695" cy="164592"/>
          </a:xfrm>
          <a:prstGeom prst="rect">
            <a:avLst/>
          </a:prstGeom>
          <a:solidFill>
            <a:srgbClr val="14213D"/>
          </a:solidFill>
          <a:ln w="12700">
            <a:solidFill>
              <a:srgbClr val="14213D">
                <a:alpha val="0"/>
              </a:srgbClr>
            </a:solidFill>
            <a:prstDash val="solid"/>
          </a:ln>
        </p:spPr>
      </p:sp>
      <p:sp>
        <p:nvSpPr>
          <p:cNvPr id="4" name="Text 2"/>
          <p:cNvSpPr/>
          <p:nvPr/>
        </p:nvSpPr>
        <p:spPr>
          <a:xfrm>
            <a:off x="502920" y="256032"/>
            <a:ext cx="4480560" cy="164592"/>
          </a:xfrm>
          <a:prstGeom prst="rect">
            <a:avLst/>
          </a:prstGeom>
          <a:noFill/>
          <a:ln/>
        </p:spPr>
        <p:txBody>
          <a:bodyPr wrap="square" lIns="0" tIns="0" rIns="0" bIns="0" rtlCol="0" anchor="ctr"/>
          <a:lstStyle/>
          <a:p>
            <a:pPr indent="0" marL="0">
              <a:buNone/>
            </a:pPr>
            <a:r>
              <a:rPr lang="en-US" sz="700" b="1" dirty="0">
                <a:solidFill>
                  <a:srgbClr val="2A9D8F"/>
                </a:solidFill>
                <a:latin typeface="Aptos" pitchFamily="34" charset="0"/>
                <a:ea typeface="Aptos" pitchFamily="34" charset="-122"/>
                <a:cs typeface="Aptos" pitchFamily="34" charset="-120"/>
              </a:rPr>
              <a:t>SECTION 4</a:t>
            </a:r>
            <a:endParaRPr lang="en-US" sz="700" dirty="0"/>
          </a:p>
        </p:txBody>
      </p:sp>
      <p:sp>
        <p:nvSpPr>
          <p:cNvPr id="5" name="Text 3"/>
          <p:cNvSpPr/>
          <p:nvPr/>
        </p:nvSpPr>
        <p:spPr>
          <a:xfrm>
            <a:off x="9281160" y="219456"/>
            <a:ext cx="2423160" cy="182880"/>
          </a:xfrm>
          <a:prstGeom prst="rect">
            <a:avLst/>
          </a:prstGeom>
          <a:noFill/>
          <a:ln/>
        </p:spPr>
        <p:txBody>
          <a:bodyPr wrap="square" lIns="0" tIns="0" rIns="0" bIns="0" rtlCol="0" anchor="ctr"/>
          <a:lstStyle/>
          <a:p>
            <a:pPr algn="r" indent="0" marL="0">
              <a:buNone/>
            </a:pPr>
            <a:r>
              <a:rPr lang="en-US" sz="700" dirty="0">
                <a:solidFill>
                  <a:srgbClr val="6D7886"/>
                </a:solidFill>
              </a:rPr>
              <a:t>Jifunze.ai skill booster</a:t>
            </a:r>
            <a:endParaRPr lang="en-US" sz="700" dirty="0"/>
          </a:p>
        </p:txBody>
      </p:sp>
      <p:sp>
        <p:nvSpPr>
          <p:cNvPr id="6" name="Text 4"/>
          <p:cNvSpPr/>
          <p:nvPr/>
        </p:nvSpPr>
        <p:spPr>
          <a:xfrm>
            <a:off x="502920" y="502920"/>
            <a:ext cx="4617720" cy="475488"/>
          </a:xfrm>
          <a:prstGeom prst="rect">
            <a:avLst/>
          </a:prstGeom>
          <a:noFill/>
          <a:ln/>
        </p:spPr>
        <p:txBody>
          <a:bodyPr wrap="square" lIns="127" tIns="127" rIns="127" bIns="127" rtlCol="0" anchor="ctr">
            <a:normAutofit/>
          </a:bodyPr>
          <a:lstStyle/>
          <a:p>
            <a:pPr indent="0" marL="0">
              <a:buNone/>
            </a:pPr>
            <a:r>
              <a:rPr lang="en-US" sz="2500" b="1" dirty="0">
                <a:solidFill>
                  <a:srgbClr val="14213D"/>
                </a:solidFill>
                <a:latin typeface="Aptos Display" pitchFamily="34" charset="0"/>
                <a:ea typeface="Aptos Display" pitchFamily="34" charset="-122"/>
                <a:cs typeface="Aptos Display" pitchFamily="34" charset="-120"/>
              </a:rPr>
              <a:t>Option 3: payment follow-up tracker</a:t>
            </a:r>
            <a:endParaRPr lang="en-US" sz="2500" dirty="0"/>
          </a:p>
        </p:txBody>
      </p:sp>
      <p:sp>
        <p:nvSpPr>
          <p:cNvPr id="7" name="Text 5"/>
          <p:cNvSpPr/>
          <p:nvPr/>
        </p:nvSpPr>
        <p:spPr>
          <a:xfrm>
            <a:off x="521208" y="1005840"/>
            <a:ext cx="4617720" cy="228600"/>
          </a:xfrm>
          <a:prstGeom prst="rect">
            <a:avLst/>
          </a:prstGeom>
          <a:noFill/>
          <a:ln/>
        </p:spPr>
        <p:txBody>
          <a:bodyPr wrap="square" lIns="0" tIns="0" rIns="0" bIns="0" rtlCol="0" anchor="ctr">
            <a:normAutofit/>
          </a:bodyPr>
          <a:lstStyle/>
          <a:p>
            <a:pPr indent="0" marL="0">
              <a:buNone/>
            </a:pPr>
            <a:r>
              <a:rPr lang="en-US" sz="1080" dirty="0">
                <a:solidFill>
                  <a:srgbClr val="24303F"/>
                </a:solidFill>
              </a:rPr>
              <a:t>Control payment risk without over-automating approval</a:t>
            </a:r>
            <a:endParaRPr lang="en-US" sz="1080" dirty="0"/>
          </a:p>
        </p:txBody>
      </p:sp>
      <p:sp>
        <p:nvSpPr>
          <p:cNvPr id="8" name="Text 6"/>
          <p:cNvSpPr/>
          <p:nvPr/>
        </p:nvSpPr>
        <p:spPr>
          <a:xfrm>
            <a:off x="594360" y="1417320"/>
            <a:ext cx="4617720" cy="4343400"/>
          </a:xfrm>
          <a:prstGeom prst="rect">
            <a:avLst/>
          </a:prstGeom>
          <a:noFill/>
          <a:ln/>
        </p:spPr>
        <p:txBody>
          <a:bodyPr wrap="square" lIns="635" tIns="635" rIns="635" bIns="635" rtlCol="0" anchor="ctr">
            <a:normAutofit/>
          </a:bodyPr>
          <a:lstStyle/>
          <a:p>
            <a:r>
              <a:rPr lang="en-US" sz="1450" dirty="0">
                <a:solidFill>
                  <a:srgbClr val="24303F"/>
                </a:solidFill>
              </a:rPr>
              <a:t>• Payment confirmation currently takes 11.3 hours/month</a:t>
            </a:r>
            <a:endParaRPr lang="en-US" sz="1450" dirty="0"/>
          </a:p>
          <a:p>
            <a:r>
              <a:rPr lang="en-US" sz="1450" dirty="0">
                <a:solidFill>
                  <a:srgbClr val="24303F"/>
                </a:solidFill>
              </a:rPr>
              <a:t>• Delays occur 11 times/month</a:t>
            </a:r>
            <a:endParaRPr lang="en-US" sz="1450" dirty="0"/>
          </a:p>
          <a:p>
            <a:r>
              <a:rPr lang="en-US" sz="1450" dirty="0">
                <a:solidFill>
                  <a:srgbClr val="24303F"/>
                </a:solidFill>
              </a:rPr>
              <a:t>• Tracker standardizes status: pending, submitted, review, confirmed</a:t>
            </a:r>
            <a:endParaRPr lang="en-US" sz="1450" dirty="0"/>
          </a:p>
          <a:p>
            <a:r>
              <a:rPr lang="en-US" sz="1450" dirty="0">
                <a:solidFill>
                  <a:srgbClr val="24303F"/>
                </a:solidFill>
              </a:rPr>
              <a:t>• Human review remains for screenshot disputes and mismatches</a:t>
            </a:r>
            <a:endParaRPr lang="en-US" sz="1450" dirty="0"/>
          </a:p>
        </p:txBody>
      </p:sp>
      <p:sp>
        <p:nvSpPr>
          <p:cNvPr id="9" name="Shape 7"/>
          <p:cNvSpPr/>
          <p:nvPr/>
        </p:nvSpPr>
        <p:spPr>
          <a:xfrm>
            <a:off x="5669280" y="1600200"/>
            <a:ext cx="1105144" cy="493776"/>
          </a:xfrm>
          <a:prstGeom prst="roundRect">
            <a:avLst>
              <a:gd name="adj" fmla="val 14815"/>
            </a:avLst>
          </a:prstGeom>
          <a:solidFill>
            <a:srgbClr val="FFFFFF"/>
          </a:solidFill>
          <a:ln w="12700">
            <a:solidFill>
              <a:srgbClr val="C9A44C"/>
            </a:solidFill>
            <a:prstDash val="solid"/>
          </a:ln>
        </p:spPr>
      </p:sp>
      <p:sp>
        <p:nvSpPr>
          <p:cNvPr id="10" name="Text 8"/>
          <p:cNvSpPr/>
          <p:nvPr/>
        </p:nvSpPr>
        <p:spPr>
          <a:xfrm>
            <a:off x="5779008" y="1691640"/>
            <a:ext cx="885688" cy="329184"/>
          </a:xfrm>
          <a:prstGeom prst="rect">
            <a:avLst/>
          </a:prstGeom>
          <a:noFill/>
          <a:ln/>
        </p:spPr>
        <p:txBody>
          <a:bodyPr wrap="square" lIns="127" tIns="127" rIns="127" bIns="127" rtlCol="0" anchor="ctr">
            <a:normAutofit/>
          </a:bodyPr>
          <a:lstStyle/>
          <a:p>
            <a:pPr indent="0" marL="0">
              <a:buNone/>
            </a:pPr>
            <a:r>
              <a:rPr lang="en-US" sz="760" b="1" dirty="0">
                <a:solidFill>
                  <a:srgbClr val="24303F"/>
                </a:solidFill>
              </a:rPr>
              <a:t>Pending</a:t>
            </a:r>
            <a:endParaRPr lang="en-US" sz="760" dirty="0"/>
          </a:p>
        </p:txBody>
      </p:sp>
      <p:sp>
        <p:nvSpPr>
          <p:cNvPr id="11" name="Shape 9"/>
          <p:cNvSpPr/>
          <p:nvPr/>
        </p:nvSpPr>
        <p:spPr>
          <a:xfrm>
            <a:off x="6774424" y="1847088"/>
            <a:ext cx="109728" cy="0"/>
          </a:xfrm>
          <a:prstGeom prst="line">
            <a:avLst/>
          </a:prstGeom>
          <a:noFill/>
          <a:ln w="12700">
            <a:solidFill>
              <a:srgbClr val="2A9D8F"/>
            </a:solidFill>
            <a:prstDash val="solid"/>
            <a:headEnd type="none"/>
            <a:tailEnd type="triangle"/>
          </a:ln>
        </p:spPr>
      </p:sp>
      <p:sp>
        <p:nvSpPr>
          <p:cNvPr id="12" name="Shape 10"/>
          <p:cNvSpPr/>
          <p:nvPr/>
        </p:nvSpPr>
        <p:spPr>
          <a:xfrm>
            <a:off x="6920728" y="1600200"/>
            <a:ext cx="1105144" cy="493776"/>
          </a:xfrm>
          <a:prstGeom prst="roundRect">
            <a:avLst>
              <a:gd name="adj" fmla="val 14815"/>
            </a:avLst>
          </a:prstGeom>
          <a:solidFill>
            <a:srgbClr val="FFFFFF"/>
          </a:solidFill>
          <a:ln w="12700">
            <a:solidFill>
              <a:srgbClr val="C9A44C"/>
            </a:solidFill>
            <a:prstDash val="solid"/>
          </a:ln>
        </p:spPr>
      </p:sp>
      <p:sp>
        <p:nvSpPr>
          <p:cNvPr id="13" name="Text 11"/>
          <p:cNvSpPr/>
          <p:nvPr/>
        </p:nvSpPr>
        <p:spPr>
          <a:xfrm>
            <a:off x="7030456" y="1691640"/>
            <a:ext cx="885688" cy="329184"/>
          </a:xfrm>
          <a:prstGeom prst="rect">
            <a:avLst/>
          </a:prstGeom>
          <a:noFill/>
          <a:ln/>
        </p:spPr>
        <p:txBody>
          <a:bodyPr wrap="square" lIns="127" tIns="127" rIns="127" bIns="127" rtlCol="0" anchor="ctr">
            <a:normAutofit/>
          </a:bodyPr>
          <a:lstStyle/>
          <a:p>
            <a:pPr indent="0" marL="0">
              <a:buNone/>
            </a:pPr>
            <a:r>
              <a:rPr lang="en-US" sz="760" b="1" dirty="0">
                <a:solidFill>
                  <a:srgbClr val="24303F"/>
                </a:solidFill>
              </a:rPr>
              <a:t>Submitted</a:t>
            </a:r>
            <a:endParaRPr lang="en-US" sz="760" dirty="0"/>
          </a:p>
        </p:txBody>
      </p:sp>
      <p:sp>
        <p:nvSpPr>
          <p:cNvPr id="14" name="Shape 12"/>
          <p:cNvSpPr/>
          <p:nvPr/>
        </p:nvSpPr>
        <p:spPr>
          <a:xfrm>
            <a:off x="8025872" y="1847088"/>
            <a:ext cx="109728" cy="0"/>
          </a:xfrm>
          <a:prstGeom prst="line">
            <a:avLst/>
          </a:prstGeom>
          <a:noFill/>
          <a:ln w="12700">
            <a:solidFill>
              <a:srgbClr val="2A9D8F"/>
            </a:solidFill>
            <a:prstDash val="solid"/>
            <a:headEnd type="none"/>
            <a:tailEnd type="triangle"/>
          </a:ln>
        </p:spPr>
      </p:sp>
      <p:sp>
        <p:nvSpPr>
          <p:cNvPr id="15" name="Shape 13"/>
          <p:cNvSpPr/>
          <p:nvPr/>
        </p:nvSpPr>
        <p:spPr>
          <a:xfrm>
            <a:off x="8172176" y="1600200"/>
            <a:ext cx="1105144" cy="493776"/>
          </a:xfrm>
          <a:prstGeom prst="roundRect">
            <a:avLst>
              <a:gd name="adj" fmla="val 14815"/>
            </a:avLst>
          </a:prstGeom>
          <a:solidFill>
            <a:srgbClr val="FFFFFF"/>
          </a:solidFill>
          <a:ln w="12700">
            <a:solidFill>
              <a:srgbClr val="C9A44C"/>
            </a:solidFill>
            <a:prstDash val="solid"/>
          </a:ln>
        </p:spPr>
      </p:sp>
      <p:sp>
        <p:nvSpPr>
          <p:cNvPr id="16" name="Text 14"/>
          <p:cNvSpPr/>
          <p:nvPr/>
        </p:nvSpPr>
        <p:spPr>
          <a:xfrm>
            <a:off x="8281904" y="1691640"/>
            <a:ext cx="885688" cy="329184"/>
          </a:xfrm>
          <a:prstGeom prst="rect">
            <a:avLst/>
          </a:prstGeom>
          <a:noFill/>
          <a:ln/>
        </p:spPr>
        <p:txBody>
          <a:bodyPr wrap="square" lIns="127" tIns="127" rIns="127" bIns="127" rtlCol="0" anchor="ctr">
            <a:normAutofit/>
          </a:bodyPr>
          <a:lstStyle/>
          <a:p>
            <a:pPr indent="0" marL="0">
              <a:buNone/>
            </a:pPr>
            <a:r>
              <a:rPr lang="en-US" sz="760" b="1" dirty="0">
                <a:solidFill>
                  <a:srgbClr val="24303F"/>
                </a:solidFill>
              </a:rPr>
              <a:t>Review</a:t>
            </a:r>
            <a:endParaRPr lang="en-US" sz="760" dirty="0"/>
          </a:p>
        </p:txBody>
      </p:sp>
      <p:sp>
        <p:nvSpPr>
          <p:cNvPr id="17" name="Shape 15"/>
          <p:cNvSpPr/>
          <p:nvPr/>
        </p:nvSpPr>
        <p:spPr>
          <a:xfrm>
            <a:off x="9277320" y="1847088"/>
            <a:ext cx="109728" cy="0"/>
          </a:xfrm>
          <a:prstGeom prst="line">
            <a:avLst/>
          </a:prstGeom>
          <a:noFill/>
          <a:ln w="12700">
            <a:solidFill>
              <a:srgbClr val="2A9D8F"/>
            </a:solidFill>
            <a:prstDash val="solid"/>
            <a:headEnd type="none"/>
            <a:tailEnd type="triangle"/>
          </a:ln>
        </p:spPr>
      </p:sp>
      <p:sp>
        <p:nvSpPr>
          <p:cNvPr id="18" name="Shape 16"/>
          <p:cNvSpPr/>
          <p:nvPr/>
        </p:nvSpPr>
        <p:spPr>
          <a:xfrm>
            <a:off x="9423624" y="1600200"/>
            <a:ext cx="1105144" cy="493776"/>
          </a:xfrm>
          <a:prstGeom prst="roundRect">
            <a:avLst>
              <a:gd name="adj" fmla="val 14815"/>
            </a:avLst>
          </a:prstGeom>
          <a:solidFill>
            <a:srgbClr val="FFFFFF"/>
          </a:solidFill>
          <a:ln w="12700">
            <a:solidFill>
              <a:srgbClr val="C9A44C"/>
            </a:solidFill>
            <a:prstDash val="solid"/>
          </a:ln>
        </p:spPr>
      </p:sp>
      <p:sp>
        <p:nvSpPr>
          <p:cNvPr id="19" name="Text 17"/>
          <p:cNvSpPr/>
          <p:nvPr/>
        </p:nvSpPr>
        <p:spPr>
          <a:xfrm>
            <a:off x="9533352" y="1691640"/>
            <a:ext cx="885688" cy="329184"/>
          </a:xfrm>
          <a:prstGeom prst="rect">
            <a:avLst/>
          </a:prstGeom>
          <a:noFill/>
          <a:ln/>
        </p:spPr>
        <p:txBody>
          <a:bodyPr wrap="square" lIns="127" tIns="127" rIns="127" bIns="127" rtlCol="0" anchor="ctr">
            <a:normAutofit/>
          </a:bodyPr>
          <a:lstStyle/>
          <a:p>
            <a:pPr indent="0" marL="0">
              <a:buNone/>
            </a:pPr>
            <a:r>
              <a:rPr lang="en-US" sz="760" b="1" dirty="0">
                <a:solidFill>
                  <a:srgbClr val="24303F"/>
                </a:solidFill>
              </a:rPr>
              <a:t>Confirmed</a:t>
            </a:r>
            <a:endParaRPr lang="en-US" sz="760" dirty="0"/>
          </a:p>
        </p:txBody>
      </p:sp>
      <p:sp>
        <p:nvSpPr>
          <p:cNvPr id="20" name="Shape 18"/>
          <p:cNvSpPr/>
          <p:nvPr/>
        </p:nvSpPr>
        <p:spPr>
          <a:xfrm>
            <a:off x="10528767" y="1847088"/>
            <a:ext cx="109728" cy="0"/>
          </a:xfrm>
          <a:prstGeom prst="line">
            <a:avLst/>
          </a:prstGeom>
          <a:noFill/>
          <a:ln w="12700">
            <a:solidFill>
              <a:srgbClr val="2A9D8F"/>
            </a:solidFill>
            <a:prstDash val="solid"/>
            <a:headEnd type="none"/>
            <a:tailEnd type="triangle"/>
          </a:ln>
        </p:spPr>
      </p:sp>
      <p:sp>
        <p:nvSpPr>
          <p:cNvPr id="21" name="Shape 19"/>
          <p:cNvSpPr/>
          <p:nvPr/>
        </p:nvSpPr>
        <p:spPr>
          <a:xfrm>
            <a:off x="10675071" y="1600200"/>
            <a:ext cx="1105144" cy="493776"/>
          </a:xfrm>
          <a:prstGeom prst="roundRect">
            <a:avLst>
              <a:gd name="adj" fmla="val 14815"/>
            </a:avLst>
          </a:prstGeom>
          <a:solidFill>
            <a:srgbClr val="FFFFFF"/>
          </a:solidFill>
          <a:ln w="12700">
            <a:solidFill>
              <a:srgbClr val="C9A44C"/>
            </a:solidFill>
            <a:prstDash val="solid"/>
          </a:ln>
        </p:spPr>
      </p:sp>
      <p:sp>
        <p:nvSpPr>
          <p:cNvPr id="22" name="Text 20"/>
          <p:cNvSpPr/>
          <p:nvPr/>
        </p:nvSpPr>
        <p:spPr>
          <a:xfrm>
            <a:off x="10784799" y="1691640"/>
            <a:ext cx="885688" cy="329184"/>
          </a:xfrm>
          <a:prstGeom prst="rect">
            <a:avLst/>
          </a:prstGeom>
          <a:noFill/>
          <a:ln/>
        </p:spPr>
        <p:txBody>
          <a:bodyPr wrap="square" lIns="127" tIns="127" rIns="127" bIns="127" rtlCol="0" anchor="ctr">
            <a:normAutofit/>
          </a:bodyPr>
          <a:lstStyle/>
          <a:p>
            <a:pPr indent="0" marL="0">
              <a:buNone/>
            </a:pPr>
            <a:r>
              <a:rPr lang="en-US" sz="760" b="1" dirty="0">
                <a:solidFill>
                  <a:srgbClr val="24303F"/>
                </a:solidFill>
              </a:rPr>
              <a:t>Cleared</a:t>
            </a:r>
            <a:endParaRPr lang="en-US" sz="760" dirty="0"/>
          </a:p>
        </p:txBody>
      </p:sp>
      <p:sp>
        <p:nvSpPr>
          <p:cNvPr id="23" name="Shape 21"/>
          <p:cNvSpPr/>
          <p:nvPr/>
        </p:nvSpPr>
        <p:spPr>
          <a:xfrm>
            <a:off x="5715000" y="3246120"/>
            <a:ext cx="5212080" cy="777240"/>
          </a:xfrm>
          <a:prstGeom prst="roundRect">
            <a:avLst>
              <a:gd name="adj" fmla="val 9412"/>
            </a:avLst>
          </a:prstGeom>
          <a:solidFill>
            <a:srgbClr val="FFFFFF"/>
          </a:solidFill>
          <a:ln w="12700">
            <a:solidFill>
              <a:srgbClr val="B85C5C"/>
            </a:solidFill>
            <a:prstDash val="solid"/>
          </a:ln>
        </p:spPr>
      </p:sp>
      <p:sp>
        <p:nvSpPr>
          <p:cNvPr id="24" name="Text 22"/>
          <p:cNvSpPr/>
          <p:nvPr/>
        </p:nvSpPr>
        <p:spPr>
          <a:xfrm>
            <a:off x="5824728" y="3337560"/>
            <a:ext cx="4992624" cy="612648"/>
          </a:xfrm>
          <a:prstGeom prst="rect">
            <a:avLst/>
          </a:prstGeom>
          <a:noFill/>
          <a:ln/>
        </p:spPr>
        <p:txBody>
          <a:bodyPr wrap="square" lIns="127" tIns="127" rIns="127" bIns="127" rtlCol="0" anchor="ctr">
            <a:normAutofit/>
          </a:bodyPr>
          <a:lstStyle/>
          <a:p>
            <a:pPr indent="0" marL="0">
              <a:buNone/>
            </a:pPr>
            <a:r>
              <a:rPr lang="en-US" sz="1300" b="1" dirty="0">
                <a:solidFill>
                  <a:srgbClr val="24303F"/>
                </a:solidFill>
              </a:rPr>
              <a:t>Control principle: automate reminders and status tracking, not final confirmation without evidence.</a:t>
            </a:r>
            <a:endParaRPr lang="en-US" sz="1300" dirty="0"/>
          </a:p>
        </p:txBody>
      </p:sp>
      <p:sp>
        <p:nvSpPr>
          <p:cNvPr id="25" name="Text 23"/>
          <p:cNvSpPr/>
          <p:nvPr/>
        </p:nvSpPr>
        <p:spPr>
          <a:xfrm>
            <a:off x="11384280" y="6428232"/>
            <a:ext cx="320040" cy="109728"/>
          </a:xfrm>
          <a:prstGeom prst="rect">
            <a:avLst/>
          </a:prstGeom>
          <a:noFill/>
          <a:ln/>
        </p:spPr>
        <p:txBody>
          <a:bodyPr wrap="square" lIns="0" tIns="0" rIns="0" bIns="0" rtlCol="0" anchor="ctr"/>
          <a:lstStyle/>
          <a:p>
            <a:pPr algn="r" indent="0" marL="0">
              <a:buNone/>
            </a:pPr>
            <a:r>
              <a:rPr lang="en-US" sz="700" dirty="0">
                <a:solidFill>
                  <a:srgbClr val="FFFFFF"/>
                </a:solidFill>
              </a:rPr>
              <a:t>27</a:t>
            </a:r>
            <a:endParaRPr lang="en-US" sz="7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7F3EA"/>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4213D"/>
          </a:solidFill>
          <a:ln w="12700">
            <a:solidFill>
              <a:srgbClr val="14213D">
                <a:alpha val="0"/>
              </a:srgbClr>
            </a:solidFill>
            <a:prstDash val="solid"/>
          </a:ln>
        </p:spPr>
      </p:sp>
      <p:sp>
        <p:nvSpPr>
          <p:cNvPr id="3" name="Shape 1"/>
          <p:cNvSpPr/>
          <p:nvPr/>
        </p:nvSpPr>
        <p:spPr>
          <a:xfrm>
            <a:off x="0" y="6693408"/>
            <a:ext cx="12191695" cy="164592"/>
          </a:xfrm>
          <a:prstGeom prst="rect">
            <a:avLst/>
          </a:prstGeom>
          <a:solidFill>
            <a:srgbClr val="14213D"/>
          </a:solidFill>
          <a:ln w="12700">
            <a:solidFill>
              <a:srgbClr val="14213D">
                <a:alpha val="0"/>
              </a:srgbClr>
            </a:solidFill>
            <a:prstDash val="solid"/>
          </a:ln>
        </p:spPr>
      </p:sp>
      <p:sp>
        <p:nvSpPr>
          <p:cNvPr id="4" name="Text 2"/>
          <p:cNvSpPr/>
          <p:nvPr/>
        </p:nvSpPr>
        <p:spPr>
          <a:xfrm>
            <a:off x="502920" y="256032"/>
            <a:ext cx="4480560" cy="164592"/>
          </a:xfrm>
          <a:prstGeom prst="rect">
            <a:avLst/>
          </a:prstGeom>
          <a:noFill/>
          <a:ln/>
        </p:spPr>
        <p:txBody>
          <a:bodyPr wrap="square" lIns="0" tIns="0" rIns="0" bIns="0" rtlCol="0" anchor="ctr"/>
          <a:lstStyle/>
          <a:p>
            <a:pPr indent="0" marL="0">
              <a:buNone/>
            </a:pPr>
            <a:r>
              <a:rPr lang="en-US" sz="700" b="1" dirty="0">
                <a:solidFill>
                  <a:srgbClr val="2A9D8F"/>
                </a:solidFill>
                <a:latin typeface="Aptos" pitchFamily="34" charset="0"/>
                <a:ea typeface="Aptos" pitchFamily="34" charset="-122"/>
                <a:cs typeface="Aptos" pitchFamily="34" charset="-120"/>
              </a:rPr>
              <a:t>SECTION 4</a:t>
            </a:r>
            <a:endParaRPr lang="en-US" sz="700" dirty="0"/>
          </a:p>
        </p:txBody>
      </p:sp>
      <p:sp>
        <p:nvSpPr>
          <p:cNvPr id="5" name="Text 3"/>
          <p:cNvSpPr/>
          <p:nvPr/>
        </p:nvSpPr>
        <p:spPr>
          <a:xfrm>
            <a:off x="9281160" y="219456"/>
            <a:ext cx="2423160" cy="182880"/>
          </a:xfrm>
          <a:prstGeom prst="rect">
            <a:avLst/>
          </a:prstGeom>
          <a:noFill/>
          <a:ln/>
        </p:spPr>
        <p:txBody>
          <a:bodyPr wrap="square" lIns="0" tIns="0" rIns="0" bIns="0" rtlCol="0" anchor="ctr"/>
          <a:lstStyle/>
          <a:p>
            <a:pPr algn="r" indent="0" marL="0">
              <a:buNone/>
            </a:pPr>
            <a:r>
              <a:rPr lang="en-US" sz="700" dirty="0">
                <a:solidFill>
                  <a:srgbClr val="6D7886"/>
                </a:solidFill>
              </a:rPr>
              <a:t>Jifunze.ai skill booster</a:t>
            </a:r>
            <a:endParaRPr lang="en-US" sz="700" dirty="0"/>
          </a:p>
        </p:txBody>
      </p:sp>
      <p:sp>
        <p:nvSpPr>
          <p:cNvPr id="6" name="Text 4"/>
          <p:cNvSpPr/>
          <p:nvPr/>
        </p:nvSpPr>
        <p:spPr>
          <a:xfrm>
            <a:off x="502920" y="502920"/>
            <a:ext cx="4617720" cy="475488"/>
          </a:xfrm>
          <a:prstGeom prst="rect">
            <a:avLst/>
          </a:prstGeom>
          <a:noFill/>
          <a:ln/>
        </p:spPr>
        <p:txBody>
          <a:bodyPr wrap="square" lIns="127" tIns="127" rIns="127" bIns="127" rtlCol="0" anchor="ctr">
            <a:normAutofit/>
          </a:bodyPr>
          <a:lstStyle/>
          <a:p>
            <a:pPr indent="0" marL="0">
              <a:buNone/>
            </a:pPr>
            <a:r>
              <a:rPr lang="en-US" sz="2500" b="1" dirty="0">
                <a:solidFill>
                  <a:srgbClr val="14213D"/>
                </a:solidFill>
                <a:latin typeface="Aptos Display" pitchFamily="34" charset="0"/>
                <a:ea typeface="Aptos Display" pitchFamily="34" charset="-122"/>
                <a:cs typeface="Aptos Display" pitchFamily="34" charset="-120"/>
              </a:rPr>
              <a:t>Option 4: attendance and certificate workflow</a:t>
            </a:r>
            <a:endParaRPr lang="en-US" sz="2500" dirty="0"/>
          </a:p>
        </p:txBody>
      </p:sp>
      <p:sp>
        <p:nvSpPr>
          <p:cNvPr id="7" name="Text 5"/>
          <p:cNvSpPr/>
          <p:nvPr/>
        </p:nvSpPr>
        <p:spPr>
          <a:xfrm>
            <a:off x="521208" y="1005840"/>
            <a:ext cx="4617720" cy="228600"/>
          </a:xfrm>
          <a:prstGeom prst="rect">
            <a:avLst/>
          </a:prstGeom>
          <a:noFill/>
          <a:ln/>
        </p:spPr>
        <p:txBody>
          <a:bodyPr wrap="square" lIns="0" tIns="0" rIns="0" bIns="0" rtlCol="0" anchor="ctr">
            <a:normAutofit/>
          </a:bodyPr>
          <a:lstStyle/>
          <a:p>
            <a:pPr indent="0" marL="0">
              <a:buNone/>
            </a:pPr>
            <a:r>
              <a:rPr lang="en-US" sz="1080" dirty="0">
                <a:solidFill>
                  <a:srgbClr val="24303F"/>
                </a:solidFill>
              </a:rPr>
              <a:t>Certificate automation depends on reliable completion data</a:t>
            </a:r>
            <a:endParaRPr lang="en-US" sz="1080" dirty="0"/>
          </a:p>
        </p:txBody>
      </p:sp>
      <p:sp>
        <p:nvSpPr>
          <p:cNvPr id="8" name="Text 6"/>
          <p:cNvSpPr/>
          <p:nvPr/>
        </p:nvSpPr>
        <p:spPr>
          <a:xfrm>
            <a:off x="594360" y="1417320"/>
            <a:ext cx="4617720" cy="4343400"/>
          </a:xfrm>
          <a:prstGeom prst="rect">
            <a:avLst/>
          </a:prstGeom>
          <a:noFill/>
          <a:ln/>
        </p:spPr>
        <p:txBody>
          <a:bodyPr wrap="square" lIns="635" tIns="635" rIns="635" bIns="635" rtlCol="0" anchor="ctr">
            <a:normAutofit/>
          </a:bodyPr>
          <a:lstStyle/>
          <a:p>
            <a:r>
              <a:rPr lang="en-US" sz="1450" dirty="0">
                <a:solidFill>
                  <a:srgbClr val="24303F"/>
                </a:solidFill>
              </a:rPr>
              <a:t>• Attendance mismatch causes certificate delays</a:t>
            </a:r>
            <a:endParaRPr lang="en-US" sz="1450" dirty="0"/>
          </a:p>
          <a:p>
            <a:r>
              <a:rPr lang="en-US" sz="1450" dirty="0">
                <a:solidFill>
                  <a:srgbClr val="24303F"/>
                </a:solidFill>
              </a:rPr>
              <a:t>• QR/form check-in can reduce mismatch by 50%</a:t>
            </a:r>
            <a:endParaRPr lang="en-US" sz="1450" dirty="0"/>
          </a:p>
          <a:p>
            <a:r>
              <a:rPr lang="en-US" sz="1450" dirty="0">
                <a:solidFill>
                  <a:srgbClr val="24303F"/>
                </a:solidFill>
              </a:rPr>
              <a:t>• Certificate template automation can save 8.1 hours/month</a:t>
            </a:r>
            <a:endParaRPr lang="en-US" sz="1450" dirty="0"/>
          </a:p>
          <a:p>
            <a:r>
              <a:rPr lang="en-US" sz="1450" dirty="0">
                <a:solidFill>
                  <a:srgbClr val="24303F"/>
                </a:solidFill>
              </a:rPr>
              <a:t>• Final release should use completion and payment checks</a:t>
            </a:r>
            <a:endParaRPr lang="en-US" sz="1450" dirty="0"/>
          </a:p>
        </p:txBody>
      </p:sp>
      <p:sp>
        <p:nvSpPr>
          <p:cNvPr id="9" name="Shape 7"/>
          <p:cNvSpPr/>
          <p:nvPr/>
        </p:nvSpPr>
        <p:spPr>
          <a:xfrm>
            <a:off x="5577840" y="1417320"/>
            <a:ext cx="1123432" cy="493776"/>
          </a:xfrm>
          <a:prstGeom prst="roundRect">
            <a:avLst>
              <a:gd name="adj" fmla="val 14815"/>
            </a:avLst>
          </a:prstGeom>
          <a:solidFill>
            <a:srgbClr val="FFFFFF"/>
          </a:solidFill>
          <a:ln w="12700">
            <a:solidFill>
              <a:srgbClr val="C9A44C"/>
            </a:solidFill>
            <a:prstDash val="solid"/>
          </a:ln>
        </p:spPr>
      </p:sp>
      <p:sp>
        <p:nvSpPr>
          <p:cNvPr id="10" name="Text 8"/>
          <p:cNvSpPr/>
          <p:nvPr/>
        </p:nvSpPr>
        <p:spPr>
          <a:xfrm>
            <a:off x="5687568" y="1508760"/>
            <a:ext cx="903976" cy="329184"/>
          </a:xfrm>
          <a:prstGeom prst="rect">
            <a:avLst/>
          </a:prstGeom>
          <a:noFill/>
          <a:ln/>
        </p:spPr>
        <p:txBody>
          <a:bodyPr wrap="square" lIns="127" tIns="127" rIns="127" bIns="127" rtlCol="0" anchor="ctr">
            <a:normAutofit/>
          </a:bodyPr>
          <a:lstStyle/>
          <a:p>
            <a:pPr indent="0" marL="0">
              <a:buNone/>
            </a:pPr>
            <a:r>
              <a:rPr lang="en-US" sz="760" b="1" dirty="0">
                <a:solidFill>
                  <a:srgbClr val="24303F"/>
                </a:solidFill>
              </a:rPr>
              <a:t>QR check-in</a:t>
            </a:r>
            <a:endParaRPr lang="en-US" sz="760" dirty="0"/>
          </a:p>
        </p:txBody>
      </p:sp>
      <p:sp>
        <p:nvSpPr>
          <p:cNvPr id="11" name="Shape 9"/>
          <p:cNvSpPr/>
          <p:nvPr/>
        </p:nvSpPr>
        <p:spPr>
          <a:xfrm>
            <a:off x="6701272" y="1664208"/>
            <a:ext cx="109728" cy="0"/>
          </a:xfrm>
          <a:prstGeom prst="line">
            <a:avLst/>
          </a:prstGeom>
          <a:noFill/>
          <a:ln w="12700">
            <a:solidFill>
              <a:srgbClr val="2A9D8F"/>
            </a:solidFill>
            <a:prstDash val="solid"/>
            <a:headEnd type="none"/>
            <a:tailEnd type="triangle"/>
          </a:ln>
        </p:spPr>
      </p:sp>
      <p:sp>
        <p:nvSpPr>
          <p:cNvPr id="12" name="Shape 10"/>
          <p:cNvSpPr/>
          <p:nvPr/>
        </p:nvSpPr>
        <p:spPr>
          <a:xfrm>
            <a:off x="6847576" y="1417320"/>
            <a:ext cx="1123432" cy="493776"/>
          </a:xfrm>
          <a:prstGeom prst="roundRect">
            <a:avLst>
              <a:gd name="adj" fmla="val 14815"/>
            </a:avLst>
          </a:prstGeom>
          <a:solidFill>
            <a:srgbClr val="FFFFFF"/>
          </a:solidFill>
          <a:ln w="12700">
            <a:solidFill>
              <a:srgbClr val="C9A44C"/>
            </a:solidFill>
            <a:prstDash val="solid"/>
          </a:ln>
        </p:spPr>
      </p:sp>
      <p:sp>
        <p:nvSpPr>
          <p:cNvPr id="13" name="Text 11"/>
          <p:cNvSpPr/>
          <p:nvPr/>
        </p:nvSpPr>
        <p:spPr>
          <a:xfrm>
            <a:off x="6957304" y="1508760"/>
            <a:ext cx="903976" cy="329184"/>
          </a:xfrm>
          <a:prstGeom prst="rect">
            <a:avLst/>
          </a:prstGeom>
          <a:noFill/>
          <a:ln/>
        </p:spPr>
        <p:txBody>
          <a:bodyPr wrap="square" lIns="127" tIns="127" rIns="127" bIns="127" rtlCol="0" anchor="ctr">
            <a:normAutofit/>
          </a:bodyPr>
          <a:lstStyle/>
          <a:p>
            <a:pPr indent="0" marL="0">
              <a:buNone/>
            </a:pPr>
            <a:r>
              <a:rPr lang="en-US" sz="760" b="1" dirty="0">
                <a:solidFill>
                  <a:srgbClr val="24303F"/>
                </a:solidFill>
              </a:rPr>
              <a:t>Attendance record</a:t>
            </a:r>
            <a:endParaRPr lang="en-US" sz="760" dirty="0"/>
          </a:p>
        </p:txBody>
      </p:sp>
      <p:sp>
        <p:nvSpPr>
          <p:cNvPr id="14" name="Shape 12"/>
          <p:cNvSpPr/>
          <p:nvPr/>
        </p:nvSpPr>
        <p:spPr>
          <a:xfrm>
            <a:off x="7971008" y="1664208"/>
            <a:ext cx="109728" cy="0"/>
          </a:xfrm>
          <a:prstGeom prst="line">
            <a:avLst/>
          </a:prstGeom>
          <a:noFill/>
          <a:ln w="12700">
            <a:solidFill>
              <a:srgbClr val="2A9D8F"/>
            </a:solidFill>
            <a:prstDash val="solid"/>
            <a:headEnd type="none"/>
            <a:tailEnd type="triangle"/>
          </a:ln>
        </p:spPr>
      </p:sp>
      <p:sp>
        <p:nvSpPr>
          <p:cNvPr id="15" name="Shape 13"/>
          <p:cNvSpPr/>
          <p:nvPr/>
        </p:nvSpPr>
        <p:spPr>
          <a:xfrm>
            <a:off x="8117312" y="1417320"/>
            <a:ext cx="1123432" cy="493776"/>
          </a:xfrm>
          <a:prstGeom prst="roundRect">
            <a:avLst>
              <a:gd name="adj" fmla="val 14815"/>
            </a:avLst>
          </a:prstGeom>
          <a:solidFill>
            <a:srgbClr val="FFFFFF"/>
          </a:solidFill>
          <a:ln w="12700">
            <a:solidFill>
              <a:srgbClr val="C9A44C"/>
            </a:solidFill>
            <a:prstDash val="solid"/>
          </a:ln>
        </p:spPr>
      </p:sp>
      <p:sp>
        <p:nvSpPr>
          <p:cNvPr id="16" name="Text 14"/>
          <p:cNvSpPr/>
          <p:nvPr/>
        </p:nvSpPr>
        <p:spPr>
          <a:xfrm>
            <a:off x="8227040" y="1508760"/>
            <a:ext cx="903976" cy="329184"/>
          </a:xfrm>
          <a:prstGeom prst="rect">
            <a:avLst/>
          </a:prstGeom>
          <a:noFill/>
          <a:ln/>
        </p:spPr>
        <p:txBody>
          <a:bodyPr wrap="square" lIns="127" tIns="127" rIns="127" bIns="127" rtlCol="0" anchor="ctr">
            <a:normAutofit/>
          </a:bodyPr>
          <a:lstStyle/>
          <a:p>
            <a:pPr indent="0" marL="0">
              <a:buNone/>
            </a:pPr>
            <a:r>
              <a:rPr lang="en-US" sz="760" b="1" dirty="0">
                <a:solidFill>
                  <a:srgbClr val="24303F"/>
                </a:solidFill>
              </a:rPr>
              <a:t>Completion check</a:t>
            </a:r>
            <a:endParaRPr lang="en-US" sz="760" dirty="0"/>
          </a:p>
        </p:txBody>
      </p:sp>
      <p:sp>
        <p:nvSpPr>
          <p:cNvPr id="17" name="Shape 15"/>
          <p:cNvSpPr/>
          <p:nvPr/>
        </p:nvSpPr>
        <p:spPr>
          <a:xfrm>
            <a:off x="9240744" y="1664208"/>
            <a:ext cx="109728" cy="0"/>
          </a:xfrm>
          <a:prstGeom prst="line">
            <a:avLst/>
          </a:prstGeom>
          <a:noFill/>
          <a:ln w="12700">
            <a:solidFill>
              <a:srgbClr val="2A9D8F"/>
            </a:solidFill>
            <a:prstDash val="solid"/>
            <a:headEnd type="none"/>
            <a:tailEnd type="triangle"/>
          </a:ln>
        </p:spPr>
      </p:sp>
      <p:sp>
        <p:nvSpPr>
          <p:cNvPr id="18" name="Shape 16"/>
          <p:cNvSpPr/>
          <p:nvPr/>
        </p:nvSpPr>
        <p:spPr>
          <a:xfrm>
            <a:off x="9387048" y="1417320"/>
            <a:ext cx="1123432" cy="493776"/>
          </a:xfrm>
          <a:prstGeom prst="roundRect">
            <a:avLst>
              <a:gd name="adj" fmla="val 14815"/>
            </a:avLst>
          </a:prstGeom>
          <a:solidFill>
            <a:srgbClr val="FFFFFF"/>
          </a:solidFill>
          <a:ln w="12700">
            <a:solidFill>
              <a:srgbClr val="C9A44C"/>
            </a:solidFill>
            <a:prstDash val="solid"/>
          </a:ln>
        </p:spPr>
      </p:sp>
      <p:sp>
        <p:nvSpPr>
          <p:cNvPr id="19" name="Text 17"/>
          <p:cNvSpPr/>
          <p:nvPr/>
        </p:nvSpPr>
        <p:spPr>
          <a:xfrm>
            <a:off x="9496776" y="1508760"/>
            <a:ext cx="903976" cy="329184"/>
          </a:xfrm>
          <a:prstGeom prst="rect">
            <a:avLst/>
          </a:prstGeom>
          <a:noFill/>
          <a:ln/>
        </p:spPr>
        <p:txBody>
          <a:bodyPr wrap="square" lIns="127" tIns="127" rIns="127" bIns="127" rtlCol="0" anchor="ctr">
            <a:normAutofit/>
          </a:bodyPr>
          <a:lstStyle/>
          <a:p>
            <a:pPr indent="0" marL="0">
              <a:buNone/>
            </a:pPr>
            <a:r>
              <a:rPr lang="en-US" sz="760" b="1" dirty="0">
                <a:solidFill>
                  <a:srgbClr val="24303F"/>
                </a:solidFill>
              </a:rPr>
              <a:t>Cert template</a:t>
            </a:r>
            <a:endParaRPr lang="en-US" sz="760" dirty="0"/>
          </a:p>
        </p:txBody>
      </p:sp>
      <p:sp>
        <p:nvSpPr>
          <p:cNvPr id="20" name="Shape 18"/>
          <p:cNvSpPr/>
          <p:nvPr/>
        </p:nvSpPr>
        <p:spPr>
          <a:xfrm>
            <a:off x="10510479" y="1664208"/>
            <a:ext cx="109728" cy="0"/>
          </a:xfrm>
          <a:prstGeom prst="line">
            <a:avLst/>
          </a:prstGeom>
          <a:noFill/>
          <a:ln w="12700">
            <a:solidFill>
              <a:srgbClr val="2A9D8F"/>
            </a:solidFill>
            <a:prstDash val="solid"/>
            <a:headEnd type="none"/>
            <a:tailEnd type="triangle"/>
          </a:ln>
        </p:spPr>
      </p:sp>
      <p:sp>
        <p:nvSpPr>
          <p:cNvPr id="21" name="Shape 19"/>
          <p:cNvSpPr/>
          <p:nvPr/>
        </p:nvSpPr>
        <p:spPr>
          <a:xfrm>
            <a:off x="10656783" y="1417320"/>
            <a:ext cx="1123432" cy="493776"/>
          </a:xfrm>
          <a:prstGeom prst="roundRect">
            <a:avLst>
              <a:gd name="adj" fmla="val 14815"/>
            </a:avLst>
          </a:prstGeom>
          <a:solidFill>
            <a:srgbClr val="FFFFFF"/>
          </a:solidFill>
          <a:ln w="12700">
            <a:solidFill>
              <a:srgbClr val="C9A44C"/>
            </a:solidFill>
            <a:prstDash val="solid"/>
          </a:ln>
        </p:spPr>
      </p:sp>
      <p:sp>
        <p:nvSpPr>
          <p:cNvPr id="22" name="Text 20"/>
          <p:cNvSpPr/>
          <p:nvPr/>
        </p:nvSpPr>
        <p:spPr>
          <a:xfrm>
            <a:off x="10766511" y="1508760"/>
            <a:ext cx="903976" cy="329184"/>
          </a:xfrm>
          <a:prstGeom prst="rect">
            <a:avLst/>
          </a:prstGeom>
          <a:noFill/>
          <a:ln/>
        </p:spPr>
        <p:txBody>
          <a:bodyPr wrap="square" lIns="127" tIns="127" rIns="127" bIns="127" rtlCol="0" anchor="ctr">
            <a:normAutofit/>
          </a:bodyPr>
          <a:lstStyle/>
          <a:p>
            <a:pPr indent="0" marL="0">
              <a:buNone/>
            </a:pPr>
            <a:r>
              <a:rPr lang="en-US" sz="760" b="1" dirty="0">
                <a:solidFill>
                  <a:srgbClr val="24303F"/>
                </a:solidFill>
              </a:rPr>
              <a:t>Review</a:t>
            </a:r>
            <a:endParaRPr lang="en-US" sz="760" dirty="0"/>
          </a:p>
        </p:txBody>
      </p:sp>
      <p:sp>
        <p:nvSpPr>
          <p:cNvPr id="23" name="Shape 21"/>
          <p:cNvSpPr/>
          <p:nvPr/>
        </p:nvSpPr>
        <p:spPr>
          <a:xfrm>
            <a:off x="5760720" y="3154680"/>
            <a:ext cx="5029200" cy="777240"/>
          </a:xfrm>
          <a:prstGeom prst="roundRect">
            <a:avLst>
              <a:gd name="adj" fmla="val 9412"/>
            </a:avLst>
          </a:prstGeom>
          <a:solidFill>
            <a:srgbClr val="FFFFFF"/>
          </a:solidFill>
          <a:ln w="12700">
            <a:solidFill>
              <a:srgbClr val="C9A44C"/>
            </a:solidFill>
            <a:prstDash val="solid"/>
          </a:ln>
        </p:spPr>
      </p:sp>
      <p:sp>
        <p:nvSpPr>
          <p:cNvPr id="24" name="Text 22"/>
          <p:cNvSpPr/>
          <p:nvPr/>
        </p:nvSpPr>
        <p:spPr>
          <a:xfrm>
            <a:off x="5870448" y="3246120"/>
            <a:ext cx="4809744" cy="612648"/>
          </a:xfrm>
          <a:prstGeom prst="rect">
            <a:avLst/>
          </a:prstGeom>
          <a:noFill/>
          <a:ln/>
        </p:spPr>
        <p:txBody>
          <a:bodyPr wrap="square" lIns="127" tIns="127" rIns="127" bIns="127" rtlCol="0" anchor="ctr">
            <a:normAutofit/>
          </a:bodyPr>
          <a:lstStyle/>
          <a:p>
            <a:pPr indent="0" marL="0">
              <a:buNone/>
            </a:pPr>
            <a:r>
              <a:rPr lang="en-US" sz="1400" b="1" dirty="0">
                <a:solidFill>
                  <a:srgbClr val="24303F"/>
                </a:solidFill>
              </a:rPr>
              <a:t>Late certificates: 22/month. Automate templates after attendance data is cleaner.</a:t>
            </a:r>
            <a:endParaRPr lang="en-US" sz="1400" dirty="0"/>
          </a:p>
        </p:txBody>
      </p:sp>
      <p:sp>
        <p:nvSpPr>
          <p:cNvPr id="25" name="Text 23"/>
          <p:cNvSpPr/>
          <p:nvPr/>
        </p:nvSpPr>
        <p:spPr>
          <a:xfrm>
            <a:off x="11384280" y="6428232"/>
            <a:ext cx="320040" cy="109728"/>
          </a:xfrm>
          <a:prstGeom prst="rect">
            <a:avLst/>
          </a:prstGeom>
          <a:noFill/>
          <a:ln/>
        </p:spPr>
        <p:txBody>
          <a:bodyPr wrap="square" lIns="0" tIns="0" rIns="0" bIns="0" rtlCol="0" anchor="ctr"/>
          <a:lstStyle/>
          <a:p>
            <a:pPr algn="r" indent="0" marL="0">
              <a:buNone/>
            </a:pPr>
            <a:r>
              <a:rPr lang="en-US" sz="700" dirty="0">
                <a:solidFill>
                  <a:srgbClr val="FFFFFF"/>
                </a:solidFill>
              </a:rPr>
              <a:t>28</a:t>
            </a:r>
            <a:endParaRPr lang="en-US" sz="7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7F3EA"/>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4213D"/>
          </a:solidFill>
          <a:ln w="12700">
            <a:solidFill>
              <a:srgbClr val="14213D">
                <a:alpha val="0"/>
              </a:srgbClr>
            </a:solidFill>
            <a:prstDash val="solid"/>
          </a:ln>
        </p:spPr>
      </p:sp>
      <p:sp>
        <p:nvSpPr>
          <p:cNvPr id="3" name="Shape 1"/>
          <p:cNvSpPr/>
          <p:nvPr/>
        </p:nvSpPr>
        <p:spPr>
          <a:xfrm>
            <a:off x="0" y="6693408"/>
            <a:ext cx="12191695" cy="164592"/>
          </a:xfrm>
          <a:prstGeom prst="rect">
            <a:avLst/>
          </a:prstGeom>
          <a:solidFill>
            <a:srgbClr val="14213D"/>
          </a:solidFill>
          <a:ln w="12700">
            <a:solidFill>
              <a:srgbClr val="14213D">
                <a:alpha val="0"/>
              </a:srgbClr>
            </a:solidFill>
            <a:prstDash val="solid"/>
          </a:ln>
        </p:spPr>
      </p:sp>
      <p:sp>
        <p:nvSpPr>
          <p:cNvPr id="4" name="Text 2"/>
          <p:cNvSpPr/>
          <p:nvPr/>
        </p:nvSpPr>
        <p:spPr>
          <a:xfrm>
            <a:off x="502920" y="256032"/>
            <a:ext cx="4480560" cy="164592"/>
          </a:xfrm>
          <a:prstGeom prst="rect">
            <a:avLst/>
          </a:prstGeom>
          <a:noFill/>
          <a:ln/>
        </p:spPr>
        <p:txBody>
          <a:bodyPr wrap="square" lIns="0" tIns="0" rIns="0" bIns="0" rtlCol="0" anchor="ctr"/>
          <a:lstStyle/>
          <a:p>
            <a:pPr indent="0" marL="0">
              <a:buNone/>
            </a:pPr>
            <a:r>
              <a:rPr lang="en-US" sz="700" b="1" dirty="0">
                <a:solidFill>
                  <a:srgbClr val="2A9D8F"/>
                </a:solidFill>
                <a:latin typeface="Aptos" pitchFamily="34" charset="0"/>
                <a:ea typeface="Aptos" pitchFamily="34" charset="-122"/>
                <a:cs typeface="Aptos" pitchFamily="34" charset="-120"/>
              </a:rPr>
              <a:t>SECTION 4</a:t>
            </a:r>
            <a:endParaRPr lang="en-US" sz="700" dirty="0"/>
          </a:p>
        </p:txBody>
      </p:sp>
      <p:sp>
        <p:nvSpPr>
          <p:cNvPr id="5" name="Text 3"/>
          <p:cNvSpPr/>
          <p:nvPr/>
        </p:nvSpPr>
        <p:spPr>
          <a:xfrm>
            <a:off x="9281160" y="219456"/>
            <a:ext cx="2423160" cy="182880"/>
          </a:xfrm>
          <a:prstGeom prst="rect">
            <a:avLst/>
          </a:prstGeom>
          <a:noFill/>
          <a:ln/>
        </p:spPr>
        <p:txBody>
          <a:bodyPr wrap="square" lIns="0" tIns="0" rIns="0" bIns="0" rtlCol="0" anchor="ctr"/>
          <a:lstStyle/>
          <a:p>
            <a:pPr algn="r" indent="0" marL="0">
              <a:buNone/>
            </a:pPr>
            <a:r>
              <a:rPr lang="en-US" sz="700" dirty="0">
                <a:solidFill>
                  <a:srgbClr val="6D7886"/>
                </a:solidFill>
              </a:rPr>
              <a:t>Jifunze.ai skill booster</a:t>
            </a:r>
            <a:endParaRPr lang="en-US" sz="700" dirty="0"/>
          </a:p>
        </p:txBody>
      </p:sp>
      <p:sp>
        <p:nvSpPr>
          <p:cNvPr id="6" name="Text 4"/>
          <p:cNvSpPr/>
          <p:nvPr/>
        </p:nvSpPr>
        <p:spPr>
          <a:xfrm>
            <a:off x="502920" y="502920"/>
            <a:ext cx="4617720" cy="475488"/>
          </a:xfrm>
          <a:prstGeom prst="rect">
            <a:avLst/>
          </a:prstGeom>
          <a:noFill/>
          <a:ln/>
        </p:spPr>
        <p:txBody>
          <a:bodyPr wrap="square" lIns="127" tIns="127" rIns="127" bIns="127" rtlCol="0" anchor="ctr">
            <a:normAutofit/>
          </a:bodyPr>
          <a:lstStyle/>
          <a:p>
            <a:pPr indent="0" marL="0">
              <a:buNone/>
            </a:pPr>
            <a:r>
              <a:rPr lang="en-US" sz="2500" b="1" dirty="0">
                <a:solidFill>
                  <a:srgbClr val="14213D"/>
                </a:solidFill>
                <a:latin typeface="Aptos Display" pitchFamily="34" charset="0"/>
                <a:ea typeface="Aptos Display" pitchFamily="34" charset="-122"/>
                <a:cs typeface="Aptos Display" pitchFamily="34" charset="-120"/>
              </a:rPr>
              <a:t>Option 5: feedback and improvement loop</a:t>
            </a:r>
            <a:endParaRPr lang="en-US" sz="2500" dirty="0"/>
          </a:p>
        </p:txBody>
      </p:sp>
      <p:sp>
        <p:nvSpPr>
          <p:cNvPr id="7" name="Text 5"/>
          <p:cNvSpPr/>
          <p:nvPr/>
        </p:nvSpPr>
        <p:spPr>
          <a:xfrm>
            <a:off x="521208" y="1005840"/>
            <a:ext cx="4617720" cy="228600"/>
          </a:xfrm>
          <a:prstGeom prst="rect">
            <a:avLst/>
          </a:prstGeom>
          <a:noFill/>
          <a:ln/>
        </p:spPr>
        <p:txBody>
          <a:bodyPr wrap="square" lIns="0" tIns="0" rIns="0" bIns="0" rtlCol="0" anchor="ctr">
            <a:normAutofit/>
          </a:bodyPr>
          <a:lstStyle/>
          <a:p>
            <a:pPr indent="0" marL="0">
              <a:buNone/>
            </a:pPr>
            <a:r>
              <a:rPr lang="en-US" sz="1080" dirty="0">
                <a:solidFill>
                  <a:srgbClr val="24303F"/>
                </a:solidFill>
              </a:rPr>
              <a:t>Feedback automation turns learner experience into improvement data</a:t>
            </a:r>
            <a:endParaRPr lang="en-US" sz="1080" dirty="0"/>
          </a:p>
        </p:txBody>
      </p:sp>
      <p:sp>
        <p:nvSpPr>
          <p:cNvPr id="8" name="Text 6"/>
          <p:cNvSpPr/>
          <p:nvPr/>
        </p:nvSpPr>
        <p:spPr>
          <a:xfrm>
            <a:off x="594360" y="1417320"/>
            <a:ext cx="4617720" cy="4343400"/>
          </a:xfrm>
          <a:prstGeom prst="rect">
            <a:avLst/>
          </a:prstGeom>
          <a:noFill/>
          <a:ln/>
        </p:spPr>
        <p:txBody>
          <a:bodyPr wrap="square" lIns="635" tIns="635" rIns="635" bIns="635" rtlCol="0" anchor="ctr">
            <a:normAutofit/>
          </a:bodyPr>
          <a:lstStyle/>
          <a:p>
            <a:r>
              <a:rPr lang="en-US" sz="1450" dirty="0">
                <a:solidFill>
                  <a:srgbClr val="24303F"/>
                </a:solidFill>
              </a:rPr>
              <a:t>• Current feedback responses: 31 of 64 learners = 48%</a:t>
            </a:r>
            <a:endParaRPr lang="en-US" sz="1450" dirty="0"/>
          </a:p>
          <a:p>
            <a:r>
              <a:rPr lang="en-US" sz="1450" dirty="0">
                <a:solidFill>
                  <a:srgbClr val="24303F"/>
                </a:solidFill>
              </a:rPr>
              <a:t>• Target response rate: 75%</a:t>
            </a:r>
            <a:endParaRPr lang="en-US" sz="1450" dirty="0"/>
          </a:p>
          <a:p>
            <a:r>
              <a:rPr lang="en-US" sz="1450" dirty="0">
                <a:solidFill>
                  <a:srgbClr val="24303F"/>
                </a:solidFill>
              </a:rPr>
              <a:t>• Auto-send feedback form after course completion</a:t>
            </a:r>
            <a:endParaRPr lang="en-US" sz="1450" dirty="0"/>
          </a:p>
          <a:p>
            <a:r>
              <a:rPr lang="en-US" sz="1450" dirty="0">
                <a:solidFill>
                  <a:srgbClr val="24303F"/>
                </a:solidFill>
              </a:rPr>
              <a:t>• Use results to improve content, reminders, and facilitation</a:t>
            </a:r>
            <a:endParaRPr lang="en-US" sz="1450" dirty="0"/>
          </a:p>
        </p:txBody>
      </p:sp>
      <p:sp>
        <p:nvSpPr>
          <p:cNvPr id="9" name="Shape 7"/>
          <p:cNvSpPr/>
          <p:nvPr/>
        </p:nvSpPr>
        <p:spPr>
          <a:xfrm>
            <a:off x="5943600" y="1508760"/>
            <a:ext cx="2377440" cy="685800"/>
          </a:xfrm>
          <a:prstGeom prst="roundRect">
            <a:avLst>
              <a:gd name="adj" fmla="val 10667"/>
            </a:avLst>
          </a:prstGeom>
          <a:solidFill>
            <a:srgbClr val="FFFFFF"/>
          </a:solidFill>
          <a:ln w="12700">
            <a:solidFill>
              <a:srgbClr val="B85C5C"/>
            </a:solidFill>
            <a:prstDash val="solid"/>
          </a:ln>
        </p:spPr>
      </p:sp>
      <p:sp>
        <p:nvSpPr>
          <p:cNvPr id="10" name="Text 8"/>
          <p:cNvSpPr/>
          <p:nvPr/>
        </p:nvSpPr>
        <p:spPr>
          <a:xfrm>
            <a:off x="6053328" y="1600200"/>
            <a:ext cx="2157984" cy="521208"/>
          </a:xfrm>
          <a:prstGeom prst="rect">
            <a:avLst/>
          </a:prstGeom>
          <a:noFill/>
          <a:ln/>
        </p:spPr>
        <p:txBody>
          <a:bodyPr wrap="square" lIns="127" tIns="127" rIns="127" bIns="127" rtlCol="0" anchor="ctr">
            <a:normAutofit/>
          </a:bodyPr>
          <a:lstStyle/>
          <a:p>
            <a:pPr indent="0" marL="0">
              <a:buNone/>
            </a:pPr>
            <a:r>
              <a:rPr lang="en-US" sz="1700" b="1" dirty="0">
                <a:solidFill>
                  <a:srgbClr val="24303F"/>
                </a:solidFill>
              </a:rPr>
              <a:t>Current feedback rate: 48%</a:t>
            </a:r>
            <a:endParaRPr lang="en-US" sz="1700" dirty="0"/>
          </a:p>
        </p:txBody>
      </p:sp>
      <p:sp>
        <p:nvSpPr>
          <p:cNvPr id="11" name="Shape 9"/>
          <p:cNvSpPr/>
          <p:nvPr/>
        </p:nvSpPr>
        <p:spPr>
          <a:xfrm>
            <a:off x="8686800" y="1508760"/>
            <a:ext cx="2011680" cy="685800"/>
          </a:xfrm>
          <a:prstGeom prst="roundRect">
            <a:avLst>
              <a:gd name="adj" fmla="val 10667"/>
            </a:avLst>
          </a:prstGeom>
          <a:solidFill>
            <a:srgbClr val="FFFFFF"/>
          </a:solidFill>
          <a:ln w="12700">
            <a:solidFill>
              <a:srgbClr val="2A9D8F"/>
            </a:solidFill>
            <a:prstDash val="solid"/>
          </a:ln>
        </p:spPr>
      </p:sp>
      <p:sp>
        <p:nvSpPr>
          <p:cNvPr id="12" name="Text 10"/>
          <p:cNvSpPr/>
          <p:nvPr/>
        </p:nvSpPr>
        <p:spPr>
          <a:xfrm>
            <a:off x="8796528" y="1600200"/>
            <a:ext cx="1792224" cy="521208"/>
          </a:xfrm>
          <a:prstGeom prst="rect">
            <a:avLst/>
          </a:prstGeom>
          <a:noFill/>
          <a:ln/>
        </p:spPr>
        <p:txBody>
          <a:bodyPr wrap="square" lIns="127" tIns="127" rIns="127" bIns="127" rtlCol="0" anchor="ctr">
            <a:normAutofit/>
          </a:bodyPr>
          <a:lstStyle/>
          <a:p>
            <a:pPr indent="0" marL="0">
              <a:buNone/>
            </a:pPr>
            <a:r>
              <a:rPr lang="en-US" sz="1700" b="1" dirty="0">
                <a:solidFill>
                  <a:srgbClr val="24303F"/>
                </a:solidFill>
              </a:rPr>
              <a:t>Target rate: 75%</a:t>
            </a:r>
            <a:endParaRPr lang="en-US" sz="1700" dirty="0"/>
          </a:p>
        </p:txBody>
      </p:sp>
      <p:sp>
        <p:nvSpPr>
          <p:cNvPr id="13" name="Shape 11"/>
          <p:cNvSpPr/>
          <p:nvPr/>
        </p:nvSpPr>
        <p:spPr>
          <a:xfrm>
            <a:off x="8321040" y="1847088"/>
            <a:ext cx="347472" cy="0"/>
          </a:xfrm>
          <a:prstGeom prst="line">
            <a:avLst/>
          </a:prstGeom>
          <a:noFill/>
          <a:ln w="12700">
            <a:solidFill>
              <a:srgbClr val="2A9D8F"/>
            </a:solidFill>
            <a:prstDash val="solid"/>
            <a:headEnd type="none"/>
            <a:tailEnd type="triangle"/>
          </a:ln>
        </p:spPr>
      </p:sp>
      <p:sp>
        <p:nvSpPr>
          <p:cNvPr id="14" name="Shape 12"/>
          <p:cNvSpPr/>
          <p:nvPr/>
        </p:nvSpPr>
        <p:spPr>
          <a:xfrm>
            <a:off x="5623560" y="3063240"/>
            <a:ext cx="1114288" cy="493776"/>
          </a:xfrm>
          <a:prstGeom prst="roundRect">
            <a:avLst>
              <a:gd name="adj" fmla="val 14815"/>
            </a:avLst>
          </a:prstGeom>
          <a:solidFill>
            <a:srgbClr val="FFFFFF"/>
          </a:solidFill>
          <a:ln w="12700">
            <a:solidFill>
              <a:srgbClr val="C9A44C"/>
            </a:solidFill>
            <a:prstDash val="solid"/>
          </a:ln>
        </p:spPr>
      </p:sp>
      <p:sp>
        <p:nvSpPr>
          <p:cNvPr id="15" name="Text 13"/>
          <p:cNvSpPr/>
          <p:nvPr/>
        </p:nvSpPr>
        <p:spPr>
          <a:xfrm>
            <a:off x="5733288" y="3154680"/>
            <a:ext cx="894832" cy="329184"/>
          </a:xfrm>
          <a:prstGeom prst="rect">
            <a:avLst/>
          </a:prstGeom>
          <a:noFill/>
          <a:ln/>
        </p:spPr>
        <p:txBody>
          <a:bodyPr wrap="square" lIns="127" tIns="127" rIns="127" bIns="127" rtlCol="0" anchor="ctr">
            <a:normAutofit/>
          </a:bodyPr>
          <a:lstStyle/>
          <a:p>
            <a:pPr indent="0" marL="0">
              <a:buNone/>
            </a:pPr>
            <a:r>
              <a:rPr lang="en-US" sz="760" b="1" dirty="0">
                <a:solidFill>
                  <a:srgbClr val="24303F"/>
                </a:solidFill>
              </a:rPr>
              <a:t>Course ends</a:t>
            </a:r>
            <a:endParaRPr lang="en-US" sz="760" dirty="0"/>
          </a:p>
        </p:txBody>
      </p:sp>
      <p:sp>
        <p:nvSpPr>
          <p:cNvPr id="16" name="Shape 14"/>
          <p:cNvSpPr/>
          <p:nvPr/>
        </p:nvSpPr>
        <p:spPr>
          <a:xfrm>
            <a:off x="6737848" y="3310128"/>
            <a:ext cx="109728" cy="0"/>
          </a:xfrm>
          <a:prstGeom prst="line">
            <a:avLst/>
          </a:prstGeom>
          <a:noFill/>
          <a:ln w="12700">
            <a:solidFill>
              <a:srgbClr val="2A9D8F"/>
            </a:solidFill>
            <a:prstDash val="solid"/>
            <a:headEnd type="none"/>
            <a:tailEnd type="triangle"/>
          </a:ln>
        </p:spPr>
      </p:sp>
      <p:sp>
        <p:nvSpPr>
          <p:cNvPr id="17" name="Shape 15"/>
          <p:cNvSpPr/>
          <p:nvPr/>
        </p:nvSpPr>
        <p:spPr>
          <a:xfrm>
            <a:off x="6884152" y="3063240"/>
            <a:ext cx="1114288" cy="493776"/>
          </a:xfrm>
          <a:prstGeom prst="roundRect">
            <a:avLst>
              <a:gd name="adj" fmla="val 14815"/>
            </a:avLst>
          </a:prstGeom>
          <a:solidFill>
            <a:srgbClr val="FFFFFF"/>
          </a:solidFill>
          <a:ln w="12700">
            <a:solidFill>
              <a:srgbClr val="C9A44C"/>
            </a:solidFill>
            <a:prstDash val="solid"/>
          </a:ln>
        </p:spPr>
      </p:sp>
      <p:sp>
        <p:nvSpPr>
          <p:cNvPr id="18" name="Text 16"/>
          <p:cNvSpPr/>
          <p:nvPr/>
        </p:nvSpPr>
        <p:spPr>
          <a:xfrm>
            <a:off x="6993880" y="3154680"/>
            <a:ext cx="894832" cy="329184"/>
          </a:xfrm>
          <a:prstGeom prst="rect">
            <a:avLst/>
          </a:prstGeom>
          <a:noFill/>
          <a:ln/>
        </p:spPr>
        <p:txBody>
          <a:bodyPr wrap="square" lIns="127" tIns="127" rIns="127" bIns="127" rtlCol="0" anchor="ctr">
            <a:normAutofit/>
          </a:bodyPr>
          <a:lstStyle/>
          <a:p>
            <a:pPr indent="0" marL="0">
              <a:buNone/>
            </a:pPr>
            <a:r>
              <a:rPr lang="en-US" sz="760" b="1" dirty="0">
                <a:solidFill>
                  <a:srgbClr val="24303F"/>
                </a:solidFill>
              </a:rPr>
              <a:t>Auto form</a:t>
            </a:r>
            <a:endParaRPr lang="en-US" sz="760" dirty="0"/>
          </a:p>
        </p:txBody>
      </p:sp>
      <p:sp>
        <p:nvSpPr>
          <p:cNvPr id="19" name="Shape 17"/>
          <p:cNvSpPr/>
          <p:nvPr/>
        </p:nvSpPr>
        <p:spPr>
          <a:xfrm>
            <a:off x="7998440" y="3310128"/>
            <a:ext cx="109728" cy="0"/>
          </a:xfrm>
          <a:prstGeom prst="line">
            <a:avLst/>
          </a:prstGeom>
          <a:noFill/>
          <a:ln w="12700">
            <a:solidFill>
              <a:srgbClr val="2A9D8F"/>
            </a:solidFill>
            <a:prstDash val="solid"/>
            <a:headEnd type="none"/>
            <a:tailEnd type="triangle"/>
          </a:ln>
        </p:spPr>
      </p:sp>
      <p:sp>
        <p:nvSpPr>
          <p:cNvPr id="20" name="Shape 18"/>
          <p:cNvSpPr/>
          <p:nvPr/>
        </p:nvSpPr>
        <p:spPr>
          <a:xfrm>
            <a:off x="8144744" y="3063240"/>
            <a:ext cx="1114288" cy="493776"/>
          </a:xfrm>
          <a:prstGeom prst="roundRect">
            <a:avLst>
              <a:gd name="adj" fmla="val 14815"/>
            </a:avLst>
          </a:prstGeom>
          <a:solidFill>
            <a:srgbClr val="FFFFFF"/>
          </a:solidFill>
          <a:ln w="12700">
            <a:solidFill>
              <a:srgbClr val="C9A44C"/>
            </a:solidFill>
            <a:prstDash val="solid"/>
          </a:ln>
        </p:spPr>
      </p:sp>
      <p:sp>
        <p:nvSpPr>
          <p:cNvPr id="21" name="Text 19"/>
          <p:cNvSpPr/>
          <p:nvPr/>
        </p:nvSpPr>
        <p:spPr>
          <a:xfrm>
            <a:off x="8254472" y="3154680"/>
            <a:ext cx="894832" cy="329184"/>
          </a:xfrm>
          <a:prstGeom prst="rect">
            <a:avLst/>
          </a:prstGeom>
          <a:noFill/>
          <a:ln/>
        </p:spPr>
        <p:txBody>
          <a:bodyPr wrap="square" lIns="127" tIns="127" rIns="127" bIns="127" rtlCol="0" anchor="ctr">
            <a:normAutofit/>
          </a:bodyPr>
          <a:lstStyle/>
          <a:p>
            <a:pPr indent="0" marL="0">
              <a:buNone/>
            </a:pPr>
            <a:r>
              <a:rPr lang="en-US" sz="760" b="1" dirty="0">
                <a:solidFill>
                  <a:srgbClr val="24303F"/>
                </a:solidFill>
              </a:rPr>
              <a:t>Collect data</a:t>
            </a:r>
            <a:endParaRPr lang="en-US" sz="760" dirty="0"/>
          </a:p>
        </p:txBody>
      </p:sp>
      <p:sp>
        <p:nvSpPr>
          <p:cNvPr id="22" name="Shape 20"/>
          <p:cNvSpPr/>
          <p:nvPr/>
        </p:nvSpPr>
        <p:spPr>
          <a:xfrm>
            <a:off x="9259032" y="3310128"/>
            <a:ext cx="109728" cy="0"/>
          </a:xfrm>
          <a:prstGeom prst="line">
            <a:avLst/>
          </a:prstGeom>
          <a:noFill/>
          <a:ln w="12700">
            <a:solidFill>
              <a:srgbClr val="2A9D8F"/>
            </a:solidFill>
            <a:prstDash val="solid"/>
            <a:headEnd type="none"/>
            <a:tailEnd type="triangle"/>
          </a:ln>
        </p:spPr>
      </p:sp>
      <p:sp>
        <p:nvSpPr>
          <p:cNvPr id="23" name="Shape 21"/>
          <p:cNvSpPr/>
          <p:nvPr/>
        </p:nvSpPr>
        <p:spPr>
          <a:xfrm>
            <a:off x="9405336" y="3063240"/>
            <a:ext cx="1114288" cy="493776"/>
          </a:xfrm>
          <a:prstGeom prst="roundRect">
            <a:avLst>
              <a:gd name="adj" fmla="val 14815"/>
            </a:avLst>
          </a:prstGeom>
          <a:solidFill>
            <a:srgbClr val="FFFFFF"/>
          </a:solidFill>
          <a:ln w="12700">
            <a:solidFill>
              <a:srgbClr val="C9A44C"/>
            </a:solidFill>
            <a:prstDash val="solid"/>
          </a:ln>
        </p:spPr>
      </p:sp>
      <p:sp>
        <p:nvSpPr>
          <p:cNvPr id="24" name="Text 22"/>
          <p:cNvSpPr/>
          <p:nvPr/>
        </p:nvSpPr>
        <p:spPr>
          <a:xfrm>
            <a:off x="9515064" y="3154680"/>
            <a:ext cx="894832" cy="329184"/>
          </a:xfrm>
          <a:prstGeom prst="rect">
            <a:avLst/>
          </a:prstGeom>
          <a:noFill/>
          <a:ln/>
        </p:spPr>
        <p:txBody>
          <a:bodyPr wrap="square" lIns="127" tIns="127" rIns="127" bIns="127" rtlCol="0" anchor="ctr">
            <a:normAutofit/>
          </a:bodyPr>
          <a:lstStyle/>
          <a:p>
            <a:pPr indent="0" marL="0">
              <a:buNone/>
            </a:pPr>
            <a:r>
              <a:rPr lang="en-US" sz="760" b="1" dirty="0">
                <a:solidFill>
                  <a:srgbClr val="24303F"/>
                </a:solidFill>
              </a:rPr>
              <a:t>Review</a:t>
            </a:r>
            <a:endParaRPr lang="en-US" sz="760" dirty="0"/>
          </a:p>
        </p:txBody>
      </p:sp>
      <p:sp>
        <p:nvSpPr>
          <p:cNvPr id="25" name="Shape 23"/>
          <p:cNvSpPr/>
          <p:nvPr/>
        </p:nvSpPr>
        <p:spPr>
          <a:xfrm>
            <a:off x="10519623" y="3310128"/>
            <a:ext cx="109728" cy="0"/>
          </a:xfrm>
          <a:prstGeom prst="line">
            <a:avLst/>
          </a:prstGeom>
          <a:noFill/>
          <a:ln w="12700">
            <a:solidFill>
              <a:srgbClr val="2A9D8F"/>
            </a:solidFill>
            <a:prstDash val="solid"/>
            <a:headEnd type="none"/>
            <a:tailEnd type="triangle"/>
          </a:ln>
        </p:spPr>
      </p:sp>
      <p:sp>
        <p:nvSpPr>
          <p:cNvPr id="26" name="Shape 24"/>
          <p:cNvSpPr/>
          <p:nvPr/>
        </p:nvSpPr>
        <p:spPr>
          <a:xfrm>
            <a:off x="10665927" y="3063240"/>
            <a:ext cx="1114288" cy="493776"/>
          </a:xfrm>
          <a:prstGeom prst="roundRect">
            <a:avLst>
              <a:gd name="adj" fmla="val 14815"/>
            </a:avLst>
          </a:prstGeom>
          <a:solidFill>
            <a:srgbClr val="FFFFFF"/>
          </a:solidFill>
          <a:ln w="12700">
            <a:solidFill>
              <a:srgbClr val="C9A44C"/>
            </a:solidFill>
            <a:prstDash val="solid"/>
          </a:ln>
        </p:spPr>
      </p:sp>
      <p:sp>
        <p:nvSpPr>
          <p:cNvPr id="27" name="Text 25"/>
          <p:cNvSpPr/>
          <p:nvPr/>
        </p:nvSpPr>
        <p:spPr>
          <a:xfrm>
            <a:off x="10775655" y="3154680"/>
            <a:ext cx="894832" cy="329184"/>
          </a:xfrm>
          <a:prstGeom prst="rect">
            <a:avLst/>
          </a:prstGeom>
          <a:noFill/>
          <a:ln/>
        </p:spPr>
        <p:txBody>
          <a:bodyPr wrap="square" lIns="127" tIns="127" rIns="127" bIns="127" rtlCol="0" anchor="ctr">
            <a:normAutofit/>
          </a:bodyPr>
          <a:lstStyle/>
          <a:p>
            <a:pPr indent="0" marL="0">
              <a:buNone/>
            </a:pPr>
            <a:r>
              <a:rPr lang="en-US" sz="760" b="1" dirty="0">
                <a:solidFill>
                  <a:srgbClr val="24303F"/>
                </a:solidFill>
              </a:rPr>
              <a:t>Improve</a:t>
            </a:r>
            <a:endParaRPr lang="en-US" sz="760" dirty="0"/>
          </a:p>
        </p:txBody>
      </p:sp>
      <p:sp>
        <p:nvSpPr>
          <p:cNvPr id="28" name="Text 26"/>
          <p:cNvSpPr/>
          <p:nvPr/>
        </p:nvSpPr>
        <p:spPr>
          <a:xfrm>
            <a:off x="11384280" y="6428232"/>
            <a:ext cx="320040" cy="109728"/>
          </a:xfrm>
          <a:prstGeom prst="rect">
            <a:avLst/>
          </a:prstGeom>
          <a:noFill/>
          <a:ln/>
        </p:spPr>
        <p:txBody>
          <a:bodyPr wrap="square" lIns="0" tIns="0" rIns="0" bIns="0" rtlCol="0" anchor="ctr"/>
          <a:lstStyle/>
          <a:p>
            <a:pPr algn="r" indent="0" marL="0">
              <a:buNone/>
            </a:pPr>
            <a:r>
              <a:rPr lang="en-US" sz="700" dirty="0">
                <a:solidFill>
                  <a:srgbClr val="FFFFFF"/>
                </a:solidFill>
              </a:rPr>
              <a:t>29</a:t>
            </a:r>
            <a:endParaRPr lang="en-US" sz="7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7F3EA"/>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4213D"/>
          </a:solidFill>
          <a:ln w="12700">
            <a:solidFill>
              <a:srgbClr val="14213D">
                <a:alpha val="0"/>
              </a:srgbClr>
            </a:solidFill>
            <a:prstDash val="solid"/>
          </a:ln>
        </p:spPr>
      </p:sp>
      <p:sp>
        <p:nvSpPr>
          <p:cNvPr id="3" name="Shape 1"/>
          <p:cNvSpPr/>
          <p:nvPr/>
        </p:nvSpPr>
        <p:spPr>
          <a:xfrm>
            <a:off x="0" y="6693408"/>
            <a:ext cx="12191695" cy="164592"/>
          </a:xfrm>
          <a:prstGeom prst="rect">
            <a:avLst/>
          </a:prstGeom>
          <a:solidFill>
            <a:srgbClr val="14213D"/>
          </a:solidFill>
          <a:ln w="12700">
            <a:solidFill>
              <a:srgbClr val="14213D">
                <a:alpha val="0"/>
              </a:srgbClr>
            </a:solidFill>
            <a:prstDash val="solid"/>
          </a:ln>
        </p:spPr>
      </p:sp>
      <p:sp>
        <p:nvSpPr>
          <p:cNvPr id="4" name="Text 2"/>
          <p:cNvSpPr/>
          <p:nvPr/>
        </p:nvSpPr>
        <p:spPr>
          <a:xfrm>
            <a:off x="502920" y="256032"/>
            <a:ext cx="4480560" cy="164592"/>
          </a:xfrm>
          <a:prstGeom prst="rect">
            <a:avLst/>
          </a:prstGeom>
          <a:noFill/>
          <a:ln/>
        </p:spPr>
        <p:txBody>
          <a:bodyPr wrap="square" lIns="0" tIns="0" rIns="0" bIns="0" rtlCol="0" anchor="ctr"/>
          <a:lstStyle/>
          <a:p>
            <a:pPr indent="0" marL="0">
              <a:buNone/>
            </a:pPr>
            <a:r>
              <a:rPr lang="en-US" sz="700" b="1" dirty="0">
                <a:solidFill>
                  <a:srgbClr val="2A9D8F"/>
                </a:solidFill>
                <a:latin typeface="Aptos" pitchFamily="34" charset="0"/>
                <a:ea typeface="Aptos" pitchFamily="34" charset="-122"/>
                <a:cs typeface="Aptos" pitchFamily="34" charset="-120"/>
              </a:rPr>
              <a:t>SECTION 4</a:t>
            </a:r>
            <a:endParaRPr lang="en-US" sz="700" dirty="0"/>
          </a:p>
        </p:txBody>
      </p:sp>
      <p:sp>
        <p:nvSpPr>
          <p:cNvPr id="5" name="Text 3"/>
          <p:cNvSpPr/>
          <p:nvPr/>
        </p:nvSpPr>
        <p:spPr>
          <a:xfrm>
            <a:off x="9281160" y="219456"/>
            <a:ext cx="2423160" cy="182880"/>
          </a:xfrm>
          <a:prstGeom prst="rect">
            <a:avLst/>
          </a:prstGeom>
          <a:noFill/>
          <a:ln/>
        </p:spPr>
        <p:txBody>
          <a:bodyPr wrap="square" lIns="0" tIns="0" rIns="0" bIns="0" rtlCol="0" anchor="ctr"/>
          <a:lstStyle/>
          <a:p>
            <a:pPr algn="r" indent="0" marL="0">
              <a:buNone/>
            </a:pPr>
            <a:r>
              <a:rPr lang="en-US" sz="700" dirty="0">
                <a:solidFill>
                  <a:srgbClr val="6D7886"/>
                </a:solidFill>
              </a:rPr>
              <a:t>Jifunze.ai skill booster</a:t>
            </a:r>
            <a:endParaRPr lang="en-US" sz="700" dirty="0"/>
          </a:p>
        </p:txBody>
      </p:sp>
      <p:sp>
        <p:nvSpPr>
          <p:cNvPr id="6" name="Text 4"/>
          <p:cNvSpPr/>
          <p:nvPr/>
        </p:nvSpPr>
        <p:spPr>
          <a:xfrm>
            <a:off x="502920" y="502920"/>
            <a:ext cx="4617720" cy="475488"/>
          </a:xfrm>
          <a:prstGeom prst="rect">
            <a:avLst/>
          </a:prstGeom>
          <a:noFill/>
          <a:ln/>
        </p:spPr>
        <p:txBody>
          <a:bodyPr wrap="square" lIns="127" tIns="127" rIns="127" bIns="127" rtlCol="0" anchor="ctr">
            <a:normAutofit/>
          </a:bodyPr>
          <a:lstStyle/>
          <a:p>
            <a:pPr indent="0" marL="0">
              <a:buNone/>
            </a:pPr>
            <a:r>
              <a:rPr lang="en-US" sz="2500" b="1" dirty="0">
                <a:solidFill>
                  <a:srgbClr val="14213D"/>
                </a:solidFill>
                <a:latin typeface="Aptos Display" pitchFamily="34" charset="0"/>
                <a:ea typeface="Aptos Display" pitchFamily="34" charset="-122"/>
                <a:cs typeface="Aptos Display" pitchFamily="34" charset="-120"/>
              </a:rPr>
              <a:t>After workflow map</a:t>
            </a:r>
            <a:endParaRPr lang="en-US" sz="2500" dirty="0"/>
          </a:p>
        </p:txBody>
      </p:sp>
      <p:sp>
        <p:nvSpPr>
          <p:cNvPr id="7" name="Text 5"/>
          <p:cNvSpPr/>
          <p:nvPr/>
        </p:nvSpPr>
        <p:spPr>
          <a:xfrm>
            <a:off x="521208" y="1005840"/>
            <a:ext cx="4617720" cy="228600"/>
          </a:xfrm>
          <a:prstGeom prst="rect">
            <a:avLst/>
          </a:prstGeom>
          <a:noFill/>
          <a:ln/>
        </p:spPr>
        <p:txBody>
          <a:bodyPr wrap="square" lIns="0" tIns="0" rIns="0" bIns="0" rtlCol="0" anchor="ctr">
            <a:normAutofit/>
          </a:bodyPr>
          <a:lstStyle/>
          <a:p>
            <a:pPr indent="0" marL="0">
              <a:buNone/>
            </a:pPr>
            <a:r>
              <a:rPr lang="en-US" sz="1080" dirty="0">
                <a:solidFill>
                  <a:srgbClr val="24303F"/>
                </a:solidFill>
              </a:rPr>
              <a:t>Future state: structured intake, automated communication, controlled exceptions</a:t>
            </a:r>
            <a:endParaRPr lang="en-US" sz="1080" dirty="0"/>
          </a:p>
        </p:txBody>
      </p:sp>
      <p:sp>
        <p:nvSpPr>
          <p:cNvPr id="8" name="Text 6"/>
          <p:cNvSpPr/>
          <p:nvPr/>
        </p:nvSpPr>
        <p:spPr>
          <a:xfrm>
            <a:off x="594360" y="1417320"/>
            <a:ext cx="4617720" cy="4343400"/>
          </a:xfrm>
          <a:prstGeom prst="rect">
            <a:avLst/>
          </a:prstGeom>
          <a:noFill/>
          <a:ln/>
        </p:spPr>
        <p:txBody>
          <a:bodyPr wrap="square" lIns="635" tIns="635" rIns="635" bIns="635" rtlCol="0" anchor="ctr">
            <a:normAutofit/>
          </a:bodyPr>
          <a:lstStyle/>
          <a:p>
            <a:r>
              <a:rPr lang="en-US" sz="1450" dirty="0">
                <a:solidFill>
                  <a:srgbClr val="24303F"/>
                </a:solidFill>
              </a:rPr>
              <a:t>• Learner submits structured enquiry/registration form</a:t>
            </a:r>
            <a:endParaRPr lang="en-US" sz="1450" dirty="0"/>
          </a:p>
          <a:p>
            <a:r>
              <a:rPr lang="en-US" sz="1450" dirty="0">
                <a:solidFill>
                  <a:srgbClr val="24303F"/>
                </a:solidFill>
              </a:rPr>
              <a:t>• System sends course information and reminders</a:t>
            </a:r>
            <a:endParaRPr lang="en-US" sz="1450" dirty="0"/>
          </a:p>
          <a:p>
            <a:r>
              <a:rPr lang="en-US" sz="1450" dirty="0">
                <a:solidFill>
                  <a:srgbClr val="24303F"/>
                </a:solidFill>
              </a:rPr>
              <a:t>• Payment tracker routes exceptions to finance/admin</a:t>
            </a:r>
            <a:endParaRPr lang="en-US" sz="1450" dirty="0"/>
          </a:p>
          <a:p>
            <a:r>
              <a:rPr lang="en-US" sz="1450" dirty="0">
                <a:solidFill>
                  <a:srgbClr val="24303F"/>
                </a:solidFill>
              </a:rPr>
              <a:t>• Attendance record supports certificate generation</a:t>
            </a:r>
            <a:endParaRPr lang="en-US" sz="1450" dirty="0"/>
          </a:p>
          <a:p>
            <a:r>
              <a:rPr lang="en-US" sz="1450" dirty="0">
                <a:solidFill>
                  <a:srgbClr val="24303F"/>
                </a:solidFill>
              </a:rPr>
              <a:t>• Feedback automation closes the learning loop</a:t>
            </a:r>
            <a:endParaRPr lang="en-US" sz="1450" dirty="0"/>
          </a:p>
        </p:txBody>
      </p:sp>
      <p:sp>
        <p:nvSpPr>
          <p:cNvPr id="9" name="Shape 7"/>
          <p:cNvSpPr/>
          <p:nvPr/>
        </p:nvSpPr>
        <p:spPr>
          <a:xfrm>
            <a:off x="5394960" y="1325880"/>
            <a:ext cx="1160008" cy="493776"/>
          </a:xfrm>
          <a:prstGeom prst="roundRect">
            <a:avLst>
              <a:gd name="adj" fmla="val 14815"/>
            </a:avLst>
          </a:prstGeom>
          <a:solidFill>
            <a:srgbClr val="FFFFFF"/>
          </a:solidFill>
          <a:ln w="12700">
            <a:solidFill>
              <a:srgbClr val="C9A44C"/>
            </a:solidFill>
            <a:prstDash val="solid"/>
          </a:ln>
        </p:spPr>
      </p:sp>
      <p:sp>
        <p:nvSpPr>
          <p:cNvPr id="10" name="Text 8"/>
          <p:cNvSpPr/>
          <p:nvPr/>
        </p:nvSpPr>
        <p:spPr>
          <a:xfrm>
            <a:off x="5504688" y="1417320"/>
            <a:ext cx="940552" cy="329184"/>
          </a:xfrm>
          <a:prstGeom prst="rect">
            <a:avLst/>
          </a:prstGeom>
          <a:noFill/>
          <a:ln/>
        </p:spPr>
        <p:txBody>
          <a:bodyPr wrap="square" lIns="127" tIns="127" rIns="127" bIns="127" rtlCol="0" anchor="ctr">
            <a:normAutofit/>
          </a:bodyPr>
          <a:lstStyle/>
          <a:p>
            <a:pPr indent="0" marL="0">
              <a:buNone/>
            </a:pPr>
            <a:r>
              <a:rPr lang="en-US" sz="760" b="1" dirty="0">
                <a:solidFill>
                  <a:srgbClr val="24303F"/>
                </a:solidFill>
              </a:rPr>
              <a:t>Form</a:t>
            </a:r>
            <a:endParaRPr lang="en-US" sz="760" dirty="0"/>
          </a:p>
        </p:txBody>
      </p:sp>
      <p:sp>
        <p:nvSpPr>
          <p:cNvPr id="11" name="Shape 9"/>
          <p:cNvSpPr/>
          <p:nvPr/>
        </p:nvSpPr>
        <p:spPr>
          <a:xfrm>
            <a:off x="6554968" y="1572768"/>
            <a:ext cx="109728" cy="0"/>
          </a:xfrm>
          <a:prstGeom prst="line">
            <a:avLst/>
          </a:prstGeom>
          <a:noFill/>
          <a:ln w="12700">
            <a:solidFill>
              <a:srgbClr val="2A9D8F"/>
            </a:solidFill>
            <a:prstDash val="solid"/>
            <a:headEnd type="none"/>
            <a:tailEnd type="triangle"/>
          </a:ln>
        </p:spPr>
      </p:sp>
      <p:sp>
        <p:nvSpPr>
          <p:cNvPr id="12" name="Shape 10"/>
          <p:cNvSpPr/>
          <p:nvPr/>
        </p:nvSpPr>
        <p:spPr>
          <a:xfrm>
            <a:off x="6701272" y="1325880"/>
            <a:ext cx="1160008" cy="493776"/>
          </a:xfrm>
          <a:prstGeom prst="roundRect">
            <a:avLst>
              <a:gd name="adj" fmla="val 14815"/>
            </a:avLst>
          </a:prstGeom>
          <a:solidFill>
            <a:srgbClr val="FFFFFF"/>
          </a:solidFill>
          <a:ln w="12700">
            <a:solidFill>
              <a:srgbClr val="C9A44C"/>
            </a:solidFill>
            <a:prstDash val="solid"/>
          </a:ln>
        </p:spPr>
      </p:sp>
      <p:sp>
        <p:nvSpPr>
          <p:cNvPr id="13" name="Text 11"/>
          <p:cNvSpPr/>
          <p:nvPr/>
        </p:nvSpPr>
        <p:spPr>
          <a:xfrm>
            <a:off x="6811000" y="1417320"/>
            <a:ext cx="940552" cy="329184"/>
          </a:xfrm>
          <a:prstGeom prst="rect">
            <a:avLst/>
          </a:prstGeom>
          <a:noFill/>
          <a:ln/>
        </p:spPr>
        <p:txBody>
          <a:bodyPr wrap="square" lIns="127" tIns="127" rIns="127" bIns="127" rtlCol="0" anchor="ctr">
            <a:normAutofit/>
          </a:bodyPr>
          <a:lstStyle/>
          <a:p>
            <a:pPr indent="0" marL="0">
              <a:buNone/>
            </a:pPr>
            <a:r>
              <a:rPr lang="en-US" sz="760" b="1" dirty="0">
                <a:solidFill>
                  <a:srgbClr val="24303F"/>
                </a:solidFill>
              </a:rPr>
              <a:t>Auto info</a:t>
            </a:r>
            <a:endParaRPr lang="en-US" sz="760" dirty="0"/>
          </a:p>
        </p:txBody>
      </p:sp>
      <p:sp>
        <p:nvSpPr>
          <p:cNvPr id="14" name="Shape 12"/>
          <p:cNvSpPr/>
          <p:nvPr/>
        </p:nvSpPr>
        <p:spPr>
          <a:xfrm>
            <a:off x="7861280" y="1572768"/>
            <a:ext cx="109728" cy="0"/>
          </a:xfrm>
          <a:prstGeom prst="line">
            <a:avLst/>
          </a:prstGeom>
          <a:noFill/>
          <a:ln w="12700">
            <a:solidFill>
              <a:srgbClr val="2A9D8F"/>
            </a:solidFill>
            <a:prstDash val="solid"/>
            <a:headEnd type="none"/>
            <a:tailEnd type="triangle"/>
          </a:ln>
        </p:spPr>
      </p:sp>
      <p:sp>
        <p:nvSpPr>
          <p:cNvPr id="15" name="Shape 13"/>
          <p:cNvSpPr/>
          <p:nvPr/>
        </p:nvSpPr>
        <p:spPr>
          <a:xfrm>
            <a:off x="8007584" y="1325880"/>
            <a:ext cx="1160008" cy="493776"/>
          </a:xfrm>
          <a:prstGeom prst="roundRect">
            <a:avLst>
              <a:gd name="adj" fmla="val 14815"/>
            </a:avLst>
          </a:prstGeom>
          <a:solidFill>
            <a:srgbClr val="FDFBF5"/>
          </a:solidFill>
          <a:ln w="12700">
            <a:solidFill>
              <a:srgbClr val="C9A44C"/>
            </a:solidFill>
            <a:prstDash val="solid"/>
          </a:ln>
        </p:spPr>
      </p:sp>
      <p:sp>
        <p:nvSpPr>
          <p:cNvPr id="16" name="Text 14"/>
          <p:cNvSpPr/>
          <p:nvPr/>
        </p:nvSpPr>
        <p:spPr>
          <a:xfrm>
            <a:off x="8117312" y="1417320"/>
            <a:ext cx="940552" cy="329184"/>
          </a:xfrm>
          <a:prstGeom prst="rect">
            <a:avLst/>
          </a:prstGeom>
          <a:noFill/>
          <a:ln/>
        </p:spPr>
        <p:txBody>
          <a:bodyPr wrap="square" lIns="127" tIns="127" rIns="127" bIns="127" rtlCol="0" anchor="ctr">
            <a:normAutofit/>
          </a:bodyPr>
          <a:lstStyle/>
          <a:p>
            <a:pPr indent="0" marL="0">
              <a:buNone/>
            </a:pPr>
            <a:r>
              <a:rPr lang="en-US" sz="760" b="1" dirty="0">
                <a:solidFill>
                  <a:srgbClr val="24303F"/>
                </a:solidFill>
              </a:rPr>
              <a:t>Register</a:t>
            </a:r>
            <a:endParaRPr lang="en-US" sz="760" dirty="0"/>
          </a:p>
        </p:txBody>
      </p:sp>
      <p:sp>
        <p:nvSpPr>
          <p:cNvPr id="17" name="Shape 15"/>
          <p:cNvSpPr/>
          <p:nvPr/>
        </p:nvSpPr>
        <p:spPr>
          <a:xfrm>
            <a:off x="9167592" y="1572768"/>
            <a:ext cx="109728" cy="0"/>
          </a:xfrm>
          <a:prstGeom prst="line">
            <a:avLst/>
          </a:prstGeom>
          <a:noFill/>
          <a:ln w="12700">
            <a:solidFill>
              <a:srgbClr val="2A9D8F"/>
            </a:solidFill>
            <a:prstDash val="solid"/>
            <a:headEnd type="none"/>
            <a:tailEnd type="triangle"/>
          </a:ln>
        </p:spPr>
      </p:sp>
      <p:sp>
        <p:nvSpPr>
          <p:cNvPr id="18" name="Shape 16"/>
          <p:cNvSpPr/>
          <p:nvPr/>
        </p:nvSpPr>
        <p:spPr>
          <a:xfrm>
            <a:off x="9313896" y="1325880"/>
            <a:ext cx="1160008" cy="493776"/>
          </a:xfrm>
          <a:prstGeom prst="roundRect">
            <a:avLst>
              <a:gd name="adj" fmla="val 14815"/>
            </a:avLst>
          </a:prstGeom>
          <a:solidFill>
            <a:srgbClr val="FDFBF5"/>
          </a:solidFill>
          <a:ln w="12700">
            <a:solidFill>
              <a:srgbClr val="C9A44C"/>
            </a:solidFill>
            <a:prstDash val="solid"/>
          </a:ln>
        </p:spPr>
      </p:sp>
      <p:sp>
        <p:nvSpPr>
          <p:cNvPr id="19" name="Text 17"/>
          <p:cNvSpPr/>
          <p:nvPr/>
        </p:nvSpPr>
        <p:spPr>
          <a:xfrm>
            <a:off x="9423624" y="1417320"/>
            <a:ext cx="940552" cy="329184"/>
          </a:xfrm>
          <a:prstGeom prst="rect">
            <a:avLst/>
          </a:prstGeom>
          <a:noFill/>
          <a:ln/>
        </p:spPr>
        <p:txBody>
          <a:bodyPr wrap="square" lIns="127" tIns="127" rIns="127" bIns="127" rtlCol="0" anchor="ctr">
            <a:normAutofit/>
          </a:bodyPr>
          <a:lstStyle/>
          <a:p>
            <a:pPr indent="0" marL="0">
              <a:buNone/>
            </a:pPr>
            <a:r>
              <a:rPr lang="en-US" sz="760" b="1" dirty="0">
                <a:solidFill>
                  <a:srgbClr val="24303F"/>
                </a:solidFill>
              </a:rPr>
              <a:t>Pay tracker</a:t>
            </a:r>
            <a:endParaRPr lang="en-US" sz="760" dirty="0"/>
          </a:p>
        </p:txBody>
      </p:sp>
      <p:sp>
        <p:nvSpPr>
          <p:cNvPr id="20" name="Shape 18"/>
          <p:cNvSpPr/>
          <p:nvPr/>
        </p:nvSpPr>
        <p:spPr>
          <a:xfrm>
            <a:off x="10473903" y="1572768"/>
            <a:ext cx="109728" cy="0"/>
          </a:xfrm>
          <a:prstGeom prst="line">
            <a:avLst/>
          </a:prstGeom>
          <a:noFill/>
          <a:ln w="12700">
            <a:solidFill>
              <a:srgbClr val="2A9D8F"/>
            </a:solidFill>
            <a:prstDash val="solid"/>
            <a:headEnd type="none"/>
            <a:tailEnd type="triangle"/>
          </a:ln>
        </p:spPr>
      </p:sp>
      <p:sp>
        <p:nvSpPr>
          <p:cNvPr id="21" name="Shape 19"/>
          <p:cNvSpPr/>
          <p:nvPr/>
        </p:nvSpPr>
        <p:spPr>
          <a:xfrm>
            <a:off x="10620207" y="1325880"/>
            <a:ext cx="1160008" cy="493776"/>
          </a:xfrm>
          <a:prstGeom prst="roundRect">
            <a:avLst>
              <a:gd name="adj" fmla="val 14815"/>
            </a:avLst>
          </a:prstGeom>
          <a:solidFill>
            <a:srgbClr val="FDFBF5"/>
          </a:solidFill>
          <a:ln w="12700">
            <a:solidFill>
              <a:srgbClr val="C9A44C"/>
            </a:solidFill>
            <a:prstDash val="solid"/>
          </a:ln>
        </p:spPr>
      </p:sp>
      <p:sp>
        <p:nvSpPr>
          <p:cNvPr id="22" name="Text 20"/>
          <p:cNvSpPr/>
          <p:nvPr/>
        </p:nvSpPr>
        <p:spPr>
          <a:xfrm>
            <a:off x="10729935" y="1417320"/>
            <a:ext cx="940552" cy="329184"/>
          </a:xfrm>
          <a:prstGeom prst="rect">
            <a:avLst/>
          </a:prstGeom>
          <a:noFill/>
          <a:ln/>
        </p:spPr>
        <p:txBody>
          <a:bodyPr wrap="square" lIns="127" tIns="127" rIns="127" bIns="127" rtlCol="0" anchor="ctr">
            <a:normAutofit/>
          </a:bodyPr>
          <a:lstStyle/>
          <a:p>
            <a:pPr indent="0" marL="0">
              <a:buNone/>
            </a:pPr>
            <a:r>
              <a:rPr lang="en-US" sz="760" b="1" dirty="0">
                <a:solidFill>
                  <a:srgbClr val="24303F"/>
                </a:solidFill>
              </a:rPr>
              <a:t>Reminder</a:t>
            </a:r>
            <a:endParaRPr lang="en-US" sz="760" dirty="0"/>
          </a:p>
        </p:txBody>
      </p:sp>
      <p:sp>
        <p:nvSpPr>
          <p:cNvPr id="23" name="Shape 21"/>
          <p:cNvSpPr/>
          <p:nvPr/>
        </p:nvSpPr>
        <p:spPr>
          <a:xfrm>
            <a:off x="5394960" y="2606040"/>
            <a:ext cx="1160008" cy="493776"/>
          </a:xfrm>
          <a:prstGeom prst="roundRect">
            <a:avLst>
              <a:gd name="adj" fmla="val 14815"/>
            </a:avLst>
          </a:prstGeom>
          <a:solidFill>
            <a:srgbClr val="FFFFFF"/>
          </a:solidFill>
          <a:ln w="12700">
            <a:solidFill>
              <a:srgbClr val="C9A44C"/>
            </a:solidFill>
            <a:prstDash val="solid"/>
          </a:ln>
        </p:spPr>
      </p:sp>
      <p:sp>
        <p:nvSpPr>
          <p:cNvPr id="24" name="Text 22"/>
          <p:cNvSpPr/>
          <p:nvPr/>
        </p:nvSpPr>
        <p:spPr>
          <a:xfrm>
            <a:off x="5504688" y="2697480"/>
            <a:ext cx="940552" cy="329184"/>
          </a:xfrm>
          <a:prstGeom prst="rect">
            <a:avLst/>
          </a:prstGeom>
          <a:noFill/>
          <a:ln/>
        </p:spPr>
        <p:txBody>
          <a:bodyPr wrap="square" lIns="127" tIns="127" rIns="127" bIns="127" rtlCol="0" anchor="ctr">
            <a:normAutofit/>
          </a:bodyPr>
          <a:lstStyle/>
          <a:p>
            <a:pPr indent="0" marL="0">
              <a:buNone/>
            </a:pPr>
            <a:r>
              <a:rPr lang="en-US" sz="760" b="1" dirty="0">
                <a:solidFill>
                  <a:srgbClr val="24303F"/>
                </a:solidFill>
              </a:rPr>
              <a:t>Check-in</a:t>
            </a:r>
            <a:endParaRPr lang="en-US" sz="760" dirty="0"/>
          </a:p>
        </p:txBody>
      </p:sp>
      <p:sp>
        <p:nvSpPr>
          <p:cNvPr id="25" name="Shape 23"/>
          <p:cNvSpPr/>
          <p:nvPr/>
        </p:nvSpPr>
        <p:spPr>
          <a:xfrm>
            <a:off x="6554968" y="2852928"/>
            <a:ext cx="109728" cy="0"/>
          </a:xfrm>
          <a:prstGeom prst="line">
            <a:avLst/>
          </a:prstGeom>
          <a:noFill/>
          <a:ln w="12700">
            <a:solidFill>
              <a:srgbClr val="2A9D8F"/>
            </a:solidFill>
            <a:prstDash val="solid"/>
            <a:headEnd type="none"/>
            <a:tailEnd type="triangle"/>
          </a:ln>
        </p:spPr>
      </p:sp>
      <p:sp>
        <p:nvSpPr>
          <p:cNvPr id="26" name="Shape 24"/>
          <p:cNvSpPr/>
          <p:nvPr/>
        </p:nvSpPr>
        <p:spPr>
          <a:xfrm>
            <a:off x="6701272" y="2606040"/>
            <a:ext cx="1160008" cy="493776"/>
          </a:xfrm>
          <a:prstGeom prst="roundRect">
            <a:avLst>
              <a:gd name="adj" fmla="val 14815"/>
            </a:avLst>
          </a:prstGeom>
          <a:solidFill>
            <a:srgbClr val="FFFFFF"/>
          </a:solidFill>
          <a:ln w="12700">
            <a:solidFill>
              <a:srgbClr val="C9A44C"/>
            </a:solidFill>
            <a:prstDash val="solid"/>
          </a:ln>
        </p:spPr>
      </p:sp>
      <p:sp>
        <p:nvSpPr>
          <p:cNvPr id="27" name="Text 25"/>
          <p:cNvSpPr/>
          <p:nvPr/>
        </p:nvSpPr>
        <p:spPr>
          <a:xfrm>
            <a:off x="6811000" y="2697480"/>
            <a:ext cx="940552" cy="329184"/>
          </a:xfrm>
          <a:prstGeom prst="rect">
            <a:avLst/>
          </a:prstGeom>
          <a:noFill/>
          <a:ln/>
        </p:spPr>
        <p:txBody>
          <a:bodyPr wrap="square" lIns="127" tIns="127" rIns="127" bIns="127" rtlCol="0" anchor="ctr">
            <a:normAutofit/>
          </a:bodyPr>
          <a:lstStyle/>
          <a:p>
            <a:pPr indent="0" marL="0">
              <a:buNone/>
            </a:pPr>
            <a:r>
              <a:rPr lang="en-US" sz="760" b="1" dirty="0">
                <a:solidFill>
                  <a:srgbClr val="24303F"/>
                </a:solidFill>
              </a:rPr>
              <a:t>Completion</a:t>
            </a:r>
            <a:endParaRPr lang="en-US" sz="760" dirty="0"/>
          </a:p>
        </p:txBody>
      </p:sp>
      <p:sp>
        <p:nvSpPr>
          <p:cNvPr id="28" name="Shape 26"/>
          <p:cNvSpPr/>
          <p:nvPr/>
        </p:nvSpPr>
        <p:spPr>
          <a:xfrm>
            <a:off x="7861280" y="2852928"/>
            <a:ext cx="109728" cy="0"/>
          </a:xfrm>
          <a:prstGeom prst="line">
            <a:avLst/>
          </a:prstGeom>
          <a:noFill/>
          <a:ln w="12700">
            <a:solidFill>
              <a:srgbClr val="2A9D8F"/>
            </a:solidFill>
            <a:prstDash val="solid"/>
            <a:headEnd type="none"/>
            <a:tailEnd type="triangle"/>
          </a:ln>
        </p:spPr>
      </p:sp>
      <p:sp>
        <p:nvSpPr>
          <p:cNvPr id="29" name="Shape 27"/>
          <p:cNvSpPr/>
          <p:nvPr/>
        </p:nvSpPr>
        <p:spPr>
          <a:xfrm>
            <a:off x="8007584" y="2606040"/>
            <a:ext cx="1160008" cy="493776"/>
          </a:xfrm>
          <a:prstGeom prst="roundRect">
            <a:avLst>
              <a:gd name="adj" fmla="val 14815"/>
            </a:avLst>
          </a:prstGeom>
          <a:solidFill>
            <a:srgbClr val="FDFBF5"/>
          </a:solidFill>
          <a:ln w="12700">
            <a:solidFill>
              <a:srgbClr val="C9A44C"/>
            </a:solidFill>
            <a:prstDash val="solid"/>
          </a:ln>
        </p:spPr>
      </p:sp>
      <p:sp>
        <p:nvSpPr>
          <p:cNvPr id="30" name="Text 28"/>
          <p:cNvSpPr/>
          <p:nvPr/>
        </p:nvSpPr>
        <p:spPr>
          <a:xfrm>
            <a:off x="8117312" y="2697480"/>
            <a:ext cx="940552" cy="329184"/>
          </a:xfrm>
          <a:prstGeom prst="rect">
            <a:avLst/>
          </a:prstGeom>
          <a:noFill/>
          <a:ln/>
        </p:spPr>
        <p:txBody>
          <a:bodyPr wrap="square" lIns="127" tIns="127" rIns="127" bIns="127" rtlCol="0" anchor="ctr">
            <a:normAutofit/>
          </a:bodyPr>
          <a:lstStyle/>
          <a:p>
            <a:pPr indent="0" marL="0">
              <a:buNone/>
            </a:pPr>
            <a:r>
              <a:rPr lang="en-US" sz="760" b="1" dirty="0">
                <a:solidFill>
                  <a:srgbClr val="24303F"/>
                </a:solidFill>
              </a:rPr>
              <a:t>Cert draft</a:t>
            </a:r>
            <a:endParaRPr lang="en-US" sz="760" dirty="0"/>
          </a:p>
        </p:txBody>
      </p:sp>
      <p:sp>
        <p:nvSpPr>
          <p:cNvPr id="31" name="Shape 29"/>
          <p:cNvSpPr/>
          <p:nvPr/>
        </p:nvSpPr>
        <p:spPr>
          <a:xfrm>
            <a:off x="9167592" y="2852928"/>
            <a:ext cx="109728" cy="0"/>
          </a:xfrm>
          <a:prstGeom prst="line">
            <a:avLst/>
          </a:prstGeom>
          <a:noFill/>
          <a:ln w="12700">
            <a:solidFill>
              <a:srgbClr val="2A9D8F"/>
            </a:solidFill>
            <a:prstDash val="solid"/>
            <a:headEnd type="none"/>
            <a:tailEnd type="triangle"/>
          </a:ln>
        </p:spPr>
      </p:sp>
      <p:sp>
        <p:nvSpPr>
          <p:cNvPr id="32" name="Shape 30"/>
          <p:cNvSpPr/>
          <p:nvPr/>
        </p:nvSpPr>
        <p:spPr>
          <a:xfrm>
            <a:off x="9313896" y="2606040"/>
            <a:ext cx="1160008" cy="493776"/>
          </a:xfrm>
          <a:prstGeom prst="roundRect">
            <a:avLst>
              <a:gd name="adj" fmla="val 14815"/>
            </a:avLst>
          </a:prstGeom>
          <a:solidFill>
            <a:srgbClr val="FDFBF5"/>
          </a:solidFill>
          <a:ln w="12700">
            <a:solidFill>
              <a:srgbClr val="C9A44C"/>
            </a:solidFill>
            <a:prstDash val="solid"/>
          </a:ln>
        </p:spPr>
      </p:sp>
      <p:sp>
        <p:nvSpPr>
          <p:cNvPr id="33" name="Text 31"/>
          <p:cNvSpPr/>
          <p:nvPr/>
        </p:nvSpPr>
        <p:spPr>
          <a:xfrm>
            <a:off x="9423624" y="2697480"/>
            <a:ext cx="940552" cy="329184"/>
          </a:xfrm>
          <a:prstGeom prst="rect">
            <a:avLst/>
          </a:prstGeom>
          <a:noFill/>
          <a:ln/>
        </p:spPr>
        <p:txBody>
          <a:bodyPr wrap="square" lIns="127" tIns="127" rIns="127" bIns="127" rtlCol="0" anchor="ctr">
            <a:normAutofit/>
          </a:bodyPr>
          <a:lstStyle/>
          <a:p>
            <a:pPr indent="0" marL="0">
              <a:buNone/>
            </a:pPr>
            <a:r>
              <a:rPr lang="en-US" sz="760" b="1" dirty="0">
                <a:solidFill>
                  <a:srgbClr val="24303F"/>
                </a:solidFill>
              </a:rPr>
              <a:t>Feedback</a:t>
            </a:r>
            <a:endParaRPr lang="en-US" sz="760" dirty="0"/>
          </a:p>
        </p:txBody>
      </p:sp>
      <p:sp>
        <p:nvSpPr>
          <p:cNvPr id="34" name="Shape 32"/>
          <p:cNvSpPr/>
          <p:nvPr/>
        </p:nvSpPr>
        <p:spPr>
          <a:xfrm>
            <a:off x="10473903" y="2852928"/>
            <a:ext cx="109728" cy="0"/>
          </a:xfrm>
          <a:prstGeom prst="line">
            <a:avLst/>
          </a:prstGeom>
          <a:noFill/>
          <a:ln w="12700">
            <a:solidFill>
              <a:srgbClr val="2A9D8F"/>
            </a:solidFill>
            <a:prstDash val="solid"/>
            <a:headEnd type="none"/>
            <a:tailEnd type="triangle"/>
          </a:ln>
        </p:spPr>
      </p:sp>
      <p:sp>
        <p:nvSpPr>
          <p:cNvPr id="35" name="Shape 33"/>
          <p:cNvSpPr/>
          <p:nvPr/>
        </p:nvSpPr>
        <p:spPr>
          <a:xfrm>
            <a:off x="10620207" y="2606040"/>
            <a:ext cx="1160008" cy="493776"/>
          </a:xfrm>
          <a:prstGeom prst="roundRect">
            <a:avLst>
              <a:gd name="adj" fmla="val 14815"/>
            </a:avLst>
          </a:prstGeom>
          <a:solidFill>
            <a:srgbClr val="FDFBF5"/>
          </a:solidFill>
          <a:ln w="12700">
            <a:solidFill>
              <a:srgbClr val="C9A44C"/>
            </a:solidFill>
            <a:prstDash val="solid"/>
          </a:ln>
        </p:spPr>
      </p:sp>
      <p:sp>
        <p:nvSpPr>
          <p:cNvPr id="36" name="Text 34"/>
          <p:cNvSpPr/>
          <p:nvPr/>
        </p:nvSpPr>
        <p:spPr>
          <a:xfrm>
            <a:off x="10729935" y="2697480"/>
            <a:ext cx="940552" cy="329184"/>
          </a:xfrm>
          <a:prstGeom prst="rect">
            <a:avLst/>
          </a:prstGeom>
          <a:noFill/>
          <a:ln/>
        </p:spPr>
        <p:txBody>
          <a:bodyPr wrap="square" lIns="127" tIns="127" rIns="127" bIns="127" rtlCol="0" anchor="ctr">
            <a:normAutofit/>
          </a:bodyPr>
          <a:lstStyle/>
          <a:p>
            <a:pPr indent="0" marL="0">
              <a:buNone/>
            </a:pPr>
            <a:r>
              <a:rPr lang="en-US" sz="760" b="1" dirty="0">
                <a:solidFill>
                  <a:srgbClr val="24303F"/>
                </a:solidFill>
              </a:rPr>
              <a:t>Dashboard</a:t>
            </a:r>
            <a:endParaRPr lang="en-US" sz="760" dirty="0"/>
          </a:p>
        </p:txBody>
      </p:sp>
      <p:sp>
        <p:nvSpPr>
          <p:cNvPr id="37" name="Shape 35"/>
          <p:cNvSpPr/>
          <p:nvPr/>
        </p:nvSpPr>
        <p:spPr>
          <a:xfrm>
            <a:off x="5577840" y="4160520"/>
            <a:ext cx="5440680" cy="749808"/>
          </a:xfrm>
          <a:prstGeom prst="roundRect">
            <a:avLst>
              <a:gd name="adj" fmla="val 9756"/>
            </a:avLst>
          </a:prstGeom>
          <a:solidFill>
            <a:srgbClr val="FDFBF5"/>
          </a:solidFill>
          <a:ln w="12700">
            <a:solidFill>
              <a:srgbClr val="C9A44C"/>
            </a:solidFill>
            <a:prstDash val="solid"/>
          </a:ln>
        </p:spPr>
      </p:sp>
      <p:sp>
        <p:nvSpPr>
          <p:cNvPr id="38" name="Text 36"/>
          <p:cNvSpPr/>
          <p:nvPr/>
        </p:nvSpPr>
        <p:spPr>
          <a:xfrm>
            <a:off x="5687568" y="4251960"/>
            <a:ext cx="5221224" cy="585216"/>
          </a:xfrm>
          <a:prstGeom prst="rect">
            <a:avLst/>
          </a:prstGeom>
          <a:noFill/>
          <a:ln/>
        </p:spPr>
        <p:txBody>
          <a:bodyPr wrap="square" lIns="127" tIns="127" rIns="127" bIns="127" rtlCol="0" anchor="ctr">
            <a:normAutofit/>
          </a:bodyPr>
          <a:lstStyle/>
          <a:p>
            <a:pPr indent="0" marL="0">
              <a:buNone/>
            </a:pPr>
            <a:r>
              <a:rPr lang="en-US" sz="1280" b="1" dirty="0">
                <a:solidFill>
                  <a:srgbClr val="24303F"/>
                </a:solidFill>
              </a:rPr>
              <a:t>Human review remains for payment exceptions, attendance conflicts, complaints, and final control points.</a:t>
            </a:r>
            <a:endParaRPr lang="en-US" sz="1280" dirty="0"/>
          </a:p>
        </p:txBody>
      </p:sp>
      <p:sp>
        <p:nvSpPr>
          <p:cNvPr id="39" name="Text 37"/>
          <p:cNvSpPr/>
          <p:nvPr/>
        </p:nvSpPr>
        <p:spPr>
          <a:xfrm>
            <a:off x="11384280" y="6428232"/>
            <a:ext cx="320040" cy="109728"/>
          </a:xfrm>
          <a:prstGeom prst="rect">
            <a:avLst/>
          </a:prstGeom>
          <a:noFill/>
          <a:ln/>
        </p:spPr>
        <p:txBody>
          <a:bodyPr wrap="square" lIns="0" tIns="0" rIns="0" bIns="0" rtlCol="0" anchor="ctr"/>
          <a:lstStyle/>
          <a:p>
            <a:pPr algn="r" indent="0" marL="0">
              <a:buNone/>
            </a:pPr>
            <a:r>
              <a:rPr lang="en-US" sz="700" dirty="0">
                <a:solidFill>
                  <a:srgbClr val="FFFFFF"/>
                </a:solidFill>
              </a:rPr>
              <a:t>30</a:t>
            </a:r>
            <a:endParaRPr lang="en-US" sz="7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7F3EA"/>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4213D"/>
          </a:solidFill>
          <a:ln w="12700">
            <a:solidFill>
              <a:srgbClr val="14213D">
                <a:alpha val="0"/>
              </a:srgbClr>
            </a:solidFill>
            <a:prstDash val="solid"/>
          </a:ln>
        </p:spPr>
      </p:sp>
      <p:sp>
        <p:nvSpPr>
          <p:cNvPr id="3" name="Shape 1"/>
          <p:cNvSpPr/>
          <p:nvPr/>
        </p:nvSpPr>
        <p:spPr>
          <a:xfrm>
            <a:off x="0" y="6693408"/>
            <a:ext cx="12191695" cy="164592"/>
          </a:xfrm>
          <a:prstGeom prst="rect">
            <a:avLst/>
          </a:prstGeom>
          <a:solidFill>
            <a:srgbClr val="14213D"/>
          </a:solidFill>
          <a:ln w="12700">
            <a:solidFill>
              <a:srgbClr val="14213D">
                <a:alpha val="0"/>
              </a:srgbClr>
            </a:solidFill>
            <a:prstDash val="solid"/>
          </a:ln>
        </p:spPr>
      </p:sp>
      <p:sp>
        <p:nvSpPr>
          <p:cNvPr id="4" name="Text 2"/>
          <p:cNvSpPr/>
          <p:nvPr/>
        </p:nvSpPr>
        <p:spPr>
          <a:xfrm>
            <a:off x="502920" y="256032"/>
            <a:ext cx="4480560" cy="164592"/>
          </a:xfrm>
          <a:prstGeom prst="rect">
            <a:avLst/>
          </a:prstGeom>
          <a:noFill/>
          <a:ln/>
        </p:spPr>
        <p:txBody>
          <a:bodyPr wrap="square" lIns="0" tIns="0" rIns="0" bIns="0" rtlCol="0" anchor="ctr"/>
          <a:lstStyle/>
          <a:p>
            <a:pPr indent="0" marL="0">
              <a:buNone/>
            </a:pPr>
            <a:r>
              <a:rPr lang="en-US" sz="700" b="1" dirty="0">
                <a:solidFill>
                  <a:srgbClr val="2A9D8F"/>
                </a:solidFill>
                <a:latin typeface="Aptos" pitchFamily="34" charset="0"/>
                <a:ea typeface="Aptos" pitchFamily="34" charset="-122"/>
                <a:cs typeface="Aptos" pitchFamily="34" charset="-120"/>
              </a:rPr>
              <a:t>SECTION 4</a:t>
            </a:r>
            <a:endParaRPr lang="en-US" sz="700" dirty="0"/>
          </a:p>
        </p:txBody>
      </p:sp>
      <p:sp>
        <p:nvSpPr>
          <p:cNvPr id="5" name="Text 3"/>
          <p:cNvSpPr/>
          <p:nvPr/>
        </p:nvSpPr>
        <p:spPr>
          <a:xfrm>
            <a:off x="9281160" y="219456"/>
            <a:ext cx="2423160" cy="182880"/>
          </a:xfrm>
          <a:prstGeom prst="rect">
            <a:avLst/>
          </a:prstGeom>
          <a:noFill/>
          <a:ln/>
        </p:spPr>
        <p:txBody>
          <a:bodyPr wrap="square" lIns="0" tIns="0" rIns="0" bIns="0" rtlCol="0" anchor="ctr"/>
          <a:lstStyle/>
          <a:p>
            <a:pPr algn="r" indent="0" marL="0">
              <a:buNone/>
            </a:pPr>
            <a:r>
              <a:rPr lang="en-US" sz="700" dirty="0">
                <a:solidFill>
                  <a:srgbClr val="6D7886"/>
                </a:solidFill>
              </a:rPr>
              <a:t>Jifunze.ai skill booster</a:t>
            </a:r>
            <a:endParaRPr lang="en-US" sz="700" dirty="0"/>
          </a:p>
        </p:txBody>
      </p:sp>
      <p:sp>
        <p:nvSpPr>
          <p:cNvPr id="6" name="Text 4"/>
          <p:cNvSpPr/>
          <p:nvPr/>
        </p:nvSpPr>
        <p:spPr>
          <a:xfrm>
            <a:off x="502920" y="502920"/>
            <a:ext cx="4617720" cy="475488"/>
          </a:xfrm>
          <a:prstGeom prst="rect">
            <a:avLst/>
          </a:prstGeom>
          <a:noFill/>
          <a:ln/>
        </p:spPr>
        <p:txBody>
          <a:bodyPr wrap="square" lIns="127" tIns="127" rIns="127" bIns="127" rtlCol="0" anchor="ctr">
            <a:normAutofit/>
          </a:bodyPr>
          <a:lstStyle/>
          <a:p>
            <a:pPr indent="0" marL="0">
              <a:buNone/>
            </a:pPr>
            <a:r>
              <a:rPr lang="en-US" sz="2500" b="1" dirty="0">
                <a:solidFill>
                  <a:srgbClr val="14213D"/>
                </a:solidFill>
                <a:latin typeface="Aptos Display" pitchFamily="34" charset="0"/>
                <a:ea typeface="Aptos Display" pitchFamily="34" charset="-122"/>
                <a:cs typeface="Aptos Display" pitchFamily="34" charset="-120"/>
              </a:rPr>
              <a:t>Automation dashboard mockup</a:t>
            </a:r>
            <a:endParaRPr lang="en-US" sz="2500" dirty="0"/>
          </a:p>
        </p:txBody>
      </p:sp>
      <p:sp>
        <p:nvSpPr>
          <p:cNvPr id="7" name="Text 5"/>
          <p:cNvSpPr/>
          <p:nvPr/>
        </p:nvSpPr>
        <p:spPr>
          <a:xfrm>
            <a:off x="521208" y="1005840"/>
            <a:ext cx="4617720" cy="228600"/>
          </a:xfrm>
          <a:prstGeom prst="rect">
            <a:avLst/>
          </a:prstGeom>
          <a:noFill/>
          <a:ln/>
        </p:spPr>
        <p:txBody>
          <a:bodyPr wrap="square" lIns="0" tIns="0" rIns="0" bIns="0" rtlCol="0" anchor="ctr">
            <a:normAutofit/>
          </a:bodyPr>
          <a:lstStyle/>
          <a:p>
            <a:pPr indent="0" marL="0">
              <a:buNone/>
            </a:pPr>
            <a:r>
              <a:rPr lang="en-US" sz="1080" dirty="0">
                <a:solidFill>
                  <a:srgbClr val="24303F"/>
                </a:solidFill>
              </a:rPr>
              <a:t>A simple dashboard turns work into visible status</a:t>
            </a:r>
            <a:endParaRPr lang="en-US" sz="1080" dirty="0"/>
          </a:p>
        </p:txBody>
      </p:sp>
      <p:sp>
        <p:nvSpPr>
          <p:cNvPr id="8" name="Text 6"/>
          <p:cNvSpPr/>
          <p:nvPr/>
        </p:nvSpPr>
        <p:spPr>
          <a:xfrm>
            <a:off x="594360" y="1417320"/>
            <a:ext cx="4617720" cy="4343400"/>
          </a:xfrm>
          <a:prstGeom prst="rect">
            <a:avLst/>
          </a:prstGeom>
          <a:noFill/>
          <a:ln/>
        </p:spPr>
        <p:txBody>
          <a:bodyPr wrap="square" lIns="635" tIns="635" rIns="635" bIns="635" rtlCol="0" anchor="ctr">
            <a:normAutofit/>
          </a:bodyPr>
          <a:lstStyle/>
          <a:p>
            <a:r>
              <a:rPr lang="en-US" sz="1450" dirty="0">
                <a:solidFill>
                  <a:srgbClr val="24303F"/>
                </a:solidFill>
              </a:rPr>
              <a:t>• Track enquiries, registrations, reminders, certificates, feedback, and exceptions</a:t>
            </a:r>
            <a:endParaRPr lang="en-US" sz="1450" dirty="0"/>
          </a:p>
          <a:p>
            <a:r>
              <a:rPr lang="en-US" sz="1450" dirty="0">
                <a:solidFill>
                  <a:srgbClr val="24303F"/>
                </a:solidFill>
              </a:rPr>
              <a:t>• Use exceptions to keep humans in control</a:t>
            </a:r>
            <a:endParaRPr lang="en-US" sz="1450" dirty="0"/>
          </a:p>
          <a:p>
            <a:r>
              <a:rPr lang="en-US" sz="1450" dirty="0">
                <a:solidFill>
                  <a:srgbClr val="24303F"/>
                </a:solidFill>
              </a:rPr>
              <a:t>• Dashboard should support daily operational review</a:t>
            </a:r>
            <a:endParaRPr lang="en-US" sz="1450" dirty="0"/>
          </a:p>
          <a:p>
            <a:r>
              <a:rPr lang="en-US" sz="1450" dirty="0">
                <a:solidFill>
                  <a:srgbClr val="24303F"/>
                </a:solidFill>
              </a:rPr>
              <a:t>• Do not overload the first dashboard with every possible metric</a:t>
            </a:r>
            <a:endParaRPr lang="en-US" sz="1450" dirty="0"/>
          </a:p>
        </p:txBody>
      </p:sp>
      <p:sp>
        <p:nvSpPr>
          <p:cNvPr id="9" name="Shape 7"/>
          <p:cNvSpPr/>
          <p:nvPr/>
        </p:nvSpPr>
        <p:spPr>
          <a:xfrm>
            <a:off x="5532120" y="1325880"/>
            <a:ext cx="1207008" cy="822960"/>
          </a:xfrm>
          <a:prstGeom prst="roundRect">
            <a:avLst>
              <a:gd name="adj" fmla="val 8889"/>
            </a:avLst>
          </a:prstGeom>
          <a:solidFill>
            <a:srgbClr val="FFFFFF"/>
          </a:solidFill>
          <a:ln w="12700">
            <a:solidFill>
              <a:srgbClr val="2A9D8F"/>
            </a:solidFill>
            <a:prstDash val="solid"/>
          </a:ln>
        </p:spPr>
      </p:sp>
      <p:sp>
        <p:nvSpPr>
          <p:cNvPr id="10" name="Text 8"/>
          <p:cNvSpPr/>
          <p:nvPr/>
        </p:nvSpPr>
        <p:spPr>
          <a:xfrm>
            <a:off x="5641848" y="1417320"/>
            <a:ext cx="987552" cy="658368"/>
          </a:xfrm>
          <a:prstGeom prst="rect">
            <a:avLst/>
          </a:prstGeom>
          <a:noFill/>
          <a:ln/>
        </p:spPr>
        <p:txBody>
          <a:bodyPr wrap="square" lIns="127" tIns="127" rIns="127" bIns="127" rtlCol="0" anchor="ctr">
            <a:normAutofit/>
          </a:bodyPr>
          <a:lstStyle/>
          <a:p>
            <a:pPr indent="0" marL="0">
              <a:buNone/>
            </a:pPr>
            <a:r>
              <a:rPr lang="en-US" sz="1100" b="1" dirty="0">
                <a:solidFill>
                  <a:srgbClr val="24303F"/>
                </a:solidFill>
              </a:rPr>
              <a:t>Enquiries</a:t>
            </a:r>
            <a:endParaRPr lang="en-US" sz="1100" dirty="0"/>
          </a:p>
          <a:p>
            <a:pPr indent="0" marL="0">
              <a:buNone/>
            </a:pPr>
            <a:r>
              <a:rPr lang="en-US" sz="1100" b="1" dirty="0">
                <a:solidFill>
                  <a:srgbClr val="24303F"/>
                </a:solidFill>
              </a:rPr>
              <a:t>120</a:t>
            </a:r>
            <a:endParaRPr lang="en-US" sz="1100" dirty="0"/>
          </a:p>
        </p:txBody>
      </p:sp>
      <p:sp>
        <p:nvSpPr>
          <p:cNvPr id="11" name="Shape 9"/>
          <p:cNvSpPr/>
          <p:nvPr/>
        </p:nvSpPr>
        <p:spPr>
          <a:xfrm>
            <a:off x="6949440" y="1325880"/>
            <a:ext cx="1207008" cy="822960"/>
          </a:xfrm>
          <a:prstGeom prst="roundRect">
            <a:avLst>
              <a:gd name="adj" fmla="val 8889"/>
            </a:avLst>
          </a:prstGeom>
          <a:solidFill>
            <a:srgbClr val="FFFFFF"/>
          </a:solidFill>
          <a:ln w="12700">
            <a:solidFill>
              <a:srgbClr val="2A9D8F"/>
            </a:solidFill>
            <a:prstDash val="solid"/>
          </a:ln>
        </p:spPr>
      </p:sp>
      <p:sp>
        <p:nvSpPr>
          <p:cNvPr id="12" name="Text 10"/>
          <p:cNvSpPr/>
          <p:nvPr/>
        </p:nvSpPr>
        <p:spPr>
          <a:xfrm>
            <a:off x="7059168" y="1417320"/>
            <a:ext cx="987552" cy="658368"/>
          </a:xfrm>
          <a:prstGeom prst="rect">
            <a:avLst/>
          </a:prstGeom>
          <a:noFill/>
          <a:ln/>
        </p:spPr>
        <p:txBody>
          <a:bodyPr wrap="square" lIns="127" tIns="127" rIns="127" bIns="127" rtlCol="0" anchor="ctr">
            <a:normAutofit/>
          </a:bodyPr>
          <a:lstStyle/>
          <a:p>
            <a:pPr indent="0" marL="0">
              <a:buNone/>
            </a:pPr>
            <a:r>
              <a:rPr lang="en-US" sz="1100" b="1" dirty="0">
                <a:solidFill>
                  <a:srgbClr val="24303F"/>
                </a:solidFill>
              </a:rPr>
              <a:t>Regs</a:t>
            </a:r>
            <a:endParaRPr lang="en-US" sz="1100" dirty="0"/>
          </a:p>
          <a:p>
            <a:pPr indent="0" marL="0">
              <a:buNone/>
            </a:pPr>
            <a:r>
              <a:rPr lang="en-US" sz="1100" b="1" dirty="0">
                <a:solidFill>
                  <a:srgbClr val="24303F"/>
                </a:solidFill>
              </a:rPr>
              <a:t>72</a:t>
            </a:r>
            <a:endParaRPr lang="en-US" sz="1100" dirty="0"/>
          </a:p>
        </p:txBody>
      </p:sp>
      <p:sp>
        <p:nvSpPr>
          <p:cNvPr id="13" name="Shape 11"/>
          <p:cNvSpPr/>
          <p:nvPr/>
        </p:nvSpPr>
        <p:spPr>
          <a:xfrm>
            <a:off x="8366760" y="1325880"/>
            <a:ext cx="1207008" cy="822960"/>
          </a:xfrm>
          <a:prstGeom prst="roundRect">
            <a:avLst>
              <a:gd name="adj" fmla="val 8889"/>
            </a:avLst>
          </a:prstGeom>
          <a:solidFill>
            <a:srgbClr val="FFFFFF"/>
          </a:solidFill>
          <a:ln w="12700">
            <a:solidFill>
              <a:srgbClr val="2A9D8F"/>
            </a:solidFill>
            <a:prstDash val="solid"/>
          </a:ln>
        </p:spPr>
      </p:sp>
      <p:sp>
        <p:nvSpPr>
          <p:cNvPr id="14" name="Text 12"/>
          <p:cNvSpPr/>
          <p:nvPr/>
        </p:nvSpPr>
        <p:spPr>
          <a:xfrm>
            <a:off x="8476488" y="1417320"/>
            <a:ext cx="987552" cy="658368"/>
          </a:xfrm>
          <a:prstGeom prst="rect">
            <a:avLst/>
          </a:prstGeom>
          <a:noFill/>
          <a:ln/>
        </p:spPr>
        <p:txBody>
          <a:bodyPr wrap="square" lIns="127" tIns="127" rIns="127" bIns="127" rtlCol="0" anchor="ctr">
            <a:normAutofit/>
          </a:bodyPr>
          <a:lstStyle/>
          <a:p>
            <a:pPr indent="0" marL="0">
              <a:buNone/>
            </a:pPr>
            <a:r>
              <a:rPr lang="en-US" sz="1100" b="1" dirty="0">
                <a:solidFill>
                  <a:srgbClr val="24303F"/>
                </a:solidFill>
              </a:rPr>
              <a:t>Payments</a:t>
            </a:r>
            <a:endParaRPr lang="en-US" sz="1100" dirty="0"/>
          </a:p>
          <a:p>
            <a:pPr indent="0" marL="0">
              <a:buNone/>
            </a:pPr>
            <a:r>
              <a:rPr lang="en-US" sz="1100" b="1" dirty="0">
                <a:solidFill>
                  <a:srgbClr val="24303F"/>
                </a:solidFill>
              </a:rPr>
              <a:t>68</a:t>
            </a:r>
            <a:endParaRPr lang="en-US" sz="1100" dirty="0"/>
          </a:p>
        </p:txBody>
      </p:sp>
      <p:sp>
        <p:nvSpPr>
          <p:cNvPr id="15" name="Shape 13"/>
          <p:cNvSpPr/>
          <p:nvPr/>
        </p:nvSpPr>
        <p:spPr>
          <a:xfrm>
            <a:off x="9784080" y="1325880"/>
            <a:ext cx="1207008" cy="822960"/>
          </a:xfrm>
          <a:prstGeom prst="roundRect">
            <a:avLst>
              <a:gd name="adj" fmla="val 8889"/>
            </a:avLst>
          </a:prstGeom>
          <a:solidFill>
            <a:srgbClr val="FFFFFF"/>
          </a:solidFill>
          <a:ln w="12700">
            <a:solidFill>
              <a:srgbClr val="2A9D8F"/>
            </a:solidFill>
            <a:prstDash val="solid"/>
          </a:ln>
        </p:spPr>
      </p:sp>
      <p:sp>
        <p:nvSpPr>
          <p:cNvPr id="16" name="Text 14"/>
          <p:cNvSpPr/>
          <p:nvPr/>
        </p:nvSpPr>
        <p:spPr>
          <a:xfrm>
            <a:off x="9893808" y="1417320"/>
            <a:ext cx="987552" cy="658368"/>
          </a:xfrm>
          <a:prstGeom prst="rect">
            <a:avLst/>
          </a:prstGeom>
          <a:noFill/>
          <a:ln/>
        </p:spPr>
        <p:txBody>
          <a:bodyPr wrap="square" lIns="127" tIns="127" rIns="127" bIns="127" rtlCol="0" anchor="ctr">
            <a:normAutofit/>
          </a:bodyPr>
          <a:lstStyle/>
          <a:p>
            <a:pPr indent="0" marL="0">
              <a:buNone/>
            </a:pPr>
            <a:r>
              <a:rPr lang="en-US" sz="1100" b="1" dirty="0">
                <a:solidFill>
                  <a:srgbClr val="24303F"/>
                </a:solidFill>
              </a:rPr>
              <a:t>Reminders</a:t>
            </a:r>
            <a:endParaRPr lang="en-US" sz="1100" dirty="0"/>
          </a:p>
          <a:p>
            <a:pPr indent="0" marL="0">
              <a:buNone/>
            </a:pPr>
            <a:r>
              <a:rPr lang="en-US" sz="1100" b="1" dirty="0">
                <a:solidFill>
                  <a:srgbClr val="24303F"/>
                </a:solidFill>
              </a:rPr>
              <a:t>64</a:t>
            </a:r>
            <a:endParaRPr lang="en-US" sz="1100" dirty="0"/>
          </a:p>
        </p:txBody>
      </p:sp>
      <p:sp>
        <p:nvSpPr>
          <p:cNvPr id="17" name="Shape 15"/>
          <p:cNvSpPr/>
          <p:nvPr/>
        </p:nvSpPr>
        <p:spPr>
          <a:xfrm>
            <a:off x="5532120" y="2468880"/>
            <a:ext cx="1207008" cy="822960"/>
          </a:xfrm>
          <a:prstGeom prst="roundRect">
            <a:avLst>
              <a:gd name="adj" fmla="val 8889"/>
            </a:avLst>
          </a:prstGeom>
          <a:solidFill>
            <a:srgbClr val="FFFFFF"/>
          </a:solidFill>
          <a:ln w="12700">
            <a:solidFill>
              <a:srgbClr val="2A9D8F"/>
            </a:solidFill>
            <a:prstDash val="solid"/>
          </a:ln>
        </p:spPr>
      </p:sp>
      <p:sp>
        <p:nvSpPr>
          <p:cNvPr id="18" name="Text 16"/>
          <p:cNvSpPr/>
          <p:nvPr/>
        </p:nvSpPr>
        <p:spPr>
          <a:xfrm>
            <a:off x="5641848" y="2560320"/>
            <a:ext cx="987552" cy="658368"/>
          </a:xfrm>
          <a:prstGeom prst="rect">
            <a:avLst/>
          </a:prstGeom>
          <a:noFill/>
          <a:ln/>
        </p:spPr>
        <p:txBody>
          <a:bodyPr wrap="square" lIns="127" tIns="127" rIns="127" bIns="127" rtlCol="0" anchor="ctr">
            <a:normAutofit/>
          </a:bodyPr>
          <a:lstStyle/>
          <a:p>
            <a:pPr indent="0" marL="0">
              <a:buNone/>
            </a:pPr>
            <a:r>
              <a:rPr lang="en-US" sz="1100" b="1" dirty="0">
                <a:solidFill>
                  <a:srgbClr val="24303F"/>
                </a:solidFill>
              </a:rPr>
              <a:t>Certificates</a:t>
            </a:r>
            <a:endParaRPr lang="en-US" sz="1100" dirty="0"/>
          </a:p>
          <a:p>
            <a:pPr indent="0" marL="0">
              <a:buNone/>
            </a:pPr>
            <a:r>
              <a:rPr lang="en-US" sz="1100" b="1" dirty="0">
                <a:solidFill>
                  <a:srgbClr val="24303F"/>
                </a:solidFill>
              </a:rPr>
              <a:t>58</a:t>
            </a:r>
            <a:endParaRPr lang="en-US" sz="1100" dirty="0"/>
          </a:p>
        </p:txBody>
      </p:sp>
      <p:sp>
        <p:nvSpPr>
          <p:cNvPr id="19" name="Shape 17"/>
          <p:cNvSpPr/>
          <p:nvPr/>
        </p:nvSpPr>
        <p:spPr>
          <a:xfrm>
            <a:off x="6949440" y="2468880"/>
            <a:ext cx="1207008" cy="822960"/>
          </a:xfrm>
          <a:prstGeom prst="roundRect">
            <a:avLst>
              <a:gd name="adj" fmla="val 8889"/>
            </a:avLst>
          </a:prstGeom>
          <a:solidFill>
            <a:srgbClr val="FFFFFF"/>
          </a:solidFill>
          <a:ln w="12700">
            <a:solidFill>
              <a:srgbClr val="2A9D8F"/>
            </a:solidFill>
            <a:prstDash val="solid"/>
          </a:ln>
        </p:spPr>
      </p:sp>
      <p:sp>
        <p:nvSpPr>
          <p:cNvPr id="20" name="Text 18"/>
          <p:cNvSpPr/>
          <p:nvPr/>
        </p:nvSpPr>
        <p:spPr>
          <a:xfrm>
            <a:off x="7059168" y="2560320"/>
            <a:ext cx="987552" cy="658368"/>
          </a:xfrm>
          <a:prstGeom prst="rect">
            <a:avLst/>
          </a:prstGeom>
          <a:noFill/>
          <a:ln/>
        </p:spPr>
        <p:txBody>
          <a:bodyPr wrap="square" lIns="127" tIns="127" rIns="127" bIns="127" rtlCol="0" anchor="ctr">
            <a:normAutofit/>
          </a:bodyPr>
          <a:lstStyle/>
          <a:p>
            <a:pPr indent="0" marL="0">
              <a:buNone/>
            </a:pPr>
            <a:r>
              <a:rPr lang="en-US" sz="1100" b="1" dirty="0">
                <a:solidFill>
                  <a:srgbClr val="24303F"/>
                </a:solidFill>
              </a:rPr>
              <a:t>Feedback</a:t>
            </a:r>
            <a:endParaRPr lang="en-US" sz="1100" dirty="0"/>
          </a:p>
          <a:p>
            <a:pPr indent="0" marL="0">
              <a:buNone/>
            </a:pPr>
            <a:r>
              <a:rPr lang="en-US" sz="1100" b="1" dirty="0">
                <a:solidFill>
                  <a:srgbClr val="24303F"/>
                </a:solidFill>
              </a:rPr>
              <a:t>75% target</a:t>
            </a:r>
            <a:endParaRPr lang="en-US" sz="1100" dirty="0"/>
          </a:p>
        </p:txBody>
      </p:sp>
      <p:sp>
        <p:nvSpPr>
          <p:cNvPr id="21" name="Shape 19"/>
          <p:cNvSpPr/>
          <p:nvPr/>
        </p:nvSpPr>
        <p:spPr>
          <a:xfrm>
            <a:off x="8366760" y="2468880"/>
            <a:ext cx="1207008" cy="822960"/>
          </a:xfrm>
          <a:prstGeom prst="roundRect">
            <a:avLst>
              <a:gd name="adj" fmla="val 8889"/>
            </a:avLst>
          </a:prstGeom>
          <a:solidFill>
            <a:srgbClr val="FDFBF5"/>
          </a:solidFill>
          <a:ln w="12700">
            <a:solidFill>
              <a:srgbClr val="B85C5C"/>
            </a:solidFill>
            <a:prstDash val="solid"/>
          </a:ln>
        </p:spPr>
      </p:sp>
      <p:sp>
        <p:nvSpPr>
          <p:cNvPr id="22" name="Text 20"/>
          <p:cNvSpPr/>
          <p:nvPr/>
        </p:nvSpPr>
        <p:spPr>
          <a:xfrm>
            <a:off x="8476488" y="2560320"/>
            <a:ext cx="987552" cy="658368"/>
          </a:xfrm>
          <a:prstGeom prst="rect">
            <a:avLst/>
          </a:prstGeom>
          <a:noFill/>
          <a:ln/>
        </p:spPr>
        <p:txBody>
          <a:bodyPr wrap="square" lIns="127" tIns="127" rIns="127" bIns="127" rtlCol="0" anchor="ctr">
            <a:normAutofit/>
          </a:bodyPr>
          <a:lstStyle/>
          <a:p>
            <a:pPr indent="0" marL="0">
              <a:buNone/>
            </a:pPr>
            <a:r>
              <a:rPr lang="en-US" sz="1100" b="1" dirty="0">
                <a:solidFill>
                  <a:srgbClr val="24303F"/>
                </a:solidFill>
              </a:rPr>
              <a:t>Exceptions</a:t>
            </a:r>
            <a:endParaRPr lang="en-US" sz="1100" dirty="0"/>
          </a:p>
          <a:p>
            <a:pPr indent="0" marL="0">
              <a:buNone/>
            </a:pPr>
            <a:r>
              <a:rPr lang="en-US" sz="1100" b="1" dirty="0">
                <a:solidFill>
                  <a:srgbClr val="24303F"/>
                </a:solidFill>
              </a:rPr>
              <a:t>Open</a:t>
            </a:r>
            <a:endParaRPr lang="en-US" sz="1100" dirty="0"/>
          </a:p>
        </p:txBody>
      </p:sp>
      <p:sp>
        <p:nvSpPr>
          <p:cNvPr id="23" name="Shape 21"/>
          <p:cNvSpPr/>
          <p:nvPr/>
        </p:nvSpPr>
        <p:spPr>
          <a:xfrm>
            <a:off x="9784080" y="2468880"/>
            <a:ext cx="1207008" cy="822960"/>
          </a:xfrm>
          <a:prstGeom prst="roundRect">
            <a:avLst>
              <a:gd name="adj" fmla="val 8889"/>
            </a:avLst>
          </a:prstGeom>
          <a:solidFill>
            <a:srgbClr val="FFFFFF"/>
          </a:solidFill>
          <a:ln w="12700">
            <a:solidFill>
              <a:srgbClr val="2A9D8F"/>
            </a:solidFill>
            <a:prstDash val="solid"/>
          </a:ln>
        </p:spPr>
      </p:sp>
      <p:sp>
        <p:nvSpPr>
          <p:cNvPr id="24" name="Text 22"/>
          <p:cNvSpPr/>
          <p:nvPr/>
        </p:nvSpPr>
        <p:spPr>
          <a:xfrm>
            <a:off x="9893808" y="2560320"/>
            <a:ext cx="987552" cy="658368"/>
          </a:xfrm>
          <a:prstGeom prst="rect">
            <a:avLst/>
          </a:prstGeom>
          <a:noFill/>
          <a:ln/>
        </p:spPr>
        <p:txBody>
          <a:bodyPr wrap="square" lIns="127" tIns="127" rIns="127" bIns="127" rtlCol="0" anchor="ctr">
            <a:normAutofit/>
          </a:bodyPr>
          <a:lstStyle/>
          <a:p>
            <a:pPr indent="0" marL="0">
              <a:buNone/>
            </a:pPr>
            <a:r>
              <a:rPr lang="en-US" sz="1100" b="1" dirty="0">
                <a:solidFill>
                  <a:srgbClr val="24303F"/>
                </a:solidFill>
              </a:rPr>
              <a:t>Late certs</a:t>
            </a:r>
            <a:endParaRPr lang="en-US" sz="1100" dirty="0"/>
          </a:p>
          <a:p>
            <a:pPr indent="0" marL="0">
              <a:buNone/>
            </a:pPr>
            <a:r>
              <a:rPr lang="en-US" sz="1100" b="1" dirty="0">
                <a:solidFill>
                  <a:srgbClr val="24303F"/>
                </a:solidFill>
              </a:rPr>
              <a:t>22 -&gt; reduce</a:t>
            </a:r>
            <a:endParaRPr lang="en-US" sz="1100" dirty="0"/>
          </a:p>
        </p:txBody>
      </p:sp>
      <p:sp>
        <p:nvSpPr>
          <p:cNvPr id="25" name="Text 23"/>
          <p:cNvSpPr/>
          <p:nvPr/>
        </p:nvSpPr>
        <p:spPr>
          <a:xfrm>
            <a:off x="5715000" y="3977640"/>
            <a:ext cx="5120640" cy="201168"/>
          </a:xfrm>
          <a:prstGeom prst="rect">
            <a:avLst/>
          </a:prstGeom>
          <a:noFill/>
          <a:ln/>
        </p:spPr>
        <p:txBody>
          <a:bodyPr wrap="square" lIns="0" tIns="0" rIns="0" bIns="0" rtlCol="0" anchor="ctr"/>
          <a:lstStyle/>
          <a:p>
            <a:pPr indent="0" marL="0">
              <a:buNone/>
            </a:pPr>
            <a:r>
              <a:rPr lang="en-US" sz="1000" b="1" dirty="0">
                <a:solidFill>
                  <a:srgbClr val="14213D"/>
                </a:solidFill>
              </a:rPr>
              <a:t>Automation snapshot</a:t>
            </a:r>
            <a:endParaRPr lang="en-US" sz="1000" dirty="0"/>
          </a:p>
        </p:txBody>
      </p:sp>
      <p:sp>
        <p:nvSpPr>
          <p:cNvPr id="26" name="Text 24"/>
          <p:cNvSpPr/>
          <p:nvPr/>
        </p:nvSpPr>
        <p:spPr>
          <a:xfrm>
            <a:off x="5715000" y="4334256"/>
            <a:ext cx="1508760" cy="146304"/>
          </a:xfrm>
          <a:prstGeom prst="rect">
            <a:avLst/>
          </a:prstGeom>
          <a:noFill/>
          <a:ln/>
        </p:spPr>
        <p:txBody>
          <a:bodyPr wrap="square" lIns="0" tIns="0" rIns="0" bIns="0" rtlCol="0" anchor="ctr">
            <a:normAutofit/>
          </a:bodyPr>
          <a:lstStyle/>
          <a:p>
            <a:pPr indent="0" marL="0">
              <a:buNone/>
            </a:pPr>
            <a:r>
              <a:rPr lang="en-US" sz="660" dirty="0">
                <a:solidFill>
                  <a:srgbClr val="24303F"/>
                </a:solidFill>
              </a:rPr>
              <a:t>Current hrs</a:t>
            </a:r>
            <a:endParaRPr lang="en-US" sz="660" dirty="0"/>
          </a:p>
        </p:txBody>
      </p:sp>
      <p:sp>
        <p:nvSpPr>
          <p:cNvPr id="27" name="Shape 25"/>
          <p:cNvSpPr/>
          <p:nvPr/>
        </p:nvSpPr>
        <p:spPr>
          <a:xfrm>
            <a:off x="7315200" y="4343400"/>
            <a:ext cx="2883275" cy="164592"/>
          </a:xfrm>
          <a:prstGeom prst="rect">
            <a:avLst/>
          </a:prstGeom>
          <a:solidFill>
            <a:srgbClr val="C9A44C"/>
          </a:solidFill>
          <a:ln w="12700">
            <a:solidFill>
              <a:srgbClr val="FFFFFF">
                <a:alpha val="0"/>
              </a:srgbClr>
            </a:solidFill>
            <a:prstDash val="solid"/>
          </a:ln>
        </p:spPr>
      </p:sp>
      <p:sp>
        <p:nvSpPr>
          <p:cNvPr id="28" name="Text 26"/>
          <p:cNvSpPr/>
          <p:nvPr/>
        </p:nvSpPr>
        <p:spPr>
          <a:xfrm>
            <a:off x="10451592" y="4334256"/>
            <a:ext cx="365760" cy="137160"/>
          </a:xfrm>
          <a:prstGeom prst="rect">
            <a:avLst/>
          </a:prstGeom>
          <a:noFill/>
          <a:ln/>
        </p:spPr>
        <p:txBody>
          <a:bodyPr wrap="square" lIns="0" tIns="0" rIns="0" bIns="0" rtlCol="0" anchor="ctr"/>
          <a:lstStyle/>
          <a:p>
            <a:pPr algn="r" indent="0" marL="0">
              <a:buNone/>
            </a:pPr>
            <a:r>
              <a:rPr lang="en-US" sz="660" dirty="0">
                <a:solidFill>
                  <a:srgbClr val="24303F"/>
                </a:solidFill>
              </a:rPr>
              <a:t>75.3</a:t>
            </a:r>
            <a:endParaRPr lang="en-US" sz="660" dirty="0"/>
          </a:p>
        </p:txBody>
      </p:sp>
      <p:sp>
        <p:nvSpPr>
          <p:cNvPr id="29" name="Text 27"/>
          <p:cNvSpPr/>
          <p:nvPr/>
        </p:nvSpPr>
        <p:spPr>
          <a:xfrm>
            <a:off x="5715000" y="4581144"/>
            <a:ext cx="1508760" cy="146304"/>
          </a:xfrm>
          <a:prstGeom prst="rect">
            <a:avLst/>
          </a:prstGeom>
          <a:noFill/>
          <a:ln/>
        </p:spPr>
        <p:txBody>
          <a:bodyPr wrap="square" lIns="0" tIns="0" rIns="0" bIns="0" rtlCol="0" anchor="ctr">
            <a:normAutofit/>
          </a:bodyPr>
          <a:lstStyle/>
          <a:p>
            <a:pPr indent="0" marL="0">
              <a:buNone/>
            </a:pPr>
            <a:r>
              <a:rPr lang="en-US" sz="660" dirty="0">
                <a:solidFill>
                  <a:srgbClr val="24303F"/>
                </a:solidFill>
              </a:rPr>
              <a:t>Saved hrs</a:t>
            </a:r>
            <a:endParaRPr lang="en-US" sz="660" dirty="0"/>
          </a:p>
        </p:txBody>
      </p:sp>
      <p:sp>
        <p:nvSpPr>
          <p:cNvPr id="30" name="Shape 28"/>
          <p:cNvSpPr/>
          <p:nvPr/>
        </p:nvSpPr>
        <p:spPr>
          <a:xfrm>
            <a:off x="7315200" y="4590288"/>
            <a:ext cx="1707756" cy="164592"/>
          </a:xfrm>
          <a:prstGeom prst="rect">
            <a:avLst/>
          </a:prstGeom>
          <a:solidFill>
            <a:srgbClr val="2A9D8F"/>
          </a:solidFill>
          <a:ln w="12700">
            <a:solidFill>
              <a:srgbClr val="FFFFFF">
                <a:alpha val="0"/>
              </a:srgbClr>
            </a:solidFill>
            <a:prstDash val="solid"/>
          </a:ln>
        </p:spPr>
      </p:sp>
      <p:sp>
        <p:nvSpPr>
          <p:cNvPr id="31" name="Text 29"/>
          <p:cNvSpPr/>
          <p:nvPr/>
        </p:nvSpPr>
        <p:spPr>
          <a:xfrm>
            <a:off x="10451592" y="4581144"/>
            <a:ext cx="365760" cy="137160"/>
          </a:xfrm>
          <a:prstGeom prst="rect">
            <a:avLst/>
          </a:prstGeom>
          <a:noFill/>
          <a:ln/>
        </p:spPr>
        <p:txBody>
          <a:bodyPr wrap="square" lIns="0" tIns="0" rIns="0" bIns="0" rtlCol="0" anchor="ctr"/>
          <a:lstStyle/>
          <a:p>
            <a:pPr algn="r" indent="0" marL="0">
              <a:buNone/>
            </a:pPr>
            <a:r>
              <a:rPr lang="en-US" sz="660" dirty="0">
                <a:solidFill>
                  <a:srgbClr val="24303F"/>
                </a:solidFill>
              </a:rPr>
              <a:t>44.6</a:t>
            </a:r>
            <a:endParaRPr lang="en-US" sz="660" dirty="0"/>
          </a:p>
        </p:txBody>
      </p:sp>
      <p:sp>
        <p:nvSpPr>
          <p:cNvPr id="32" name="Text 30"/>
          <p:cNvSpPr/>
          <p:nvPr/>
        </p:nvSpPr>
        <p:spPr>
          <a:xfrm>
            <a:off x="5715000" y="4828032"/>
            <a:ext cx="1508760" cy="146304"/>
          </a:xfrm>
          <a:prstGeom prst="rect">
            <a:avLst/>
          </a:prstGeom>
          <a:noFill/>
          <a:ln/>
        </p:spPr>
        <p:txBody>
          <a:bodyPr wrap="square" lIns="0" tIns="0" rIns="0" bIns="0" rtlCol="0" anchor="ctr">
            <a:normAutofit/>
          </a:bodyPr>
          <a:lstStyle/>
          <a:p>
            <a:pPr indent="0" marL="0">
              <a:buNone/>
            </a:pPr>
            <a:r>
              <a:rPr lang="en-US" sz="660" dirty="0">
                <a:solidFill>
                  <a:srgbClr val="24303F"/>
                </a:solidFill>
              </a:rPr>
              <a:t>Remaining</a:t>
            </a:r>
            <a:endParaRPr lang="en-US" sz="660" dirty="0"/>
          </a:p>
        </p:txBody>
      </p:sp>
      <p:sp>
        <p:nvSpPr>
          <p:cNvPr id="33" name="Shape 31"/>
          <p:cNvSpPr/>
          <p:nvPr/>
        </p:nvSpPr>
        <p:spPr>
          <a:xfrm>
            <a:off x="7315200" y="4837176"/>
            <a:ext cx="1175518" cy="164592"/>
          </a:xfrm>
          <a:prstGeom prst="rect">
            <a:avLst/>
          </a:prstGeom>
          <a:solidFill>
            <a:srgbClr val="C9A44C"/>
          </a:solidFill>
          <a:ln w="12700">
            <a:solidFill>
              <a:srgbClr val="FFFFFF">
                <a:alpha val="0"/>
              </a:srgbClr>
            </a:solidFill>
            <a:prstDash val="solid"/>
          </a:ln>
        </p:spPr>
      </p:sp>
      <p:sp>
        <p:nvSpPr>
          <p:cNvPr id="34" name="Text 32"/>
          <p:cNvSpPr/>
          <p:nvPr/>
        </p:nvSpPr>
        <p:spPr>
          <a:xfrm>
            <a:off x="10451592" y="4828032"/>
            <a:ext cx="365760" cy="137160"/>
          </a:xfrm>
          <a:prstGeom prst="rect">
            <a:avLst/>
          </a:prstGeom>
          <a:noFill/>
          <a:ln/>
        </p:spPr>
        <p:txBody>
          <a:bodyPr wrap="square" lIns="0" tIns="0" rIns="0" bIns="0" rtlCol="0" anchor="ctr"/>
          <a:lstStyle/>
          <a:p>
            <a:pPr algn="r" indent="0" marL="0">
              <a:buNone/>
            </a:pPr>
            <a:r>
              <a:rPr lang="en-US" sz="660" dirty="0">
                <a:solidFill>
                  <a:srgbClr val="24303F"/>
                </a:solidFill>
              </a:rPr>
              <a:t>30.7</a:t>
            </a:r>
            <a:endParaRPr lang="en-US" sz="660" dirty="0"/>
          </a:p>
        </p:txBody>
      </p:sp>
      <p:sp>
        <p:nvSpPr>
          <p:cNvPr id="35" name="Text 33"/>
          <p:cNvSpPr/>
          <p:nvPr/>
        </p:nvSpPr>
        <p:spPr>
          <a:xfrm>
            <a:off x="11384280" y="6428232"/>
            <a:ext cx="320040" cy="109728"/>
          </a:xfrm>
          <a:prstGeom prst="rect">
            <a:avLst/>
          </a:prstGeom>
          <a:noFill/>
          <a:ln/>
        </p:spPr>
        <p:txBody>
          <a:bodyPr wrap="square" lIns="0" tIns="0" rIns="0" bIns="0" rtlCol="0" anchor="ctr"/>
          <a:lstStyle/>
          <a:p>
            <a:pPr algn="r" indent="0" marL="0">
              <a:buNone/>
            </a:pPr>
            <a:r>
              <a:rPr lang="en-US" sz="700" dirty="0">
                <a:solidFill>
                  <a:srgbClr val="FFFFFF"/>
                </a:solidFill>
              </a:rPr>
              <a:t>31</a:t>
            </a:r>
            <a:endParaRPr lang="en-US" sz="7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7F3EA"/>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4213D"/>
          </a:solidFill>
          <a:ln w="12700">
            <a:solidFill>
              <a:srgbClr val="14213D">
                <a:alpha val="0"/>
              </a:srgbClr>
            </a:solidFill>
            <a:prstDash val="solid"/>
          </a:ln>
        </p:spPr>
      </p:sp>
      <p:sp>
        <p:nvSpPr>
          <p:cNvPr id="3" name="Shape 1"/>
          <p:cNvSpPr/>
          <p:nvPr/>
        </p:nvSpPr>
        <p:spPr>
          <a:xfrm>
            <a:off x="0" y="6693408"/>
            <a:ext cx="12191695" cy="164592"/>
          </a:xfrm>
          <a:prstGeom prst="rect">
            <a:avLst/>
          </a:prstGeom>
          <a:solidFill>
            <a:srgbClr val="14213D"/>
          </a:solidFill>
          <a:ln w="12700">
            <a:solidFill>
              <a:srgbClr val="14213D">
                <a:alpha val="0"/>
              </a:srgbClr>
            </a:solidFill>
            <a:prstDash val="solid"/>
          </a:ln>
        </p:spPr>
      </p:sp>
      <p:sp>
        <p:nvSpPr>
          <p:cNvPr id="4" name="Text 2"/>
          <p:cNvSpPr/>
          <p:nvPr/>
        </p:nvSpPr>
        <p:spPr>
          <a:xfrm>
            <a:off x="502920" y="256032"/>
            <a:ext cx="4480560" cy="164592"/>
          </a:xfrm>
          <a:prstGeom prst="rect">
            <a:avLst/>
          </a:prstGeom>
          <a:noFill/>
          <a:ln/>
        </p:spPr>
        <p:txBody>
          <a:bodyPr wrap="square" lIns="0" tIns="0" rIns="0" bIns="0" rtlCol="0" anchor="ctr"/>
          <a:lstStyle/>
          <a:p>
            <a:pPr indent="0" marL="0">
              <a:buNone/>
            </a:pPr>
            <a:r>
              <a:rPr lang="en-US" sz="700" b="1" dirty="0">
                <a:solidFill>
                  <a:srgbClr val="2A9D8F"/>
                </a:solidFill>
                <a:latin typeface="Aptos" pitchFamily="34" charset="0"/>
                <a:ea typeface="Aptos" pitchFamily="34" charset="-122"/>
                <a:cs typeface="Aptos" pitchFamily="34" charset="-120"/>
              </a:rPr>
              <a:t>SECTION 5</a:t>
            </a:r>
            <a:endParaRPr lang="en-US" sz="700" dirty="0"/>
          </a:p>
        </p:txBody>
      </p:sp>
      <p:sp>
        <p:nvSpPr>
          <p:cNvPr id="5" name="Text 3"/>
          <p:cNvSpPr/>
          <p:nvPr/>
        </p:nvSpPr>
        <p:spPr>
          <a:xfrm>
            <a:off x="9281160" y="219456"/>
            <a:ext cx="2423160" cy="182880"/>
          </a:xfrm>
          <a:prstGeom prst="rect">
            <a:avLst/>
          </a:prstGeom>
          <a:noFill/>
          <a:ln/>
        </p:spPr>
        <p:txBody>
          <a:bodyPr wrap="square" lIns="0" tIns="0" rIns="0" bIns="0" rtlCol="0" anchor="ctr"/>
          <a:lstStyle/>
          <a:p>
            <a:pPr algn="r" indent="0" marL="0">
              <a:buNone/>
            </a:pPr>
            <a:r>
              <a:rPr lang="en-US" sz="700" dirty="0">
                <a:solidFill>
                  <a:srgbClr val="6D7886"/>
                </a:solidFill>
              </a:rPr>
              <a:t>Jifunze.ai skill booster</a:t>
            </a:r>
            <a:endParaRPr lang="en-US" sz="700" dirty="0"/>
          </a:p>
        </p:txBody>
      </p:sp>
      <p:sp>
        <p:nvSpPr>
          <p:cNvPr id="6" name="Text 4"/>
          <p:cNvSpPr/>
          <p:nvPr/>
        </p:nvSpPr>
        <p:spPr>
          <a:xfrm>
            <a:off x="502920" y="502920"/>
            <a:ext cx="4617720" cy="475488"/>
          </a:xfrm>
          <a:prstGeom prst="rect">
            <a:avLst/>
          </a:prstGeom>
          <a:noFill/>
          <a:ln/>
        </p:spPr>
        <p:txBody>
          <a:bodyPr wrap="square" lIns="127" tIns="127" rIns="127" bIns="127" rtlCol="0" anchor="ctr">
            <a:normAutofit/>
          </a:bodyPr>
          <a:lstStyle/>
          <a:p>
            <a:pPr indent="0" marL="0">
              <a:buNone/>
            </a:pPr>
            <a:r>
              <a:rPr lang="en-US" sz="2500" b="1" dirty="0">
                <a:solidFill>
                  <a:srgbClr val="14213D"/>
                </a:solidFill>
                <a:latin typeface="Aptos Display" pitchFamily="34" charset="0"/>
                <a:ea typeface="Aptos Display" pitchFamily="34" charset="-122"/>
                <a:cs typeface="Aptos Display" pitchFamily="34" charset="-120"/>
              </a:rPr>
              <a:t>Time saved analysis</a:t>
            </a:r>
            <a:endParaRPr lang="en-US" sz="2500" dirty="0"/>
          </a:p>
        </p:txBody>
      </p:sp>
      <p:sp>
        <p:nvSpPr>
          <p:cNvPr id="7" name="Text 5"/>
          <p:cNvSpPr/>
          <p:nvPr/>
        </p:nvSpPr>
        <p:spPr>
          <a:xfrm>
            <a:off x="521208" y="1005840"/>
            <a:ext cx="4617720" cy="228600"/>
          </a:xfrm>
          <a:prstGeom prst="rect">
            <a:avLst/>
          </a:prstGeom>
          <a:noFill/>
          <a:ln/>
        </p:spPr>
        <p:txBody>
          <a:bodyPr wrap="square" lIns="0" tIns="0" rIns="0" bIns="0" rtlCol="0" anchor="ctr">
            <a:normAutofit/>
          </a:bodyPr>
          <a:lstStyle/>
          <a:p>
            <a:pPr indent="0" marL="0">
              <a:buNone/>
            </a:pPr>
            <a:r>
              <a:rPr lang="en-US" sz="1080" dirty="0">
                <a:solidFill>
                  <a:srgbClr val="24303F"/>
                </a:solidFill>
              </a:rPr>
              <a:t>Projected monthly hours saved by automation area</a:t>
            </a:r>
            <a:endParaRPr lang="en-US" sz="1080" dirty="0"/>
          </a:p>
        </p:txBody>
      </p:sp>
      <p:sp>
        <p:nvSpPr>
          <p:cNvPr id="8" name="Text 6"/>
          <p:cNvSpPr/>
          <p:nvPr/>
        </p:nvSpPr>
        <p:spPr>
          <a:xfrm>
            <a:off x="594360" y="1417320"/>
            <a:ext cx="4617720" cy="4343400"/>
          </a:xfrm>
          <a:prstGeom prst="rect">
            <a:avLst/>
          </a:prstGeom>
          <a:noFill/>
          <a:ln/>
        </p:spPr>
        <p:txBody>
          <a:bodyPr wrap="square" lIns="635" tIns="635" rIns="635" bIns="635" rtlCol="0" anchor="ctr">
            <a:normAutofit/>
          </a:bodyPr>
          <a:lstStyle/>
          <a:p>
            <a:r>
              <a:rPr lang="en-US" sz="1450" dirty="0">
                <a:solidFill>
                  <a:srgbClr val="24303F"/>
                </a:solidFill>
              </a:rPr>
              <a:t>• Total expected monthly hours saved: 44.6</a:t>
            </a:r>
            <a:endParaRPr lang="en-US" sz="1450" dirty="0"/>
          </a:p>
          <a:p>
            <a:r>
              <a:rPr lang="en-US" sz="1450" dirty="0">
                <a:solidFill>
                  <a:srgbClr val="24303F"/>
                </a:solidFill>
              </a:rPr>
              <a:t>• Largest savings: course info, certificates, enquiry response</a:t>
            </a:r>
            <a:endParaRPr lang="en-US" sz="1450" dirty="0"/>
          </a:p>
          <a:p>
            <a:r>
              <a:rPr lang="en-US" sz="1450" dirty="0">
                <a:solidFill>
                  <a:srgbClr val="24303F"/>
                </a:solidFill>
              </a:rPr>
              <a:t>• Remaining workload still needs people and controls</a:t>
            </a:r>
            <a:endParaRPr lang="en-US" sz="1450" dirty="0"/>
          </a:p>
          <a:p>
            <a:r>
              <a:rPr lang="en-US" sz="1450" dirty="0">
                <a:solidFill>
                  <a:srgbClr val="24303F"/>
                </a:solidFill>
              </a:rPr>
              <a:t>• Savings represent capacity recovered, not guaranteed cash saved</a:t>
            </a:r>
            <a:endParaRPr lang="en-US" sz="1450" dirty="0"/>
          </a:p>
        </p:txBody>
      </p:sp>
      <p:sp>
        <p:nvSpPr>
          <p:cNvPr id="9" name="Text 7"/>
          <p:cNvSpPr/>
          <p:nvPr/>
        </p:nvSpPr>
        <p:spPr>
          <a:xfrm>
            <a:off x="5486400" y="1143000"/>
            <a:ext cx="5852160" cy="201168"/>
          </a:xfrm>
          <a:prstGeom prst="rect">
            <a:avLst/>
          </a:prstGeom>
          <a:noFill/>
          <a:ln/>
        </p:spPr>
        <p:txBody>
          <a:bodyPr wrap="square" lIns="0" tIns="0" rIns="0" bIns="0" rtlCol="0" anchor="ctr"/>
          <a:lstStyle/>
          <a:p>
            <a:pPr indent="0" marL="0">
              <a:buNone/>
            </a:pPr>
            <a:r>
              <a:rPr lang="en-US" sz="1000" b="1" dirty="0">
                <a:solidFill>
                  <a:srgbClr val="14213D"/>
                </a:solidFill>
              </a:rPr>
              <a:t>Projected hours saved</a:t>
            </a:r>
            <a:endParaRPr lang="en-US" sz="1000" dirty="0"/>
          </a:p>
        </p:txBody>
      </p:sp>
      <p:sp>
        <p:nvSpPr>
          <p:cNvPr id="10" name="Text 8"/>
          <p:cNvSpPr/>
          <p:nvPr/>
        </p:nvSpPr>
        <p:spPr>
          <a:xfrm>
            <a:off x="5486400" y="1499616"/>
            <a:ext cx="1508760" cy="146304"/>
          </a:xfrm>
          <a:prstGeom prst="rect">
            <a:avLst/>
          </a:prstGeom>
          <a:noFill/>
          <a:ln/>
        </p:spPr>
        <p:txBody>
          <a:bodyPr wrap="square" lIns="0" tIns="0" rIns="0" bIns="0" rtlCol="0" anchor="ctr">
            <a:normAutofit/>
          </a:bodyPr>
          <a:lstStyle/>
          <a:p>
            <a:pPr indent="0" marL="0">
              <a:buNone/>
            </a:pPr>
            <a:r>
              <a:rPr lang="en-US" sz="660" dirty="0">
                <a:solidFill>
                  <a:srgbClr val="24303F"/>
                </a:solidFill>
              </a:rPr>
              <a:t>Respond to enquiry</a:t>
            </a:r>
            <a:endParaRPr lang="en-US" sz="660" dirty="0"/>
          </a:p>
        </p:txBody>
      </p:sp>
      <p:sp>
        <p:nvSpPr>
          <p:cNvPr id="11" name="Shape 9"/>
          <p:cNvSpPr/>
          <p:nvPr/>
        </p:nvSpPr>
        <p:spPr>
          <a:xfrm>
            <a:off x="7086600" y="1508760"/>
            <a:ext cx="1770888" cy="164592"/>
          </a:xfrm>
          <a:prstGeom prst="rect">
            <a:avLst/>
          </a:prstGeom>
          <a:solidFill>
            <a:srgbClr val="C9A44C"/>
          </a:solidFill>
          <a:ln w="12700">
            <a:solidFill>
              <a:srgbClr val="FFFFFF">
                <a:alpha val="0"/>
              </a:srgbClr>
            </a:solidFill>
            <a:prstDash val="solid"/>
          </a:ln>
        </p:spPr>
      </p:sp>
      <p:sp>
        <p:nvSpPr>
          <p:cNvPr id="12" name="Text 10"/>
          <p:cNvSpPr/>
          <p:nvPr/>
        </p:nvSpPr>
        <p:spPr>
          <a:xfrm>
            <a:off x="10954512" y="1499616"/>
            <a:ext cx="365760" cy="137160"/>
          </a:xfrm>
          <a:prstGeom prst="rect">
            <a:avLst/>
          </a:prstGeom>
          <a:noFill/>
          <a:ln/>
        </p:spPr>
        <p:txBody>
          <a:bodyPr wrap="square" lIns="0" tIns="0" rIns="0" bIns="0" rtlCol="0" anchor="ctr"/>
          <a:lstStyle/>
          <a:p>
            <a:pPr algn="r" indent="0" marL="0">
              <a:buNone/>
            </a:pPr>
            <a:r>
              <a:rPr lang="en-US" sz="660" dirty="0">
                <a:solidFill>
                  <a:srgbClr val="24303F"/>
                </a:solidFill>
              </a:rPr>
              <a:t>5.6</a:t>
            </a:r>
            <a:endParaRPr lang="en-US" sz="660" dirty="0"/>
          </a:p>
        </p:txBody>
      </p:sp>
      <p:sp>
        <p:nvSpPr>
          <p:cNvPr id="13" name="Text 11"/>
          <p:cNvSpPr/>
          <p:nvPr/>
        </p:nvSpPr>
        <p:spPr>
          <a:xfrm>
            <a:off x="5486400" y="1895094"/>
            <a:ext cx="1508760" cy="146304"/>
          </a:xfrm>
          <a:prstGeom prst="rect">
            <a:avLst/>
          </a:prstGeom>
          <a:noFill/>
          <a:ln/>
        </p:spPr>
        <p:txBody>
          <a:bodyPr wrap="square" lIns="0" tIns="0" rIns="0" bIns="0" rtlCol="0" anchor="ctr">
            <a:normAutofit/>
          </a:bodyPr>
          <a:lstStyle/>
          <a:p>
            <a:pPr indent="0" marL="0">
              <a:buNone/>
            </a:pPr>
            <a:r>
              <a:rPr lang="en-US" sz="660" dirty="0">
                <a:solidFill>
                  <a:srgbClr val="24303F"/>
                </a:solidFill>
              </a:rPr>
              <a:t>Send course info</a:t>
            </a:r>
            <a:endParaRPr lang="en-US" sz="660" dirty="0"/>
          </a:p>
        </p:txBody>
      </p:sp>
      <p:sp>
        <p:nvSpPr>
          <p:cNvPr id="14" name="Shape 12"/>
          <p:cNvSpPr/>
          <p:nvPr/>
        </p:nvSpPr>
        <p:spPr>
          <a:xfrm>
            <a:off x="7086600" y="1904238"/>
            <a:ext cx="3415284" cy="164592"/>
          </a:xfrm>
          <a:prstGeom prst="rect">
            <a:avLst/>
          </a:prstGeom>
          <a:solidFill>
            <a:srgbClr val="2A9D8F"/>
          </a:solidFill>
          <a:ln w="12700">
            <a:solidFill>
              <a:srgbClr val="FFFFFF">
                <a:alpha val="0"/>
              </a:srgbClr>
            </a:solidFill>
            <a:prstDash val="solid"/>
          </a:ln>
        </p:spPr>
      </p:sp>
      <p:sp>
        <p:nvSpPr>
          <p:cNvPr id="15" name="Text 13"/>
          <p:cNvSpPr/>
          <p:nvPr/>
        </p:nvSpPr>
        <p:spPr>
          <a:xfrm>
            <a:off x="10954512" y="1895094"/>
            <a:ext cx="365760" cy="137160"/>
          </a:xfrm>
          <a:prstGeom prst="rect">
            <a:avLst/>
          </a:prstGeom>
          <a:noFill/>
          <a:ln/>
        </p:spPr>
        <p:txBody>
          <a:bodyPr wrap="square" lIns="0" tIns="0" rIns="0" bIns="0" rtlCol="0" anchor="ctr"/>
          <a:lstStyle/>
          <a:p>
            <a:pPr algn="r" indent="0" marL="0">
              <a:buNone/>
            </a:pPr>
            <a:r>
              <a:rPr lang="en-US" sz="660" dirty="0">
                <a:solidFill>
                  <a:srgbClr val="24303F"/>
                </a:solidFill>
              </a:rPr>
              <a:t>10.8</a:t>
            </a:r>
            <a:endParaRPr lang="en-US" sz="660" dirty="0"/>
          </a:p>
        </p:txBody>
      </p:sp>
      <p:sp>
        <p:nvSpPr>
          <p:cNvPr id="16" name="Text 14"/>
          <p:cNvSpPr/>
          <p:nvPr/>
        </p:nvSpPr>
        <p:spPr>
          <a:xfrm>
            <a:off x="5486400" y="2290572"/>
            <a:ext cx="1508760" cy="146304"/>
          </a:xfrm>
          <a:prstGeom prst="rect">
            <a:avLst/>
          </a:prstGeom>
          <a:noFill/>
          <a:ln/>
        </p:spPr>
        <p:txBody>
          <a:bodyPr wrap="square" lIns="0" tIns="0" rIns="0" bIns="0" rtlCol="0" anchor="ctr">
            <a:normAutofit/>
          </a:bodyPr>
          <a:lstStyle/>
          <a:p>
            <a:pPr indent="0" marL="0">
              <a:buNone/>
            </a:pPr>
            <a:r>
              <a:rPr lang="en-US" sz="660" dirty="0">
                <a:solidFill>
                  <a:srgbClr val="24303F"/>
                </a:solidFill>
              </a:rPr>
              <a:t>Enter registration</a:t>
            </a:r>
            <a:endParaRPr lang="en-US" sz="660" dirty="0"/>
          </a:p>
        </p:txBody>
      </p:sp>
      <p:sp>
        <p:nvSpPr>
          <p:cNvPr id="17" name="Shape 15"/>
          <p:cNvSpPr/>
          <p:nvPr/>
        </p:nvSpPr>
        <p:spPr>
          <a:xfrm>
            <a:off x="7086600" y="2299716"/>
            <a:ext cx="1581150" cy="164592"/>
          </a:xfrm>
          <a:prstGeom prst="rect">
            <a:avLst/>
          </a:prstGeom>
          <a:solidFill>
            <a:srgbClr val="C9A44C"/>
          </a:solidFill>
          <a:ln w="12700">
            <a:solidFill>
              <a:srgbClr val="FFFFFF">
                <a:alpha val="0"/>
              </a:srgbClr>
            </a:solidFill>
            <a:prstDash val="solid"/>
          </a:ln>
        </p:spPr>
      </p:sp>
      <p:sp>
        <p:nvSpPr>
          <p:cNvPr id="18" name="Text 16"/>
          <p:cNvSpPr/>
          <p:nvPr/>
        </p:nvSpPr>
        <p:spPr>
          <a:xfrm>
            <a:off x="10954512" y="2290572"/>
            <a:ext cx="365760" cy="137160"/>
          </a:xfrm>
          <a:prstGeom prst="rect">
            <a:avLst/>
          </a:prstGeom>
          <a:noFill/>
          <a:ln/>
        </p:spPr>
        <p:txBody>
          <a:bodyPr wrap="square" lIns="0" tIns="0" rIns="0" bIns="0" rtlCol="0" anchor="ctr"/>
          <a:lstStyle/>
          <a:p>
            <a:pPr algn="r" indent="0" marL="0">
              <a:buNone/>
            </a:pPr>
            <a:r>
              <a:rPr lang="en-US" sz="660" dirty="0">
                <a:solidFill>
                  <a:srgbClr val="24303F"/>
                </a:solidFill>
              </a:rPr>
              <a:t>5.0</a:t>
            </a:r>
            <a:endParaRPr lang="en-US" sz="660" dirty="0"/>
          </a:p>
        </p:txBody>
      </p:sp>
      <p:sp>
        <p:nvSpPr>
          <p:cNvPr id="19" name="Text 17"/>
          <p:cNvSpPr/>
          <p:nvPr/>
        </p:nvSpPr>
        <p:spPr>
          <a:xfrm>
            <a:off x="5486400" y="2686050"/>
            <a:ext cx="1508760" cy="146304"/>
          </a:xfrm>
          <a:prstGeom prst="rect">
            <a:avLst/>
          </a:prstGeom>
          <a:noFill/>
          <a:ln/>
        </p:spPr>
        <p:txBody>
          <a:bodyPr wrap="square" lIns="0" tIns="0" rIns="0" bIns="0" rtlCol="0" anchor="ctr">
            <a:normAutofit/>
          </a:bodyPr>
          <a:lstStyle/>
          <a:p>
            <a:pPr indent="0" marL="0">
              <a:buNone/>
            </a:pPr>
            <a:r>
              <a:rPr lang="en-US" sz="660" dirty="0">
                <a:solidFill>
                  <a:srgbClr val="24303F"/>
                </a:solidFill>
              </a:rPr>
              <a:t>Confirm payment</a:t>
            </a:r>
            <a:endParaRPr lang="en-US" sz="660" dirty="0"/>
          </a:p>
        </p:txBody>
      </p:sp>
      <p:sp>
        <p:nvSpPr>
          <p:cNvPr id="20" name="Shape 18"/>
          <p:cNvSpPr/>
          <p:nvPr/>
        </p:nvSpPr>
        <p:spPr>
          <a:xfrm>
            <a:off x="7086600" y="2695194"/>
            <a:ext cx="1423035" cy="164592"/>
          </a:xfrm>
          <a:prstGeom prst="rect">
            <a:avLst/>
          </a:prstGeom>
          <a:solidFill>
            <a:srgbClr val="2A9D8F"/>
          </a:solidFill>
          <a:ln w="12700">
            <a:solidFill>
              <a:srgbClr val="FFFFFF">
                <a:alpha val="0"/>
              </a:srgbClr>
            </a:solidFill>
            <a:prstDash val="solid"/>
          </a:ln>
        </p:spPr>
      </p:sp>
      <p:sp>
        <p:nvSpPr>
          <p:cNvPr id="21" name="Text 19"/>
          <p:cNvSpPr/>
          <p:nvPr/>
        </p:nvSpPr>
        <p:spPr>
          <a:xfrm>
            <a:off x="10954512" y="2686050"/>
            <a:ext cx="365760" cy="137160"/>
          </a:xfrm>
          <a:prstGeom prst="rect">
            <a:avLst/>
          </a:prstGeom>
          <a:noFill/>
          <a:ln/>
        </p:spPr>
        <p:txBody>
          <a:bodyPr wrap="square" lIns="0" tIns="0" rIns="0" bIns="0" rtlCol="0" anchor="ctr"/>
          <a:lstStyle/>
          <a:p>
            <a:pPr algn="r" indent="0" marL="0">
              <a:buNone/>
            </a:pPr>
            <a:r>
              <a:rPr lang="en-US" sz="660" dirty="0">
                <a:solidFill>
                  <a:srgbClr val="24303F"/>
                </a:solidFill>
              </a:rPr>
              <a:t>4.5</a:t>
            </a:r>
            <a:endParaRPr lang="en-US" sz="660" dirty="0"/>
          </a:p>
        </p:txBody>
      </p:sp>
      <p:sp>
        <p:nvSpPr>
          <p:cNvPr id="22" name="Text 20"/>
          <p:cNvSpPr/>
          <p:nvPr/>
        </p:nvSpPr>
        <p:spPr>
          <a:xfrm>
            <a:off x="5486400" y="3081528"/>
            <a:ext cx="1508760" cy="146304"/>
          </a:xfrm>
          <a:prstGeom prst="rect">
            <a:avLst/>
          </a:prstGeom>
          <a:noFill/>
          <a:ln/>
        </p:spPr>
        <p:txBody>
          <a:bodyPr wrap="square" lIns="0" tIns="0" rIns="0" bIns="0" rtlCol="0" anchor="ctr">
            <a:normAutofit/>
          </a:bodyPr>
          <a:lstStyle/>
          <a:p>
            <a:pPr indent="0" marL="0">
              <a:buNone/>
            </a:pPr>
            <a:r>
              <a:rPr lang="en-US" sz="660" dirty="0">
                <a:solidFill>
                  <a:srgbClr val="24303F"/>
                </a:solidFill>
              </a:rPr>
              <a:t>Send class reminder</a:t>
            </a:r>
            <a:endParaRPr lang="en-US" sz="660" dirty="0"/>
          </a:p>
        </p:txBody>
      </p:sp>
      <p:sp>
        <p:nvSpPr>
          <p:cNvPr id="23" name="Shape 21"/>
          <p:cNvSpPr/>
          <p:nvPr/>
        </p:nvSpPr>
        <p:spPr>
          <a:xfrm>
            <a:off x="7086600" y="3090672"/>
            <a:ext cx="1328166" cy="164592"/>
          </a:xfrm>
          <a:prstGeom prst="rect">
            <a:avLst/>
          </a:prstGeom>
          <a:solidFill>
            <a:srgbClr val="C9A44C"/>
          </a:solidFill>
          <a:ln w="12700">
            <a:solidFill>
              <a:srgbClr val="FFFFFF">
                <a:alpha val="0"/>
              </a:srgbClr>
            </a:solidFill>
            <a:prstDash val="solid"/>
          </a:ln>
        </p:spPr>
      </p:sp>
      <p:sp>
        <p:nvSpPr>
          <p:cNvPr id="24" name="Text 22"/>
          <p:cNvSpPr/>
          <p:nvPr/>
        </p:nvSpPr>
        <p:spPr>
          <a:xfrm>
            <a:off x="10954512" y="3081528"/>
            <a:ext cx="365760" cy="137160"/>
          </a:xfrm>
          <a:prstGeom prst="rect">
            <a:avLst/>
          </a:prstGeom>
          <a:noFill/>
          <a:ln/>
        </p:spPr>
        <p:txBody>
          <a:bodyPr wrap="square" lIns="0" tIns="0" rIns="0" bIns="0" rtlCol="0" anchor="ctr"/>
          <a:lstStyle/>
          <a:p>
            <a:pPr algn="r" indent="0" marL="0">
              <a:buNone/>
            </a:pPr>
            <a:r>
              <a:rPr lang="en-US" sz="660" dirty="0">
                <a:solidFill>
                  <a:srgbClr val="24303F"/>
                </a:solidFill>
              </a:rPr>
              <a:t>4.2</a:t>
            </a:r>
            <a:endParaRPr lang="en-US" sz="660" dirty="0"/>
          </a:p>
        </p:txBody>
      </p:sp>
      <p:sp>
        <p:nvSpPr>
          <p:cNvPr id="25" name="Text 23"/>
          <p:cNvSpPr/>
          <p:nvPr/>
        </p:nvSpPr>
        <p:spPr>
          <a:xfrm>
            <a:off x="5486400" y="3477006"/>
            <a:ext cx="1508760" cy="146304"/>
          </a:xfrm>
          <a:prstGeom prst="rect">
            <a:avLst/>
          </a:prstGeom>
          <a:noFill/>
          <a:ln/>
        </p:spPr>
        <p:txBody>
          <a:bodyPr wrap="square" lIns="0" tIns="0" rIns="0" bIns="0" rtlCol="0" anchor="ctr">
            <a:normAutofit/>
          </a:bodyPr>
          <a:lstStyle/>
          <a:p>
            <a:pPr indent="0" marL="0">
              <a:buNone/>
            </a:pPr>
            <a:r>
              <a:rPr lang="en-US" sz="660" dirty="0">
                <a:solidFill>
                  <a:srgbClr val="24303F"/>
                </a:solidFill>
              </a:rPr>
              <a:t>Track attendance</a:t>
            </a:r>
            <a:endParaRPr lang="en-US" sz="660" dirty="0"/>
          </a:p>
        </p:txBody>
      </p:sp>
      <p:sp>
        <p:nvSpPr>
          <p:cNvPr id="26" name="Shape 24"/>
          <p:cNvSpPr/>
          <p:nvPr/>
        </p:nvSpPr>
        <p:spPr>
          <a:xfrm>
            <a:off x="7086600" y="3486150"/>
            <a:ext cx="1011936" cy="164592"/>
          </a:xfrm>
          <a:prstGeom prst="rect">
            <a:avLst/>
          </a:prstGeom>
          <a:solidFill>
            <a:srgbClr val="2A9D8F"/>
          </a:solidFill>
          <a:ln w="12700">
            <a:solidFill>
              <a:srgbClr val="FFFFFF">
                <a:alpha val="0"/>
              </a:srgbClr>
            </a:solidFill>
            <a:prstDash val="solid"/>
          </a:ln>
        </p:spPr>
      </p:sp>
      <p:sp>
        <p:nvSpPr>
          <p:cNvPr id="27" name="Text 25"/>
          <p:cNvSpPr/>
          <p:nvPr/>
        </p:nvSpPr>
        <p:spPr>
          <a:xfrm>
            <a:off x="10954512" y="3477006"/>
            <a:ext cx="365760" cy="137160"/>
          </a:xfrm>
          <a:prstGeom prst="rect">
            <a:avLst/>
          </a:prstGeom>
          <a:noFill/>
          <a:ln/>
        </p:spPr>
        <p:txBody>
          <a:bodyPr wrap="square" lIns="0" tIns="0" rIns="0" bIns="0" rtlCol="0" anchor="ctr"/>
          <a:lstStyle/>
          <a:p>
            <a:pPr algn="r" indent="0" marL="0">
              <a:buNone/>
            </a:pPr>
            <a:r>
              <a:rPr lang="en-US" sz="660" dirty="0">
                <a:solidFill>
                  <a:srgbClr val="24303F"/>
                </a:solidFill>
              </a:rPr>
              <a:t>3.2</a:t>
            </a:r>
            <a:endParaRPr lang="en-US" sz="660" dirty="0"/>
          </a:p>
        </p:txBody>
      </p:sp>
      <p:sp>
        <p:nvSpPr>
          <p:cNvPr id="28" name="Text 26"/>
          <p:cNvSpPr/>
          <p:nvPr/>
        </p:nvSpPr>
        <p:spPr>
          <a:xfrm>
            <a:off x="5486400" y="3872484"/>
            <a:ext cx="1508760" cy="146304"/>
          </a:xfrm>
          <a:prstGeom prst="rect">
            <a:avLst/>
          </a:prstGeom>
          <a:noFill/>
          <a:ln/>
        </p:spPr>
        <p:txBody>
          <a:bodyPr wrap="square" lIns="0" tIns="0" rIns="0" bIns="0" rtlCol="0" anchor="ctr">
            <a:normAutofit/>
          </a:bodyPr>
          <a:lstStyle/>
          <a:p>
            <a:pPr indent="0" marL="0">
              <a:buNone/>
            </a:pPr>
            <a:r>
              <a:rPr lang="en-US" sz="660" dirty="0">
                <a:solidFill>
                  <a:srgbClr val="24303F"/>
                </a:solidFill>
              </a:rPr>
              <a:t>Prepare certificate</a:t>
            </a:r>
            <a:endParaRPr lang="en-US" sz="660" dirty="0"/>
          </a:p>
        </p:txBody>
      </p:sp>
      <p:sp>
        <p:nvSpPr>
          <p:cNvPr id="29" name="Shape 27"/>
          <p:cNvSpPr/>
          <p:nvPr/>
        </p:nvSpPr>
        <p:spPr>
          <a:xfrm>
            <a:off x="7086600" y="3881628"/>
            <a:ext cx="2561463" cy="164592"/>
          </a:xfrm>
          <a:prstGeom prst="rect">
            <a:avLst/>
          </a:prstGeom>
          <a:solidFill>
            <a:srgbClr val="C9A44C"/>
          </a:solidFill>
          <a:ln w="12700">
            <a:solidFill>
              <a:srgbClr val="FFFFFF">
                <a:alpha val="0"/>
              </a:srgbClr>
            </a:solidFill>
            <a:prstDash val="solid"/>
          </a:ln>
        </p:spPr>
      </p:sp>
      <p:sp>
        <p:nvSpPr>
          <p:cNvPr id="30" name="Text 28"/>
          <p:cNvSpPr/>
          <p:nvPr/>
        </p:nvSpPr>
        <p:spPr>
          <a:xfrm>
            <a:off x="10954512" y="3872484"/>
            <a:ext cx="365760" cy="137160"/>
          </a:xfrm>
          <a:prstGeom prst="rect">
            <a:avLst/>
          </a:prstGeom>
          <a:noFill/>
          <a:ln/>
        </p:spPr>
        <p:txBody>
          <a:bodyPr wrap="square" lIns="0" tIns="0" rIns="0" bIns="0" rtlCol="0" anchor="ctr"/>
          <a:lstStyle/>
          <a:p>
            <a:pPr algn="r" indent="0" marL="0">
              <a:buNone/>
            </a:pPr>
            <a:r>
              <a:rPr lang="en-US" sz="660" dirty="0">
                <a:solidFill>
                  <a:srgbClr val="24303F"/>
                </a:solidFill>
              </a:rPr>
              <a:t>8.1</a:t>
            </a:r>
            <a:endParaRPr lang="en-US" sz="660" dirty="0"/>
          </a:p>
        </p:txBody>
      </p:sp>
      <p:sp>
        <p:nvSpPr>
          <p:cNvPr id="31" name="Text 29"/>
          <p:cNvSpPr/>
          <p:nvPr/>
        </p:nvSpPr>
        <p:spPr>
          <a:xfrm>
            <a:off x="5486400" y="4267962"/>
            <a:ext cx="1508760" cy="146304"/>
          </a:xfrm>
          <a:prstGeom prst="rect">
            <a:avLst/>
          </a:prstGeom>
          <a:noFill/>
          <a:ln/>
        </p:spPr>
        <p:txBody>
          <a:bodyPr wrap="square" lIns="0" tIns="0" rIns="0" bIns="0" rtlCol="0" anchor="ctr">
            <a:normAutofit/>
          </a:bodyPr>
          <a:lstStyle/>
          <a:p>
            <a:pPr indent="0" marL="0">
              <a:buNone/>
            </a:pPr>
            <a:r>
              <a:rPr lang="en-US" sz="660" dirty="0">
                <a:solidFill>
                  <a:srgbClr val="24303F"/>
                </a:solidFill>
              </a:rPr>
              <a:t>Send feedback form</a:t>
            </a:r>
            <a:endParaRPr lang="en-US" sz="660" dirty="0"/>
          </a:p>
        </p:txBody>
      </p:sp>
      <p:sp>
        <p:nvSpPr>
          <p:cNvPr id="32" name="Shape 30"/>
          <p:cNvSpPr/>
          <p:nvPr/>
        </p:nvSpPr>
        <p:spPr>
          <a:xfrm>
            <a:off x="7086600" y="4277106"/>
            <a:ext cx="1011936" cy="164592"/>
          </a:xfrm>
          <a:prstGeom prst="rect">
            <a:avLst/>
          </a:prstGeom>
          <a:solidFill>
            <a:srgbClr val="2A9D8F"/>
          </a:solidFill>
          <a:ln w="12700">
            <a:solidFill>
              <a:srgbClr val="FFFFFF">
                <a:alpha val="0"/>
              </a:srgbClr>
            </a:solidFill>
            <a:prstDash val="solid"/>
          </a:ln>
        </p:spPr>
      </p:sp>
      <p:sp>
        <p:nvSpPr>
          <p:cNvPr id="33" name="Text 31"/>
          <p:cNvSpPr/>
          <p:nvPr/>
        </p:nvSpPr>
        <p:spPr>
          <a:xfrm>
            <a:off x="10954512" y="4267962"/>
            <a:ext cx="365760" cy="137160"/>
          </a:xfrm>
          <a:prstGeom prst="rect">
            <a:avLst/>
          </a:prstGeom>
          <a:noFill/>
          <a:ln/>
        </p:spPr>
        <p:txBody>
          <a:bodyPr wrap="square" lIns="0" tIns="0" rIns="0" bIns="0" rtlCol="0" anchor="ctr"/>
          <a:lstStyle/>
          <a:p>
            <a:pPr algn="r" indent="0" marL="0">
              <a:buNone/>
            </a:pPr>
            <a:r>
              <a:rPr lang="en-US" sz="660" dirty="0">
                <a:solidFill>
                  <a:srgbClr val="24303F"/>
                </a:solidFill>
              </a:rPr>
              <a:t>3.2</a:t>
            </a:r>
            <a:endParaRPr lang="en-US" sz="660" dirty="0"/>
          </a:p>
        </p:txBody>
      </p:sp>
      <p:sp>
        <p:nvSpPr>
          <p:cNvPr id="34" name="Shape 32"/>
          <p:cNvSpPr/>
          <p:nvPr/>
        </p:nvSpPr>
        <p:spPr>
          <a:xfrm>
            <a:off x="6629400" y="5212080"/>
            <a:ext cx="3383280" cy="457200"/>
          </a:xfrm>
          <a:prstGeom prst="roundRect">
            <a:avLst>
              <a:gd name="adj" fmla="val 16000"/>
            </a:avLst>
          </a:prstGeom>
          <a:solidFill>
            <a:srgbClr val="14213D"/>
          </a:solidFill>
          <a:ln w="12700">
            <a:solidFill>
              <a:srgbClr val="14213D"/>
            </a:solidFill>
            <a:prstDash val="solid"/>
          </a:ln>
        </p:spPr>
      </p:sp>
      <p:sp>
        <p:nvSpPr>
          <p:cNvPr id="35" name="Text 33"/>
          <p:cNvSpPr/>
          <p:nvPr/>
        </p:nvSpPr>
        <p:spPr>
          <a:xfrm>
            <a:off x="6739128" y="5303520"/>
            <a:ext cx="3163824" cy="292608"/>
          </a:xfrm>
          <a:prstGeom prst="rect">
            <a:avLst/>
          </a:prstGeom>
          <a:noFill/>
          <a:ln/>
        </p:spPr>
        <p:txBody>
          <a:bodyPr wrap="square" lIns="127" tIns="127" rIns="127" bIns="127" rtlCol="0" anchor="ctr">
            <a:normAutofit/>
          </a:bodyPr>
          <a:lstStyle/>
          <a:p>
            <a:pPr indent="0" marL="0">
              <a:buNone/>
            </a:pPr>
            <a:r>
              <a:rPr lang="en-US" sz="1500" b="1" dirty="0">
                <a:solidFill>
                  <a:srgbClr val="24303F"/>
                </a:solidFill>
              </a:rPr>
              <a:t>44.6 hours/month recovered</a:t>
            </a:r>
            <a:endParaRPr lang="en-US" sz="1500" dirty="0"/>
          </a:p>
        </p:txBody>
      </p:sp>
      <p:sp>
        <p:nvSpPr>
          <p:cNvPr id="36" name="Text 34"/>
          <p:cNvSpPr/>
          <p:nvPr/>
        </p:nvSpPr>
        <p:spPr>
          <a:xfrm>
            <a:off x="11384280" y="6428232"/>
            <a:ext cx="320040" cy="109728"/>
          </a:xfrm>
          <a:prstGeom prst="rect">
            <a:avLst/>
          </a:prstGeom>
          <a:noFill/>
          <a:ln/>
        </p:spPr>
        <p:txBody>
          <a:bodyPr wrap="square" lIns="0" tIns="0" rIns="0" bIns="0" rtlCol="0" anchor="ctr"/>
          <a:lstStyle/>
          <a:p>
            <a:pPr algn="r" indent="0" marL="0">
              <a:buNone/>
            </a:pPr>
            <a:r>
              <a:rPr lang="en-US" sz="700" dirty="0">
                <a:solidFill>
                  <a:srgbClr val="FFFFFF"/>
                </a:solidFill>
              </a:rPr>
              <a:t>32</a:t>
            </a:r>
            <a:endParaRPr lang="en-US" sz="7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7F3EA"/>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4213D"/>
          </a:solidFill>
          <a:ln w="12700">
            <a:solidFill>
              <a:srgbClr val="14213D">
                <a:alpha val="0"/>
              </a:srgbClr>
            </a:solidFill>
            <a:prstDash val="solid"/>
          </a:ln>
        </p:spPr>
      </p:sp>
      <p:sp>
        <p:nvSpPr>
          <p:cNvPr id="3" name="Shape 1"/>
          <p:cNvSpPr/>
          <p:nvPr/>
        </p:nvSpPr>
        <p:spPr>
          <a:xfrm>
            <a:off x="0" y="6693408"/>
            <a:ext cx="12191695" cy="164592"/>
          </a:xfrm>
          <a:prstGeom prst="rect">
            <a:avLst/>
          </a:prstGeom>
          <a:solidFill>
            <a:srgbClr val="14213D"/>
          </a:solidFill>
          <a:ln w="12700">
            <a:solidFill>
              <a:srgbClr val="14213D">
                <a:alpha val="0"/>
              </a:srgbClr>
            </a:solidFill>
            <a:prstDash val="solid"/>
          </a:ln>
        </p:spPr>
      </p:sp>
      <p:sp>
        <p:nvSpPr>
          <p:cNvPr id="4" name="Text 2"/>
          <p:cNvSpPr/>
          <p:nvPr/>
        </p:nvSpPr>
        <p:spPr>
          <a:xfrm>
            <a:off x="502920" y="256032"/>
            <a:ext cx="4480560" cy="164592"/>
          </a:xfrm>
          <a:prstGeom prst="rect">
            <a:avLst/>
          </a:prstGeom>
          <a:noFill/>
          <a:ln/>
        </p:spPr>
        <p:txBody>
          <a:bodyPr wrap="square" lIns="0" tIns="0" rIns="0" bIns="0" rtlCol="0" anchor="ctr"/>
          <a:lstStyle/>
          <a:p>
            <a:pPr indent="0" marL="0">
              <a:buNone/>
            </a:pPr>
            <a:r>
              <a:rPr lang="en-US" sz="700" b="1" dirty="0">
                <a:solidFill>
                  <a:srgbClr val="2A9D8F"/>
                </a:solidFill>
                <a:latin typeface="Aptos" pitchFamily="34" charset="0"/>
                <a:ea typeface="Aptos" pitchFamily="34" charset="-122"/>
                <a:cs typeface="Aptos" pitchFamily="34" charset="-120"/>
              </a:rPr>
              <a:t>SECTION 5</a:t>
            </a:r>
            <a:endParaRPr lang="en-US" sz="700" dirty="0"/>
          </a:p>
        </p:txBody>
      </p:sp>
      <p:sp>
        <p:nvSpPr>
          <p:cNvPr id="5" name="Text 3"/>
          <p:cNvSpPr/>
          <p:nvPr/>
        </p:nvSpPr>
        <p:spPr>
          <a:xfrm>
            <a:off x="9281160" y="219456"/>
            <a:ext cx="2423160" cy="182880"/>
          </a:xfrm>
          <a:prstGeom prst="rect">
            <a:avLst/>
          </a:prstGeom>
          <a:noFill/>
          <a:ln/>
        </p:spPr>
        <p:txBody>
          <a:bodyPr wrap="square" lIns="0" tIns="0" rIns="0" bIns="0" rtlCol="0" anchor="ctr"/>
          <a:lstStyle/>
          <a:p>
            <a:pPr algn="r" indent="0" marL="0">
              <a:buNone/>
            </a:pPr>
            <a:r>
              <a:rPr lang="en-US" sz="700" dirty="0">
                <a:solidFill>
                  <a:srgbClr val="6D7886"/>
                </a:solidFill>
              </a:rPr>
              <a:t>Jifunze.ai skill booster</a:t>
            </a:r>
            <a:endParaRPr lang="en-US" sz="700" dirty="0"/>
          </a:p>
        </p:txBody>
      </p:sp>
      <p:sp>
        <p:nvSpPr>
          <p:cNvPr id="6" name="Text 4"/>
          <p:cNvSpPr/>
          <p:nvPr/>
        </p:nvSpPr>
        <p:spPr>
          <a:xfrm>
            <a:off x="502920" y="502920"/>
            <a:ext cx="4617720" cy="475488"/>
          </a:xfrm>
          <a:prstGeom prst="rect">
            <a:avLst/>
          </a:prstGeom>
          <a:noFill/>
          <a:ln/>
        </p:spPr>
        <p:txBody>
          <a:bodyPr wrap="square" lIns="127" tIns="127" rIns="127" bIns="127" rtlCol="0" anchor="ctr">
            <a:normAutofit/>
          </a:bodyPr>
          <a:lstStyle/>
          <a:p>
            <a:pPr indent="0" marL="0">
              <a:buNone/>
            </a:pPr>
            <a:r>
              <a:rPr lang="en-US" sz="2500" b="1" dirty="0">
                <a:solidFill>
                  <a:srgbClr val="14213D"/>
                </a:solidFill>
                <a:latin typeface="Aptos Display" pitchFamily="34" charset="0"/>
                <a:ea typeface="Aptos Display" pitchFamily="34" charset="-122"/>
                <a:cs typeface="Aptos Display" pitchFamily="34" charset="-120"/>
              </a:rPr>
              <a:t>Cost savings estimate</a:t>
            </a:r>
            <a:endParaRPr lang="en-US" sz="2500" dirty="0"/>
          </a:p>
        </p:txBody>
      </p:sp>
      <p:sp>
        <p:nvSpPr>
          <p:cNvPr id="7" name="Text 5"/>
          <p:cNvSpPr/>
          <p:nvPr/>
        </p:nvSpPr>
        <p:spPr>
          <a:xfrm>
            <a:off x="521208" y="1005840"/>
            <a:ext cx="4617720" cy="228600"/>
          </a:xfrm>
          <a:prstGeom prst="rect">
            <a:avLst/>
          </a:prstGeom>
          <a:noFill/>
          <a:ln/>
        </p:spPr>
        <p:txBody>
          <a:bodyPr wrap="square" lIns="0" tIns="0" rIns="0" bIns="0" rtlCol="0" anchor="ctr">
            <a:normAutofit/>
          </a:bodyPr>
          <a:lstStyle/>
          <a:p>
            <a:pPr indent="0" marL="0">
              <a:buNone/>
            </a:pPr>
            <a:r>
              <a:rPr lang="en-US" sz="1080" dirty="0">
                <a:solidFill>
                  <a:srgbClr val="24303F"/>
                </a:solidFill>
              </a:rPr>
              <a:t>Use labor value carefully and honestly</a:t>
            </a:r>
            <a:endParaRPr lang="en-US" sz="1080" dirty="0"/>
          </a:p>
        </p:txBody>
      </p:sp>
      <p:sp>
        <p:nvSpPr>
          <p:cNvPr id="8" name="Text 6"/>
          <p:cNvSpPr/>
          <p:nvPr/>
        </p:nvSpPr>
        <p:spPr>
          <a:xfrm>
            <a:off x="594360" y="1417320"/>
            <a:ext cx="4617720" cy="4343400"/>
          </a:xfrm>
          <a:prstGeom prst="rect">
            <a:avLst/>
          </a:prstGeom>
          <a:noFill/>
          <a:ln/>
        </p:spPr>
        <p:txBody>
          <a:bodyPr wrap="square" lIns="635" tIns="635" rIns="635" bIns="635" rtlCol="0" anchor="ctr">
            <a:normAutofit/>
          </a:bodyPr>
          <a:lstStyle/>
          <a:p>
            <a:r>
              <a:rPr lang="en-US" sz="1450" dirty="0">
                <a:solidFill>
                  <a:srgbClr val="24303F"/>
                </a:solidFill>
              </a:rPr>
              <a:t>• Baseline labor value: 75.3 × $18 = $1,355.40/month</a:t>
            </a:r>
            <a:endParaRPr lang="en-US" sz="1450" dirty="0"/>
          </a:p>
          <a:p>
            <a:r>
              <a:rPr lang="en-US" sz="1450" dirty="0">
                <a:solidFill>
                  <a:srgbClr val="24303F"/>
                </a:solidFill>
              </a:rPr>
              <a:t>• Projected recovered value: 44.6 × $18 = $802.80/month</a:t>
            </a:r>
            <a:endParaRPr lang="en-US" sz="1450" dirty="0"/>
          </a:p>
          <a:p>
            <a:r>
              <a:rPr lang="en-US" sz="1450" dirty="0">
                <a:solidFill>
                  <a:srgbClr val="24303F"/>
                </a:solidFill>
              </a:rPr>
              <a:t>• This is not guaranteed cash saved unless staffing cost is reduced</a:t>
            </a:r>
            <a:endParaRPr lang="en-US" sz="1450" dirty="0"/>
          </a:p>
          <a:p>
            <a:r>
              <a:rPr lang="en-US" sz="1450" dirty="0">
                <a:solidFill>
                  <a:srgbClr val="24303F"/>
                </a:solidFill>
              </a:rPr>
              <a:t>• For many teams, the real value is capacity and better service</a:t>
            </a:r>
            <a:endParaRPr lang="en-US" sz="1450" dirty="0"/>
          </a:p>
        </p:txBody>
      </p:sp>
      <p:sp>
        <p:nvSpPr>
          <p:cNvPr id="9" name="Shape 7"/>
          <p:cNvSpPr/>
          <p:nvPr/>
        </p:nvSpPr>
        <p:spPr>
          <a:xfrm>
            <a:off x="5806440" y="1463040"/>
            <a:ext cx="2423160" cy="1051560"/>
          </a:xfrm>
          <a:prstGeom prst="roundRect">
            <a:avLst>
              <a:gd name="adj" fmla="val 6957"/>
            </a:avLst>
          </a:prstGeom>
          <a:solidFill>
            <a:srgbClr val="FFFFFF"/>
          </a:solidFill>
          <a:ln w="12700">
            <a:solidFill>
              <a:srgbClr val="B85C5C"/>
            </a:solidFill>
            <a:prstDash val="solid"/>
          </a:ln>
        </p:spPr>
      </p:sp>
      <p:sp>
        <p:nvSpPr>
          <p:cNvPr id="10" name="Text 8"/>
          <p:cNvSpPr/>
          <p:nvPr/>
        </p:nvSpPr>
        <p:spPr>
          <a:xfrm>
            <a:off x="5916168" y="1554480"/>
            <a:ext cx="2203704" cy="886968"/>
          </a:xfrm>
          <a:prstGeom prst="rect">
            <a:avLst/>
          </a:prstGeom>
          <a:noFill/>
          <a:ln/>
        </p:spPr>
        <p:txBody>
          <a:bodyPr wrap="square" lIns="127" tIns="127" rIns="127" bIns="127" rtlCol="0" anchor="ctr">
            <a:normAutofit/>
          </a:bodyPr>
          <a:lstStyle/>
          <a:p>
            <a:pPr indent="0" marL="0">
              <a:buNone/>
            </a:pPr>
            <a:r>
              <a:rPr lang="en-US" sz="1700" b="1" dirty="0">
                <a:solidFill>
                  <a:srgbClr val="24303F"/>
                </a:solidFill>
              </a:rPr>
              <a:t>Baseline manual labor value</a:t>
            </a:r>
            <a:endParaRPr lang="en-US" sz="1700" dirty="0"/>
          </a:p>
          <a:p>
            <a:pPr indent="0" marL="0">
              <a:buNone/>
            </a:pPr>
            <a:r>
              <a:rPr lang="en-US" sz="1700" b="1" dirty="0">
                <a:solidFill>
                  <a:srgbClr val="24303F"/>
                </a:solidFill>
              </a:rPr>
              <a:t>$1,355.40/month</a:t>
            </a:r>
            <a:endParaRPr lang="en-US" sz="1700" dirty="0"/>
          </a:p>
        </p:txBody>
      </p:sp>
      <p:sp>
        <p:nvSpPr>
          <p:cNvPr id="11" name="Shape 9"/>
          <p:cNvSpPr/>
          <p:nvPr/>
        </p:nvSpPr>
        <p:spPr>
          <a:xfrm>
            <a:off x="8641080" y="1463040"/>
            <a:ext cx="2423160" cy="1051560"/>
          </a:xfrm>
          <a:prstGeom prst="roundRect">
            <a:avLst>
              <a:gd name="adj" fmla="val 6957"/>
            </a:avLst>
          </a:prstGeom>
          <a:solidFill>
            <a:srgbClr val="FFFFFF"/>
          </a:solidFill>
          <a:ln w="12700">
            <a:solidFill>
              <a:srgbClr val="2A9D8F"/>
            </a:solidFill>
            <a:prstDash val="solid"/>
          </a:ln>
        </p:spPr>
      </p:sp>
      <p:sp>
        <p:nvSpPr>
          <p:cNvPr id="12" name="Text 10"/>
          <p:cNvSpPr/>
          <p:nvPr/>
        </p:nvSpPr>
        <p:spPr>
          <a:xfrm>
            <a:off x="8750808" y="1554480"/>
            <a:ext cx="2203704" cy="886968"/>
          </a:xfrm>
          <a:prstGeom prst="rect">
            <a:avLst/>
          </a:prstGeom>
          <a:noFill/>
          <a:ln/>
        </p:spPr>
        <p:txBody>
          <a:bodyPr wrap="square" lIns="127" tIns="127" rIns="127" bIns="127" rtlCol="0" anchor="ctr">
            <a:normAutofit/>
          </a:bodyPr>
          <a:lstStyle/>
          <a:p>
            <a:pPr indent="0" marL="0">
              <a:buNone/>
            </a:pPr>
            <a:r>
              <a:rPr lang="en-US" sz="1700" b="1" dirty="0">
                <a:solidFill>
                  <a:srgbClr val="24303F"/>
                </a:solidFill>
              </a:rPr>
              <a:t>Projected value recovered</a:t>
            </a:r>
            <a:endParaRPr lang="en-US" sz="1700" dirty="0"/>
          </a:p>
          <a:p>
            <a:pPr indent="0" marL="0">
              <a:buNone/>
            </a:pPr>
            <a:r>
              <a:rPr lang="en-US" sz="1700" b="1" dirty="0">
                <a:solidFill>
                  <a:srgbClr val="24303F"/>
                </a:solidFill>
              </a:rPr>
              <a:t>$802.80/month</a:t>
            </a:r>
            <a:endParaRPr lang="en-US" sz="1700" dirty="0"/>
          </a:p>
        </p:txBody>
      </p:sp>
      <p:sp>
        <p:nvSpPr>
          <p:cNvPr id="13" name="Shape 11"/>
          <p:cNvSpPr/>
          <p:nvPr/>
        </p:nvSpPr>
        <p:spPr>
          <a:xfrm>
            <a:off x="6172200" y="3154680"/>
            <a:ext cx="2286000" cy="329184"/>
          </a:xfrm>
          <a:prstGeom prst="rect">
            <a:avLst/>
          </a:prstGeom>
          <a:solidFill>
            <a:srgbClr val="14213D"/>
          </a:solidFill>
          <a:ln w="12700">
            <a:solidFill>
              <a:srgbClr val="FFFFFF"/>
            </a:solidFill>
            <a:prstDash val="solid"/>
          </a:ln>
        </p:spPr>
      </p:sp>
      <p:sp>
        <p:nvSpPr>
          <p:cNvPr id="14" name="Text 12"/>
          <p:cNvSpPr/>
          <p:nvPr/>
        </p:nvSpPr>
        <p:spPr>
          <a:xfrm>
            <a:off x="6208776" y="3200400"/>
            <a:ext cx="2212848" cy="256032"/>
          </a:xfrm>
          <a:prstGeom prst="rect">
            <a:avLst/>
          </a:prstGeom>
          <a:noFill/>
          <a:ln/>
        </p:spPr>
        <p:txBody>
          <a:bodyPr wrap="square" lIns="0" tIns="0" rIns="0" bIns="0" rtlCol="0" anchor="ctr">
            <a:normAutofit/>
          </a:bodyPr>
          <a:lstStyle/>
          <a:p>
            <a:pPr indent="0" marL="0">
              <a:buNone/>
            </a:pPr>
            <a:r>
              <a:rPr lang="en-US" sz="1000" b="1" dirty="0">
                <a:solidFill>
                  <a:srgbClr val="FFFFFF"/>
                </a:solidFill>
              </a:rPr>
              <a:t>Measure</a:t>
            </a:r>
            <a:endParaRPr lang="en-US" sz="1000" dirty="0"/>
          </a:p>
        </p:txBody>
      </p:sp>
      <p:sp>
        <p:nvSpPr>
          <p:cNvPr id="15" name="Shape 13"/>
          <p:cNvSpPr/>
          <p:nvPr/>
        </p:nvSpPr>
        <p:spPr>
          <a:xfrm>
            <a:off x="8458200" y="3154680"/>
            <a:ext cx="1874520" cy="329184"/>
          </a:xfrm>
          <a:prstGeom prst="rect">
            <a:avLst/>
          </a:prstGeom>
          <a:solidFill>
            <a:srgbClr val="14213D"/>
          </a:solidFill>
          <a:ln w="12700">
            <a:solidFill>
              <a:srgbClr val="FFFFFF"/>
            </a:solidFill>
            <a:prstDash val="solid"/>
          </a:ln>
        </p:spPr>
      </p:sp>
      <p:sp>
        <p:nvSpPr>
          <p:cNvPr id="16" name="Text 14"/>
          <p:cNvSpPr/>
          <p:nvPr/>
        </p:nvSpPr>
        <p:spPr>
          <a:xfrm>
            <a:off x="8494776" y="3200400"/>
            <a:ext cx="1801368" cy="256032"/>
          </a:xfrm>
          <a:prstGeom prst="rect">
            <a:avLst/>
          </a:prstGeom>
          <a:noFill/>
          <a:ln/>
        </p:spPr>
        <p:txBody>
          <a:bodyPr wrap="square" lIns="0" tIns="0" rIns="0" bIns="0" rtlCol="0" anchor="ctr">
            <a:normAutofit/>
          </a:bodyPr>
          <a:lstStyle/>
          <a:p>
            <a:pPr indent="0" marL="0">
              <a:buNone/>
            </a:pPr>
            <a:r>
              <a:rPr lang="en-US" sz="1000" b="1" dirty="0">
                <a:solidFill>
                  <a:srgbClr val="FFFFFF"/>
                </a:solidFill>
              </a:rPr>
              <a:t>Value</a:t>
            </a:r>
            <a:endParaRPr lang="en-US" sz="1000" dirty="0"/>
          </a:p>
        </p:txBody>
      </p:sp>
      <p:sp>
        <p:nvSpPr>
          <p:cNvPr id="17" name="Shape 15"/>
          <p:cNvSpPr/>
          <p:nvPr/>
        </p:nvSpPr>
        <p:spPr>
          <a:xfrm>
            <a:off x="6172200" y="3483864"/>
            <a:ext cx="2286000" cy="329184"/>
          </a:xfrm>
          <a:prstGeom prst="rect">
            <a:avLst/>
          </a:prstGeom>
          <a:solidFill>
            <a:srgbClr val="FDFBF5"/>
          </a:solidFill>
          <a:ln w="12700">
            <a:solidFill>
              <a:srgbClr val="E7DFD0"/>
            </a:solidFill>
            <a:prstDash val="solid"/>
          </a:ln>
        </p:spPr>
      </p:sp>
      <p:sp>
        <p:nvSpPr>
          <p:cNvPr id="18" name="Text 16"/>
          <p:cNvSpPr/>
          <p:nvPr/>
        </p:nvSpPr>
        <p:spPr>
          <a:xfrm>
            <a:off x="6208776" y="3520440"/>
            <a:ext cx="2212848" cy="256032"/>
          </a:xfrm>
          <a:prstGeom prst="rect">
            <a:avLst/>
          </a:prstGeom>
          <a:noFill/>
          <a:ln/>
        </p:spPr>
        <p:txBody>
          <a:bodyPr wrap="square" lIns="0" tIns="0" rIns="0" bIns="0" rtlCol="0" anchor="ctr">
            <a:normAutofit/>
          </a:bodyPr>
          <a:lstStyle/>
          <a:p>
            <a:pPr indent="0" marL="0">
              <a:buNone/>
            </a:pPr>
            <a:r>
              <a:rPr lang="en-US" sz="1000" dirty="0">
                <a:solidFill>
                  <a:srgbClr val="24303F"/>
                </a:solidFill>
              </a:rPr>
              <a:t>Total baseline hours</a:t>
            </a:r>
            <a:endParaRPr lang="en-US" sz="1000" dirty="0"/>
          </a:p>
        </p:txBody>
      </p:sp>
      <p:sp>
        <p:nvSpPr>
          <p:cNvPr id="19" name="Shape 17"/>
          <p:cNvSpPr/>
          <p:nvPr/>
        </p:nvSpPr>
        <p:spPr>
          <a:xfrm>
            <a:off x="8458200" y="3483864"/>
            <a:ext cx="1874520" cy="329184"/>
          </a:xfrm>
          <a:prstGeom prst="rect">
            <a:avLst/>
          </a:prstGeom>
          <a:solidFill>
            <a:srgbClr val="FDFBF5"/>
          </a:solidFill>
          <a:ln w="12700">
            <a:solidFill>
              <a:srgbClr val="E7DFD0"/>
            </a:solidFill>
            <a:prstDash val="solid"/>
          </a:ln>
        </p:spPr>
      </p:sp>
      <p:sp>
        <p:nvSpPr>
          <p:cNvPr id="20" name="Text 18"/>
          <p:cNvSpPr/>
          <p:nvPr/>
        </p:nvSpPr>
        <p:spPr>
          <a:xfrm>
            <a:off x="8494776" y="3520440"/>
            <a:ext cx="1801368" cy="256032"/>
          </a:xfrm>
          <a:prstGeom prst="rect">
            <a:avLst/>
          </a:prstGeom>
          <a:noFill/>
          <a:ln/>
        </p:spPr>
        <p:txBody>
          <a:bodyPr wrap="square" lIns="0" tIns="0" rIns="0" bIns="0" rtlCol="0" anchor="ctr">
            <a:normAutofit/>
          </a:bodyPr>
          <a:lstStyle/>
          <a:p>
            <a:pPr indent="0" marL="0">
              <a:buNone/>
            </a:pPr>
            <a:r>
              <a:rPr lang="en-US" sz="1000" dirty="0">
                <a:solidFill>
                  <a:srgbClr val="24303F"/>
                </a:solidFill>
              </a:rPr>
              <a:t>75.3</a:t>
            </a:r>
            <a:endParaRPr lang="en-US" sz="1000" dirty="0"/>
          </a:p>
        </p:txBody>
      </p:sp>
      <p:sp>
        <p:nvSpPr>
          <p:cNvPr id="21" name="Shape 19"/>
          <p:cNvSpPr/>
          <p:nvPr/>
        </p:nvSpPr>
        <p:spPr>
          <a:xfrm>
            <a:off x="6172200" y="3813048"/>
            <a:ext cx="2286000" cy="329184"/>
          </a:xfrm>
          <a:prstGeom prst="rect">
            <a:avLst/>
          </a:prstGeom>
          <a:solidFill>
            <a:srgbClr val="FFFFFF"/>
          </a:solidFill>
          <a:ln w="12700">
            <a:solidFill>
              <a:srgbClr val="E7DFD0"/>
            </a:solidFill>
            <a:prstDash val="solid"/>
          </a:ln>
        </p:spPr>
      </p:sp>
      <p:sp>
        <p:nvSpPr>
          <p:cNvPr id="22" name="Text 20"/>
          <p:cNvSpPr/>
          <p:nvPr/>
        </p:nvSpPr>
        <p:spPr>
          <a:xfrm>
            <a:off x="6208776" y="3849624"/>
            <a:ext cx="2212848" cy="256032"/>
          </a:xfrm>
          <a:prstGeom prst="rect">
            <a:avLst/>
          </a:prstGeom>
          <a:noFill/>
          <a:ln/>
        </p:spPr>
        <p:txBody>
          <a:bodyPr wrap="square" lIns="0" tIns="0" rIns="0" bIns="0" rtlCol="0" anchor="ctr">
            <a:normAutofit/>
          </a:bodyPr>
          <a:lstStyle/>
          <a:p>
            <a:pPr indent="0" marL="0">
              <a:buNone/>
            </a:pPr>
            <a:r>
              <a:rPr lang="en-US" sz="1000" dirty="0">
                <a:solidFill>
                  <a:srgbClr val="24303F"/>
                </a:solidFill>
              </a:rPr>
              <a:t>Hours saved</a:t>
            </a:r>
            <a:endParaRPr lang="en-US" sz="1000" dirty="0"/>
          </a:p>
        </p:txBody>
      </p:sp>
      <p:sp>
        <p:nvSpPr>
          <p:cNvPr id="23" name="Shape 21"/>
          <p:cNvSpPr/>
          <p:nvPr/>
        </p:nvSpPr>
        <p:spPr>
          <a:xfrm>
            <a:off x="8458200" y="3813048"/>
            <a:ext cx="1874520" cy="329184"/>
          </a:xfrm>
          <a:prstGeom prst="rect">
            <a:avLst/>
          </a:prstGeom>
          <a:solidFill>
            <a:srgbClr val="FFFFFF"/>
          </a:solidFill>
          <a:ln w="12700">
            <a:solidFill>
              <a:srgbClr val="E7DFD0"/>
            </a:solidFill>
            <a:prstDash val="solid"/>
          </a:ln>
        </p:spPr>
      </p:sp>
      <p:sp>
        <p:nvSpPr>
          <p:cNvPr id="24" name="Text 22"/>
          <p:cNvSpPr/>
          <p:nvPr/>
        </p:nvSpPr>
        <p:spPr>
          <a:xfrm>
            <a:off x="8494776" y="3849624"/>
            <a:ext cx="1801368" cy="256032"/>
          </a:xfrm>
          <a:prstGeom prst="rect">
            <a:avLst/>
          </a:prstGeom>
          <a:noFill/>
          <a:ln/>
        </p:spPr>
        <p:txBody>
          <a:bodyPr wrap="square" lIns="0" tIns="0" rIns="0" bIns="0" rtlCol="0" anchor="ctr">
            <a:normAutofit/>
          </a:bodyPr>
          <a:lstStyle/>
          <a:p>
            <a:pPr indent="0" marL="0">
              <a:buNone/>
            </a:pPr>
            <a:r>
              <a:rPr lang="en-US" sz="1000" dirty="0">
                <a:solidFill>
                  <a:srgbClr val="24303F"/>
                </a:solidFill>
              </a:rPr>
              <a:t>44.6</a:t>
            </a:r>
            <a:endParaRPr lang="en-US" sz="1000" dirty="0"/>
          </a:p>
        </p:txBody>
      </p:sp>
      <p:sp>
        <p:nvSpPr>
          <p:cNvPr id="25" name="Shape 23"/>
          <p:cNvSpPr/>
          <p:nvPr/>
        </p:nvSpPr>
        <p:spPr>
          <a:xfrm>
            <a:off x="6172200" y="4142232"/>
            <a:ext cx="2286000" cy="329184"/>
          </a:xfrm>
          <a:prstGeom prst="rect">
            <a:avLst/>
          </a:prstGeom>
          <a:solidFill>
            <a:srgbClr val="FDFBF5"/>
          </a:solidFill>
          <a:ln w="12700">
            <a:solidFill>
              <a:srgbClr val="E7DFD0"/>
            </a:solidFill>
            <a:prstDash val="solid"/>
          </a:ln>
        </p:spPr>
      </p:sp>
      <p:sp>
        <p:nvSpPr>
          <p:cNvPr id="26" name="Text 24"/>
          <p:cNvSpPr/>
          <p:nvPr/>
        </p:nvSpPr>
        <p:spPr>
          <a:xfrm>
            <a:off x="6208776" y="4178808"/>
            <a:ext cx="2212848" cy="256032"/>
          </a:xfrm>
          <a:prstGeom prst="rect">
            <a:avLst/>
          </a:prstGeom>
          <a:noFill/>
          <a:ln/>
        </p:spPr>
        <p:txBody>
          <a:bodyPr wrap="square" lIns="0" tIns="0" rIns="0" bIns="0" rtlCol="0" anchor="ctr">
            <a:normAutofit/>
          </a:bodyPr>
          <a:lstStyle/>
          <a:p>
            <a:pPr indent="0" marL="0">
              <a:buNone/>
            </a:pPr>
            <a:r>
              <a:rPr lang="en-US" sz="1000" dirty="0">
                <a:solidFill>
                  <a:srgbClr val="24303F"/>
                </a:solidFill>
              </a:rPr>
              <a:t>Rate</a:t>
            </a:r>
            <a:endParaRPr lang="en-US" sz="1000" dirty="0"/>
          </a:p>
        </p:txBody>
      </p:sp>
      <p:sp>
        <p:nvSpPr>
          <p:cNvPr id="27" name="Shape 25"/>
          <p:cNvSpPr/>
          <p:nvPr/>
        </p:nvSpPr>
        <p:spPr>
          <a:xfrm>
            <a:off x="8458200" y="4142232"/>
            <a:ext cx="1874520" cy="329184"/>
          </a:xfrm>
          <a:prstGeom prst="rect">
            <a:avLst/>
          </a:prstGeom>
          <a:solidFill>
            <a:srgbClr val="FDFBF5"/>
          </a:solidFill>
          <a:ln w="12700">
            <a:solidFill>
              <a:srgbClr val="E7DFD0"/>
            </a:solidFill>
            <a:prstDash val="solid"/>
          </a:ln>
        </p:spPr>
      </p:sp>
      <p:sp>
        <p:nvSpPr>
          <p:cNvPr id="28" name="Text 26"/>
          <p:cNvSpPr/>
          <p:nvPr/>
        </p:nvSpPr>
        <p:spPr>
          <a:xfrm>
            <a:off x="8494776" y="4178808"/>
            <a:ext cx="1801368" cy="256032"/>
          </a:xfrm>
          <a:prstGeom prst="rect">
            <a:avLst/>
          </a:prstGeom>
          <a:noFill/>
          <a:ln/>
        </p:spPr>
        <p:txBody>
          <a:bodyPr wrap="square" lIns="0" tIns="0" rIns="0" bIns="0" rtlCol="0" anchor="ctr">
            <a:normAutofit/>
          </a:bodyPr>
          <a:lstStyle/>
          <a:p>
            <a:pPr indent="0" marL="0">
              <a:buNone/>
            </a:pPr>
            <a:r>
              <a:rPr lang="en-US" sz="1000" dirty="0">
                <a:solidFill>
                  <a:srgbClr val="24303F"/>
                </a:solidFill>
              </a:rPr>
              <a:t>18/hr</a:t>
            </a:r>
            <a:endParaRPr lang="en-US" sz="1000" dirty="0"/>
          </a:p>
        </p:txBody>
      </p:sp>
      <p:sp>
        <p:nvSpPr>
          <p:cNvPr id="29" name="Shape 27"/>
          <p:cNvSpPr/>
          <p:nvPr/>
        </p:nvSpPr>
        <p:spPr>
          <a:xfrm>
            <a:off x="6172200" y="4471416"/>
            <a:ext cx="2286000" cy="329184"/>
          </a:xfrm>
          <a:prstGeom prst="rect">
            <a:avLst/>
          </a:prstGeom>
          <a:solidFill>
            <a:srgbClr val="FFFFFF"/>
          </a:solidFill>
          <a:ln w="12700">
            <a:solidFill>
              <a:srgbClr val="E7DFD0"/>
            </a:solidFill>
            <a:prstDash val="solid"/>
          </a:ln>
        </p:spPr>
      </p:sp>
      <p:sp>
        <p:nvSpPr>
          <p:cNvPr id="30" name="Text 28"/>
          <p:cNvSpPr/>
          <p:nvPr/>
        </p:nvSpPr>
        <p:spPr>
          <a:xfrm>
            <a:off x="6208776" y="4507992"/>
            <a:ext cx="2212848" cy="256032"/>
          </a:xfrm>
          <a:prstGeom prst="rect">
            <a:avLst/>
          </a:prstGeom>
          <a:noFill/>
          <a:ln/>
        </p:spPr>
        <p:txBody>
          <a:bodyPr wrap="square" lIns="0" tIns="0" rIns="0" bIns="0" rtlCol="0" anchor="ctr">
            <a:normAutofit/>
          </a:bodyPr>
          <a:lstStyle/>
          <a:p>
            <a:pPr indent="0" marL="0">
              <a:buNone/>
            </a:pPr>
            <a:r>
              <a:rPr lang="en-US" sz="1000" dirty="0">
                <a:solidFill>
                  <a:srgbClr val="24303F"/>
                </a:solidFill>
              </a:rPr>
              <a:t>Recovered value</a:t>
            </a:r>
            <a:endParaRPr lang="en-US" sz="1000" dirty="0"/>
          </a:p>
        </p:txBody>
      </p:sp>
      <p:sp>
        <p:nvSpPr>
          <p:cNvPr id="31" name="Shape 29"/>
          <p:cNvSpPr/>
          <p:nvPr/>
        </p:nvSpPr>
        <p:spPr>
          <a:xfrm>
            <a:off x="8458200" y="4471416"/>
            <a:ext cx="1874520" cy="329184"/>
          </a:xfrm>
          <a:prstGeom prst="rect">
            <a:avLst/>
          </a:prstGeom>
          <a:solidFill>
            <a:srgbClr val="FFFFFF"/>
          </a:solidFill>
          <a:ln w="12700">
            <a:solidFill>
              <a:srgbClr val="E7DFD0"/>
            </a:solidFill>
            <a:prstDash val="solid"/>
          </a:ln>
        </p:spPr>
      </p:sp>
      <p:sp>
        <p:nvSpPr>
          <p:cNvPr id="32" name="Text 30"/>
          <p:cNvSpPr/>
          <p:nvPr/>
        </p:nvSpPr>
        <p:spPr>
          <a:xfrm>
            <a:off x="8494776" y="4507992"/>
            <a:ext cx="1801368" cy="256032"/>
          </a:xfrm>
          <a:prstGeom prst="rect">
            <a:avLst/>
          </a:prstGeom>
          <a:noFill/>
          <a:ln/>
        </p:spPr>
        <p:txBody>
          <a:bodyPr wrap="square" lIns="0" tIns="0" rIns="0" bIns="0" rtlCol="0" anchor="ctr">
            <a:normAutofit/>
          </a:bodyPr>
          <a:lstStyle/>
          <a:p>
            <a:pPr indent="0" marL="0">
              <a:buNone/>
            </a:pPr>
            <a:r>
              <a:rPr lang="en-US" sz="1000" dirty="0">
                <a:solidFill>
                  <a:srgbClr val="24303F"/>
                </a:solidFill>
              </a:rPr>
              <a:t>802.80/month</a:t>
            </a:r>
            <a:endParaRPr lang="en-US" sz="1000" dirty="0"/>
          </a:p>
        </p:txBody>
      </p:sp>
      <p:sp>
        <p:nvSpPr>
          <p:cNvPr id="33" name="Text 31"/>
          <p:cNvSpPr/>
          <p:nvPr/>
        </p:nvSpPr>
        <p:spPr>
          <a:xfrm>
            <a:off x="11384280" y="6428232"/>
            <a:ext cx="320040" cy="109728"/>
          </a:xfrm>
          <a:prstGeom prst="rect">
            <a:avLst/>
          </a:prstGeom>
          <a:noFill/>
          <a:ln/>
        </p:spPr>
        <p:txBody>
          <a:bodyPr wrap="square" lIns="0" tIns="0" rIns="0" bIns="0" rtlCol="0" anchor="ctr"/>
          <a:lstStyle/>
          <a:p>
            <a:pPr algn="r" indent="0" marL="0">
              <a:buNone/>
            </a:pPr>
            <a:r>
              <a:rPr lang="en-US" sz="700" dirty="0">
                <a:solidFill>
                  <a:srgbClr val="FFFFFF"/>
                </a:solidFill>
              </a:rPr>
              <a:t>33</a:t>
            </a:r>
            <a:endParaRPr lang="en-US" sz="7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7F3EA"/>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4213D"/>
          </a:solidFill>
          <a:ln w="12700">
            <a:solidFill>
              <a:srgbClr val="14213D">
                <a:alpha val="0"/>
              </a:srgbClr>
            </a:solidFill>
            <a:prstDash val="solid"/>
          </a:ln>
        </p:spPr>
      </p:sp>
      <p:sp>
        <p:nvSpPr>
          <p:cNvPr id="3" name="Shape 1"/>
          <p:cNvSpPr/>
          <p:nvPr/>
        </p:nvSpPr>
        <p:spPr>
          <a:xfrm>
            <a:off x="0" y="6693408"/>
            <a:ext cx="12191695" cy="164592"/>
          </a:xfrm>
          <a:prstGeom prst="rect">
            <a:avLst/>
          </a:prstGeom>
          <a:solidFill>
            <a:srgbClr val="14213D"/>
          </a:solidFill>
          <a:ln w="12700">
            <a:solidFill>
              <a:srgbClr val="14213D">
                <a:alpha val="0"/>
              </a:srgbClr>
            </a:solidFill>
            <a:prstDash val="solid"/>
          </a:ln>
        </p:spPr>
      </p:sp>
      <p:sp>
        <p:nvSpPr>
          <p:cNvPr id="4" name="Text 2"/>
          <p:cNvSpPr/>
          <p:nvPr/>
        </p:nvSpPr>
        <p:spPr>
          <a:xfrm>
            <a:off x="502920" y="256032"/>
            <a:ext cx="4480560" cy="164592"/>
          </a:xfrm>
          <a:prstGeom prst="rect">
            <a:avLst/>
          </a:prstGeom>
          <a:noFill/>
          <a:ln/>
        </p:spPr>
        <p:txBody>
          <a:bodyPr wrap="square" lIns="0" tIns="0" rIns="0" bIns="0" rtlCol="0" anchor="ctr"/>
          <a:lstStyle/>
          <a:p>
            <a:pPr indent="0" marL="0">
              <a:buNone/>
            </a:pPr>
            <a:r>
              <a:rPr lang="en-US" sz="700" b="1" dirty="0">
                <a:solidFill>
                  <a:srgbClr val="2A9D8F"/>
                </a:solidFill>
                <a:latin typeface="Aptos" pitchFamily="34" charset="0"/>
                <a:ea typeface="Aptos" pitchFamily="34" charset="-122"/>
                <a:cs typeface="Aptos" pitchFamily="34" charset="-120"/>
              </a:rPr>
              <a:t>SECTION 5</a:t>
            </a:r>
            <a:endParaRPr lang="en-US" sz="700" dirty="0"/>
          </a:p>
        </p:txBody>
      </p:sp>
      <p:sp>
        <p:nvSpPr>
          <p:cNvPr id="5" name="Text 3"/>
          <p:cNvSpPr/>
          <p:nvPr/>
        </p:nvSpPr>
        <p:spPr>
          <a:xfrm>
            <a:off x="9281160" y="219456"/>
            <a:ext cx="2423160" cy="182880"/>
          </a:xfrm>
          <a:prstGeom prst="rect">
            <a:avLst/>
          </a:prstGeom>
          <a:noFill/>
          <a:ln/>
        </p:spPr>
        <p:txBody>
          <a:bodyPr wrap="square" lIns="0" tIns="0" rIns="0" bIns="0" rtlCol="0" anchor="ctr"/>
          <a:lstStyle/>
          <a:p>
            <a:pPr algn="r" indent="0" marL="0">
              <a:buNone/>
            </a:pPr>
            <a:r>
              <a:rPr lang="en-US" sz="700" dirty="0">
                <a:solidFill>
                  <a:srgbClr val="6D7886"/>
                </a:solidFill>
              </a:rPr>
              <a:t>Jifunze.ai skill booster</a:t>
            </a:r>
            <a:endParaRPr lang="en-US" sz="700" dirty="0"/>
          </a:p>
        </p:txBody>
      </p:sp>
      <p:sp>
        <p:nvSpPr>
          <p:cNvPr id="6" name="Text 4"/>
          <p:cNvSpPr/>
          <p:nvPr/>
        </p:nvSpPr>
        <p:spPr>
          <a:xfrm>
            <a:off x="502920" y="502920"/>
            <a:ext cx="4617720" cy="475488"/>
          </a:xfrm>
          <a:prstGeom prst="rect">
            <a:avLst/>
          </a:prstGeom>
          <a:noFill/>
          <a:ln/>
        </p:spPr>
        <p:txBody>
          <a:bodyPr wrap="square" lIns="127" tIns="127" rIns="127" bIns="127" rtlCol="0" anchor="ctr">
            <a:normAutofit/>
          </a:bodyPr>
          <a:lstStyle/>
          <a:p>
            <a:pPr indent="0" marL="0">
              <a:buNone/>
            </a:pPr>
            <a:r>
              <a:rPr lang="en-US" sz="2500" b="1" dirty="0">
                <a:solidFill>
                  <a:srgbClr val="14213D"/>
                </a:solidFill>
                <a:latin typeface="Aptos Display" pitchFamily="34" charset="0"/>
                <a:ea typeface="Aptos Display" pitchFamily="34" charset="-122"/>
                <a:cs typeface="Aptos Display" pitchFamily="34" charset="-120"/>
              </a:rPr>
              <a:t>Error and delay reduction estimate</a:t>
            </a:r>
            <a:endParaRPr lang="en-US" sz="2500" dirty="0"/>
          </a:p>
        </p:txBody>
      </p:sp>
      <p:sp>
        <p:nvSpPr>
          <p:cNvPr id="7" name="Text 5"/>
          <p:cNvSpPr/>
          <p:nvPr/>
        </p:nvSpPr>
        <p:spPr>
          <a:xfrm>
            <a:off x="521208" y="1005840"/>
            <a:ext cx="4617720" cy="228600"/>
          </a:xfrm>
          <a:prstGeom prst="rect">
            <a:avLst/>
          </a:prstGeom>
          <a:noFill/>
          <a:ln/>
        </p:spPr>
        <p:txBody>
          <a:bodyPr wrap="square" lIns="0" tIns="0" rIns="0" bIns="0" rtlCol="0" anchor="ctr">
            <a:normAutofit/>
          </a:bodyPr>
          <a:lstStyle/>
          <a:p>
            <a:pPr indent="0" marL="0">
              <a:buNone/>
            </a:pPr>
            <a:r>
              <a:rPr lang="en-US" sz="1080" dirty="0">
                <a:solidFill>
                  <a:srgbClr val="24303F"/>
                </a:solidFill>
              </a:rPr>
              <a:t>Automation should reduce problems, not only save time</a:t>
            </a:r>
            <a:endParaRPr lang="en-US" sz="1080" dirty="0"/>
          </a:p>
        </p:txBody>
      </p:sp>
      <p:sp>
        <p:nvSpPr>
          <p:cNvPr id="8" name="Text 6"/>
          <p:cNvSpPr/>
          <p:nvPr/>
        </p:nvSpPr>
        <p:spPr>
          <a:xfrm>
            <a:off x="594360" y="1417320"/>
            <a:ext cx="4617720" cy="4343400"/>
          </a:xfrm>
          <a:prstGeom prst="rect">
            <a:avLst/>
          </a:prstGeom>
          <a:noFill/>
          <a:ln/>
        </p:spPr>
        <p:txBody>
          <a:bodyPr wrap="square" lIns="635" tIns="635" rIns="635" bIns="635" rtlCol="0" anchor="ctr">
            <a:normAutofit/>
          </a:bodyPr>
          <a:lstStyle/>
          <a:p>
            <a:r>
              <a:rPr lang="en-US" sz="1450" dirty="0">
                <a:solidFill>
                  <a:srgbClr val="24303F"/>
                </a:solidFill>
              </a:rPr>
              <a:t>• Automated reminders can reduce missed reminders by 80%</a:t>
            </a:r>
            <a:endParaRPr lang="en-US" sz="1450" dirty="0"/>
          </a:p>
          <a:p>
            <a:r>
              <a:rPr lang="en-US" sz="1450" dirty="0">
                <a:solidFill>
                  <a:srgbClr val="24303F"/>
                </a:solidFill>
              </a:rPr>
              <a:t>• Structured forms can reduce registration errors by 60%</a:t>
            </a:r>
            <a:endParaRPr lang="en-US" sz="1450" dirty="0"/>
          </a:p>
          <a:p>
            <a:r>
              <a:rPr lang="en-US" sz="1450" dirty="0">
                <a:solidFill>
                  <a:srgbClr val="24303F"/>
                </a:solidFill>
              </a:rPr>
              <a:t>• QR/form attendance can reduce mismatch by 50%</a:t>
            </a:r>
            <a:endParaRPr lang="en-US" sz="1450" dirty="0"/>
          </a:p>
          <a:p>
            <a:r>
              <a:rPr lang="en-US" sz="1450" dirty="0">
                <a:solidFill>
                  <a:srgbClr val="24303F"/>
                </a:solidFill>
              </a:rPr>
              <a:t>• Certificate automation can reduce prep time by 70%</a:t>
            </a:r>
            <a:endParaRPr lang="en-US" sz="1450" dirty="0"/>
          </a:p>
        </p:txBody>
      </p:sp>
      <p:sp>
        <p:nvSpPr>
          <p:cNvPr id="9" name="Text 7"/>
          <p:cNvSpPr/>
          <p:nvPr/>
        </p:nvSpPr>
        <p:spPr>
          <a:xfrm>
            <a:off x="5577840" y="1188720"/>
            <a:ext cx="5486400" cy="201168"/>
          </a:xfrm>
          <a:prstGeom prst="rect">
            <a:avLst/>
          </a:prstGeom>
          <a:noFill/>
          <a:ln/>
        </p:spPr>
        <p:txBody>
          <a:bodyPr wrap="square" lIns="0" tIns="0" rIns="0" bIns="0" rtlCol="0" anchor="ctr"/>
          <a:lstStyle/>
          <a:p>
            <a:pPr indent="0" marL="0">
              <a:buNone/>
            </a:pPr>
            <a:r>
              <a:rPr lang="en-US" sz="1000" b="1" dirty="0">
                <a:solidFill>
                  <a:srgbClr val="14213D"/>
                </a:solidFill>
              </a:rPr>
              <a:t>Expected improvement (%)</a:t>
            </a:r>
            <a:endParaRPr lang="en-US" sz="1000" dirty="0"/>
          </a:p>
        </p:txBody>
      </p:sp>
      <p:sp>
        <p:nvSpPr>
          <p:cNvPr id="10" name="Text 8"/>
          <p:cNvSpPr/>
          <p:nvPr/>
        </p:nvSpPr>
        <p:spPr>
          <a:xfrm>
            <a:off x="5577840" y="1545336"/>
            <a:ext cx="1508760" cy="146304"/>
          </a:xfrm>
          <a:prstGeom prst="rect">
            <a:avLst/>
          </a:prstGeom>
          <a:noFill/>
          <a:ln/>
        </p:spPr>
        <p:txBody>
          <a:bodyPr wrap="square" lIns="0" tIns="0" rIns="0" bIns="0" rtlCol="0" anchor="ctr">
            <a:normAutofit/>
          </a:bodyPr>
          <a:lstStyle/>
          <a:p>
            <a:pPr indent="0" marL="0">
              <a:buNone/>
            </a:pPr>
            <a:r>
              <a:rPr lang="en-US" sz="660" dirty="0">
                <a:solidFill>
                  <a:srgbClr val="24303F"/>
                </a:solidFill>
              </a:rPr>
              <a:t>Incomplete enquiries</a:t>
            </a:r>
            <a:endParaRPr lang="en-US" sz="660" dirty="0"/>
          </a:p>
        </p:txBody>
      </p:sp>
      <p:sp>
        <p:nvSpPr>
          <p:cNvPr id="11" name="Shape 9"/>
          <p:cNvSpPr/>
          <p:nvPr/>
        </p:nvSpPr>
        <p:spPr>
          <a:xfrm>
            <a:off x="7178040" y="1554480"/>
            <a:ext cx="1714500" cy="164592"/>
          </a:xfrm>
          <a:prstGeom prst="rect">
            <a:avLst/>
          </a:prstGeom>
          <a:solidFill>
            <a:srgbClr val="C9A44C"/>
          </a:solidFill>
          <a:ln w="12700">
            <a:solidFill>
              <a:srgbClr val="FFFFFF">
                <a:alpha val="0"/>
              </a:srgbClr>
            </a:solidFill>
            <a:prstDash val="solid"/>
          </a:ln>
        </p:spPr>
      </p:sp>
      <p:sp>
        <p:nvSpPr>
          <p:cNvPr id="12" name="Text 10"/>
          <p:cNvSpPr/>
          <p:nvPr/>
        </p:nvSpPr>
        <p:spPr>
          <a:xfrm>
            <a:off x="10680192" y="1545336"/>
            <a:ext cx="365760" cy="137160"/>
          </a:xfrm>
          <a:prstGeom prst="rect">
            <a:avLst/>
          </a:prstGeom>
          <a:noFill/>
          <a:ln/>
        </p:spPr>
        <p:txBody>
          <a:bodyPr wrap="square" lIns="0" tIns="0" rIns="0" bIns="0" rtlCol="0" anchor="ctr"/>
          <a:lstStyle/>
          <a:p>
            <a:pPr algn="r" indent="0" marL="0">
              <a:buNone/>
            </a:pPr>
            <a:r>
              <a:rPr lang="en-US" sz="660" dirty="0">
                <a:solidFill>
                  <a:srgbClr val="24303F"/>
                </a:solidFill>
              </a:rPr>
              <a:t>50.0</a:t>
            </a:r>
            <a:endParaRPr lang="en-US" sz="660" dirty="0"/>
          </a:p>
        </p:txBody>
      </p:sp>
      <p:sp>
        <p:nvSpPr>
          <p:cNvPr id="13" name="Text 11"/>
          <p:cNvSpPr/>
          <p:nvPr/>
        </p:nvSpPr>
        <p:spPr>
          <a:xfrm>
            <a:off x="5577840" y="1958122"/>
            <a:ext cx="1508760" cy="146304"/>
          </a:xfrm>
          <a:prstGeom prst="rect">
            <a:avLst/>
          </a:prstGeom>
          <a:noFill/>
          <a:ln/>
        </p:spPr>
        <p:txBody>
          <a:bodyPr wrap="square" lIns="0" tIns="0" rIns="0" bIns="0" rtlCol="0" anchor="ctr">
            <a:normAutofit/>
          </a:bodyPr>
          <a:lstStyle/>
          <a:p>
            <a:pPr indent="0" marL="0">
              <a:buNone/>
            </a:pPr>
            <a:r>
              <a:rPr lang="en-US" sz="660" dirty="0">
                <a:solidFill>
                  <a:srgbClr val="24303F"/>
                </a:solidFill>
              </a:rPr>
              <a:t>Reg errors</a:t>
            </a:r>
            <a:endParaRPr lang="en-US" sz="660" dirty="0"/>
          </a:p>
        </p:txBody>
      </p:sp>
      <p:sp>
        <p:nvSpPr>
          <p:cNvPr id="14" name="Shape 12"/>
          <p:cNvSpPr/>
          <p:nvPr/>
        </p:nvSpPr>
        <p:spPr>
          <a:xfrm>
            <a:off x="7178040" y="1967266"/>
            <a:ext cx="2057400" cy="164592"/>
          </a:xfrm>
          <a:prstGeom prst="rect">
            <a:avLst/>
          </a:prstGeom>
          <a:solidFill>
            <a:srgbClr val="2A9D8F"/>
          </a:solidFill>
          <a:ln w="12700">
            <a:solidFill>
              <a:srgbClr val="FFFFFF">
                <a:alpha val="0"/>
              </a:srgbClr>
            </a:solidFill>
            <a:prstDash val="solid"/>
          </a:ln>
        </p:spPr>
      </p:sp>
      <p:sp>
        <p:nvSpPr>
          <p:cNvPr id="15" name="Text 13"/>
          <p:cNvSpPr/>
          <p:nvPr/>
        </p:nvSpPr>
        <p:spPr>
          <a:xfrm>
            <a:off x="10680192" y="1958122"/>
            <a:ext cx="365760" cy="137160"/>
          </a:xfrm>
          <a:prstGeom prst="rect">
            <a:avLst/>
          </a:prstGeom>
          <a:noFill/>
          <a:ln/>
        </p:spPr>
        <p:txBody>
          <a:bodyPr wrap="square" lIns="0" tIns="0" rIns="0" bIns="0" rtlCol="0" anchor="ctr"/>
          <a:lstStyle/>
          <a:p>
            <a:pPr algn="r" indent="0" marL="0">
              <a:buNone/>
            </a:pPr>
            <a:r>
              <a:rPr lang="en-US" sz="660" dirty="0">
                <a:solidFill>
                  <a:srgbClr val="24303F"/>
                </a:solidFill>
              </a:rPr>
              <a:t>60.0</a:t>
            </a:r>
            <a:endParaRPr lang="en-US" sz="660" dirty="0"/>
          </a:p>
        </p:txBody>
      </p:sp>
      <p:sp>
        <p:nvSpPr>
          <p:cNvPr id="16" name="Text 14"/>
          <p:cNvSpPr/>
          <p:nvPr/>
        </p:nvSpPr>
        <p:spPr>
          <a:xfrm>
            <a:off x="5577840" y="2370909"/>
            <a:ext cx="1508760" cy="146304"/>
          </a:xfrm>
          <a:prstGeom prst="rect">
            <a:avLst/>
          </a:prstGeom>
          <a:noFill/>
          <a:ln/>
        </p:spPr>
        <p:txBody>
          <a:bodyPr wrap="square" lIns="0" tIns="0" rIns="0" bIns="0" rtlCol="0" anchor="ctr">
            <a:normAutofit/>
          </a:bodyPr>
          <a:lstStyle/>
          <a:p>
            <a:pPr indent="0" marL="0">
              <a:buNone/>
            </a:pPr>
            <a:r>
              <a:rPr lang="en-US" sz="660" dirty="0">
                <a:solidFill>
                  <a:srgbClr val="24303F"/>
                </a:solidFill>
              </a:rPr>
              <a:t>Payment delays</a:t>
            </a:r>
            <a:endParaRPr lang="en-US" sz="660" dirty="0"/>
          </a:p>
        </p:txBody>
      </p:sp>
      <p:sp>
        <p:nvSpPr>
          <p:cNvPr id="17" name="Shape 15"/>
          <p:cNvSpPr/>
          <p:nvPr/>
        </p:nvSpPr>
        <p:spPr>
          <a:xfrm>
            <a:off x="7178040" y="2380053"/>
            <a:ext cx="1371600" cy="164592"/>
          </a:xfrm>
          <a:prstGeom prst="rect">
            <a:avLst/>
          </a:prstGeom>
          <a:solidFill>
            <a:srgbClr val="C9A44C"/>
          </a:solidFill>
          <a:ln w="12700">
            <a:solidFill>
              <a:srgbClr val="FFFFFF">
                <a:alpha val="0"/>
              </a:srgbClr>
            </a:solidFill>
            <a:prstDash val="solid"/>
          </a:ln>
        </p:spPr>
      </p:sp>
      <p:sp>
        <p:nvSpPr>
          <p:cNvPr id="18" name="Text 16"/>
          <p:cNvSpPr/>
          <p:nvPr/>
        </p:nvSpPr>
        <p:spPr>
          <a:xfrm>
            <a:off x="10680192" y="2370909"/>
            <a:ext cx="365760" cy="137160"/>
          </a:xfrm>
          <a:prstGeom prst="rect">
            <a:avLst/>
          </a:prstGeom>
          <a:noFill/>
          <a:ln/>
        </p:spPr>
        <p:txBody>
          <a:bodyPr wrap="square" lIns="0" tIns="0" rIns="0" bIns="0" rtlCol="0" anchor="ctr"/>
          <a:lstStyle/>
          <a:p>
            <a:pPr algn="r" indent="0" marL="0">
              <a:buNone/>
            </a:pPr>
            <a:r>
              <a:rPr lang="en-US" sz="660" dirty="0">
                <a:solidFill>
                  <a:srgbClr val="24303F"/>
                </a:solidFill>
              </a:rPr>
              <a:t>40.0</a:t>
            </a:r>
            <a:endParaRPr lang="en-US" sz="660" dirty="0"/>
          </a:p>
        </p:txBody>
      </p:sp>
      <p:sp>
        <p:nvSpPr>
          <p:cNvPr id="19" name="Text 17"/>
          <p:cNvSpPr/>
          <p:nvPr/>
        </p:nvSpPr>
        <p:spPr>
          <a:xfrm>
            <a:off x="5577840" y="2783695"/>
            <a:ext cx="1508760" cy="146304"/>
          </a:xfrm>
          <a:prstGeom prst="rect">
            <a:avLst/>
          </a:prstGeom>
          <a:noFill/>
          <a:ln/>
        </p:spPr>
        <p:txBody>
          <a:bodyPr wrap="square" lIns="0" tIns="0" rIns="0" bIns="0" rtlCol="0" anchor="ctr">
            <a:normAutofit/>
          </a:bodyPr>
          <a:lstStyle/>
          <a:p>
            <a:pPr indent="0" marL="0">
              <a:buNone/>
            </a:pPr>
            <a:r>
              <a:rPr lang="en-US" sz="660" dirty="0">
                <a:solidFill>
                  <a:srgbClr val="24303F"/>
                </a:solidFill>
              </a:rPr>
              <a:t>Missed reminders</a:t>
            </a:r>
            <a:endParaRPr lang="en-US" sz="660" dirty="0"/>
          </a:p>
        </p:txBody>
      </p:sp>
      <p:sp>
        <p:nvSpPr>
          <p:cNvPr id="20" name="Shape 18"/>
          <p:cNvSpPr/>
          <p:nvPr/>
        </p:nvSpPr>
        <p:spPr>
          <a:xfrm>
            <a:off x="7178040" y="2792839"/>
            <a:ext cx="2743200" cy="164592"/>
          </a:xfrm>
          <a:prstGeom prst="rect">
            <a:avLst/>
          </a:prstGeom>
          <a:solidFill>
            <a:srgbClr val="2A9D8F"/>
          </a:solidFill>
          <a:ln w="12700">
            <a:solidFill>
              <a:srgbClr val="FFFFFF">
                <a:alpha val="0"/>
              </a:srgbClr>
            </a:solidFill>
            <a:prstDash val="solid"/>
          </a:ln>
        </p:spPr>
      </p:sp>
      <p:sp>
        <p:nvSpPr>
          <p:cNvPr id="21" name="Text 19"/>
          <p:cNvSpPr/>
          <p:nvPr/>
        </p:nvSpPr>
        <p:spPr>
          <a:xfrm>
            <a:off x="10680192" y="2783695"/>
            <a:ext cx="365760" cy="137160"/>
          </a:xfrm>
          <a:prstGeom prst="rect">
            <a:avLst/>
          </a:prstGeom>
          <a:noFill/>
          <a:ln/>
        </p:spPr>
        <p:txBody>
          <a:bodyPr wrap="square" lIns="0" tIns="0" rIns="0" bIns="0" rtlCol="0" anchor="ctr"/>
          <a:lstStyle/>
          <a:p>
            <a:pPr algn="r" indent="0" marL="0">
              <a:buNone/>
            </a:pPr>
            <a:r>
              <a:rPr lang="en-US" sz="660" dirty="0">
                <a:solidFill>
                  <a:srgbClr val="24303F"/>
                </a:solidFill>
              </a:rPr>
              <a:t>80.0</a:t>
            </a:r>
            <a:endParaRPr lang="en-US" sz="660" dirty="0"/>
          </a:p>
        </p:txBody>
      </p:sp>
      <p:sp>
        <p:nvSpPr>
          <p:cNvPr id="22" name="Text 20"/>
          <p:cNvSpPr/>
          <p:nvPr/>
        </p:nvSpPr>
        <p:spPr>
          <a:xfrm>
            <a:off x="5577840" y="3196481"/>
            <a:ext cx="1508760" cy="146304"/>
          </a:xfrm>
          <a:prstGeom prst="rect">
            <a:avLst/>
          </a:prstGeom>
          <a:noFill/>
          <a:ln/>
        </p:spPr>
        <p:txBody>
          <a:bodyPr wrap="square" lIns="0" tIns="0" rIns="0" bIns="0" rtlCol="0" anchor="ctr">
            <a:normAutofit/>
          </a:bodyPr>
          <a:lstStyle/>
          <a:p>
            <a:pPr indent="0" marL="0">
              <a:buNone/>
            </a:pPr>
            <a:r>
              <a:rPr lang="en-US" sz="660" dirty="0">
                <a:solidFill>
                  <a:srgbClr val="24303F"/>
                </a:solidFill>
              </a:rPr>
              <a:t>Attendance mismatch</a:t>
            </a:r>
            <a:endParaRPr lang="en-US" sz="660" dirty="0"/>
          </a:p>
        </p:txBody>
      </p:sp>
      <p:sp>
        <p:nvSpPr>
          <p:cNvPr id="23" name="Shape 21"/>
          <p:cNvSpPr/>
          <p:nvPr/>
        </p:nvSpPr>
        <p:spPr>
          <a:xfrm>
            <a:off x="7178040" y="3205625"/>
            <a:ext cx="1714500" cy="164592"/>
          </a:xfrm>
          <a:prstGeom prst="rect">
            <a:avLst/>
          </a:prstGeom>
          <a:solidFill>
            <a:srgbClr val="C9A44C"/>
          </a:solidFill>
          <a:ln w="12700">
            <a:solidFill>
              <a:srgbClr val="FFFFFF">
                <a:alpha val="0"/>
              </a:srgbClr>
            </a:solidFill>
            <a:prstDash val="solid"/>
          </a:ln>
        </p:spPr>
      </p:sp>
      <p:sp>
        <p:nvSpPr>
          <p:cNvPr id="24" name="Text 22"/>
          <p:cNvSpPr/>
          <p:nvPr/>
        </p:nvSpPr>
        <p:spPr>
          <a:xfrm>
            <a:off x="10680192" y="3196481"/>
            <a:ext cx="365760" cy="137160"/>
          </a:xfrm>
          <a:prstGeom prst="rect">
            <a:avLst/>
          </a:prstGeom>
          <a:noFill/>
          <a:ln/>
        </p:spPr>
        <p:txBody>
          <a:bodyPr wrap="square" lIns="0" tIns="0" rIns="0" bIns="0" rtlCol="0" anchor="ctr"/>
          <a:lstStyle/>
          <a:p>
            <a:pPr algn="r" indent="0" marL="0">
              <a:buNone/>
            </a:pPr>
            <a:r>
              <a:rPr lang="en-US" sz="660" dirty="0">
                <a:solidFill>
                  <a:srgbClr val="24303F"/>
                </a:solidFill>
              </a:rPr>
              <a:t>50.0</a:t>
            </a:r>
            <a:endParaRPr lang="en-US" sz="660" dirty="0"/>
          </a:p>
        </p:txBody>
      </p:sp>
      <p:sp>
        <p:nvSpPr>
          <p:cNvPr id="25" name="Text 23"/>
          <p:cNvSpPr/>
          <p:nvPr/>
        </p:nvSpPr>
        <p:spPr>
          <a:xfrm>
            <a:off x="5577840" y="3609267"/>
            <a:ext cx="1508760" cy="146304"/>
          </a:xfrm>
          <a:prstGeom prst="rect">
            <a:avLst/>
          </a:prstGeom>
          <a:noFill/>
          <a:ln/>
        </p:spPr>
        <p:txBody>
          <a:bodyPr wrap="square" lIns="0" tIns="0" rIns="0" bIns="0" rtlCol="0" anchor="ctr">
            <a:normAutofit/>
          </a:bodyPr>
          <a:lstStyle/>
          <a:p>
            <a:pPr indent="0" marL="0">
              <a:buNone/>
            </a:pPr>
            <a:r>
              <a:rPr lang="en-US" sz="660" dirty="0">
                <a:solidFill>
                  <a:srgbClr val="24303F"/>
                </a:solidFill>
              </a:rPr>
              <a:t>Cert prep time</a:t>
            </a:r>
            <a:endParaRPr lang="en-US" sz="660" dirty="0"/>
          </a:p>
        </p:txBody>
      </p:sp>
      <p:sp>
        <p:nvSpPr>
          <p:cNvPr id="26" name="Shape 24"/>
          <p:cNvSpPr/>
          <p:nvPr/>
        </p:nvSpPr>
        <p:spPr>
          <a:xfrm>
            <a:off x="7178040" y="3618411"/>
            <a:ext cx="2400300" cy="164592"/>
          </a:xfrm>
          <a:prstGeom prst="rect">
            <a:avLst/>
          </a:prstGeom>
          <a:solidFill>
            <a:srgbClr val="2A9D8F"/>
          </a:solidFill>
          <a:ln w="12700">
            <a:solidFill>
              <a:srgbClr val="FFFFFF">
                <a:alpha val="0"/>
              </a:srgbClr>
            </a:solidFill>
            <a:prstDash val="solid"/>
          </a:ln>
        </p:spPr>
      </p:sp>
      <p:sp>
        <p:nvSpPr>
          <p:cNvPr id="27" name="Text 25"/>
          <p:cNvSpPr/>
          <p:nvPr/>
        </p:nvSpPr>
        <p:spPr>
          <a:xfrm>
            <a:off x="10680192" y="3609267"/>
            <a:ext cx="365760" cy="137160"/>
          </a:xfrm>
          <a:prstGeom prst="rect">
            <a:avLst/>
          </a:prstGeom>
          <a:noFill/>
          <a:ln/>
        </p:spPr>
        <p:txBody>
          <a:bodyPr wrap="square" lIns="0" tIns="0" rIns="0" bIns="0" rtlCol="0" anchor="ctr"/>
          <a:lstStyle/>
          <a:p>
            <a:pPr algn="r" indent="0" marL="0">
              <a:buNone/>
            </a:pPr>
            <a:r>
              <a:rPr lang="en-US" sz="660" dirty="0">
                <a:solidFill>
                  <a:srgbClr val="24303F"/>
                </a:solidFill>
              </a:rPr>
              <a:t>70.0</a:t>
            </a:r>
            <a:endParaRPr lang="en-US" sz="660" dirty="0"/>
          </a:p>
        </p:txBody>
      </p:sp>
      <p:sp>
        <p:nvSpPr>
          <p:cNvPr id="28" name="Text 26"/>
          <p:cNvSpPr/>
          <p:nvPr/>
        </p:nvSpPr>
        <p:spPr>
          <a:xfrm>
            <a:off x="5577840" y="4022054"/>
            <a:ext cx="1508760" cy="146304"/>
          </a:xfrm>
          <a:prstGeom prst="rect">
            <a:avLst/>
          </a:prstGeom>
          <a:noFill/>
          <a:ln/>
        </p:spPr>
        <p:txBody>
          <a:bodyPr wrap="square" lIns="0" tIns="0" rIns="0" bIns="0" rtlCol="0" anchor="ctr">
            <a:normAutofit/>
          </a:bodyPr>
          <a:lstStyle/>
          <a:p>
            <a:pPr indent="0" marL="0">
              <a:buNone/>
            </a:pPr>
            <a:r>
              <a:rPr lang="en-US" sz="660" dirty="0">
                <a:solidFill>
                  <a:srgbClr val="24303F"/>
                </a:solidFill>
              </a:rPr>
              <a:t>Feedback rate target</a:t>
            </a:r>
            <a:endParaRPr lang="en-US" sz="660" dirty="0"/>
          </a:p>
        </p:txBody>
      </p:sp>
      <p:sp>
        <p:nvSpPr>
          <p:cNvPr id="29" name="Shape 27"/>
          <p:cNvSpPr/>
          <p:nvPr/>
        </p:nvSpPr>
        <p:spPr>
          <a:xfrm>
            <a:off x="7178040" y="4031198"/>
            <a:ext cx="2571750" cy="164592"/>
          </a:xfrm>
          <a:prstGeom prst="rect">
            <a:avLst/>
          </a:prstGeom>
          <a:solidFill>
            <a:srgbClr val="C9A44C"/>
          </a:solidFill>
          <a:ln w="12700">
            <a:solidFill>
              <a:srgbClr val="FFFFFF">
                <a:alpha val="0"/>
              </a:srgbClr>
            </a:solidFill>
            <a:prstDash val="solid"/>
          </a:ln>
        </p:spPr>
      </p:sp>
      <p:sp>
        <p:nvSpPr>
          <p:cNvPr id="30" name="Text 28"/>
          <p:cNvSpPr/>
          <p:nvPr/>
        </p:nvSpPr>
        <p:spPr>
          <a:xfrm>
            <a:off x="10680192" y="4022054"/>
            <a:ext cx="365760" cy="137160"/>
          </a:xfrm>
          <a:prstGeom prst="rect">
            <a:avLst/>
          </a:prstGeom>
          <a:noFill/>
          <a:ln/>
        </p:spPr>
        <p:txBody>
          <a:bodyPr wrap="square" lIns="0" tIns="0" rIns="0" bIns="0" rtlCol="0" anchor="ctr"/>
          <a:lstStyle/>
          <a:p>
            <a:pPr algn="r" indent="0" marL="0">
              <a:buNone/>
            </a:pPr>
            <a:r>
              <a:rPr lang="en-US" sz="660" dirty="0">
                <a:solidFill>
                  <a:srgbClr val="24303F"/>
                </a:solidFill>
              </a:rPr>
              <a:t>75.0</a:t>
            </a:r>
            <a:endParaRPr lang="en-US" sz="660" dirty="0"/>
          </a:p>
        </p:txBody>
      </p:sp>
      <p:sp>
        <p:nvSpPr>
          <p:cNvPr id="31" name="Text 29"/>
          <p:cNvSpPr/>
          <p:nvPr/>
        </p:nvSpPr>
        <p:spPr>
          <a:xfrm>
            <a:off x="11384280" y="6428232"/>
            <a:ext cx="320040" cy="109728"/>
          </a:xfrm>
          <a:prstGeom prst="rect">
            <a:avLst/>
          </a:prstGeom>
          <a:noFill/>
          <a:ln/>
        </p:spPr>
        <p:txBody>
          <a:bodyPr wrap="square" lIns="0" tIns="0" rIns="0" bIns="0" rtlCol="0" anchor="ctr"/>
          <a:lstStyle/>
          <a:p>
            <a:pPr algn="r" indent="0" marL="0">
              <a:buNone/>
            </a:pPr>
            <a:r>
              <a:rPr lang="en-US" sz="700" dirty="0">
                <a:solidFill>
                  <a:srgbClr val="FFFFFF"/>
                </a:solidFill>
              </a:rPr>
              <a:t>34</a:t>
            </a:r>
            <a:endParaRPr lang="en-US" sz="7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7F3EA"/>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4213D"/>
          </a:solidFill>
          <a:ln w="12700">
            <a:solidFill>
              <a:srgbClr val="14213D">
                <a:alpha val="0"/>
              </a:srgbClr>
            </a:solidFill>
            <a:prstDash val="solid"/>
          </a:ln>
        </p:spPr>
      </p:sp>
      <p:sp>
        <p:nvSpPr>
          <p:cNvPr id="3" name="Shape 1"/>
          <p:cNvSpPr/>
          <p:nvPr/>
        </p:nvSpPr>
        <p:spPr>
          <a:xfrm>
            <a:off x="0" y="6693408"/>
            <a:ext cx="12191695" cy="164592"/>
          </a:xfrm>
          <a:prstGeom prst="rect">
            <a:avLst/>
          </a:prstGeom>
          <a:solidFill>
            <a:srgbClr val="14213D"/>
          </a:solidFill>
          <a:ln w="12700">
            <a:solidFill>
              <a:srgbClr val="14213D">
                <a:alpha val="0"/>
              </a:srgbClr>
            </a:solidFill>
            <a:prstDash val="solid"/>
          </a:ln>
        </p:spPr>
      </p:sp>
      <p:sp>
        <p:nvSpPr>
          <p:cNvPr id="4" name="Text 2"/>
          <p:cNvSpPr/>
          <p:nvPr/>
        </p:nvSpPr>
        <p:spPr>
          <a:xfrm>
            <a:off x="502920" y="256032"/>
            <a:ext cx="4480560" cy="164592"/>
          </a:xfrm>
          <a:prstGeom prst="rect">
            <a:avLst/>
          </a:prstGeom>
          <a:noFill/>
          <a:ln/>
        </p:spPr>
        <p:txBody>
          <a:bodyPr wrap="square" lIns="0" tIns="0" rIns="0" bIns="0" rtlCol="0" anchor="ctr"/>
          <a:lstStyle/>
          <a:p>
            <a:pPr indent="0" marL="0">
              <a:buNone/>
            </a:pPr>
            <a:r>
              <a:rPr lang="en-US" sz="700" b="1" dirty="0">
                <a:solidFill>
                  <a:srgbClr val="2A9D8F"/>
                </a:solidFill>
                <a:latin typeface="Aptos" pitchFamily="34" charset="0"/>
                <a:ea typeface="Aptos" pitchFamily="34" charset="-122"/>
                <a:cs typeface="Aptos" pitchFamily="34" charset="-120"/>
              </a:rPr>
              <a:t>SECTION 5</a:t>
            </a:r>
            <a:endParaRPr lang="en-US" sz="700" dirty="0"/>
          </a:p>
        </p:txBody>
      </p:sp>
      <p:sp>
        <p:nvSpPr>
          <p:cNvPr id="5" name="Text 3"/>
          <p:cNvSpPr/>
          <p:nvPr/>
        </p:nvSpPr>
        <p:spPr>
          <a:xfrm>
            <a:off x="9281160" y="219456"/>
            <a:ext cx="2423160" cy="182880"/>
          </a:xfrm>
          <a:prstGeom prst="rect">
            <a:avLst/>
          </a:prstGeom>
          <a:noFill/>
          <a:ln/>
        </p:spPr>
        <p:txBody>
          <a:bodyPr wrap="square" lIns="0" tIns="0" rIns="0" bIns="0" rtlCol="0" anchor="ctr"/>
          <a:lstStyle/>
          <a:p>
            <a:pPr algn="r" indent="0" marL="0">
              <a:buNone/>
            </a:pPr>
            <a:r>
              <a:rPr lang="en-US" sz="700" dirty="0">
                <a:solidFill>
                  <a:srgbClr val="6D7886"/>
                </a:solidFill>
              </a:rPr>
              <a:t>Jifunze.ai skill booster</a:t>
            </a:r>
            <a:endParaRPr lang="en-US" sz="700" dirty="0"/>
          </a:p>
        </p:txBody>
      </p:sp>
      <p:sp>
        <p:nvSpPr>
          <p:cNvPr id="6" name="Text 4"/>
          <p:cNvSpPr/>
          <p:nvPr/>
        </p:nvSpPr>
        <p:spPr>
          <a:xfrm>
            <a:off x="502920" y="502920"/>
            <a:ext cx="4617720" cy="475488"/>
          </a:xfrm>
          <a:prstGeom prst="rect">
            <a:avLst/>
          </a:prstGeom>
          <a:noFill/>
          <a:ln/>
        </p:spPr>
        <p:txBody>
          <a:bodyPr wrap="square" lIns="127" tIns="127" rIns="127" bIns="127" rtlCol="0" anchor="ctr">
            <a:normAutofit/>
          </a:bodyPr>
          <a:lstStyle/>
          <a:p>
            <a:pPr indent="0" marL="0">
              <a:buNone/>
            </a:pPr>
            <a:r>
              <a:rPr lang="en-US" sz="2500" b="1" dirty="0">
                <a:solidFill>
                  <a:srgbClr val="14213D"/>
                </a:solidFill>
                <a:latin typeface="Aptos Display" pitchFamily="34" charset="0"/>
                <a:ea typeface="Aptos Display" pitchFamily="34" charset="-122"/>
                <a:cs typeface="Aptos Display" pitchFamily="34" charset="-120"/>
              </a:rPr>
              <a:t>Risk and control checklist</a:t>
            </a:r>
            <a:endParaRPr lang="en-US" sz="2500" dirty="0"/>
          </a:p>
        </p:txBody>
      </p:sp>
      <p:sp>
        <p:nvSpPr>
          <p:cNvPr id="7" name="Text 5"/>
          <p:cNvSpPr/>
          <p:nvPr/>
        </p:nvSpPr>
        <p:spPr>
          <a:xfrm>
            <a:off x="521208" y="1005840"/>
            <a:ext cx="4617720" cy="228600"/>
          </a:xfrm>
          <a:prstGeom prst="rect">
            <a:avLst/>
          </a:prstGeom>
          <a:noFill/>
          <a:ln/>
        </p:spPr>
        <p:txBody>
          <a:bodyPr wrap="square" lIns="0" tIns="0" rIns="0" bIns="0" rtlCol="0" anchor="ctr">
            <a:normAutofit/>
          </a:bodyPr>
          <a:lstStyle/>
          <a:p>
            <a:pPr indent="0" marL="0">
              <a:buNone/>
            </a:pPr>
            <a:r>
              <a:rPr lang="en-US" sz="1080" dirty="0">
                <a:solidFill>
                  <a:srgbClr val="24303F"/>
                </a:solidFill>
              </a:rPr>
              <a:t>Automation needs controls before scale</a:t>
            </a:r>
            <a:endParaRPr lang="en-US" sz="1080" dirty="0"/>
          </a:p>
        </p:txBody>
      </p:sp>
      <p:sp>
        <p:nvSpPr>
          <p:cNvPr id="8" name="Text 6"/>
          <p:cNvSpPr/>
          <p:nvPr/>
        </p:nvSpPr>
        <p:spPr>
          <a:xfrm>
            <a:off x="594360" y="1417320"/>
            <a:ext cx="4617720" cy="4343400"/>
          </a:xfrm>
          <a:prstGeom prst="rect">
            <a:avLst/>
          </a:prstGeom>
          <a:noFill/>
          <a:ln/>
        </p:spPr>
        <p:txBody>
          <a:bodyPr wrap="square" lIns="635" tIns="635" rIns="635" bIns="635" rtlCol="0" anchor="ctr">
            <a:normAutofit/>
          </a:bodyPr>
          <a:lstStyle/>
          <a:p>
            <a:r>
              <a:rPr lang="en-US" sz="1450" dirty="0">
                <a:solidFill>
                  <a:srgbClr val="24303F"/>
                </a:solidFill>
              </a:rPr>
              <a:t>• Privacy and learner data access</a:t>
            </a:r>
            <a:endParaRPr lang="en-US" sz="1450" dirty="0"/>
          </a:p>
          <a:p>
            <a:r>
              <a:rPr lang="en-US" sz="1450" dirty="0">
                <a:solidFill>
                  <a:srgbClr val="24303F"/>
                </a:solidFill>
              </a:rPr>
              <a:t>• Payment confirmation accuracy</a:t>
            </a:r>
            <a:endParaRPr lang="en-US" sz="1450" dirty="0"/>
          </a:p>
          <a:p>
            <a:r>
              <a:rPr lang="en-US" sz="1450" dirty="0">
                <a:solidFill>
                  <a:srgbClr val="24303F"/>
                </a:solidFill>
              </a:rPr>
              <a:t>• Incorrect automated messages</a:t>
            </a:r>
            <a:endParaRPr lang="en-US" sz="1450" dirty="0"/>
          </a:p>
          <a:p>
            <a:r>
              <a:rPr lang="en-US" sz="1450" dirty="0">
                <a:solidFill>
                  <a:srgbClr val="24303F"/>
                </a:solidFill>
              </a:rPr>
              <a:t>• Exception routing and human review</a:t>
            </a:r>
            <a:endParaRPr lang="en-US" sz="1450" dirty="0"/>
          </a:p>
          <a:p>
            <a:r>
              <a:rPr lang="en-US" sz="1450" dirty="0">
                <a:solidFill>
                  <a:srgbClr val="24303F"/>
                </a:solidFill>
              </a:rPr>
              <a:t>• Audit trail and approval checkpoints</a:t>
            </a:r>
            <a:endParaRPr lang="en-US" sz="1450" dirty="0"/>
          </a:p>
          <a:p>
            <a:r>
              <a:rPr lang="en-US" sz="1450" dirty="0">
                <a:solidFill>
                  <a:srgbClr val="24303F"/>
                </a:solidFill>
              </a:rPr>
              <a:t>• Backup/manual fallback process</a:t>
            </a:r>
            <a:endParaRPr lang="en-US" sz="1450" dirty="0"/>
          </a:p>
          <a:p>
            <a:r>
              <a:rPr lang="en-US" sz="1450" dirty="0">
                <a:solidFill>
                  <a:srgbClr val="24303F"/>
                </a:solidFill>
              </a:rPr>
              <a:t>• Testing before launch</a:t>
            </a:r>
            <a:endParaRPr lang="en-US" sz="1450" dirty="0"/>
          </a:p>
        </p:txBody>
      </p:sp>
      <p:sp>
        <p:nvSpPr>
          <p:cNvPr id="9" name="Shape 7"/>
          <p:cNvSpPr/>
          <p:nvPr/>
        </p:nvSpPr>
        <p:spPr>
          <a:xfrm>
            <a:off x="5532120" y="1188720"/>
            <a:ext cx="2514600" cy="509451"/>
          </a:xfrm>
          <a:prstGeom prst="rect">
            <a:avLst/>
          </a:prstGeom>
          <a:solidFill>
            <a:srgbClr val="14213D"/>
          </a:solidFill>
          <a:ln w="12700">
            <a:solidFill>
              <a:srgbClr val="FFFFFF"/>
            </a:solidFill>
            <a:prstDash val="solid"/>
          </a:ln>
        </p:spPr>
      </p:sp>
      <p:sp>
        <p:nvSpPr>
          <p:cNvPr id="10" name="Text 8"/>
          <p:cNvSpPr/>
          <p:nvPr/>
        </p:nvSpPr>
        <p:spPr>
          <a:xfrm>
            <a:off x="5568696" y="1234440"/>
            <a:ext cx="2441448" cy="436299"/>
          </a:xfrm>
          <a:prstGeom prst="rect">
            <a:avLst/>
          </a:prstGeom>
          <a:noFill/>
          <a:ln/>
        </p:spPr>
        <p:txBody>
          <a:bodyPr wrap="square" lIns="0" tIns="0" rIns="0" bIns="0" rtlCol="0" anchor="ctr">
            <a:normAutofit/>
          </a:bodyPr>
          <a:lstStyle/>
          <a:p>
            <a:pPr indent="0" marL="0">
              <a:buNone/>
            </a:pPr>
            <a:r>
              <a:rPr lang="en-US" sz="1000" b="1" dirty="0">
                <a:solidFill>
                  <a:srgbClr val="FFFFFF"/>
                </a:solidFill>
              </a:rPr>
              <a:t>Risk</a:t>
            </a:r>
            <a:endParaRPr lang="en-US" sz="1000" dirty="0"/>
          </a:p>
        </p:txBody>
      </p:sp>
      <p:sp>
        <p:nvSpPr>
          <p:cNvPr id="11" name="Shape 9"/>
          <p:cNvSpPr/>
          <p:nvPr/>
        </p:nvSpPr>
        <p:spPr>
          <a:xfrm>
            <a:off x="8046720" y="1188720"/>
            <a:ext cx="3246120" cy="509451"/>
          </a:xfrm>
          <a:prstGeom prst="rect">
            <a:avLst/>
          </a:prstGeom>
          <a:solidFill>
            <a:srgbClr val="14213D"/>
          </a:solidFill>
          <a:ln w="12700">
            <a:solidFill>
              <a:srgbClr val="FFFFFF"/>
            </a:solidFill>
            <a:prstDash val="solid"/>
          </a:ln>
        </p:spPr>
      </p:sp>
      <p:sp>
        <p:nvSpPr>
          <p:cNvPr id="12" name="Text 10"/>
          <p:cNvSpPr/>
          <p:nvPr/>
        </p:nvSpPr>
        <p:spPr>
          <a:xfrm>
            <a:off x="8083296" y="1234440"/>
            <a:ext cx="3172968" cy="436299"/>
          </a:xfrm>
          <a:prstGeom prst="rect">
            <a:avLst/>
          </a:prstGeom>
          <a:noFill/>
          <a:ln/>
        </p:spPr>
        <p:txBody>
          <a:bodyPr wrap="square" lIns="0" tIns="0" rIns="0" bIns="0" rtlCol="0" anchor="ctr">
            <a:normAutofit/>
          </a:bodyPr>
          <a:lstStyle/>
          <a:p>
            <a:pPr indent="0" marL="0">
              <a:buNone/>
            </a:pPr>
            <a:r>
              <a:rPr lang="en-US" sz="1000" b="1" dirty="0">
                <a:solidFill>
                  <a:srgbClr val="FFFFFF"/>
                </a:solidFill>
              </a:rPr>
              <a:t>Control</a:t>
            </a:r>
            <a:endParaRPr lang="en-US" sz="1000" dirty="0"/>
          </a:p>
        </p:txBody>
      </p:sp>
      <p:sp>
        <p:nvSpPr>
          <p:cNvPr id="13" name="Shape 11"/>
          <p:cNvSpPr/>
          <p:nvPr/>
        </p:nvSpPr>
        <p:spPr>
          <a:xfrm>
            <a:off x="5532120" y="1698171"/>
            <a:ext cx="2514600" cy="509451"/>
          </a:xfrm>
          <a:prstGeom prst="rect">
            <a:avLst/>
          </a:prstGeom>
          <a:solidFill>
            <a:srgbClr val="FDFBF5"/>
          </a:solidFill>
          <a:ln w="12700">
            <a:solidFill>
              <a:srgbClr val="E7DFD0"/>
            </a:solidFill>
            <a:prstDash val="solid"/>
          </a:ln>
        </p:spPr>
      </p:sp>
      <p:sp>
        <p:nvSpPr>
          <p:cNvPr id="14" name="Text 12"/>
          <p:cNvSpPr/>
          <p:nvPr/>
        </p:nvSpPr>
        <p:spPr>
          <a:xfrm>
            <a:off x="5568696" y="1734747"/>
            <a:ext cx="2441448" cy="436299"/>
          </a:xfrm>
          <a:prstGeom prst="rect">
            <a:avLst/>
          </a:prstGeom>
          <a:noFill/>
          <a:ln/>
        </p:spPr>
        <p:txBody>
          <a:bodyPr wrap="square" lIns="0" tIns="0" rIns="0" bIns="0" rtlCol="0" anchor="ctr">
            <a:normAutofit/>
          </a:bodyPr>
          <a:lstStyle/>
          <a:p>
            <a:pPr indent="0" marL="0">
              <a:buNone/>
            </a:pPr>
            <a:r>
              <a:rPr lang="en-US" sz="900" dirty="0">
                <a:solidFill>
                  <a:srgbClr val="24303F"/>
                </a:solidFill>
              </a:rPr>
              <a:t>Learner data exposure</a:t>
            </a:r>
            <a:endParaRPr lang="en-US" sz="900" dirty="0"/>
          </a:p>
        </p:txBody>
      </p:sp>
      <p:sp>
        <p:nvSpPr>
          <p:cNvPr id="15" name="Shape 13"/>
          <p:cNvSpPr/>
          <p:nvPr/>
        </p:nvSpPr>
        <p:spPr>
          <a:xfrm>
            <a:off x="8046720" y="1698171"/>
            <a:ext cx="3246120" cy="509451"/>
          </a:xfrm>
          <a:prstGeom prst="rect">
            <a:avLst/>
          </a:prstGeom>
          <a:solidFill>
            <a:srgbClr val="FDFBF5"/>
          </a:solidFill>
          <a:ln w="12700">
            <a:solidFill>
              <a:srgbClr val="E7DFD0"/>
            </a:solidFill>
            <a:prstDash val="solid"/>
          </a:ln>
        </p:spPr>
      </p:sp>
      <p:sp>
        <p:nvSpPr>
          <p:cNvPr id="16" name="Text 14"/>
          <p:cNvSpPr/>
          <p:nvPr/>
        </p:nvSpPr>
        <p:spPr>
          <a:xfrm>
            <a:off x="8083296" y="1734747"/>
            <a:ext cx="3172968" cy="436299"/>
          </a:xfrm>
          <a:prstGeom prst="rect">
            <a:avLst/>
          </a:prstGeom>
          <a:noFill/>
          <a:ln/>
        </p:spPr>
        <p:txBody>
          <a:bodyPr wrap="square" lIns="0" tIns="0" rIns="0" bIns="0" rtlCol="0" anchor="ctr">
            <a:normAutofit/>
          </a:bodyPr>
          <a:lstStyle/>
          <a:p>
            <a:pPr indent="0" marL="0">
              <a:buNone/>
            </a:pPr>
            <a:r>
              <a:rPr lang="en-US" sz="900" dirty="0">
                <a:solidFill>
                  <a:srgbClr val="24303F"/>
                </a:solidFill>
              </a:rPr>
              <a:t>Role-based access</a:t>
            </a:r>
            <a:endParaRPr lang="en-US" sz="900" dirty="0"/>
          </a:p>
        </p:txBody>
      </p:sp>
      <p:sp>
        <p:nvSpPr>
          <p:cNvPr id="17" name="Shape 15"/>
          <p:cNvSpPr/>
          <p:nvPr/>
        </p:nvSpPr>
        <p:spPr>
          <a:xfrm>
            <a:off x="5532120" y="2207623"/>
            <a:ext cx="2514600" cy="509451"/>
          </a:xfrm>
          <a:prstGeom prst="rect">
            <a:avLst/>
          </a:prstGeom>
          <a:solidFill>
            <a:srgbClr val="FFFFFF"/>
          </a:solidFill>
          <a:ln w="12700">
            <a:solidFill>
              <a:srgbClr val="E7DFD0"/>
            </a:solidFill>
            <a:prstDash val="solid"/>
          </a:ln>
        </p:spPr>
      </p:sp>
      <p:sp>
        <p:nvSpPr>
          <p:cNvPr id="18" name="Text 16"/>
          <p:cNvSpPr/>
          <p:nvPr/>
        </p:nvSpPr>
        <p:spPr>
          <a:xfrm>
            <a:off x="5568696" y="2244199"/>
            <a:ext cx="2441448" cy="436299"/>
          </a:xfrm>
          <a:prstGeom prst="rect">
            <a:avLst/>
          </a:prstGeom>
          <a:noFill/>
          <a:ln/>
        </p:spPr>
        <p:txBody>
          <a:bodyPr wrap="square" lIns="0" tIns="0" rIns="0" bIns="0" rtlCol="0" anchor="ctr">
            <a:normAutofit/>
          </a:bodyPr>
          <a:lstStyle/>
          <a:p>
            <a:pPr indent="0" marL="0">
              <a:buNone/>
            </a:pPr>
            <a:r>
              <a:rPr lang="en-US" sz="900" dirty="0">
                <a:solidFill>
                  <a:srgbClr val="24303F"/>
                </a:solidFill>
              </a:rPr>
              <a:t>Wrong payment status</a:t>
            </a:r>
            <a:endParaRPr lang="en-US" sz="900" dirty="0"/>
          </a:p>
        </p:txBody>
      </p:sp>
      <p:sp>
        <p:nvSpPr>
          <p:cNvPr id="19" name="Shape 17"/>
          <p:cNvSpPr/>
          <p:nvPr/>
        </p:nvSpPr>
        <p:spPr>
          <a:xfrm>
            <a:off x="8046720" y="2207623"/>
            <a:ext cx="3246120" cy="509451"/>
          </a:xfrm>
          <a:prstGeom prst="rect">
            <a:avLst/>
          </a:prstGeom>
          <a:solidFill>
            <a:srgbClr val="FFFFFF"/>
          </a:solidFill>
          <a:ln w="12700">
            <a:solidFill>
              <a:srgbClr val="E7DFD0"/>
            </a:solidFill>
            <a:prstDash val="solid"/>
          </a:ln>
        </p:spPr>
      </p:sp>
      <p:sp>
        <p:nvSpPr>
          <p:cNvPr id="20" name="Text 18"/>
          <p:cNvSpPr/>
          <p:nvPr/>
        </p:nvSpPr>
        <p:spPr>
          <a:xfrm>
            <a:off x="8083296" y="2244199"/>
            <a:ext cx="3172968" cy="436299"/>
          </a:xfrm>
          <a:prstGeom prst="rect">
            <a:avLst/>
          </a:prstGeom>
          <a:noFill/>
          <a:ln/>
        </p:spPr>
        <p:txBody>
          <a:bodyPr wrap="square" lIns="0" tIns="0" rIns="0" bIns="0" rtlCol="0" anchor="ctr">
            <a:normAutofit/>
          </a:bodyPr>
          <a:lstStyle/>
          <a:p>
            <a:pPr indent="0" marL="0">
              <a:buNone/>
            </a:pPr>
            <a:r>
              <a:rPr lang="en-US" sz="900" dirty="0">
                <a:solidFill>
                  <a:srgbClr val="24303F"/>
                </a:solidFill>
              </a:rPr>
              <a:t>Human review + evidence</a:t>
            </a:r>
            <a:endParaRPr lang="en-US" sz="900" dirty="0"/>
          </a:p>
        </p:txBody>
      </p:sp>
      <p:sp>
        <p:nvSpPr>
          <p:cNvPr id="21" name="Shape 19"/>
          <p:cNvSpPr/>
          <p:nvPr/>
        </p:nvSpPr>
        <p:spPr>
          <a:xfrm>
            <a:off x="5532120" y="2717074"/>
            <a:ext cx="2514600" cy="509451"/>
          </a:xfrm>
          <a:prstGeom prst="rect">
            <a:avLst/>
          </a:prstGeom>
          <a:solidFill>
            <a:srgbClr val="FDFBF5"/>
          </a:solidFill>
          <a:ln w="12700">
            <a:solidFill>
              <a:srgbClr val="E7DFD0"/>
            </a:solidFill>
            <a:prstDash val="solid"/>
          </a:ln>
        </p:spPr>
      </p:sp>
      <p:sp>
        <p:nvSpPr>
          <p:cNvPr id="22" name="Text 20"/>
          <p:cNvSpPr/>
          <p:nvPr/>
        </p:nvSpPr>
        <p:spPr>
          <a:xfrm>
            <a:off x="5568696" y="2753650"/>
            <a:ext cx="2441448" cy="436299"/>
          </a:xfrm>
          <a:prstGeom prst="rect">
            <a:avLst/>
          </a:prstGeom>
          <a:noFill/>
          <a:ln/>
        </p:spPr>
        <p:txBody>
          <a:bodyPr wrap="square" lIns="0" tIns="0" rIns="0" bIns="0" rtlCol="0" anchor="ctr">
            <a:normAutofit/>
          </a:bodyPr>
          <a:lstStyle/>
          <a:p>
            <a:pPr indent="0" marL="0">
              <a:buNone/>
            </a:pPr>
            <a:r>
              <a:rPr lang="en-US" sz="900" dirty="0">
                <a:solidFill>
                  <a:srgbClr val="24303F"/>
                </a:solidFill>
              </a:rPr>
              <a:t>Wrong message sent</a:t>
            </a:r>
            <a:endParaRPr lang="en-US" sz="900" dirty="0"/>
          </a:p>
        </p:txBody>
      </p:sp>
      <p:sp>
        <p:nvSpPr>
          <p:cNvPr id="23" name="Shape 21"/>
          <p:cNvSpPr/>
          <p:nvPr/>
        </p:nvSpPr>
        <p:spPr>
          <a:xfrm>
            <a:off x="8046720" y="2717074"/>
            <a:ext cx="3246120" cy="509451"/>
          </a:xfrm>
          <a:prstGeom prst="rect">
            <a:avLst/>
          </a:prstGeom>
          <a:solidFill>
            <a:srgbClr val="FDFBF5"/>
          </a:solidFill>
          <a:ln w="12700">
            <a:solidFill>
              <a:srgbClr val="E7DFD0"/>
            </a:solidFill>
            <a:prstDash val="solid"/>
          </a:ln>
        </p:spPr>
      </p:sp>
      <p:sp>
        <p:nvSpPr>
          <p:cNvPr id="24" name="Text 22"/>
          <p:cNvSpPr/>
          <p:nvPr/>
        </p:nvSpPr>
        <p:spPr>
          <a:xfrm>
            <a:off x="8083296" y="2753650"/>
            <a:ext cx="3172968" cy="436299"/>
          </a:xfrm>
          <a:prstGeom prst="rect">
            <a:avLst/>
          </a:prstGeom>
          <a:noFill/>
          <a:ln/>
        </p:spPr>
        <p:txBody>
          <a:bodyPr wrap="square" lIns="0" tIns="0" rIns="0" bIns="0" rtlCol="0" anchor="ctr">
            <a:normAutofit/>
          </a:bodyPr>
          <a:lstStyle/>
          <a:p>
            <a:pPr indent="0" marL="0">
              <a:buNone/>
            </a:pPr>
            <a:r>
              <a:rPr lang="en-US" sz="900" dirty="0">
                <a:solidFill>
                  <a:srgbClr val="24303F"/>
                </a:solidFill>
              </a:rPr>
              <a:t>Template approval</a:t>
            </a:r>
            <a:endParaRPr lang="en-US" sz="900" dirty="0"/>
          </a:p>
        </p:txBody>
      </p:sp>
      <p:sp>
        <p:nvSpPr>
          <p:cNvPr id="25" name="Shape 23"/>
          <p:cNvSpPr/>
          <p:nvPr/>
        </p:nvSpPr>
        <p:spPr>
          <a:xfrm>
            <a:off x="5532120" y="3226526"/>
            <a:ext cx="2514600" cy="509451"/>
          </a:xfrm>
          <a:prstGeom prst="rect">
            <a:avLst/>
          </a:prstGeom>
          <a:solidFill>
            <a:srgbClr val="FFFFFF"/>
          </a:solidFill>
          <a:ln w="12700">
            <a:solidFill>
              <a:srgbClr val="E7DFD0"/>
            </a:solidFill>
            <a:prstDash val="solid"/>
          </a:ln>
        </p:spPr>
      </p:sp>
      <p:sp>
        <p:nvSpPr>
          <p:cNvPr id="26" name="Text 24"/>
          <p:cNvSpPr/>
          <p:nvPr/>
        </p:nvSpPr>
        <p:spPr>
          <a:xfrm>
            <a:off x="5568696" y="3263102"/>
            <a:ext cx="2441448" cy="436299"/>
          </a:xfrm>
          <a:prstGeom prst="rect">
            <a:avLst/>
          </a:prstGeom>
          <a:noFill/>
          <a:ln/>
        </p:spPr>
        <p:txBody>
          <a:bodyPr wrap="square" lIns="0" tIns="0" rIns="0" bIns="0" rtlCol="0" anchor="ctr">
            <a:normAutofit/>
          </a:bodyPr>
          <a:lstStyle/>
          <a:p>
            <a:pPr indent="0" marL="0">
              <a:buNone/>
            </a:pPr>
            <a:r>
              <a:rPr lang="en-US" sz="900" dirty="0">
                <a:solidFill>
                  <a:srgbClr val="24303F"/>
                </a:solidFill>
              </a:rPr>
              <a:t>Unhandled exception</a:t>
            </a:r>
            <a:endParaRPr lang="en-US" sz="900" dirty="0"/>
          </a:p>
        </p:txBody>
      </p:sp>
      <p:sp>
        <p:nvSpPr>
          <p:cNvPr id="27" name="Shape 25"/>
          <p:cNvSpPr/>
          <p:nvPr/>
        </p:nvSpPr>
        <p:spPr>
          <a:xfrm>
            <a:off x="8046720" y="3226526"/>
            <a:ext cx="3246120" cy="509451"/>
          </a:xfrm>
          <a:prstGeom prst="rect">
            <a:avLst/>
          </a:prstGeom>
          <a:solidFill>
            <a:srgbClr val="FFFFFF"/>
          </a:solidFill>
          <a:ln w="12700">
            <a:solidFill>
              <a:srgbClr val="E7DFD0"/>
            </a:solidFill>
            <a:prstDash val="solid"/>
          </a:ln>
        </p:spPr>
      </p:sp>
      <p:sp>
        <p:nvSpPr>
          <p:cNvPr id="28" name="Text 26"/>
          <p:cNvSpPr/>
          <p:nvPr/>
        </p:nvSpPr>
        <p:spPr>
          <a:xfrm>
            <a:off x="8083296" y="3263102"/>
            <a:ext cx="3172968" cy="436299"/>
          </a:xfrm>
          <a:prstGeom prst="rect">
            <a:avLst/>
          </a:prstGeom>
          <a:noFill/>
          <a:ln/>
        </p:spPr>
        <p:txBody>
          <a:bodyPr wrap="square" lIns="0" tIns="0" rIns="0" bIns="0" rtlCol="0" anchor="ctr">
            <a:normAutofit/>
          </a:bodyPr>
          <a:lstStyle/>
          <a:p>
            <a:pPr indent="0" marL="0">
              <a:buNone/>
            </a:pPr>
            <a:r>
              <a:rPr lang="en-US" sz="900" dirty="0">
                <a:solidFill>
                  <a:srgbClr val="24303F"/>
                </a:solidFill>
              </a:rPr>
              <a:t>Escalation owner</a:t>
            </a:r>
            <a:endParaRPr lang="en-US" sz="900" dirty="0"/>
          </a:p>
        </p:txBody>
      </p:sp>
      <p:sp>
        <p:nvSpPr>
          <p:cNvPr id="29" name="Shape 27"/>
          <p:cNvSpPr/>
          <p:nvPr/>
        </p:nvSpPr>
        <p:spPr>
          <a:xfrm>
            <a:off x="5532120" y="3735977"/>
            <a:ext cx="2514600" cy="509451"/>
          </a:xfrm>
          <a:prstGeom prst="rect">
            <a:avLst/>
          </a:prstGeom>
          <a:solidFill>
            <a:srgbClr val="FDFBF5"/>
          </a:solidFill>
          <a:ln w="12700">
            <a:solidFill>
              <a:srgbClr val="E7DFD0"/>
            </a:solidFill>
            <a:prstDash val="solid"/>
          </a:ln>
        </p:spPr>
      </p:sp>
      <p:sp>
        <p:nvSpPr>
          <p:cNvPr id="30" name="Text 28"/>
          <p:cNvSpPr/>
          <p:nvPr/>
        </p:nvSpPr>
        <p:spPr>
          <a:xfrm>
            <a:off x="5568696" y="3772553"/>
            <a:ext cx="2441448" cy="436299"/>
          </a:xfrm>
          <a:prstGeom prst="rect">
            <a:avLst/>
          </a:prstGeom>
          <a:noFill/>
          <a:ln/>
        </p:spPr>
        <p:txBody>
          <a:bodyPr wrap="square" lIns="0" tIns="0" rIns="0" bIns="0" rtlCol="0" anchor="ctr">
            <a:normAutofit/>
          </a:bodyPr>
          <a:lstStyle/>
          <a:p>
            <a:pPr indent="0" marL="0">
              <a:buNone/>
            </a:pPr>
            <a:r>
              <a:rPr lang="en-US" sz="900" dirty="0">
                <a:solidFill>
                  <a:srgbClr val="24303F"/>
                </a:solidFill>
              </a:rPr>
              <a:t>No audit trail</a:t>
            </a:r>
            <a:endParaRPr lang="en-US" sz="900" dirty="0"/>
          </a:p>
        </p:txBody>
      </p:sp>
      <p:sp>
        <p:nvSpPr>
          <p:cNvPr id="31" name="Shape 29"/>
          <p:cNvSpPr/>
          <p:nvPr/>
        </p:nvSpPr>
        <p:spPr>
          <a:xfrm>
            <a:off x="8046720" y="3735977"/>
            <a:ext cx="3246120" cy="509451"/>
          </a:xfrm>
          <a:prstGeom prst="rect">
            <a:avLst/>
          </a:prstGeom>
          <a:solidFill>
            <a:srgbClr val="FDFBF5"/>
          </a:solidFill>
          <a:ln w="12700">
            <a:solidFill>
              <a:srgbClr val="E7DFD0"/>
            </a:solidFill>
            <a:prstDash val="solid"/>
          </a:ln>
        </p:spPr>
      </p:sp>
      <p:sp>
        <p:nvSpPr>
          <p:cNvPr id="32" name="Text 30"/>
          <p:cNvSpPr/>
          <p:nvPr/>
        </p:nvSpPr>
        <p:spPr>
          <a:xfrm>
            <a:off x="8083296" y="3772553"/>
            <a:ext cx="3172968" cy="436299"/>
          </a:xfrm>
          <a:prstGeom prst="rect">
            <a:avLst/>
          </a:prstGeom>
          <a:noFill/>
          <a:ln/>
        </p:spPr>
        <p:txBody>
          <a:bodyPr wrap="square" lIns="0" tIns="0" rIns="0" bIns="0" rtlCol="0" anchor="ctr">
            <a:normAutofit/>
          </a:bodyPr>
          <a:lstStyle/>
          <a:p>
            <a:pPr indent="0" marL="0">
              <a:buNone/>
            </a:pPr>
            <a:r>
              <a:rPr lang="en-US" sz="900" dirty="0">
                <a:solidFill>
                  <a:srgbClr val="24303F"/>
                </a:solidFill>
              </a:rPr>
              <a:t>Status log</a:t>
            </a:r>
            <a:endParaRPr lang="en-US" sz="900" dirty="0"/>
          </a:p>
        </p:txBody>
      </p:sp>
      <p:sp>
        <p:nvSpPr>
          <p:cNvPr id="33" name="Shape 31"/>
          <p:cNvSpPr/>
          <p:nvPr/>
        </p:nvSpPr>
        <p:spPr>
          <a:xfrm>
            <a:off x="5532120" y="4245429"/>
            <a:ext cx="2514600" cy="509451"/>
          </a:xfrm>
          <a:prstGeom prst="rect">
            <a:avLst/>
          </a:prstGeom>
          <a:solidFill>
            <a:srgbClr val="FFFFFF"/>
          </a:solidFill>
          <a:ln w="12700">
            <a:solidFill>
              <a:srgbClr val="E7DFD0"/>
            </a:solidFill>
            <a:prstDash val="solid"/>
          </a:ln>
        </p:spPr>
      </p:sp>
      <p:sp>
        <p:nvSpPr>
          <p:cNvPr id="34" name="Text 32"/>
          <p:cNvSpPr/>
          <p:nvPr/>
        </p:nvSpPr>
        <p:spPr>
          <a:xfrm>
            <a:off x="5568696" y="4282005"/>
            <a:ext cx="2441448" cy="436299"/>
          </a:xfrm>
          <a:prstGeom prst="rect">
            <a:avLst/>
          </a:prstGeom>
          <a:noFill/>
          <a:ln/>
        </p:spPr>
        <p:txBody>
          <a:bodyPr wrap="square" lIns="0" tIns="0" rIns="0" bIns="0" rtlCol="0" anchor="ctr">
            <a:normAutofit/>
          </a:bodyPr>
          <a:lstStyle/>
          <a:p>
            <a:pPr indent="0" marL="0">
              <a:buNone/>
            </a:pPr>
            <a:r>
              <a:rPr lang="en-US" sz="900" dirty="0">
                <a:solidFill>
                  <a:srgbClr val="24303F"/>
                </a:solidFill>
              </a:rPr>
              <a:t>System outage</a:t>
            </a:r>
            <a:endParaRPr lang="en-US" sz="900" dirty="0"/>
          </a:p>
        </p:txBody>
      </p:sp>
      <p:sp>
        <p:nvSpPr>
          <p:cNvPr id="35" name="Shape 33"/>
          <p:cNvSpPr/>
          <p:nvPr/>
        </p:nvSpPr>
        <p:spPr>
          <a:xfrm>
            <a:off x="8046720" y="4245429"/>
            <a:ext cx="3246120" cy="509451"/>
          </a:xfrm>
          <a:prstGeom prst="rect">
            <a:avLst/>
          </a:prstGeom>
          <a:solidFill>
            <a:srgbClr val="FFFFFF"/>
          </a:solidFill>
          <a:ln w="12700">
            <a:solidFill>
              <a:srgbClr val="E7DFD0"/>
            </a:solidFill>
            <a:prstDash val="solid"/>
          </a:ln>
        </p:spPr>
      </p:sp>
      <p:sp>
        <p:nvSpPr>
          <p:cNvPr id="36" name="Text 34"/>
          <p:cNvSpPr/>
          <p:nvPr/>
        </p:nvSpPr>
        <p:spPr>
          <a:xfrm>
            <a:off x="8083296" y="4282005"/>
            <a:ext cx="3172968" cy="436299"/>
          </a:xfrm>
          <a:prstGeom prst="rect">
            <a:avLst/>
          </a:prstGeom>
          <a:noFill/>
          <a:ln/>
        </p:spPr>
        <p:txBody>
          <a:bodyPr wrap="square" lIns="0" tIns="0" rIns="0" bIns="0" rtlCol="0" anchor="ctr">
            <a:normAutofit/>
          </a:bodyPr>
          <a:lstStyle/>
          <a:p>
            <a:pPr indent="0" marL="0">
              <a:buNone/>
            </a:pPr>
            <a:r>
              <a:rPr lang="en-US" sz="900" dirty="0">
                <a:solidFill>
                  <a:srgbClr val="24303F"/>
                </a:solidFill>
              </a:rPr>
              <a:t>Manual fallback</a:t>
            </a:r>
            <a:endParaRPr lang="en-US" sz="900" dirty="0"/>
          </a:p>
        </p:txBody>
      </p:sp>
      <p:sp>
        <p:nvSpPr>
          <p:cNvPr id="37" name="Text 35"/>
          <p:cNvSpPr/>
          <p:nvPr/>
        </p:nvSpPr>
        <p:spPr>
          <a:xfrm>
            <a:off x="11384280" y="6428232"/>
            <a:ext cx="320040" cy="109728"/>
          </a:xfrm>
          <a:prstGeom prst="rect">
            <a:avLst/>
          </a:prstGeom>
          <a:noFill/>
          <a:ln/>
        </p:spPr>
        <p:txBody>
          <a:bodyPr wrap="square" lIns="0" tIns="0" rIns="0" bIns="0" rtlCol="0" anchor="ctr"/>
          <a:lstStyle/>
          <a:p>
            <a:pPr algn="r" indent="0" marL="0">
              <a:buNone/>
            </a:pPr>
            <a:r>
              <a:rPr lang="en-US" sz="700" dirty="0">
                <a:solidFill>
                  <a:srgbClr val="FFFFFF"/>
                </a:solidFill>
              </a:rPr>
              <a:t>35</a:t>
            </a:r>
            <a:endParaRPr lang="en-US" sz="7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7F3EA"/>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4213D"/>
          </a:solidFill>
          <a:ln w="12700">
            <a:solidFill>
              <a:srgbClr val="14213D">
                <a:alpha val="0"/>
              </a:srgbClr>
            </a:solidFill>
            <a:prstDash val="solid"/>
          </a:ln>
        </p:spPr>
      </p:sp>
      <p:sp>
        <p:nvSpPr>
          <p:cNvPr id="3" name="Shape 1"/>
          <p:cNvSpPr/>
          <p:nvPr/>
        </p:nvSpPr>
        <p:spPr>
          <a:xfrm>
            <a:off x="0" y="6693408"/>
            <a:ext cx="12191695" cy="164592"/>
          </a:xfrm>
          <a:prstGeom prst="rect">
            <a:avLst/>
          </a:prstGeom>
          <a:solidFill>
            <a:srgbClr val="14213D"/>
          </a:solidFill>
          <a:ln w="12700">
            <a:solidFill>
              <a:srgbClr val="14213D">
                <a:alpha val="0"/>
              </a:srgbClr>
            </a:solidFill>
            <a:prstDash val="solid"/>
          </a:ln>
        </p:spPr>
      </p:sp>
      <p:sp>
        <p:nvSpPr>
          <p:cNvPr id="4" name="Text 2"/>
          <p:cNvSpPr/>
          <p:nvPr/>
        </p:nvSpPr>
        <p:spPr>
          <a:xfrm>
            <a:off x="502920" y="256032"/>
            <a:ext cx="4480560" cy="164592"/>
          </a:xfrm>
          <a:prstGeom prst="rect">
            <a:avLst/>
          </a:prstGeom>
          <a:noFill/>
          <a:ln/>
        </p:spPr>
        <p:txBody>
          <a:bodyPr wrap="square" lIns="0" tIns="0" rIns="0" bIns="0" rtlCol="0" anchor="ctr"/>
          <a:lstStyle/>
          <a:p>
            <a:pPr indent="0" marL="0">
              <a:buNone/>
            </a:pPr>
            <a:r>
              <a:rPr lang="en-US" sz="700" b="1" dirty="0">
                <a:solidFill>
                  <a:srgbClr val="2A9D8F"/>
                </a:solidFill>
                <a:latin typeface="Aptos" pitchFamily="34" charset="0"/>
                <a:ea typeface="Aptos" pitchFamily="34" charset="-122"/>
                <a:cs typeface="Aptos" pitchFamily="34" charset="-120"/>
              </a:rPr>
              <a:t>SECTION 5</a:t>
            </a:r>
            <a:endParaRPr lang="en-US" sz="700" dirty="0"/>
          </a:p>
        </p:txBody>
      </p:sp>
      <p:sp>
        <p:nvSpPr>
          <p:cNvPr id="5" name="Text 3"/>
          <p:cNvSpPr/>
          <p:nvPr/>
        </p:nvSpPr>
        <p:spPr>
          <a:xfrm>
            <a:off x="9281160" y="219456"/>
            <a:ext cx="2423160" cy="182880"/>
          </a:xfrm>
          <a:prstGeom prst="rect">
            <a:avLst/>
          </a:prstGeom>
          <a:noFill/>
          <a:ln/>
        </p:spPr>
        <p:txBody>
          <a:bodyPr wrap="square" lIns="0" tIns="0" rIns="0" bIns="0" rtlCol="0" anchor="ctr"/>
          <a:lstStyle/>
          <a:p>
            <a:pPr algn="r" indent="0" marL="0">
              <a:buNone/>
            </a:pPr>
            <a:r>
              <a:rPr lang="en-US" sz="700" dirty="0">
                <a:solidFill>
                  <a:srgbClr val="6D7886"/>
                </a:solidFill>
              </a:rPr>
              <a:t>Jifunze.ai skill booster</a:t>
            </a:r>
            <a:endParaRPr lang="en-US" sz="700" dirty="0"/>
          </a:p>
        </p:txBody>
      </p:sp>
      <p:sp>
        <p:nvSpPr>
          <p:cNvPr id="6" name="Text 4"/>
          <p:cNvSpPr/>
          <p:nvPr/>
        </p:nvSpPr>
        <p:spPr>
          <a:xfrm>
            <a:off x="502920" y="502920"/>
            <a:ext cx="4617720" cy="475488"/>
          </a:xfrm>
          <a:prstGeom prst="rect">
            <a:avLst/>
          </a:prstGeom>
          <a:noFill/>
          <a:ln/>
        </p:spPr>
        <p:txBody>
          <a:bodyPr wrap="square" lIns="127" tIns="127" rIns="127" bIns="127" rtlCol="0" anchor="ctr">
            <a:normAutofit/>
          </a:bodyPr>
          <a:lstStyle/>
          <a:p>
            <a:pPr indent="0" marL="0">
              <a:buNone/>
            </a:pPr>
            <a:r>
              <a:rPr lang="en-US" sz="2500" b="1" dirty="0">
                <a:solidFill>
                  <a:srgbClr val="14213D"/>
                </a:solidFill>
                <a:latin typeface="Aptos Display" pitchFamily="34" charset="0"/>
                <a:ea typeface="Aptos Display" pitchFamily="34" charset="-122"/>
                <a:cs typeface="Aptos Display" pitchFamily="34" charset="-120"/>
              </a:rPr>
              <a:t>Change management for automation</a:t>
            </a:r>
            <a:endParaRPr lang="en-US" sz="2500" dirty="0"/>
          </a:p>
        </p:txBody>
      </p:sp>
      <p:sp>
        <p:nvSpPr>
          <p:cNvPr id="7" name="Text 5"/>
          <p:cNvSpPr/>
          <p:nvPr/>
        </p:nvSpPr>
        <p:spPr>
          <a:xfrm>
            <a:off x="521208" y="1005840"/>
            <a:ext cx="4617720" cy="228600"/>
          </a:xfrm>
          <a:prstGeom prst="rect">
            <a:avLst/>
          </a:prstGeom>
          <a:noFill/>
          <a:ln/>
        </p:spPr>
        <p:txBody>
          <a:bodyPr wrap="square" lIns="0" tIns="0" rIns="0" bIns="0" rtlCol="0" anchor="ctr">
            <a:normAutofit/>
          </a:bodyPr>
          <a:lstStyle/>
          <a:p>
            <a:pPr indent="0" marL="0">
              <a:buNone/>
            </a:pPr>
            <a:r>
              <a:rPr lang="en-US" sz="1080" dirty="0">
                <a:solidFill>
                  <a:srgbClr val="24303F"/>
                </a:solidFill>
              </a:rPr>
              <a:t>Adoption fails when people feel surprised or replaced</a:t>
            </a:r>
            <a:endParaRPr lang="en-US" sz="1080" dirty="0"/>
          </a:p>
        </p:txBody>
      </p:sp>
      <p:sp>
        <p:nvSpPr>
          <p:cNvPr id="8" name="Text 6"/>
          <p:cNvSpPr/>
          <p:nvPr/>
        </p:nvSpPr>
        <p:spPr>
          <a:xfrm>
            <a:off x="594360" y="1417320"/>
            <a:ext cx="4617720" cy="4343400"/>
          </a:xfrm>
          <a:prstGeom prst="rect">
            <a:avLst/>
          </a:prstGeom>
          <a:noFill/>
          <a:ln/>
        </p:spPr>
        <p:txBody>
          <a:bodyPr wrap="square" lIns="635" tIns="635" rIns="635" bIns="635" rtlCol="0" anchor="ctr">
            <a:normAutofit/>
          </a:bodyPr>
          <a:lstStyle/>
          <a:p>
            <a:r>
              <a:rPr lang="en-US" sz="1450" dirty="0">
                <a:solidFill>
                  <a:srgbClr val="24303F"/>
                </a:solidFill>
              </a:rPr>
              <a:t>• Explain the problem being solved</a:t>
            </a:r>
            <a:endParaRPr lang="en-US" sz="1450" dirty="0"/>
          </a:p>
          <a:p>
            <a:r>
              <a:rPr lang="en-US" sz="1450" dirty="0">
                <a:solidFill>
                  <a:srgbClr val="24303F"/>
                </a:solidFill>
              </a:rPr>
              <a:t>• Train staff on exceptions, not only buttons</a:t>
            </a:r>
            <a:endParaRPr lang="en-US" sz="1450" dirty="0"/>
          </a:p>
          <a:p>
            <a:r>
              <a:rPr lang="en-US" sz="1450" dirty="0">
                <a:solidFill>
                  <a:srgbClr val="24303F"/>
                </a:solidFill>
              </a:rPr>
              <a:t>• Keep humans in control of sensitive decisions</a:t>
            </a:r>
            <a:endParaRPr lang="en-US" sz="1450" dirty="0"/>
          </a:p>
          <a:p>
            <a:r>
              <a:rPr lang="en-US" sz="1450" dirty="0">
                <a:solidFill>
                  <a:srgbClr val="24303F"/>
                </a:solidFill>
              </a:rPr>
              <a:t>• Start with one workflow and measure results</a:t>
            </a:r>
            <a:endParaRPr lang="en-US" sz="1450" dirty="0"/>
          </a:p>
          <a:p>
            <a:r>
              <a:rPr lang="en-US" sz="1450" dirty="0">
                <a:solidFill>
                  <a:srgbClr val="24303F"/>
                </a:solidFill>
              </a:rPr>
              <a:t>• Improve based on staff and learner feedback</a:t>
            </a:r>
            <a:endParaRPr lang="en-US" sz="1450" dirty="0"/>
          </a:p>
        </p:txBody>
      </p:sp>
      <p:sp>
        <p:nvSpPr>
          <p:cNvPr id="9" name="Shape 7"/>
          <p:cNvSpPr/>
          <p:nvPr/>
        </p:nvSpPr>
        <p:spPr>
          <a:xfrm>
            <a:off x="5577840" y="1554480"/>
            <a:ext cx="1123432" cy="493776"/>
          </a:xfrm>
          <a:prstGeom prst="roundRect">
            <a:avLst>
              <a:gd name="adj" fmla="val 14815"/>
            </a:avLst>
          </a:prstGeom>
          <a:solidFill>
            <a:srgbClr val="FFFFFF"/>
          </a:solidFill>
          <a:ln w="12700">
            <a:solidFill>
              <a:srgbClr val="C9A44C"/>
            </a:solidFill>
            <a:prstDash val="solid"/>
          </a:ln>
        </p:spPr>
      </p:sp>
      <p:sp>
        <p:nvSpPr>
          <p:cNvPr id="10" name="Text 8"/>
          <p:cNvSpPr/>
          <p:nvPr/>
        </p:nvSpPr>
        <p:spPr>
          <a:xfrm>
            <a:off x="5687568" y="1645920"/>
            <a:ext cx="903976" cy="329184"/>
          </a:xfrm>
          <a:prstGeom prst="rect">
            <a:avLst/>
          </a:prstGeom>
          <a:noFill/>
          <a:ln/>
        </p:spPr>
        <p:txBody>
          <a:bodyPr wrap="square" lIns="127" tIns="127" rIns="127" bIns="127" rtlCol="0" anchor="ctr">
            <a:normAutofit/>
          </a:bodyPr>
          <a:lstStyle/>
          <a:p>
            <a:pPr indent="0" marL="0">
              <a:buNone/>
            </a:pPr>
            <a:r>
              <a:rPr lang="en-US" sz="760" b="1" dirty="0">
                <a:solidFill>
                  <a:srgbClr val="24303F"/>
                </a:solidFill>
              </a:rPr>
              <a:t>Explain</a:t>
            </a:r>
            <a:endParaRPr lang="en-US" sz="760" dirty="0"/>
          </a:p>
        </p:txBody>
      </p:sp>
      <p:sp>
        <p:nvSpPr>
          <p:cNvPr id="11" name="Shape 9"/>
          <p:cNvSpPr/>
          <p:nvPr/>
        </p:nvSpPr>
        <p:spPr>
          <a:xfrm>
            <a:off x="6701272" y="1801368"/>
            <a:ext cx="109728" cy="0"/>
          </a:xfrm>
          <a:prstGeom prst="line">
            <a:avLst/>
          </a:prstGeom>
          <a:noFill/>
          <a:ln w="12700">
            <a:solidFill>
              <a:srgbClr val="2A9D8F"/>
            </a:solidFill>
            <a:prstDash val="solid"/>
            <a:headEnd type="none"/>
            <a:tailEnd type="triangle"/>
          </a:ln>
        </p:spPr>
      </p:sp>
      <p:sp>
        <p:nvSpPr>
          <p:cNvPr id="12" name="Shape 10"/>
          <p:cNvSpPr/>
          <p:nvPr/>
        </p:nvSpPr>
        <p:spPr>
          <a:xfrm>
            <a:off x="6847576" y="1554480"/>
            <a:ext cx="1123432" cy="493776"/>
          </a:xfrm>
          <a:prstGeom prst="roundRect">
            <a:avLst>
              <a:gd name="adj" fmla="val 14815"/>
            </a:avLst>
          </a:prstGeom>
          <a:solidFill>
            <a:srgbClr val="FFFFFF"/>
          </a:solidFill>
          <a:ln w="12700">
            <a:solidFill>
              <a:srgbClr val="C9A44C"/>
            </a:solidFill>
            <a:prstDash val="solid"/>
          </a:ln>
        </p:spPr>
      </p:sp>
      <p:sp>
        <p:nvSpPr>
          <p:cNvPr id="13" name="Text 11"/>
          <p:cNvSpPr/>
          <p:nvPr/>
        </p:nvSpPr>
        <p:spPr>
          <a:xfrm>
            <a:off x="6957304" y="1645920"/>
            <a:ext cx="903976" cy="329184"/>
          </a:xfrm>
          <a:prstGeom prst="rect">
            <a:avLst/>
          </a:prstGeom>
          <a:noFill/>
          <a:ln/>
        </p:spPr>
        <p:txBody>
          <a:bodyPr wrap="square" lIns="127" tIns="127" rIns="127" bIns="127" rtlCol="0" anchor="ctr">
            <a:normAutofit/>
          </a:bodyPr>
          <a:lstStyle/>
          <a:p>
            <a:pPr indent="0" marL="0">
              <a:buNone/>
            </a:pPr>
            <a:r>
              <a:rPr lang="en-US" sz="760" b="1" dirty="0">
                <a:solidFill>
                  <a:srgbClr val="24303F"/>
                </a:solidFill>
              </a:rPr>
              <a:t>Train</a:t>
            </a:r>
            <a:endParaRPr lang="en-US" sz="760" dirty="0"/>
          </a:p>
        </p:txBody>
      </p:sp>
      <p:sp>
        <p:nvSpPr>
          <p:cNvPr id="14" name="Shape 12"/>
          <p:cNvSpPr/>
          <p:nvPr/>
        </p:nvSpPr>
        <p:spPr>
          <a:xfrm>
            <a:off x="7971008" y="1801368"/>
            <a:ext cx="109728" cy="0"/>
          </a:xfrm>
          <a:prstGeom prst="line">
            <a:avLst/>
          </a:prstGeom>
          <a:noFill/>
          <a:ln w="12700">
            <a:solidFill>
              <a:srgbClr val="2A9D8F"/>
            </a:solidFill>
            <a:prstDash val="solid"/>
            <a:headEnd type="none"/>
            <a:tailEnd type="triangle"/>
          </a:ln>
        </p:spPr>
      </p:sp>
      <p:sp>
        <p:nvSpPr>
          <p:cNvPr id="15" name="Shape 13"/>
          <p:cNvSpPr/>
          <p:nvPr/>
        </p:nvSpPr>
        <p:spPr>
          <a:xfrm>
            <a:off x="8117312" y="1554480"/>
            <a:ext cx="1123432" cy="493776"/>
          </a:xfrm>
          <a:prstGeom prst="roundRect">
            <a:avLst>
              <a:gd name="adj" fmla="val 14815"/>
            </a:avLst>
          </a:prstGeom>
          <a:solidFill>
            <a:srgbClr val="FFFFFF"/>
          </a:solidFill>
          <a:ln w="12700">
            <a:solidFill>
              <a:srgbClr val="C9A44C"/>
            </a:solidFill>
            <a:prstDash val="solid"/>
          </a:ln>
        </p:spPr>
      </p:sp>
      <p:sp>
        <p:nvSpPr>
          <p:cNvPr id="16" name="Text 14"/>
          <p:cNvSpPr/>
          <p:nvPr/>
        </p:nvSpPr>
        <p:spPr>
          <a:xfrm>
            <a:off x="8227040" y="1645920"/>
            <a:ext cx="903976" cy="329184"/>
          </a:xfrm>
          <a:prstGeom prst="rect">
            <a:avLst/>
          </a:prstGeom>
          <a:noFill/>
          <a:ln/>
        </p:spPr>
        <p:txBody>
          <a:bodyPr wrap="square" lIns="127" tIns="127" rIns="127" bIns="127" rtlCol="0" anchor="ctr">
            <a:normAutofit/>
          </a:bodyPr>
          <a:lstStyle/>
          <a:p>
            <a:pPr indent="0" marL="0">
              <a:buNone/>
            </a:pPr>
            <a:r>
              <a:rPr lang="en-US" sz="760" b="1" dirty="0">
                <a:solidFill>
                  <a:srgbClr val="24303F"/>
                </a:solidFill>
              </a:rPr>
              <a:t>Pilot</a:t>
            </a:r>
            <a:endParaRPr lang="en-US" sz="760" dirty="0"/>
          </a:p>
        </p:txBody>
      </p:sp>
      <p:sp>
        <p:nvSpPr>
          <p:cNvPr id="17" name="Shape 15"/>
          <p:cNvSpPr/>
          <p:nvPr/>
        </p:nvSpPr>
        <p:spPr>
          <a:xfrm>
            <a:off x="9240744" y="1801368"/>
            <a:ext cx="109728" cy="0"/>
          </a:xfrm>
          <a:prstGeom prst="line">
            <a:avLst/>
          </a:prstGeom>
          <a:noFill/>
          <a:ln w="12700">
            <a:solidFill>
              <a:srgbClr val="2A9D8F"/>
            </a:solidFill>
            <a:prstDash val="solid"/>
            <a:headEnd type="none"/>
            <a:tailEnd type="triangle"/>
          </a:ln>
        </p:spPr>
      </p:sp>
      <p:sp>
        <p:nvSpPr>
          <p:cNvPr id="18" name="Shape 16"/>
          <p:cNvSpPr/>
          <p:nvPr/>
        </p:nvSpPr>
        <p:spPr>
          <a:xfrm>
            <a:off x="9387048" y="1554480"/>
            <a:ext cx="1123432" cy="493776"/>
          </a:xfrm>
          <a:prstGeom prst="roundRect">
            <a:avLst>
              <a:gd name="adj" fmla="val 14815"/>
            </a:avLst>
          </a:prstGeom>
          <a:solidFill>
            <a:srgbClr val="FFFFFF"/>
          </a:solidFill>
          <a:ln w="12700">
            <a:solidFill>
              <a:srgbClr val="C9A44C"/>
            </a:solidFill>
            <a:prstDash val="solid"/>
          </a:ln>
        </p:spPr>
      </p:sp>
      <p:sp>
        <p:nvSpPr>
          <p:cNvPr id="19" name="Text 17"/>
          <p:cNvSpPr/>
          <p:nvPr/>
        </p:nvSpPr>
        <p:spPr>
          <a:xfrm>
            <a:off x="9496776" y="1645920"/>
            <a:ext cx="903976" cy="329184"/>
          </a:xfrm>
          <a:prstGeom prst="rect">
            <a:avLst/>
          </a:prstGeom>
          <a:noFill/>
          <a:ln/>
        </p:spPr>
        <p:txBody>
          <a:bodyPr wrap="square" lIns="127" tIns="127" rIns="127" bIns="127" rtlCol="0" anchor="ctr">
            <a:normAutofit/>
          </a:bodyPr>
          <a:lstStyle/>
          <a:p>
            <a:pPr indent="0" marL="0">
              <a:buNone/>
            </a:pPr>
            <a:r>
              <a:rPr lang="en-US" sz="760" b="1" dirty="0">
                <a:solidFill>
                  <a:srgbClr val="24303F"/>
                </a:solidFill>
              </a:rPr>
              <a:t>Measure</a:t>
            </a:r>
            <a:endParaRPr lang="en-US" sz="760" dirty="0"/>
          </a:p>
        </p:txBody>
      </p:sp>
      <p:sp>
        <p:nvSpPr>
          <p:cNvPr id="20" name="Shape 18"/>
          <p:cNvSpPr/>
          <p:nvPr/>
        </p:nvSpPr>
        <p:spPr>
          <a:xfrm>
            <a:off x="10510479" y="1801368"/>
            <a:ext cx="109728" cy="0"/>
          </a:xfrm>
          <a:prstGeom prst="line">
            <a:avLst/>
          </a:prstGeom>
          <a:noFill/>
          <a:ln w="12700">
            <a:solidFill>
              <a:srgbClr val="2A9D8F"/>
            </a:solidFill>
            <a:prstDash val="solid"/>
            <a:headEnd type="none"/>
            <a:tailEnd type="triangle"/>
          </a:ln>
        </p:spPr>
      </p:sp>
      <p:sp>
        <p:nvSpPr>
          <p:cNvPr id="21" name="Shape 19"/>
          <p:cNvSpPr/>
          <p:nvPr/>
        </p:nvSpPr>
        <p:spPr>
          <a:xfrm>
            <a:off x="10656783" y="1554480"/>
            <a:ext cx="1123432" cy="493776"/>
          </a:xfrm>
          <a:prstGeom prst="roundRect">
            <a:avLst>
              <a:gd name="adj" fmla="val 14815"/>
            </a:avLst>
          </a:prstGeom>
          <a:solidFill>
            <a:srgbClr val="FFFFFF"/>
          </a:solidFill>
          <a:ln w="12700">
            <a:solidFill>
              <a:srgbClr val="C9A44C"/>
            </a:solidFill>
            <a:prstDash val="solid"/>
          </a:ln>
        </p:spPr>
      </p:sp>
      <p:sp>
        <p:nvSpPr>
          <p:cNvPr id="22" name="Text 20"/>
          <p:cNvSpPr/>
          <p:nvPr/>
        </p:nvSpPr>
        <p:spPr>
          <a:xfrm>
            <a:off x="10766511" y="1645920"/>
            <a:ext cx="903976" cy="329184"/>
          </a:xfrm>
          <a:prstGeom prst="rect">
            <a:avLst/>
          </a:prstGeom>
          <a:noFill/>
          <a:ln/>
        </p:spPr>
        <p:txBody>
          <a:bodyPr wrap="square" lIns="127" tIns="127" rIns="127" bIns="127" rtlCol="0" anchor="ctr">
            <a:normAutofit/>
          </a:bodyPr>
          <a:lstStyle/>
          <a:p>
            <a:pPr indent="0" marL="0">
              <a:buNone/>
            </a:pPr>
            <a:r>
              <a:rPr lang="en-US" sz="760" b="1" dirty="0">
                <a:solidFill>
                  <a:srgbClr val="24303F"/>
                </a:solidFill>
              </a:rPr>
              <a:t>Improve</a:t>
            </a:r>
            <a:endParaRPr lang="en-US" sz="760" dirty="0"/>
          </a:p>
        </p:txBody>
      </p:sp>
      <p:sp>
        <p:nvSpPr>
          <p:cNvPr id="23" name="Shape 21"/>
          <p:cNvSpPr/>
          <p:nvPr/>
        </p:nvSpPr>
        <p:spPr>
          <a:xfrm>
            <a:off x="5715000" y="3108960"/>
            <a:ext cx="5212080" cy="868680"/>
          </a:xfrm>
          <a:prstGeom prst="roundRect">
            <a:avLst>
              <a:gd name="adj" fmla="val 8421"/>
            </a:avLst>
          </a:prstGeom>
          <a:solidFill>
            <a:srgbClr val="FFFFFF"/>
          </a:solidFill>
          <a:ln w="12700">
            <a:solidFill>
              <a:srgbClr val="C9A44C"/>
            </a:solidFill>
            <a:prstDash val="solid"/>
          </a:ln>
        </p:spPr>
      </p:sp>
      <p:sp>
        <p:nvSpPr>
          <p:cNvPr id="24" name="Text 22"/>
          <p:cNvSpPr/>
          <p:nvPr/>
        </p:nvSpPr>
        <p:spPr>
          <a:xfrm>
            <a:off x="5824728" y="3200400"/>
            <a:ext cx="4992624" cy="704088"/>
          </a:xfrm>
          <a:prstGeom prst="rect">
            <a:avLst/>
          </a:prstGeom>
          <a:noFill/>
          <a:ln/>
        </p:spPr>
        <p:txBody>
          <a:bodyPr wrap="square" lIns="127" tIns="127" rIns="127" bIns="127" rtlCol="0" anchor="ctr">
            <a:normAutofit/>
          </a:bodyPr>
          <a:lstStyle/>
          <a:p>
            <a:pPr indent="0" marL="0">
              <a:buNone/>
            </a:pPr>
            <a:r>
              <a:rPr lang="en-US" sz="1400" b="1" dirty="0">
                <a:solidFill>
                  <a:srgbClr val="24303F"/>
                </a:solidFill>
              </a:rPr>
              <a:t>Message to staff: automation removes avoidable chasing and copying so people can focus on learner support and decisions.</a:t>
            </a:r>
            <a:endParaRPr lang="en-US" sz="1400" dirty="0"/>
          </a:p>
        </p:txBody>
      </p:sp>
      <p:sp>
        <p:nvSpPr>
          <p:cNvPr id="25" name="Text 23"/>
          <p:cNvSpPr/>
          <p:nvPr/>
        </p:nvSpPr>
        <p:spPr>
          <a:xfrm>
            <a:off x="11384280" y="6428232"/>
            <a:ext cx="320040" cy="109728"/>
          </a:xfrm>
          <a:prstGeom prst="rect">
            <a:avLst/>
          </a:prstGeom>
          <a:noFill/>
          <a:ln/>
        </p:spPr>
        <p:txBody>
          <a:bodyPr wrap="square" lIns="0" tIns="0" rIns="0" bIns="0" rtlCol="0" anchor="ctr"/>
          <a:lstStyle/>
          <a:p>
            <a:pPr algn="r" indent="0" marL="0">
              <a:buNone/>
            </a:pPr>
            <a:r>
              <a:rPr lang="en-US" sz="700" dirty="0">
                <a:solidFill>
                  <a:srgbClr val="FFFFFF"/>
                </a:solidFill>
              </a:rPr>
              <a:t>36</a:t>
            </a:r>
            <a:endParaRPr lang="en-US" sz="7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7F3EA"/>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4213D"/>
          </a:solidFill>
          <a:ln w="12700">
            <a:solidFill>
              <a:srgbClr val="14213D">
                <a:alpha val="0"/>
              </a:srgbClr>
            </a:solidFill>
            <a:prstDash val="solid"/>
          </a:ln>
        </p:spPr>
      </p:sp>
      <p:sp>
        <p:nvSpPr>
          <p:cNvPr id="3" name="Shape 1"/>
          <p:cNvSpPr/>
          <p:nvPr/>
        </p:nvSpPr>
        <p:spPr>
          <a:xfrm>
            <a:off x="0" y="6693408"/>
            <a:ext cx="12191695" cy="164592"/>
          </a:xfrm>
          <a:prstGeom prst="rect">
            <a:avLst/>
          </a:prstGeom>
          <a:solidFill>
            <a:srgbClr val="14213D"/>
          </a:solidFill>
          <a:ln w="12700">
            <a:solidFill>
              <a:srgbClr val="14213D">
                <a:alpha val="0"/>
              </a:srgbClr>
            </a:solidFill>
            <a:prstDash val="solid"/>
          </a:ln>
        </p:spPr>
      </p:sp>
      <p:sp>
        <p:nvSpPr>
          <p:cNvPr id="4" name="Text 2"/>
          <p:cNvSpPr/>
          <p:nvPr/>
        </p:nvSpPr>
        <p:spPr>
          <a:xfrm>
            <a:off x="502920" y="256032"/>
            <a:ext cx="4480560" cy="164592"/>
          </a:xfrm>
          <a:prstGeom prst="rect">
            <a:avLst/>
          </a:prstGeom>
          <a:noFill/>
          <a:ln/>
        </p:spPr>
        <p:txBody>
          <a:bodyPr wrap="square" lIns="0" tIns="0" rIns="0" bIns="0" rtlCol="0" anchor="ctr"/>
          <a:lstStyle/>
          <a:p>
            <a:pPr indent="0" marL="0">
              <a:buNone/>
            </a:pPr>
            <a:r>
              <a:rPr lang="en-US" sz="700" b="1" dirty="0">
                <a:solidFill>
                  <a:srgbClr val="2A9D8F"/>
                </a:solidFill>
                <a:latin typeface="Aptos" pitchFamily="34" charset="0"/>
                <a:ea typeface="Aptos" pitchFamily="34" charset="-122"/>
                <a:cs typeface="Aptos" pitchFamily="34" charset="-120"/>
              </a:rPr>
              <a:t>SECTION 5</a:t>
            </a:r>
            <a:endParaRPr lang="en-US" sz="700" dirty="0"/>
          </a:p>
        </p:txBody>
      </p:sp>
      <p:sp>
        <p:nvSpPr>
          <p:cNvPr id="5" name="Text 3"/>
          <p:cNvSpPr/>
          <p:nvPr/>
        </p:nvSpPr>
        <p:spPr>
          <a:xfrm>
            <a:off x="9281160" y="219456"/>
            <a:ext cx="2423160" cy="182880"/>
          </a:xfrm>
          <a:prstGeom prst="rect">
            <a:avLst/>
          </a:prstGeom>
          <a:noFill/>
          <a:ln/>
        </p:spPr>
        <p:txBody>
          <a:bodyPr wrap="square" lIns="0" tIns="0" rIns="0" bIns="0" rtlCol="0" anchor="ctr"/>
          <a:lstStyle/>
          <a:p>
            <a:pPr algn="r" indent="0" marL="0">
              <a:buNone/>
            </a:pPr>
            <a:r>
              <a:rPr lang="en-US" sz="700" dirty="0">
                <a:solidFill>
                  <a:srgbClr val="6D7886"/>
                </a:solidFill>
              </a:rPr>
              <a:t>Jifunze.ai skill booster</a:t>
            </a:r>
            <a:endParaRPr lang="en-US" sz="700" dirty="0"/>
          </a:p>
        </p:txBody>
      </p:sp>
      <p:sp>
        <p:nvSpPr>
          <p:cNvPr id="6" name="Text 4"/>
          <p:cNvSpPr/>
          <p:nvPr/>
        </p:nvSpPr>
        <p:spPr>
          <a:xfrm>
            <a:off x="502920" y="502920"/>
            <a:ext cx="4617720" cy="475488"/>
          </a:xfrm>
          <a:prstGeom prst="rect">
            <a:avLst/>
          </a:prstGeom>
          <a:noFill/>
          <a:ln/>
        </p:spPr>
        <p:txBody>
          <a:bodyPr wrap="square" lIns="127" tIns="127" rIns="127" bIns="127" rtlCol="0" anchor="ctr">
            <a:normAutofit/>
          </a:bodyPr>
          <a:lstStyle/>
          <a:p>
            <a:pPr indent="0" marL="0">
              <a:buNone/>
            </a:pPr>
            <a:r>
              <a:rPr lang="en-US" sz="2500" b="1" dirty="0">
                <a:solidFill>
                  <a:srgbClr val="14213D"/>
                </a:solidFill>
                <a:latin typeface="Aptos Display" pitchFamily="34" charset="0"/>
                <a:ea typeface="Aptos Display" pitchFamily="34" charset="-122"/>
                <a:cs typeface="Aptos Display" pitchFamily="34" charset="-120"/>
              </a:rPr>
              <a:t>30-60-90 day implementation roadmap</a:t>
            </a:r>
            <a:endParaRPr lang="en-US" sz="2500" dirty="0"/>
          </a:p>
        </p:txBody>
      </p:sp>
      <p:sp>
        <p:nvSpPr>
          <p:cNvPr id="7" name="Text 5"/>
          <p:cNvSpPr/>
          <p:nvPr/>
        </p:nvSpPr>
        <p:spPr>
          <a:xfrm>
            <a:off x="521208" y="1005840"/>
            <a:ext cx="4617720" cy="228600"/>
          </a:xfrm>
          <a:prstGeom prst="rect">
            <a:avLst/>
          </a:prstGeom>
          <a:noFill/>
          <a:ln/>
        </p:spPr>
        <p:txBody>
          <a:bodyPr wrap="square" lIns="0" tIns="0" rIns="0" bIns="0" rtlCol="0" anchor="ctr">
            <a:normAutofit/>
          </a:bodyPr>
          <a:lstStyle/>
          <a:p>
            <a:pPr indent="0" marL="0">
              <a:buNone/>
            </a:pPr>
            <a:r>
              <a:rPr lang="en-US" sz="1080" dirty="0">
                <a:solidFill>
                  <a:srgbClr val="24303F"/>
                </a:solidFill>
              </a:rPr>
              <a:t>Sequence the work so each phase builds the next one</a:t>
            </a:r>
            <a:endParaRPr lang="en-US" sz="1080" dirty="0"/>
          </a:p>
        </p:txBody>
      </p:sp>
      <p:sp>
        <p:nvSpPr>
          <p:cNvPr id="8" name="Text 6"/>
          <p:cNvSpPr/>
          <p:nvPr/>
        </p:nvSpPr>
        <p:spPr>
          <a:xfrm>
            <a:off x="594360" y="1417320"/>
            <a:ext cx="4617720" cy="4343400"/>
          </a:xfrm>
          <a:prstGeom prst="rect">
            <a:avLst/>
          </a:prstGeom>
          <a:noFill/>
          <a:ln/>
        </p:spPr>
        <p:txBody>
          <a:bodyPr wrap="square" lIns="635" tIns="635" rIns="635" bIns="635" rtlCol="0" anchor="ctr">
            <a:normAutofit/>
          </a:bodyPr>
          <a:lstStyle/>
          <a:p>
            <a:r>
              <a:rPr lang="en-US" sz="1450" dirty="0">
                <a:solidFill>
                  <a:srgbClr val="24303F"/>
                </a:solidFill>
              </a:rPr>
              <a:t>• First 30 days: map process, clean fields, launch enquiry form and info email</a:t>
            </a:r>
            <a:endParaRPr lang="en-US" sz="1450" dirty="0"/>
          </a:p>
          <a:p>
            <a:r>
              <a:rPr lang="en-US" sz="1450" dirty="0">
                <a:solidFill>
                  <a:srgbClr val="24303F"/>
                </a:solidFill>
              </a:rPr>
              <a:t>• Days 31-60: launch reminders, payment tracker, attendance pilot, dashboard</a:t>
            </a:r>
            <a:endParaRPr lang="en-US" sz="1450" dirty="0"/>
          </a:p>
          <a:p>
            <a:r>
              <a:rPr lang="en-US" sz="1450" dirty="0">
                <a:solidFill>
                  <a:srgbClr val="24303F"/>
                </a:solidFill>
              </a:rPr>
              <a:t>• Days 61-90: certificate templates, feedback automation, review results</a:t>
            </a:r>
            <a:endParaRPr lang="en-US" sz="1450" dirty="0"/>
          </a:p>
          <a:p>
            <a:r>
              <a:rPr lang="en-US" sz="1450" dirty="0">
                <a:solidFill>
                  <a:srgbClr val="24303F"/>
                </a:solidFill>
              </a:rPr>
              <a:t>• Each phase should measure time saved, errors reduced, and exceptions</a:t>
            </a:r>
            <a:endParaRPr lang="en-US" sz="1450" dirty="0"/>
          </a:p>
        </p:txBody>
      </p:sp>
      <p:sp>
        <p:nvSpPr>
          <p:cNvPr id="9" name="Shape 7"/>
          <p:cNvSpPr/>
          <p:nvPr/>
        </p:nvSpPr>
        <p:spPr>
          <a:xfrm>
            <a:off x="5486400" y="1280160"/>
            <a:ext cx="1947672" cy="585216"/>
          </a:xfrm>
          <a:prstGeom prst="rect">
            <a:avLst/>
          </a:prstGeom>
          <a:solidFill>
            <a:srgbClr val="14213D"/>
          </a:solidFill>
          <a:ln w="12700">
            <a:solidFill>
              <a:srgbClr val="FFFFFF"/>
            </a:solidFill>
            <a:prstDash val="solid"/>
          </a:ln>
        </p:spPr>
      </p:sp>
      <p:sp>
        <p:nvSpPr>
          <p:cNvPr id="10" name="Text 8"/>
          <p:cNvSpPr/>
          <p:nvPr/>
        </p:nvSpPr>
        <p:spPr>
          <a:xfrm>
            <a:off x="5522976" y="1325880"/>
            <a:ext cx="1874520" cy="512064"/>
          </a:xfrm>
          <a:prstGeom prst="rect">
            <a:avLst/>
          </a:prstGeom>
          <a:noFill/>
          <a:ln/>
        </p:spPr>
        <p:txBody>
          <a:bodyPr wrap="square" lIns="0" tIns="0" rIns="0" bIns="0" rtlCol="0" anchor="ctr">
            <a:normAutofit/>
          </a:bodyPr>
          <a:lstStyle/>
          <a:p>
            <a:pPr indent="0" marL="0">
              <a:buNone/>
            </a:pPr>
            <a:r>
              <a:rPr lang="en-US" sz="1000" b="1" dirty="0">
                <a:solidFill>
                  <a:srgbClr val="FFFFFF"/>
                </a:solidFill>
              </a:rPr>
              <a:t>30 days</a:t>
            </a:r>
            <a:endParaRPr lang="en-US" sz="1000" dirty="0"/>
          </a:p>
        </p:txBody>
      </p:sp>
      <p:sp>
        <p:nvSpPr>
          <p:cNvPr id="11" name="Shape 9"/>
          <p:cNvSpPr/>
          <p:nvPr/>
        </p:nvSpPr>
        <p:spPr>
          <a:xfrm>
            <a:off x="7434072" y="1280160"/>
            <a:ext cx="1947672" cy="585216"/>
          </a:xfrm>
          <a:prstGeom prst="rect">
            <a:avLst/>
          </a:prstGeom>
          <a:solidFill>
            <a:srgbClr val="14213D"/>
          </a:solidFill>
          <a:ln w="12700">
            <a:solidFill>
              <a:srgbClr val="FFFFFF"/>
            </a:solidFill>
            <a:prstDash val="solid"/>
          </a:ln>
        </p:spPr>
      </p:sp>
      <p:sp>
        <p:nvSpPr>
          <p:cNvPr id="12" name="Text 10"/>
          <p:cNvSpPr/>
          <p:nvPr/>
        </p:nvSpPr>
        <p:spPr>
          <a:xfrm>
            <a:off x="7470648" y="1325880"/>
            <a:ext cx="1874520" cy="512064"/>
          </a:xfrm>
          <a:prstGeom prst="rect">
            <a:avLst/>
          </a:prstGeom>
          <a:noFill/>
          <a:ln/>
        </p:spPr>
        <p:txBody>
          <a:bodyPr wrap="square" lIns="0" tIns="0" rIns="0" bIns="0" rtlCol="0" anchor="ctr">
            <a:normAutofit/>
          </a:bodyPr>
          <a:lstStyle/>
          <a:p>
            <a:pPr indent="0" marL="0">
              <a:buNone/>
            </a:pPr>
            <a:r>
              <a:rPr lang="en-US" sz="1000" b="1" dirty="0">
                <a:solidFill>
                  <a:srgbClr val="FFFFFF"/>
                </a:solidFill>
              </a:rPr>
              <a:t>31-60 days</a:t>
            </a:r>
            <a:endParaRPr lang="en-US" sz="1000" dirty="0"/>
          </a:p>
        </p:txBody>
      </p:sp>
      <p:sp>
        <p:nvSpPr>
          <p:cNvPr id="13" name="Shape 11"/>
          <p:cNvSpPr/>
          <p:nvPr/>
        </p:nvSpPr>
        <p:spPr>
          <a:xfrm>
            <a:off x="9381744" y="1280160"/>
            <a:ext cx="1956816" cy="585216"/>
          </a:xfrm>
          <a:prstGeom prst="rect">
            <a:avLst/>
          </a:prstGeom>
          <a:solidFill>
            <a:srgbClr val="14213D"/>
          </a:solidFill>
          <a:ln w="12700">
            <a:solidFill>
              <a:srgbClr val="FFFFFF"/>
            </a:solidFill>
            <a:prstDash val="solid"/>
          </a:ln>
        </p:spPr>
      </p:sp>
      <p:sp>
        <p:nvSpPr>
          <p:cNvPr id="14" name="Text 12"/>
          <p:cNvSpPr/>
          <p:nvPr/>
        </p:nvSpPr>
        <p:spPr>
          <a:xfrm>
            <a:off x="9418320" y="1325880"/>
            <a:ext cx="1883664" cy="512064"/>
          </a:xfrm>
          <a:prstGeom prst="rect">
            <a:avLst/>
          </a:prstGeom>
          <a:noFill/>
          <a:ln/>
        </p:spPr>
        <p:txBody>
          <a:bodyPr wrap="square" lIns="0" tIns="0" rIns="0" bIns="0" rtlCol="0" anchor="ctr">
            <a:normAutofit/>
          </a:bodyPr>
          <a:lstStyle/>
          <a:p>
            <a:pPr indent="0" marL="0">
              <a:buNone/>
            </a:pPr>
            <a:r>
              <a:rPr lang="en-US" sz="1000" b="1" dirty="0">
                <a:solidFill>
                  <a:srgbClr val="FFFFFF"/>
                </a:solidFill>
              </a:rPr>
              <a:t>61-90 days</a:t>
            </a:r>
            <a:endParaRPr lang="en-US" sz="1000" dirty="0"/>
          </a:p>
        </p:txBody>
      </p:sp>
      <p:sp>
        <p:nvSpPr>
          <p:cNvPr id="15" name="Shape 13"/>
          <p:cNvSpPr/>
          <p:nvPr/>
        </p:nvSpPr>
        <p:spPr>
          <a:xfrm>
            <a:off x="5486400" y="1865376"/>
            <a:ext cx="1947672" cy="585216"/>
          </a:xfrm>
          <a:prstGeom prst="rect">
            <a:avLst/>
          </a:prstGeom>
          <a:solidFill>
            <a:srgbClr val="FDFBF5"/>
          </a:solidFill>
          <a:ln w="12700">
            <a:solidFill>
              <a:srgbClr val="E7DFD0"/>
            </a:solidFill>
            <a:prstDash val="solid"/>
          </a:ln>
        </p:spPr>
      </p:sp>
      <p:sp>
        <p:nvSpPr>
          <p:cNvPr id="16" name="Text 14"/>
          <p:cNvSpPr/>
          <p:nvPr/>
        </p:nvSpPr>
        <p:spPr>
          <a:xfrm>
            <a:off x="5522976" y="1901952"/>
            <a:ext cx="1874520" cy="512064"/>
          </a:xfrm>
          <a:prstGeom prst="rect">
            <a:avLst/>
          </a:prstGeom>
          <a:noFill/>
          <a:ln/>
        </p:spPr>
        <p:txBody>
          <a:bodyPr wrap="square" lIns="0" tIns="0" rIns="0" bIns="0" rtlCol="0" anchor="ctr">
            <a:normAutofit/>
          </a:bodyPr>
          <a:lstStyle/>
          <a:p>
            <a:pPr indent="0" marL="0">
              <a:buNone/>
            </a:pPr>
            <a:r>
              <a:rPr lang="en-US" sz="880" dirty="0">
                <a:solidFill>
                  <a:srgbClr val="24303F"/>
                </a:solidFill>
              </a:rPr>
              <a:t>Map process</a:t>
            </a:r>
            <a:endParaRPr lang="en-US" sz="880" dirty="0"/>
          </a:p>
        </p:txBody>
      </p:sp>
      <p:sp>
        <p:nvSpPr>
          <p:cNvPr id="17" name="Shape 15"/>
          <p:cNvSpPr/>
          <p:nvPr/>
        </p:nvSpPr>
        <p:spPr>
          <a:xfrm>
            <a:off x="7434072" y="1865376"/>
            <a:ext cx="1947672" cy="585216"/>
          </a:xfrm>
          <a:prstGeom prst="rect">
            <a:avLst/>
          </a:prstGeom>
          <a:solidFill>
            <a:srgbClr val="FDFBF5"/>
          </a:solidFill>
          <a:ln w="12700">
            <a:solidFill>
              <a:srgbClr val="E7DFD0"/>
            </a:solidFill>
            <a:prstDash val="solid"/>
          </a:ln>
        </p:spPr>
      </p:sp>
      <p:sp>
        <p:nvSpPr>
          <p:cNvPr id="18" name="Text 16"/>
          <p:cNvSpPr/>
          <p:nvPr/>
        </p:nvSpPr>
        <p:spPr>
          <a:xfrm>
            <a:off x="7470648" y="1901952"/>
            <a:ext cx="1874520" cy="512064"/>
          </a:xfrm>
          <a:prstGeom prst="rect">
            <a:avLst/>
          </a:prstGeom>
          <a:noFill/>
          <a:ln/>
        </p:spPr>
        <p:txBody>
          <a:bodyPr wrap="square" lIns="0" tIns="0" rIns="0" bIns="0" rtlCol="0" anchor="ctr">
            <a:normAutofit/>
          </a:bodyPr>
          <a:lstStyle/>
          <a:p>
            <a:pPr indent="0" marL="0">
              <a:buNone/>
            </a:pPr>
            <a:r>
              <a:rPr lang="en-US" sz="880" dirty="0">
                <a:solidFill>
                  <a:srgbClr val="24303F"/>
                </a:solidFill>
              </a:rPr>
              <a:t>Reminder automation</a:t>
            </a:r>
            <a:endParaRPr lang="en-US" sz="880" dirty="0"/>
          </a:p>
        </p:txBody>
      </p:sp>
      <p:sp>
        <p:nvSpPr>
          <p:cNvPr id="19" name="Shape 17"/>
          <p:cNvSpPr/>
          <p:nvPr/>
        </p:nvSpPr>
        <p:spPr>
          <a:xfrm>
            <a:off x="9381744" y="1865376"/>
            <a:ext cx="1956816" cy="585216"/>
          </a:xfrm>
          <a:prstGeom prst="rect">
            <a:avLst/>
          </a:prstGeom>
          <a:solidFill>
            <a:srgbClr val="FDFBF5"/>
          </a:solidFill>
          <a:ln w="12700">
            <a:solidFill>
              <a:srgbClr val="E7DFD0"/>
            </a:solidFill>
            <a:prstDash val="solid"/>
          </a:ln>
        </p:spPr>
      </p:sp>
      <p:sp>
        <p:nvSpPr>
          <p:cNvPr id="20" name="Text 18"/>
          <p:cNvSpPr/>
          <p:nvPr/>
        </p:nvSpPr>
        <p:spPr>
          <a:xfrm>
            <a:off x="9418320" y="1901952"/>
            <a:ext cx="1883664" cy="512064"/>
          </a:xfrm>
          <a:prstGeom prst="rect">
            <a:avLst/>
          </a:prstGeom>
          <a:noFill/>
          <a:ln/>
        </p:spPr>
        <p:txBody>
          <a:bodyPr wrap="square" lIns="0" tIns="0" rIns="0" bIns="0" rtlCol="0" anchor="ctr">
            <a:normAutofit/>
          </a:bodyPr>
          <a:lstStyle/>
          <a:p>
            <a:pPr indent="0" marL="0">
              <a:buNone/>
            </a:pPr>
            <a:r>
              <a:rPr lang="en-US" sz="880" dirty="0">
                <a:solidFill>
                  <a:srgbClr val="24303F"/>
                </a:solidFill>
              </a:rPr>
              <a:t>Certificate template</a:t>
            </a:r>
            <a:endParaRPr lang="en-US" sz="880" dirty="0"/>
          </a:p>
        </p:txBody>
      </p:sp>
      <p:sp>
        <p:nvSpPr>
          <p:cNvPr id="21" name="Shape 19"/>
          <p:cNvSpPr/>
          <p:nvPr/>
        </p:nvSpPr>
        <p:spPr>
          <a:xfrm>
            <a:off x="5486400" y="2450592"/>
            <a:ext cx="1947672" cy="585216"/>
          </a:xfrm>
          <a:prstGeom prst="rect">
            <a:avLst/>
          </a:prstGeom>
          <a:solidFill>
            <a:srgbClr val="FFFFFF"/>
          </a:solidFill>
          <a:ln w="12700">
            <a:solidFill>
              <a:srgbClr val="E7DFD0"/>
            </a:solidFill>
            <a:prstDash val="solid"/>
          </a:ln>
        </p:spPr>
      </p:sp>
      <p:sp>
        <p:nvSpPr>
          <p:cNvPr id="22" name="Text 20"/>
          <p:cNvSpPr/>
          <p:nvPr/>
        </p:nvSpPr>
        <p:spPr>
          <a:xfrm>
            <a:off x="5522976" y="2487168"/>
            <a:ext cx="1874520" cy="512064"/>
          </a:xfrm>
          <a:prstGeom prst="rect">
            <a:avLst/>
          </a:prstGeom>
          <a:noFill/>
          <a:ln/>
        </p:spPr>
        <p:txBody>
          <a:bodyPr wrap="square" lIns="0" tIns="0" rIns="0" bIns="0" rtlCol="0" anchor="ctr">
            <a:normAutofit/>
          </a:bodyPr>
          <a:lstStyle/>
          <a:p>
            <a:pPr indent="0" marL="0">
              <a:buNone/>
            </a:pPr>
            <a:r>
              <a:rPr lang="en-US" sz="880" dirty="0">
                <a:solidFill>
                  <a:srgbClr val="24303F"/>
                </a:solidFill>
              </a:rPr>
              <a:t>Clean data fields</a:t>
            </a:r>
            <a:endParaRPr lang="en-US" sz="880" dirty="0"/>
          </a:p>
        </p:txBody>
      </p:sp>
      <p:sp>
        <p:nvSpPr>
          <p:cNvPr id="23" name="Shape 21"/>
          <p:cNvSpPr/>
          <p:nvPr/>
        </p:nvSpPr>
        <p:spPr>
          <a:xfrm>
            <a:off x="7434072" y="2450592"/>
            <a:ext cx="1947672" cy="585216"/>
          </a:xfrm>
          <a:prstGeom prst="rect">
            <a:avLst/>
          </a:prstGeom>
          <a:solidFill>
            <a:srgbClr val="FFFFFF"/>
          </a:solidFill>
          <a:ln w="12700">
            <a:solidFill>
              <a:srgbClr val="E7DFD0"/>
            </a:solidFill>
            <a:prstDash val="solid"/>
          </a:ln>
        </p:spPr>
      </p:sp>
      <p:sp>
        <p:nvSpPr>
          <p:cNvPr id="24" name="Text 22"/>
          <p:cNvSpPr/>
          <p:nvPr/>
        </p:nvSpPr>
        <p:spPr>
          <a:xfrm>
            <a:off x="7470648" y="2487168"/>
            <a:ext cx="1874520" cy="512064"/>
          </a:xfrm>
          <a:prstGeom prst="rect">
            <a:avLst/>
          </a:prstGeom>
          <a:noFill/>
          <a:ln/>
        </p:spPr>
        <p:txBody>
          <a:bodyPr wrap="square" lIns="0" tIns="0" rIns="0" bIns="0" rtlCol="0" anchor="ctr">
            <a:normAutofit/>
          </a:bodyPr>
          <a:lstStyle/>
          <a:p>
            <a:pPr indent="0" marL="0">
              <a:buNone/>
            </a:pPr>
            <a:r>
              <a:rPr lang="en-US" sz="880" dirty="0">
                <a:solidFill>
                  <a:srgbClr val="24303F"/>
                </a:solidFill>
              </a:rPr>
              <a:t>Payment tracker</a:t>
            </a:r>
            <a:endParaRPr lang="en-US" sz="880" dirty="0"/>
          </a:p>
        </p:txBody>
      </p:sp>
      <p:sp>
        <p:nvSpPr>
          <p:cNvPr id="25" name="Shape 23"/>
          <p:cNvSpPr/>
          <p:nvPr/>
        </p:nvSpPr>
        <p:spPr>
          <a:xfrm>
            <a:off x="9381744" y="2450592"/>
            <a:ext cx="1956816" cy="585216"/>
          </a:xfrm>
          <a:prstGeom prst="rect">
            <a:avLst/>
          </a:prstGeom>
          <a:solidFill>
            <a:srgbClr val="FFFFFF"/>
          </a:solidFill>
          <a:ln w="12700">
            <a:solidFill>
              <a:srgbClr val="E7DFD0"/>
            </a:solidFill>
            <a:prstDash val="solid"/>
          </a:ln>
        </p:spPr>
      </p:sp>
      <p:sp>
        <p:nvSpPr>
          <p:cNvPr id="26" name="Text 24"/>
          <p:cNvSpPr/>
          <p:nvPr/>
        </p:nvSpPr>
        <p:spPr>
          <a:xfrm>
            <a:off x="9418320" y="2487168"/>
            <a:ext cx="1883664" cy="512064"/>
          </a:xfrm>
          <a:prstGeom prst="rect">
            <a:avLst/>
          </a:prstGeom>
          <a:noFill/>
          <a:ln/>
        </p:spPr>
        <p:txBody>
          <a:bodyPr wrap="square" lIns="0" tIns="0" rIns="0" bIns="0" rtlCol="0" anchor="ctr">
            <a:normAutofit/>
          </a:bodyPr>
          <a:lstStyle/>
          <a:p>
            <a:pPr indent="0" marL="0">
              <a:buNone/>
            </a:pPr>
            <a:r>
              <a:rPr lang="en-US" sz="880" dirty="0">
                <a:solidFill>
                  <a:srgbClr val="24303F"/>
                </a:solidFill>
              </a:rPr>
              <a:t>Feedback automation</a:t>
            </a:r>
            <a:endParaRPr lang="en-US" sz="880" dirty="0"/>
          </a:p>
        </p:txBody>
      </p:sp>
      <p:sp>
        <p:nvSpPr>
          <p:cNvPr id="27" name="Shape 25"/>
          <p:cNvSpPr/>
          <p:nvPr/>
        </p:nvSpPr>
        <p:spPr>
          <a:xfrm>
            <a:off x="5486400" y="3035808"/>
            <a:ext cx="1947672" cy="585216"/>
          </a:xfrm>
          <a:prstGeom prst="rect">
            <a:avLst/>
          </a:prstGeom>
          <a:solidFill>
            <a:srgbClr val="FDFBF5"/>
          </a:solidFill>
          <a:ln w="12700">
            <a:solidFill>
              <a:srgbClr val="E7DFD0"/>
            </a:solidFill>
            <a:prstDash val="solid"/>
          </a:ln>
        </p:spPr>
      </p:sp>
      <p:sp>
        <p:nvSpPr>
          <p:cNvPr id="28" name="Text 26"/>
          <p:cNvSpPr/>
          <p:nvPr/>
        </p:nvSpPr>
        <p:spPr>
          <a:xfrm>
            <a:off x="5522976" y="3072384"/>
            <a:ext cx="1874520" cy="512064"/>
          </a:xfrm>
          <a:prstGeom prst="rect">
            <a:avLst/>
          </a:prstGeom>
          <a:noFill/>
          <a:ln/>
        </p:spPr>
        <p:txBody>
          <a:bodyPr wrap="square" lIns="0" tIns="0" rIns="0" bIns="0" rtlCol="0" anchor="ctr">
            <a:normAutofit/>
          </a:bodyPr>
          <a:lstStyle/>
          <a:p>
            <a:pPr indent="0" marL="0">
              <a:buNone/>
            </a:pPr>
            <a:r>
              <a:rPr lang="en-US" sz="880" dirty="0">
                <a:solidFill>
                  <a:srgbClr val="24303F"/>
                </a:solidFill>
              </a:rPr>
              <a:t>Launch enquiry form</a:t>
            </a:r>
            <a:endParaRPr lang="en-US" sz="880" dirty="0"/>
          </a:p>
        </p:txBody>
      </p:sp>
      <p:sp>
        <p:nvSpPr>
          <p:cNvPr id="29" name="Shape 27"/>
          <p:cNvSpPr/>
          <p:nvPr/>
        </p:nvSpPr>
        <p:spPr>
          <a:xfrm>
            <a:off x="7434072" y="3035808"/>
            <a:ext cx="1947672" cy="585216"/>
          </a:xfrm>
          <a:prstGeom prst="rect">
            <a:avLst/>
          </a:prstGeom>
          <a:solidFill>
            <a:srgbClr val="FDFBF5"/>
          </a:solidFill>
          <a:ln w="12700">
            <a:solidFill>
              <a:srgbClr val="E7DFD0"/>
            </a:solidFill>
            <a:prstDash val="solid"/>
          </a:ln>
        </p:spPr>
      </p:sp>
      <p:sp>
        <p:nvSpPr>
          <p:cNvPr id="30" name="Text 28"/>
          <p:cNvSpPr/>
          <p:nvPr/>
        </p:nvSpPr>
        <p:spPr>
          <a:xfrm>
            <a:off x="7470648" y="3072384"/>
            <a:ext cx="1874520" cy="512064"/>
          </a:xfrm>
          <a:prstGeom prst="rect">
            <a:avLst/>
          </a:prstGeom>
          <a:noFill/>
          <a:ln/>
        </p:spPr>
        <p:txBody>
          <a:bodyPr wrap="square" lIns="0" tIns="0" rIns="0" bIns="0" rtlCol="0" anchor="ctr">
            <a:normAutofit/>
          </a:bodyPr>
          <a:lstStyle/>
          <a:p>
            <a:pPr indent="0" marL="0">
              <a:buNone/>
            </a:pPr>
            <a:r>
              <a:rPr lang="en-US" sz="880" dirty="0">
                <a:solidFill>
                  <a:srgbClr val="24303F"/>
                </a:solidFill>
              </a:rPr>
              <a:t>Attendance QR pilot</a:t>
            </a:r>
            <a:endParaRPr lang="en-US" sz="880" dirty="0"/>
          </a:p>
        </p:txBody>
      </p:sp>
      <p:sp>
        <p:nvSpPr>
          <p:cNvPr id="31" name="Shape 29"/>
          <p:cNvSpPr/>
          <p:nvPr/>
        </p:nvSpPr>
        <p:spPr>
          <a:xfrm>
            <a:off x="9381744" y="3035808"/>
            <a:ext cx="1956816" cy="585216"/>
          </a:xfrm>
          <a:prstGeom prst="rect">
            <a:avLst/>
          </a:prstGeom>
          <a:solidFill>
            <a:srgbClr val="FDFBF5"/>
          </a:solidFill>
          <a:ln w="12700">
            <a:solidFill>
              <a:srgbClr val="E7DFD0"/>
            </a:solidFill>
            <a:prstDash val="solid"/>
          </a:ln>
        </p:spPr>
      </p:sp>
      <p:sp>
        <p:nvSpPr>
          <p:cNvPr id="32" name="Text 30"/>
          <p:cNvSpPr/>
          <p:nvPr/>
        </p:nvSpPr>
        <p:spPr>
          <a:xfrm>
            <a:off x="9418320" y="3072384"/>
            <a:ext cx="1883664" cy="512064"/>
          </a:xfrm>
          <a:prstGeom prst="rect">
            <a:avLst/>
          </a:prstGeom>
          <a:noFill/>
          <a:ln/>
        </p:spPr>
        <p:txBody>
          <a:bodyPr wrap="square" lIns="0" tIns="0" rIns="0" bIns="0" rtlCol="0" anchor="ctr">
            <a:normAutofit/>
          </a:bodyPr>
          <a:lstStyle/>
          <a:p>
            <a:pPr indent="0" marL="0">
              <a:buNone/>
            </a:pPr>
            <a:r>
              <a:rPr lang="en-US" sz="880" dirty="0">
                <a:solidFill>
                  <a:srgbClr val="24303F"/>
                </a:solidFill>
              </a:rPr>
              <a:t>Review results</a:t>
            </a:r>
            <a:endParaRPr lang="en-US" sz="880" dirty="0"/>
          </a:p>
        </p:txBody>
      </p:sp>
      <p:sp>
        <p:nvSpPr>
          <p:cNvPr id="33" name="Shape 31"/>
          <p:cNvSpPr/>
          <p:nvPr/>
        </p:nvSpPr>
        <p:spPr>
          <a:xfrm>
            <a:off x="5486400" y="3621024"/>
            <a:ext cx="1947672" cy="585216"/>
          </a:xfrm>
          <a:prstGeom prst="rect">
            <a:avLst/>
          </a:prstGeom>
          <a:solidFill>
            <a:srgbClr val="FFFFFF"/>
          </a:solidFill>
          <a:ln w="12700">
            <a:solidFill>
              <a:srgbClr val="E7DFD0"/>
            </a:solidFill>
            <a:prstDash val="solid"/>
          </a:ln>
        </p:spPr>
      </p:sp>
      <p:sp>
        <p:nvSpPr>
          <p:cNvPr id="34" name="Text 32"/>
          <p:cNvSpPr/>
          <p:nvPr/>
        </p:nvSpPr>
        <p:spPr>
          <a:xfrm>
            <a:off x="5522976" y="3657600"/>
            <a:ext cx="1874520" cy="512064"/>
          </a:xfrm>
          <a:prstGeom prst="rect">
            <a:avLst/>
          </a:prstGeom>
          <a:noFill/>
          <a:ln/>
        </p:spPr>
        <p:txBody>
          <a:bodyPr wrap="square" lIns="0" tIns="0" rIns="0" bIns="0" rtlCol="0" anchor="ctr">
            <a:normAutofit/>
          </a:bodyPr>
          <a:lstStyle/>
          <a:p>
            <a:pPr indent="0" marL="0">
              <a:buNone/>
            </a:pPr>
            <a:r>
              <a:rPr lang="en-US" sz="880" dirty="0">
                <a:solidFill>
                  <a:srgbClr val="24303F"/>
                </a:solidFill>
              </a:rPr>
              <a:t>Info email</a:t>
            </a:r>
            <a:endParaRPr lang="en-US" sz="880" dirty="0"/>
          </a:p>
        </p:txBody>
      </p:sp>
      <p:sp>
        <p:nvSpPr>
          <p:cNvPr id="35" name="Shape 33"/>
          <p:cNvSpPr/>
          <p:nvPr/>
        </p:nvSpPr>
        <p:spPr>
          <a:xfrm>
            <a:off x="7434072" y="3621024"/>
            <a:ext cx="1947672" cy="585216"/>
          </a:xfrm>
          <a:prstGeom prst="rect">
            <a:avLst/>
          </a:prstGeom>
          <a:solidFill>
            <a:srgbClr val="FFFFFF"/>
          </a:solidFill>
          <a:ln w="12700">
            <a:solidFill>
              <a:srgbClr val="E7DFD0"/>
            </a:solidFill>
            <a:prstDash val="solid"/>
          </a:ln>
        </p:spPr>
      </p:sp>
      <p:sp>
        <p:nvSpPr>
          <p:cNvPr id="36" name="Text 34"/>
          <p:cNvSpPr/>
          <p:nvPr/>
        </p:nvSpPr>
        <p:spPr>
          <a:xfrm>
            <a:off x="7470648" y="3657600"/>
            <a:ext cx="1874520" cy="512064"/>
          </a:xfrm>
          <a:prstGeom prst="rect">
            <a:avLst/>
          </a:prstGeom>
          <a:noFill/>
          <a:ln/>
        </p:spPr>
        <p:txBody>
          <a:bodyPr wrap="square" lIns="0" tIns="0" rIns="0" bIns="0" rtlCol="0" anchor="ctr">
            <a:normAutofit/>
          </a:bodyPr>
          <a:lstStyle/>
          <a:p>
            <a:pPr indent="0" marL="0">
              <a:buNone/>
            </a:pPr>
            <a:r>
              <a:rPr lang="en-US" sz="880" dirty="0">
                <a:solidFill>
                  <a:srgbClr val="24303F"/>
                </a:solidFill>
              </a:rPr>
              <a:t>Dashboard tracking</a:t>
            </a:r>
            <a:endParaRPr lang="en-US" sz="880" dirty="0"/>
          </a:p>
        </p:txBody>
      </p:sp>
      <p:sp>
        <p:nvSpPr>
          <p:cNvPr id="37" name="Shape 35"/>
          <p:cNvSpPr/>
          <p:nvPr/>
        </p:nvSpPr>
        <p:spPr>
          <a:xfrm>
            <a:off x="9381744" y="3621024"/>
            <a:ext cx="1956816" cy="585216"/>
          </a:xfrm>
          <a:prstGeom prst="rect">
            <a:avLst/>
          </a:prstGeom>
          <a:solidFill>
            <a:srgbClr val="FFFFFF"/>
          </a:solidFill>
          <a:ln w="12700">
            <a:solidFill>
              <a:srgbClr val="E7DFD0"/>
            </a:solidFill>
            <a:prstDash val="solid"/>
          </a:ln>
        </p:spPr>
      </p:sp>
      <p:sp>
        <p:nvSpPr>
          <p:cNvPr id="38" name="Text 36"/>
          <p:cNvSpPr/>
          <p:nvPr/>
        </p:nvSpPr>
        <p:spPr>
          <a:xfrm>
            <a:off x="9418320" y="3657600"/>
            <a:ext cx="1883664" cy="512064"/>
          </a:xfrm>
          <a:prstGeom prst="rect">
            <a:avLst/>
          </a:prstGeom>
          <a:noFill/>
          <a:ln/>
        </p:spPr>
        <p:txBody>
          <a:bodyPr wrap="square" lIns="0" tIns="0" rIns="0" bIns="0" rtlCol="0" anchor="ctr">
            <a:normAutofit/>
          </a:bodyPr>
          <a:lstStyle/>
          <a:p>
            <a:pPr indent="0" marL="0">
              <a:buNone/>
            </a:pPr>
            <a:r>
              <a:rPr lang="en-US" sz="880" dirty="0">
                <a:solidFill>
                  <a:srgbClr val="24303F"/>
                </a:solidFill>
              </a:rPr>
              <a:t>Next phase plan</a:t>
            </a:r>
            <a:endParaRPr lang="en-US" sz="880" dirty="0"/>
          </a:p>
        </p:txBody>
      </p:sp>
      <p:sp>
        <p:nvSpPr>
          <p:cNvPr id="39" name="Text 37"/>
          <p:cNvSpPr/>
          <p:nvPr/>
        </p:nvSpPr>
        <p:spPr>
          <a:xfrm>
            <a:off x="11384280" y="6428232"/>
            <a:ext cx="320040" cy="109728"/>
          </a:xfrm>
          <a:prstGeom prst="rect">
            <a:avLst/>
          </a:prstGeom>
          <a:noFill/>
          <a:ln/>
        </p:spPr>
        <p:txBody>
          <a:bodyPr wrap="square" lIns="0" tIns="0" rIns="0" bIns="0" rtlCol="0" anchor="ctr"/>
          <a:lstStyle/>
          <a:p>
            <a:pPr algn="r" indent="0" marL="0">
              <a:buNone/>
            </a:pPr>
            <a:r>
              <a:rPr lang="en-US" sz="700" dirty="0">
                <a:solidFill>
                  <a:srgbClr val="FFFFFF"/>
                </a:solidFill>
              </a:rPr>
              <a:t>37</a:t>
            </a:r>
            <a:endParaRPr lang="en-US" sz="7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7F3EA"/>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4213D"/>
          </a:solidFill>
          <a:ln w="12700">
            <a:solidFill>
              <a:srgbClr val="14213D">
                <a:alpha val="0"/>
              </a:srgbClr>
            </a:solidFill>
            <a:prstDash val="solid"/>
          </a:ln>
        </p:spPr>
      </p:sp>
      <p:sp>
        <p:nvSpPr>
          <p:cNvPr id="3" name="Shape 1"/>
          <p:cNvSpPr/>
          <p:nvPr/>
        </p:nvSpPr>
        <p:spPr>
          <a:xfrm>
            <a:off x="0" y="6693408"/>
            <a:ext cx="12191695" cy="164592"/>
          </a:xfrm>
          <a:prstGeom prst="rect">
            <a:avLst/>
          </a:prstGeom>
          <a:solidFill>
            <a:srgbClr val="14213D"/>
          </a:solidFill>
          <a:ln w="12700">
            <a:solidFill>
              <a:srgbClr val="14213D">
                <a:alpha val="0"/>
              </a:srgbClr>
            </a:solidFill>
            <a:prstDash val="solid"/>
          </a:ln>
        </p:spPr>
      </p:sp>
      <p:sp>
        <p:nvSpPr>
          <p:cNvPr id="4" name="Text 2"/>
          <p:cNvSpPr/>
          <p:nvPr/>
        </p:nvSpPr>
        <p:spPr>
          <a:xfrm>
            <a:off x="502920" y="256032"/>
            <a:ext cx="4480560" cy="164592"/>
          </a:xfrm>
          <a:prstGeom prst="rect">
            <a:avLst/>
          </a:prstGeom>
          <a:noFill/>
          <a:ln/>
        </p:spPr>
        <p:txBody>
          <a:bodyPr wrap="square" lIns="0" tIns="0" rIns="0" bIns="0" rtlCol="0" anchor="ctr"/>
          <a:lstStyle/>
          <a:p>
            <a:pPr indent="0" marL="0">
              <a:buNone/>
            </a:pPr>
            <a:r>
              <a:rPr lang="en-US" sz="700" b="1" dirty="0">
                <a:solidFill>
                  <a:srgbClr val="2A9D8F"/>
                </a:solidFill>
                <a:latin typeface="Aptos" pitchFamily="34" charset="0"/>
                <a:ea typeface="Aptos" pitchFamily="34" charset="-122"/>
                <a:cs typeface="Aptos" pitchFamily="34" charset="-120"/>
              </a:rPr>
              <a:t>SECTION 5</a:t>
            </a:r>
            <a:endParaRPr lang="en-US" sz="700" dirty="0"/>
          </a:p>
        </p:txBody>
      </p:sp>
      <p:sp>
        <p:nvSpPr>
          <p:cNvPr id="5" name="Text 3"/>
          <p:cNvSpPr/>
          <p:nvPr/>
        </p:nvSpPr>
        <p:spPr>
          <a:xfrm>
            <a:off x="9281160" y="219456"/>
            <a:ext cx="2423160" cy="182880"/>
          </a:xfrm>
          <a:prstGeom prst="rect">
            <a:avLst/>
          </a:prstGeom>
          <a:noFill/>
          <a:ln/>
        </p:spPr>
        <p:txBody>
          <a:bodyPr wrap="square" lIns="0" tIns="0" rIns="0" bIns="0" rtlCol="0" anchor="ctr"/>
          <a:lstStyle/>
          <a:p>
            <a:pPr algn="r" indent="0" marL="0">
              <a:buNone/>
            </a:pPr>
            <a:r>
              <a:rPr lang="en-US" sz="700" dirty="0">
                <a:solidFill>
                  <a:srgbClr val="6D7886"/>
                </a:solidFill>
              </a:rPr>
              <a:t>Jifunze.ai skill booster</a:t>
            </a:r>
            <a:endParaRPr lang="en-US" sz="700" dirty="0"/>
          </a:p>
        </p:txBody>
      </p:sp>
      <p:sp>
        <p:nvSpPr>
          <p:cNvPr id="6" name="Text 4"/>
          <p:cNvSpPr/>
          <p:nvPr/>
        </p:nvSpPr>
        <p:spPr>
          <a:xfrm>
            <a:off x="502920" y="502920"/>
            <a:ext cx="4617720" cy="475488"/>
          </a:xfrm>
          <a:prstGeom prst="rect">
            <a:avLst/>
          </a:prstGeom>
          <a:noFill/>
          <a:ln/>
        </p:spPr>
        <p:txBody>
          <a:bodyPr wrap="square" lIns="127" tIns="127" rIns="127" bIns="127" rtlCol="0" anchor="ctr">
            <a:normAutofit/>
          </a:bodyPr>
          <a:lstStyle/>
          <a:p>
            <a:pPr indent="0" marL="0">
              <a:buNone/>
            </a:pPr>
            <a:r>
              <a:rPr lang="en-US" sz="2500" b="1" dirty="0">
                <a:solidFill>
                  <a:srgbClr val="14213D"/>
                </a:solidFill>
                <a:latin typeface="Aptos Display" pitchFamily="34" charset="0"/>
                <a:ea typeface="Aptos Display" pitchFamily="34" charset="-122"/>
                <a:cs typeface="Aptos Display" pitchFamily="34" charset="-120"/>
              </a:rPr>
              <a:t>Executive recommendation for BrightPath</a:t>
            </a:r>
            <a:endParaRPr lang="en-US" sz="2500" dirty="0"/>
          </a:p>
        </p:txBody>
      </p:sp>
      <p:sp>
        <p:nvSpPr>
          <p:cNvPr id="7" name="Text 5"/>
          <p:cNvSpPr/>
          <p:nvPr/>
        </p:nvSpPr>
        <p:spPr>
          <a:xfrm>
            <a:off x="521208" y="1005840"/>
            <a:ext cx="4617720" cy="228600"/>
          </a:xfrm>
          <a:prstGeom prst="rect">
            <a:avLst/>
          </a:prstGeom>
          <a:noFill/>
          <a:ln/>
        </p:spPr>
        <p:txBody>
          <a:bodyPr wrap="square" lIns="0" tIns="0" rIns="0" bIns="0" rtlCol="0" anchor="ctr">
            <a:normAutofit/>
          </a:bodyPr>
          <a:lstStyle/>
          <a:p>
            <a:pPr indent="0" marL="0">
              <a:buNone/>
            </a:pPr>
            <a:r>
              <a:rPr lang="en-US" sz="1080" dirty="0">
                <a:solidFill>
                  <a:srgbClr val="24303F"/>
                </a:solidFill>
              </a:rPr>
              <a:t>Clear recommendation based on value, risk, and readiness</a:t>
            </a:r>
            <a:endParaRPr lang="en-US" sz="1080" dirty="0"/>
          </a:p>
        </p:txBody>
      </p:sp>
      <p:sp>
        <p:nvSpPr>
          <p:cNvPr id="8" name="Text 6"/>
          <p:cNvSpPr/>
          <p:nvPr/>
        </p:nvSpPr>
        <p:spPr>
          <a:xfrm>
            <a:off x="594360" y="1417320"/>
            <a:ext cx="4617720" cy="4343400"/>
          </a:xfrm>
          <a:prstGeom prst="rect">
            <a:avLst/>
          </a:prstGeom>
          <a:noFill/>
          <a:ln/>
        </p:spPr>
        <p:txBody>
          <a:bodyPr wrap="square" lIns="635" tIns="635" rIns="635" bIns="635" rtlCol="0" anchor="ctr">
            <a:normAutofit/>
          </a:bodyPr>
          <a:lstStyle/>
          <a:p>
            <a:r>
              <a:rPr lang="en-US" sz="1450" dirty="0">
                <a:solidFill>
                  <a:srgbClr val="24303F"/>
                </a:solidFill>
              </a:rPr>
              <a:t>• Begin with structured enquiry/registration intake</a:t>
            </a:r>
            <a:endParaRPr lang="en-US" sz="1450" dirty="0"/>
          </a:p>
          <a:p>
            <a:r>
              <a:rPr lang="en-US" sz="1450" dirty="0">
                <a:solidFill>
                  <a:srgbClr val="24303F"/>
                </a:solidFill>
              </a:rPr>
              <a:t>• Automate course information emails</a:t>
            </a:r>
            <a:endParaRPr lang="en-US" sz="1450" dirty="0"/>
          </a:p>
          <a:p>
            <a:r>
              <a:rPr lang="en-US" sz="1450" dirty="0">
                <a:solidFill>
                  <a:srgbClr val="24303F"/>
                </a:solidFill>
              </a:rPr>
              <a:t>• Automate class reminders</a:t>
            </a:r>
            <a:endParaRPr lang="en-US" sz="1450" dirty="0"/>
          </a:p>
          <a:p>
            <a:r>
              <a:rPr lang="en-US" sz="1450" dirty="0">
                <a:solidFill>
                  <a:srgbClr val="24303F"/>
                </a:solidFill>
              </a:rPr>
              <a:t>• Follow soon with certificate template automation after attendance data is cleaner</a:t>
            </a:r>
            <a:endParaRPr lang="en-US" sz="1450" dirty="0"/>
          </a:p>
          <a:p>
            <a:r>
              <a:rPr lang="en-US" sz="1450" dirty="0">
                <a:solidFill>
                  <a:srgbClr val="24303F"/>
                </a:solidFill>
              </a:rPr>
              <a:t>• Use controls for payment, privacy, exceptions, and audit trail</a:t>
            </a:r>
            <a:endParaRPr lang="en-US" sz="1450" dirty="0"/>
          </a:p>
        </p:txBody>
      </p:sp>
      <p:sp>
        <p:nvSpPr>
          <p:cNvPr id="9" name="Shape 7"/>
          <p:cNvSpPr/>
          <p:nvPr/>
        </p:nvSpPr>
        <p:spPr>
          <a:xfrm>
            <a:off x="5532120" y="1143000"/>
            <a:ext cx="5440680" cy="411480"/>
          </a:xfrm>
          <a:prstGeom prst="roundRect">
            <a:avLst>
              <a:gd name="adj" fmla="val 17778"/>
            </a:avLst>
          </a:prstGeom>
          <a:solidFill>
            <a:srgbClr val="14213D"/>
          </a:solidFill>
          <a:ln w="12700">
            <a:solidFill>
              <a:srgbClr val="14213D"/>
            </a:solidFill>
            <a:prstDash val="solid"/>
          </a:ln>
        </p:spPr>
      </p:sp>
      <p:sp>
        <p:nvSpPr>
          <p:cNvPr id="10" name="Text 8"/>
          <p:cNvSpPr/>
          <p:nvPr/>
        </p:nvSpPr>
        <p:spPr>
          <a:xfrm>
            <a:off x="5641848" y="1234440"/>
            <a:ext cx="5221224" cy="246888"/>
          </a:xfrm>
          <a:prstGeom prst="rect">
            <a:avLst/>
          </a:prstGeom>
          <a:noFill/>
          <a:ln/>
        </p:spPr>
        <p:txBody>
          <a:bodyPr wrap="square" lIns="127" tIns="127" rIns="127" bIns="127" rtlCol="0" anchor="ctr">
            <a:normAutofit/>
          </a:bodyPr>
          <a:lstStyle/>
          <a:p>
            <a:pPr indent="0" marL="0">
              <a:buNone/>
            </a:pPr>
            <a:r>
              <a:rPr lang="en-US" sz="1500" b="1" dirty="0">
                <a:solidFill>
                  <a:srgbClr val="24303F"/>
                </a:solidFill>
              </a:rPr>
              <a:t>Recommendation</a:t>
            </a:r>
            <a:endParaRPr lang="en-US" sz="1500" dirty="0"/>
          </a:p>
        </p:txBody>
      </p:sp>
      <p:sp>
        <p:nvSpPr>
          <p:cNvPr id="11" name="Shape 9"/>
          <p:cNvSpPr/>
          <p:nvPr/>
        </p:nvSpPr>
        <p:spPr>
          <a:xfrm>
            <a:off x="5577840" y="1783080"/>
            <a:ext cx="5303520" cy="2057400"/>
          </a:xfrm>
          <a:prstGeom prst="roundRect">
            <a:avLst>
              <a:gd name="adj" fmla="val 3556"/>
            </a:avLst>
          </a:prstGeom>
          <a:solidFill>
            <a:srgbClr val="FFFFFF"/>
          </a:solidFill>
          <a:ln w="12700">
            <a:solidFill>
              <a:srgbClr val="C9A44C"/>
            </a:solidFill>
            <a:prstDash val="solid"/>
          </a:ln>
        </p:spPr>
      </p:sp>
      <p:sp>
        <p:nvSpPr>
          <p:cNvPr id="12" name="Text 10"/>
          <p:cNvSpPr/>
          <p:nvPr/>
        </p:nvSpPr>
        <p:spPr>
          <a:xfrm>
            <a:off x="5687568" y="1874520"/>
            <a:ext cx="5084064" cy="1892808"/>
          </a:xfrm>
          <a:prstGeom prst="rect">
            <a:avLst/>
          </a:prstGeom>
          <a:noFill/>
          <a:ln/>
        </p:spPr>
        <p:txBody>
          <a:bodyPr wrap="square" lIns="127" tIns="127" rIns="127" bIns="127" rtlCol="0" anchor="ctr">
            <a:normAutofit/>
          </a:bodyPr>
          <a:lstStyle/>
          <a:p>
            <a:pPr indent="0" marL="0">
              <a:buNone/>
            </a:pPr>
            <a:r>
              <a:rPr lang="en-US" sz="1500" b="1" dirty="0">
                <a:solidFill>
                  <a:srgbClr val="24303F"/>
                </a:solidFill>
              </a:rPr>
              <a:t>Start with high-volume, low-risk workflows that reduce admin time, improve learner follow-up, and create cleaner data for later automation. Certificate automation should follow soon because late certificates hurt learner experience, but it needs better attendance and completion data first.</a:t>
            </a:r>
            <a:endParaRPr lang="en-US" sz="1500" dirty="0"/>
          </a:p>
        </p:txBody>
      </p:sp>
      <p:sp>
        <p:nvSpPr>
          <p:cNvPr id="13" name="Text 11"/>
          <p:cNvSpPr/>
          <p:nvPr/>
        </p:nvSpPr>
        <p:spPr>
          <a:xfrm>
            <a:off x="11384280" y="6428232"/>
            <a:ext cx="320040" cy="109728"/>
          </a:xfrm>
          <a:prstGeom prst="rect">
            <a:avLst/>
          </a:prstGeom>
          <a:noFill/>
          <a:ln/>
        </p:spPr>
        <p:txBody>
          <a:bodyPr wrap="square" lIns="0" tIns="0" rIns="0" bIns="0" rtlCol="0" anchor="ctr"/>
          <a:lstStyle/>
          <a:p>
            <a:pPr algn="r" indent="0" marL="0">
              <a:buNone/>
            </a:pPr>
            <a:r>
              <a:rPr lang="en-US" sz="700" dirty="0">
                <a:solidFill>
                  <a:srgbClr val="FFFFFF"/>
                </a:solidFill>
              </a:rPr>
              <a:t>38</a:t>
            </a:r>
            <a:endParaRPr lang="en-US" sz="7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7F3EA"/>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4213D"/>
          </a:solidFill>
          <a:ln w="12700">
            <a:solidFill>
              <a:srgbClr val="14213D">
                <a:alpha val="0"/>
              </a:srgbClr>
            </a:solidFill>
            <a:prstDash val="solid"/>
          </a:ln>
        </p:spPr>
      </p:sp>
      <p:sp>
        <p:nvSpPr>
          <p:cNvPr id="3" name="Shape 1"/>
          <p:cNvSpPr/>
          <p:nvPr/>
        </p:nvSpPr>
        <p:spPr>
          <a:xfrm>
            <a:off x="0" y="6693408"/>
            <a:ext cx="12191695" cy="164592"/>
          </a:xfrm>
          <a:prstGeom prst="rect">
            <a:avLst/>
          </a:prstGeom>
          <a:solidFill>
            <a:srgbClr val="14213D"/>
          </a:solidFill>
          <a:ln w="12700">
            <a:solidFill>
              <a:srgbClr val="14213D">
                <a:alpha val="0"/>
              </a:srgbClr>
            </a:solidFill>
            <a:prstDash val="solid"/>
          </a:ln>
        </p:spPr>
      </p:sp>
      <p:sp>
        <p:nvSpPr>
          <p:cNvPr id="4" name="Text 2"/>
          <p:cNvSpPr/>
          <p:nvPr/>
        </p:nvSpPr>
        <p:spPr>
          <a:xfrm>
            <a:off x="502920" y="256032"/>
            <a:ext cx="4480560" cy="164592"/>
          </a:xfrm>
          <a:prstGeom prst="rect">
            <a:avLst/>
          </a:prstGeom>
          <a:noFill/>
          <a:ln/>
        </p:spPr>
        <p:txBody>
          <a:bodyPr wrap="square" lIns="0" tIns="0" rIns="0" bIns="0" rtlCol="0" anchor="ctr"/>
          <a:lstStyle/>
          <a:p>
            <a:pPr indent="0" marL="0">
              <a:buNone/>
            </a:pPr>
            <a:r>
              <a:rPr lang="en-US" sz="700" b="1" dirty="0">
                <a:solidFill>
                  <a:srgbClr val="2A9D8F"/>
                </a:solidFill>
                <a:latin typeface="Aptos" pitchFamily="34" charset="0"/>
                <a:ea typeface="Aptos" pitchFamily="34" charset="-122"/>
                <a:cs typeface="Aptos" pitchFamily="34" charset="-120"/>
              </a:rPr>
              <a:t>SECTION 5</a:t>
            </a:r>
            <a:endParaRPr lang="en-US" sz="700" dirty="0"/>
          </a:p>
        </p:txBody>
      </p:sp>
      <p:sp>
        <p:nvSpPr>
          <p:cNvPr id="5" name="Text 3"/>
          <p:cNvSpPr/>
          <p:nvPr/>
        </p:nvSpPr>
        <p:spPr>
          <a:xfrm>
            <a:off x="9281160" y="219456"/>
            <a:ext cx="2423160" cy="182880"/>
          </a:xfrm>
          <a:prstGeom prst="rect">
            <a:avLst/>
          </a:prstGeom>
          <a:noFill/>
          <a:ln/>
        </p:spPr>
        <p:txBody>
          <a:bodyPr wrap="square" lIns="0" tIns="0" rIns="0" bIns="0" rtlCol="0" anchor="ctr"/>
          <a:lstStyle/>
          <a:p>
            <a:pPr algn="r" indent="0" marL="0">
              <a:buNone/>
            </a:pPr>
            <a:r>
              <a:rPr lang="en-US" sz="700" dirty="0">
                <a:solidFill>
                  <a:srgbClr val="6D7886"/>
                </a:solidFill>
              </a:rPr>
              <a:t>Jifunze.ai skill booster</a:t>
            </a:r>
            <a:endParaRPr lang="en-US" sz="700" dirty="0"/>
          </a:p>
        </p:txBody>
      </p:sp>
      <p:sp>
        <p:nvSpPr>
          <p:cNvPr id="6" name="Text 4"/>
          <p:cNvSpPr/>
          <p:nvPr/>
        </p:nvSpPr>
        <p:spPr>
          <a:xfrm>
            <a:off x="502920" y="502920"/>
            <a:ext cx="4617720" cy="475488"/>
          </a:xfrm>
          <a:prstGeom prst="rect">
            <a:avLst/>
          </a:prstGeom>
          <a:noFill/>
          <a:ln/>
        </p:spPr>
        <p:txBody>
          <a:bodyPr wrap="square" lIns="127" tIns="127" rIns="127" bIns="127" rtlCol="0" anchor="ctr">
            <a:normAutofit/>
          </a:bodyPr>
          <a:lstStyle/>
          <a:p>
            <a:pPr indent="0" marL="0">
              <a:buNone/>
            </a:pPr>
            <a:r>
              <a:rPr lang="en-US" sz="2500" b="1" dirty="0">
                <a:solidFill>
                  <a:srgbClr val="14213D"/>
                </a:solidFill>
                <a:latin typeface="Aptos Display" pitchFamily="34" charset="0"/>
                <a:ea typeface="Aptos Display" pitchFamily="34" charset="-122"/>
                <a:cs typeface="Aptos Display" pitchFamily="34" charset="-120"/>
              </a:rPr>
              <a:t>Learner practice: redesign a manual workflow</a:t>
            </a:r>
            <a:endParaRPr lang="en-US" sz="2500" dirty="0"/>
          </a:p>
        </p:txBody>
      </p:sp>
      <p:sp>
        <p:nvSpPr>
          <p:cNvPr id="7" name="Text 5"/>
          <p:cNvSpPr/>
          <p:nvPr/>
        </p:nvSpPr>
        <p:spPr>
          <a:xfrm>
            <a:off x="521208" y="1005840"/>
            <a:ext cx="4617720" cy="228600"/>
          </a:xfrm>
          <a:prstGeom prst="rect">
            <a:avLst/>
          </a:prstGeom>
          <a:noFill/>
          <a:ln/>
        </p:spPr>
        <p:txBody>
          <a:bodyPr wrap="square" lIns="0" tIns="0" rIns="0" bIns="0" rtlCol="0" anchor="ctr">
            <a:normAutofit/>
          </a:bodyPr>
          <a:lstStyle/>
          <a:p>
            <a:pPr indent="0" marL="0">
              <a:buNone/>
            </a:pPr>
            <a:r>
              <a:rPr lang="en-US" sz="1080" dirty="0">
                <a:solidFill>
                  <a:srgbClr val="24303F"/>
                </a:solidFill>
              </a:rPr>
              <a:t>Apply the method to a small training center</a:t>
            </a:r>
            <a:endParaRPr lang="en-US" sz="1080" dirty="0"/>
          </a:p>
        </p:txBody>
      </p:sp>
      <p:sp>
        <p:nvSpPr>
          <p:cNvPr id="8" name="Text 6"/>
          <p:cNvSpPr/>
          <p:nvPr/>
        </p:nvSpPr>
        <p:spPr>
          <a:xfrm>
            <a:off x="594360" y="1417320"/>
            <a:ext cx="4617720" cy="4343400"/>
          </a:xfrm>
          <a:prstGeom prst="rect">
            <a:avLst/>
          </a:prstGeom>
          <a:noFill/>
          <a:ln/>
        </p:spPr>
        <p:txBody>
          <a:bodyPr wrap="square" lIns="635" tIns="635" rIns="635" bIns="635" rtlCol="0" anchor="ctr">
            <a:normAutofit/>
          </a:bodyPr>
          <a:lstStyle/>
          <a:p>
            <a:r>
              <a:rPr lang="en-US" sz="1450" dirty="0">
                <a:solidFill>
                  <a:srgbClr val="24303F"/>
                </a:solidFill>
              </a:rPr>
              <a:t>• Use monthly volume and time per task</a:t>
            </a:r>
            <a:endParaRPr lang="en-US" sz="1450" dirty="0"/>
          </a:p>
          <a:p>
            <a:r>
              <a:rPr lang="en-US" sz="1450" dirty="0">
                <a:solidFill>
                  <a:srgbClr val="24303F"/>
                </a:solidFill>
              </a:rPr>
              <a:t>• Consider error/delay rate and learner impact</a:t>
            </a:r>
            <a:endParaRPr lang="en-US" sz="1450" dirty="0"/>
          </a:p>
          <a:p>
            <a:r>
              <a:rPr lang="en-US" sz="1450" dirty="0">
                <a:solidFill>
                  <a:srgbClr val="24303F"/>
                </a:solidFill>
              </a:rPr>
              <a:t>• Assess risk and implementation effort</a:t>
            </a:r>
            <a:endParaRPr lang="en-US" sz="1450" dirty="0"/>
          </a:p>
          <a:p>
            <a:r>
              <a:rPr lang="en-US" sz="1450" dirty="0">
                <a:solidFill>
                  <a:srgbClr val="24303F"/>
                </a:solidFill>
              </a:rPr>
              <a:t>• Pick the best first automation opportunity</a:t>
            </a:r>
            <a:endParaRPr lang="en-US" sz="1450" dirty="0"/>
          </a:p>
          <a:p>
            <a:r>
              <a:rPr lang="en-US" sz="1450" dirty="0">
                <a:solidFill>
                  <a:srgbClr val="24303F"/>
                </a:solidFill>
              </a:rPr>
              <a:t>• Write a 30-day starting plan</a:t>
            </a:r>
            <a:endParaRPr lang="en-US" sz="1450" dirty="0"/>
          </a:p>
        </p:txBody>
      </p:sp>
      <p:sp>
        <p:nvSpPr>
          <p:cNvPr id="9" name="Shape 7"/>
          <p:cNvSpPr/>
          <p:nvPr/>
        </p:nvSpPr>
        <p:spPr>
          <a:xfrm>
            <a:off x="5623560" y="1280160"/>
            <a:ext cx="2286000" cy="566928"/>
          </a:xfrm>
          <a:prstGeom prst="rect">
            <a:avLst/>
          </a:prstGeom>
          <a:solidFill>
            <a:srgbClr val="14213D"/>
          </a:solidFill>
          <a:ln w="12700">
            <a:solidFill>
              <a:srgbClr val="FFFFFF"/>
            </a:solidFill>
            <a:prstDash val="solid"/>
          </a:ln>
        </p:spPr>
      </p:sp>
      <p:sp>
        <p:nvSpPr>
          <p:cNvPr id="10" name="Text 8"/>
          <p:cNvSpPr/>
          <p:nvPr/>
        </p:nvSpPr>
        <p:spPr>
          <a:xfrm>
            <a:off x="5660136" y="1325880"/>
            <a:ext cx="2212848" cy="493776"/>
          </a:xfrm>
          <a:prstGeom prst="rect">
            <a:avLst/>
          </a:prstGeom>
          <a:noFill/>
          <a:ln/>
        </p:spPr>
        <p:txBody>
          <a:bodyPr wrap="square" lIns="0" tIns="0" rIns="0" bIns="0" rtlCol="0" anchor="ctr">
            <a:normAutofit/>
          </a:bodyPr>
          <a:lstStyle/>
          <a:p>
            <a:pPr indent="0" marL="0">
              <a:buNone/>
            </a:pPr>
            <a:r>
              <a:rPr lang="en-US" sz="1000" b="1" dirty="0">
                <a:solidFill>
                  <a:srgbClr val="FFFFFF"/>
                </a:solidFill>
              </a:rPr>
              <a:t>Practice question</a:t>
            </a:r>
            <a:endParaRPr lang="en-US" sz="1000" dirty="0"/>
          </a:p>
        </p:txBody>
      </p:sp>
      <p:sp>
        <p:nvSpPr>
          <p:cNvPr id="11" name="Shape 9"/>
          <p:cNvSpPr/>
          <p:nvPr/>
        </p:nvSpPr>
        <p:spPr>
          <a:xfrm>
            <a:off x="7909560" y="1280160"/>
            <a:ext cx="3017520" cy="566928"/>
          </a:xfrm>
          <a:prstGeom prst="rect">
            <a:avLst/>
          </a:prstGeom>
          <a:solidFill>
            <a:srgbClr val="14213D"/>
          </a:solidFill>
          <a:ln w="12700">
            <a:solidFill>
              <a:srgbClr val="FFFFFF"/>
            </a:solidFill>
            <a:prstDash val="solid"/>
          </a:ln>
        </p:spPr>
      </p:sp>
      <p:sp>
        <p:nvSpPr>
          <p:cNvPr id="12" name="Text 10"/>
          <p:cNvSpPr/>
          <p:nvPr/>
        </p:nvSpPr>
        <p:spPr>
          <a:xfrm>
            <a:off x="7946136" y="1325880"/>
            <a:ext cx="2944368" cy="493776"/>
          </a:xfrm>
          <a:prstGeom prst="rect">
            <a:avLst/>
          </a:prstGeom>
          <a:noFill/>
          <a:ln/>
        </p:spPr>
        <p:txBody>
          <a:bodyPr wrap="square" lIns="0" tIns="0" rIns="0" bIns="0" rtlCol="0" anchor="ctr">
            <a:normAutofit/>
          </a:bodyPr>
          <a:lstStyle/>
          <a:p>
            <a:pPr indent="0" marL="0">
              <a:buNone/>
            </a:pPr>
            <a:r>
              <a:rPr lang="en-US" sz="1000" b="1" dirty="0">
                <a:solidFill>
                  <a:srgbClr val="FFFFFF"/>
                </a:solidFill>
              </a:rPr>
              <a:t>Expected answer focus</a:t>
            </a:r>
            <a:endParaRPr lang="en-US" sz="1000" dirty="0"/>
          </a:p>
        </p:txBody>
      </p:sp>
      <p:sp>
        <p:nvSpPr>
          <p:cNvPr id="13" name="Shape 11"/>
          <p:cNvSpPr/>
          <p:nvPr/>
        </p:nvSpPr>
        <p:spPr>
          <a:xfrm>
            <a:off x="5623560" y="1847088"/>
            <a:ext cx="2286000" cy="566928"/>
          </a:xfrm>
          <a:prstGeom prst="rect">
            <a:avLst/>
          </a:prstGeom>
          <a:solidFill>
            <a:srgbClr val="FDFBF5"/>
          </a:solidFill>
          <a:ln w="12700">
            <a:solidFill>
              <a:srgbClr val="E7DFD0"/>
            </a:solidFill>
            <a:prstDash val="solid"/>
          </a:ln>
        </p:spPr>
      </p:sp>
      <p:sp>
        <p:nvSpPr>
          <p:cNvPr id="14" name="Text 12"/>
          <p:cNvSpPr/>
          <p:nvPr/>
        </p:nvSpPr>
        <p:spPr>
          <a:xfrm>
            <a:off x="5660136" y="1883664"/>
            <a:ext cx="2212848" cy="493776"/>
          </a:xfrm>
          <a:prstGeom prst="rect">
            <a:avLst/>
          </a:prstGeom>
          <a:noFill/>
          <a:ln/>
        </p:spPr>
        <p:txBody>
          <a:bodyPr wrap="square" lIns="0" tIns="0" rIns="0" bIns="0" rtlCol="0" anchor="ctr">
            <a:normAutofit/>
          </a:bodyPr>
          <a:lstStyle/>
          <a:p>
            <a:pPr indent="0" marL="0">
              <a:buNone/>
            </a:pPr>
            <a:r>
              <a:rPr lang="en-US" sz="950" dirty="0">
                <a:solidFill>
                  <a:srgbClr val="24303F"/>
                </a:solidFill>
              </a:rPr>
              <a:t>Best first automation?</a:t>
            </a:r>
            <a:endParaRPr lang="en-US" sz="950" dirty="0"/>
          </a:p>
        </p:txBody>
      </p:sp>
      <p:sp>
        <p:nvSpPr>
          <p:cNvPr id="15" name="Shape 13"/>
          <p:cNvSpPr/>
          <p:nvPr/>
        </p:nvSpPr>
        <p:spPr>
          <a:xfrm>
            <a:off x="7909560" y="1847088"/>
            <a:ext cx="3017520" cy="566928"/>
          </a:xfrm>
          <a:prstGeom prst="rect">
            <a:avLst/>
          </a:prstGeom>
          <a:solidFill>
            <a:srgbClr val="FDFBF5"/>
          </a:solidFill>
          <a:ln w="12700">
            <a:solidFill>
              <a:srgbClr val="E7DFD0"/>
            </a:solidFill>
            <a:prstDash val="solid"/>
          </a:ln>
        </p:spPr>
      </p:sp>
      <p:sp>
        <p:nvSpPr>
          <p:cNvPr id="16" name="Text 14"/>
          <p:cNvSpPr/>
          <p:nvPr/>
        </p:nvSpPr>
        <p:spPr>
          <a:xfrm>
            <a:off x="7946136" y="1883664"/>
            <a:ext cx="2944368" cy="493776"/>
          </a:xfrm>
          <a:prstGeom prst="rect">
            <a:avLst/>
          </a:prstGeom>
          <a:noFill/>
          <a:ln/>
        </p:spPr>
        <p:txBody>
          <a:bodyPr wrap="square" lIns="0" tIns="0" rIns="0" bIns="0" rtlCol="0" anchor="ctr">
            <a:normAutofit/>
          </a:bodyPr>
          <a:lstStyle/>
          <a:p>
            <a:pPr indent="0" marL="0">
              <a:buNone/>
            </a:pPr>
            <a:r>
              <a:rPr lang="en-US" sz="950" dirty="0">
                <a:solidFill>
                  <a:srgbClr val="24303F"/>
                </a:solidFill>
              </a:rPr>
              <a:t>Course info email + structured intake</a:t>
            </a:r>
            <a:endParaRPr lang="en-US" sz="950" dirty="0"/>
          </a:p>
        </p:txBody>
      </p:sp>
      <p:sp>
        <p:nvSpPr>
          <p:cNvPr id="17" name="Shape 15"/>
          <p:cNvSpPr/>
          <p:nvPr/>
        </p:nvSpPr>
        <p:spPr>
          <a:xfrm>
            <a:off x="5623560" y="2414016"/>
            <a:ext cx="2286000" cy="566928"/>
          </a:xfrm>
          <a:prstGeom prst="rect">
            <a:avLst/>
          </a:prstGeom>
          <a:solidFill>
            <a:srgbClr val="FFFFFF"/>
          </a:solidFill>
          <a:ln w="12700">
            <a:solidFill>
              <a:srgbClr val="E7DFD0"/>
            </a:solidFill>
            <a:prstDash val="solid"/>
          </a:ln>
        </p:spPr>
      </p:sp>
      <p:sp>
        <p:nvSpPr>
          <p:cNvPr id="18" name="Text 16"/>
          <p:cNvSpPr/>
          <p:nvPr/>
        </p:nvSpPr>
        <p:spPr>
          <a:xfrm>
            <a:off x="5660136" y="2450592"/>
            <a:ext cx="2212848" cy="493776"/>
          </a:xfrm>
          <a:prstGeom prst="rect">
            <a:avLst/>
          </a:prstGeom>
          <a:noFill/>
          <a:ln/>
        </p:spPr>
        <p:txBody>
          <a:bodyPr wrap="square" lIns="0" tIns="0" rIns="0" bIns="0" rtlCol="0" anchor="ctr">
            <a:normAutofit/>
          </a:bodyPr>
          <a:lstStyle/>
          <a:p>
            <a:pPr indent="0" marL="0">
              <a:buNone/>
            </a:pPr>
            <a:r>
              <a:rPr lang="en-US" sz="950" dirty="0">
                <a:solidFill>
                  <a:srgbClr val="24303F"/>
                </a:solidFill>
              </a:rPr>
              <a:t>Why?</a:t>
            </a:r>
            <a:endParaRPr lang="en-US" sz="950" dirty="0"/>
          </a:p>
        </p:txBody>
      </p:sp>
      <p:sp>
        <p:nvSpPr>
          <p:cNvPr id="19" name="Shape 17"/>
          <p:cNvSpPr/>
          <p:nvPr/>
        </p:nvSpPr>
        <p:spPr>
          <a:xfrm>
            <a:off x="7909560" y="2414016"/>
            <a:ext cx="3017520" cy="566928"/>
          </a:xfrm>
          <a:prstGeom prst="rect">
            <a:avLst/>
          </a:prstGeom>
          <a:solidFill>
            <a:srgbClr val="FFFFFF"/>
          </a:solidFill>
          <a:ln w="12700">
            <a:solidFill>
              <a:srgbClr val="E7DFD0"/>
            </a:solidFill>
            <a:prstDash val="solid"/>
          </a:ln>
        </p:spPr>
      </p:sp>
      <p:sp>
        <p:nvSpPr>
          <p:cNvPr id="20" name="Text 18"/>
          <p:cNvSpPr/>
          <p:nvPr/>
        </p:nvSpPr>
        <p:spPr>
          <a:xfrm>
            <a:off x="7946136" y="2450592"/>
            <a:ext cx="2944368" cy="493776"/>
          </a:xfrm>
          <a:prstGeom prst="rect">
            <a:avLst/>
          </a:prstGeom>
          <a:noFill/>
          <a:ln/>
        </p:spPr>
        <p:txBody>
          <a:bodyPr wrap="square" lIns="0" tIns="0" rIns="0" bIns="0" rtlCol="0" anchor="ctr">
            <a:normAutofit/>
          </a:bodyPr>
          <a:lstStyle/>
          <a:p>
            <a:pPr indent="0" marL="0">
              <a:buNone/>
            </a:pPr>
            <a:r>
              <a:rPr lang="en-US" sz="950" dirty="0">
                <a:solidFill>
                  <a:srgbClr val="24303F"/>
                </a:solidFill>
              </a:rPr>
              <a:t>High volume, low risk, clean data</a:t>
            </a:r>
            <a:endParaRPr lang="en-US" sz="950" dirty="0"/>
          </a:p>
        </p:txBody>
      </p:sp>
      <p:sp>
        <p:nvSpPr>
          <p:cNvPr id="21" name="Shape 19"/>
          <p:cNvSpPr/>
          <p:nvPr/>
        </p:nvSpPr>
        <p:spPr>
          <a:xfrm>
            <a:off x="5623560" y="2980944"/>
            <a:ext cx="2286000" cy="566928"/>
          </a:xfrm>
          <a:prstGeom prst="rect">
            <a:avLst/>
          </a:prstGeom>
          <a:solidFill>
            <a:srgbClr val="FDFBF5"/>
          </a:solidFill>
          <a:ln w="12700">
            <a:solidFill>
              <a:srgbClr val="E7DFD0"/>
            </a:solidFill>
            <a:prstDash val="solid"/>
          </a:ln>
        </p:spPr>
      </p:sp>
      <p:sp>
        <p:nvSpPr>
          <p:cNvPr id="22" name="Text 20"/>
          <p:cNvSpPr/>
          <p:nvPr/>
        </p:nvSpPr>
        <p:spPr>
          <a:xfrm>
            <a:off x="5660136" y="3017520"/>
            <a:ext cx="2212848" cy="493776"/>
          </a:xfrm>
          <a:prstGeom prst="rect">
            <a:avLst/>
          </a:prstGeom>
          <a:noFill/>
          <a:ln/>
        </p:spPr>
        <p:txBody>
          <a:bodyPr wrap="square" lIns="0" tIns="0" rIns="0" bIns="0" rtlCol="0" anchor="ctr">
            <a:normAutofit/>
          </a:bodyPr>
          <a:lstStyle/>
          <a:p>
            <a:pPr indent="0" marL="0">
              <a:buNone/>
            </a:pPr>
            <a:r>
              <a:rPr lang="en-US" sz="950" dirty="0">
                <a:solidFill>
                  <a:srgbClr val="24303F"/>
                </a:solidFill>
              </a:rPr>
              <a:t>What control?</a:t>
            </a:r>
            <a:endParaRPr lang="en-US" sz="950" dirty="0"/>
          </a:p>
        </p:txBody>
      </p:sp>
      <p:sp>
        <p:nvSpPr>
          <p:cNvPr id="23" name="Shape 21"/>
          <p:cNvSpPr/>
          <p:nvPr/>
        </p:nvSpPr>
        <p:spPr>
          <a:xfrm>
            <a:off x="7909560" y="2980944"/>
            <a:ext cx="3017520" cy="566928"/>
          </a:xfrm>
          <a:prstGeom prst="rect">
            <a:avLst/>
          </a:prstGeom>
          <a:solidFill>
            <a:srgbClr val="FDFBF5"/>
          </a:solidFill>
          <a:ln w="12700">
            <a:solidFill>
              <a:srgbClr val="E7DFD0"/>
            </a:solidFill>
            <a:prstDash val="solid"/>
          </a:ln>
        </p:spPr>
      </p:sp>
      <p:sp>
        <p:nvSpPr>
          <p:cNvPr id="24" name="Text 22"/>
          <p:cNvSpPr/>
          <p:nvPr/>
        </p:nvSpPr>
        <p:spPr>
          <a:xfrm>
            <a:off x="7946136" y="3017520"/>
            <a:ext cx="2944368" cy="493776"/>
          </a:xfrm>
          <a:prstGeom prst="rect">
            <a:avLst/>
          </a:prstGeom>
          <a:noFill/>
          <a:ln/>
        </p:spPr>
        <p:txBody>
          <a:bodyPr wrap="square" lIns="0" tIns="0" rIns="0" bIns="0" rtlCol="0" anchor="ctr">
            <a:normAutofit/>
          </a:bodyPr>
          <a:lstStyle/>
          <a:p>
            <a:pPr indent="0" marL="0">
              <a:buNone/>
            </a:pPr>
            <a:r>
              <a:rPr lang="en-US" sz="950" dirty="0">
                <a:solidFill>
                  <a:srgbClr val="24303F"/>
                </a:solidFill>
              </a:rPr>
              <a:t>Human review for exceptions</a:t>
            </a:r>
            <a:endParaRPr lang="en-US" sz="950" dirty="0"/>
          </a:p>
        </p:txBody>
      </p:sp>
      <p:sp>
        <p:nvSpPr>
          <p:cNvPr id="25" name="Shape 23"/>
          <p:cNvSpPr/>
          <p:nvPr/>
        </p:nvSpPr>
        <p:spPr>
          <a:xfrm>
            <a:off x="5623560" y="3547872"/>
            <a:ext cx="2286000" cy="566928"/>
          </a:xfrm>
          <a:prstGeom prst="rect">
            <a:avLst/>
          </a:prstGeom>
          <a:solidFill>
            <a:srgbClr val="FFFFFF"/>
          </a:solidFill>
          <a:ln w="12700">
            <a:solidFill>
              <a:srgbClr val="E7DFD0"/>
            </a:solidFill>
            <a:prstDash val="solid"/>
          </a:ln>
        </p:spPr>
      </p:sp>
      <p:sp>
        <p:nvSpPr>
          <p:cNvPr id="26" name="Text 24"/>
          <p:cNvSpPr/>
          <p:nvPr/>
        </p:nvSpPr>
        <p:spPr>
          <a:xfrm>
            <a:off x="5660136" y="3584448"/>
            <a:ext cx="2212848" cy="493776"/>
          </a:xfrm>
          <a:prstGeom prst="rect">
            <a:avLst/>
          </a:prstGeom>
          <a:noFill/>
          <a:ln/>
        </p:spPr>
        <p:txBody>
          <a:bodyPr wrap="square" lIns="0" tIns="0" rIns="0" bIns="0" rtlCol="0" anchor="ctr">
            <a:normAutofit/>
          </a:bodyPr>
          <a:lstStyle/>
          <a:p>
            <a:pPr indent="0" marL="0">
              <a:buNone/>
            </a:pPr>
            <a:r>
              <a:rPr lang="en-US" sz="950" dirty="0">
                <a:solidFill>
                  <a:srgbClr val="24303F"/>
                </a:solidFill>
              </a:rPr>
              <a:t>30-day plan?</a:t>
            </a:r>
            <a:endParaRPr lang="en-US" sz="950" dirty="0"/>
          </a:p>
        </p:txBody>
      </p:sp>
      <p:sp>
        <p:nvSpPr>
          <p:cNvPr id="27" name="Shape 25"/>
          <p:cNvSpPr/>
          <p:nvPr/>
        </p:nvSpPr>
        <p:spPr>
          <a:xfrm>
            <a:off x="7909560" y="3547872"/>
            <a:ext cx="3017520" cy="566928"/>
          </a:xfrm>
          <a:prstGeom prst="rect">
            <a:avLst/>
          </a:prstGeom>
          <a:solidFill>
            <a:srgbClr val="FFFFFF"/>
          </a:solidFill>
          <a:ln w="12700">
            <a:solidFill>
              <a:srgbClr val="E7DFD0"/>
            </a:solidFill>
            <a:prstDash val="solid"/>
          </a:ln>
        </p:spPr>
      </p:sp>
      <p:sp>
        <p:nvSpPr>
          <p:cNvPr id="28" name="Text 26"/>
          <p:cNvSpPr/>
          <p:nvPr/>
        </p:nvSpPr>
        <p:spPr>
          <a:xfrm>
            <a:off x="7946136" y="3584448"/>
            <a:ext cx="2944368" cy="493776"/>
          </a:xfrm>
          <a:prstGeom prst="rect">
            <a:avLst/>
          </a:prstGeom>
          <a:noFill/>
          <a:ln/>
        </p:spPr>
        <p:txBody>
          <a:bodyPr wrap="square" lIns="0" tIns="0" rIns="0" bIns="0" rtlCol="0" anchor="ctr">
            <a:normAutofit/>
          </a:bodyPr>
          <a:lstStyle/>
          <a:p>
            <a:pPr indent="0" marL="0">
              <a:buNone/>
            </a:pPr>
            <a:r>
              <a:rPr lang="en-US" sz="950" dirty="0">
                <a:solidFill>
                  <a:srgbClr val="24303F"/>
                </a:solidFill>
              </a:rPr>
              <a:t>Map fields, templates, pilot, measure</a:t>
            </a:r>
            <a:endParaRPr lang="en-US" sz="950" dirty="0"/>
          </a:p>
        </p:txBody>
      </p:sp>
      <p:sp>
        <p:nvSpPr>
          <p:cNvPr id="29" name="Shape 27"/>
          <p:cNvSpPr/>
          <p:nvPr/>
        </p:nvSpPr>
        <p:spPr>
          <a:xfrm>
            <a:off x="5806440" y="4617720"/>
            <a:ext cx="4892040" cy="594360"/>
          </a:xfrm>
          <a:prstGeom prst="roundRect">
            <a:avLst>
              <a:gd name="adj" fmla="val 12308"/>
            </a:avLst>
          </a:prstGeom>
          <a:solidFill>
            <a:srgbClr val="FDFBF5"/>
          </a:solidFill>
          <a:ln w="12700">
            <a:solidFill>
              <a:srgbClr val="C9A44C"/>
            </a:solidFill>
            <a:prstDash val="solid"/>
          </a:ln>
        </p:spPr>
      </p:sp>
      <p:sp>
        <p:nvSpPr>
          <p:cNvPr id="30" name="Text 28"/>
          <p:cNvSpPr/>
          <p:nvPr/>
        </p:nvSpPr>
        <p:spPr>
          <a:xfrm>
            <a:off x="5916168" y="4709160"/>
            <a:ext cx="4672584" cy="429768"/>
          </a:xfrm>
          <a:prstGeom prst="rect">
            <a:avLst/>
          </a:prstGeom>
          <a:noFill/>
          <a:ln/>
        </p:spPr>
        <p:txBody>
          <a:bodyPr wrap="square" lIns="127" tIns="127" rIns="127" bIns="127" rtlCol="0" anchor="ctr">
            <a:normAutofit/>
          </a:bodyPr>
          <a:lstStyle/>
          <a:p>
            <a:pPr indent="0" marL="0">
              <a:buNone/>
            </a:pPr>
            <a:r>
              <a:rPr lang="en-US" sz="1300" b="1" dirty="0">
                <a:solidFill>
                  <a:srgbClr val="24303F"/>
                </a:solidFill>
              </a:rPr>
              <a:t>Final output: one paragraph recommendation with expected benefit, risk control, and first 30 days.</a:t>
            </a:r>
            <a:endParaRPr lang="en-US" sz="1300" dirty="0"/>
          </a:p>
        </p:txBody>
      </p:sp>
      <p:sp>
        <p:nvSpPr>
          <p:cNvPr id="31" name="Text 29"/>
          <p:cNvSpPr/>
          <p:nvPr/>
        </p:nvSpPr>
        <p:spPr>
          <a:xfrm>
            <a:off x="11384280" y="6428232"/>
            <a:ext cx="320040" cy="109728"/>
          </a:xfrm>
          <a:prstGeom prst="rect">
            <a:avLst/>
          </a:prstGeom>
          <a:noFill/>
          <a:ln/>
        </p:spPr>
        <p:txBody>
          <a:bodyPr wrap="square" lIns="0" tIns="0" rIns="0" bIns="0" rtlCol="0" anchor="ctr"/>
          <a:lstStyle/>
          <a:p>
            <a:pPr algn="r" indent="0" marL="0">
              <a:buNone/>
            </a:pPr>
            <a:r>
              <a:rPr lang="en-US" sz="700" dirty="0">
                <a:solidFill>
                  <a:srgbClr val="FFFFFF"/>
                </a:solidFill>
              </a:rPr>
              <a:t>39</a:t>
            </a:r>
            <a:endParaRPr lang="en-US" sz="7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7F3EA"/>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4213D"/>
          </a:solidFill>
          <a:ln w="12700">
            <a:solidFill>
              <a:srgbClr val="14213D">
                <a:alpha val="0"/>
              </a:srgbClr>
            </a:solidFill>
            <a:prstDash val="solid"/>
          </a:ln>
        </p:spPr>
      </p:sp>
      <p:sp>
        <p:nvSpPr>
          <p:cNvPr id="3" name="Shape 1"/>
          <p:cNvSpPr/>
          <p:nvPr/>
        </p:nvSpPr>
        <p:spPr>
          <a:xfrm>
            <a:off x="0" y="6693408"/>
            <a:ext cx="12191695" cy="164592"/>
          </a:xfrm>
          <a:prstGeom prst="rect">
            <a:avLst/>
          </a:prstGeom>
          <a:solidFill>
            <a:srgbClr val="14213D"/>
          </a:solidFill>
          <a:ln w="12700">
            <a:solidFill>
              <a:srgbClr val="14213D">
                <a:alpha val="0"/>
              </a:srgbClr>
            </a:solidFill>
            <a:prstDash val="solid"/>
          </a:ln>
        </p:spPr>
      </p:sp>
      <p:sp>
        <p:nvSpPr>
          <p:cNvPr id="4" name="Text 2"/>
          <p:cNvSpPr/>
          <p:nvPr/>
        </p:nvSpPr>
        <p:spPr>
          <a:xfrm>
            <a:off x="502920" y="256032"/>
            <a:ext cx="4480560" cy="164592"/>
          </a:xfrm>
          <a:prstGeom prst="rect">
            <a:avLst/>
          </a:prstGeom>
          <a:noFill/>
          <a:ln/>
        </p:spPr>
        <p:txBody>
          <a:bodyPr wrap="square" lIns="0" tIns="0" rIns="0" bIns="0" rtlCol="0" anchor="ctr"/>
          <a:lstStyle/>
          <a:p>
            <a:pPr indent="0" marL="0">
              <a:buNone/>
            </a:pPr>
            <a:r>
              <a:rPr lang="en-US" sz="700" b="1" dirty="0">
                <a:solidFill>
                  <a:srgbClr val="2A9D8F"/>
                </a:solidFill>
                <a:latin typeface="Aptos" pitchFamily="34" charset="0"/>
                <a:ea typeface="Aptos" pitchFamily="34" charset="-122"/>
                <a:cs typeface="Aptos" pitchFamily="34" charset="-120"/>
              </a:rPr>
              <a:t>SECTION 5</a:t>
            </a:r>
            <a:endParaRPr lang="en-US" sz="700" dirty="0"/>
          </a:p>
        </p:txBody>
      </p:sp>
      <p:sp>
        <p:nvSpPr>
          <p:cNvPr id="5" name="Text 3"/>
          <p:cNvSpPr/>
          <p:nvPr/>
        </p:nvSpPr>
        <p:spPr>
          <a:xfrm>
            <a:off x="9281160" y="219456"/>
            <a:ext cx="2423160" cy="182880"/>
          </a:xfrm>
          <a:prstGeom prst="rect">
            <a:avLst/>
          </a:prstGeom>
          <a:noFill/>
          <a:ln/>
        </p:spPr>
        <p:txBody>
          <a:bodyPr wrap="square" lIns="0" tIns="0" rIns="0" bIns="0" rtlCol="0" anchor="ctr"/>
          <a:lstStyle/>
          <a:p>
            <a:pPr algn="r" indent="0" marL="0">
              <a:buNone/>
            </a:pPr>
            <a:r>
              <a:rPr lang="en-US" sz="700" dirty="0">
                <a:solidFill>
                  <a:srgbClr val="6D7886"/>
                </a:solidFill>
              </a:rPr>
              <a:t>Jifunze.ai skill booster</a:t>
            </a:r>
            <a:endParaRPr lang="en-US" sz="700" dirty="0"/>
          </a:p>
        </p:txBody>
      </p:sp>
      <p:sp>
        <p:nvSpPr>
          <p:cNvPr id="6" name="Text 4"/>
          <p:cNvSpPr/>
          <p:nvPr/>
        </p:nvSpPr>
        <p:spPr>
          <a:xfrm>
            <a:off x="502920" y="502920"/>
            <a:ext cx="4617720" cy="475488"/>
          </a:xfrm>
          <a:prstGeom prst="rect">
            <a:avLst/>
          </a:prstGeom>
          <a:noFill/>
          <a:ln/>
        </p:spPr>
        <p:txBody>
          <a:bodyPr wrap="square" lIns="127" tIns="127" rIns="127" bIns="127" rtlCol="0" anchor="ctr">
            <a:normAutofit/>
          </a:bodyPr>
          <a:lstStyle/>
          <a:p>
            <a:pPr indent="0" marL="0">
              <a:buNone/>
            </a:pPr>
            <a:r>
              <a:rPr lang="en-US" sz="2500" b="1" dirty="0">
                <a:solidFill>
                  <a:srgbClr val="14213D"/>
                </a:solidFill>
                <a:latin typeface="Aptos Display" pitchFamily="34" charset="0"/>
                <a:ea typeface="Aptos Display" pitchFamily="34" charset="-122"/>
                <a:cs typeface="Aptos Display" pitchFamily="34" charset="-120"/>
              </a:rPr>
              <a:t>Mini quiz and final roadmap</a:t>
            </a:r>
            <a:endParaRPr lang="en-US" sz="2500" dirty="0"/>
          </a:p>
        </p:txBody>
      </p:sp>
      <p:sp>
        <p:nvSpPr>
          <p:cNvPr id="7" name="Text 5"/>
          <p:cNvSpPr/>
          <p:nvPr/>
        </p:nvSpPr>
        <p:spPr>
          <a:xfrm>
            <a:off x="521208" y="1005840"/>
            <a:ext cx="4617720" cy="228600"/>
          </a:xfrm>
          <a:prstGeom prst="rect">
            <a:avLst/>
          </a:prstGeom>
          <a:noFill/>
          <a:ln/>
        </p:spPr>
        <p:txBody>
          <a:bodyPr wrap="square" lIns="0" tIns="0" rIns="0" bIns="0" rtlCol="0" anchor="ctr">
            <a:normAutofit/>
          </a:bodyPr>
          <a:lstStyle/>
          <a:p>
            <a:pPr indent="0" marL="0">
              <a:buNone/>
            </a:pPr>
            <a:r>
              <a:rPr lang="en-US" sz="1080" dirty="0">
                <a:solidFill>
                  <a:srgbClr val="24303F"/>
                </a:solidFill>
              </a:rPr>
              <a:t>Check application, not memorization</a:t>
            </a:r>
            <a:endParaRPr lang="en-US" sz="1080" dirty="0"/>
          </a:p>
        </p:txBody>
      </p:sp>
      <p:sp>
        <p:nvSpPr>
          <p:cNvPr id="8" name="Text 6"/>
          <p:cNvSpPr/>
          <p:nvPr/>
        </p:nvSpPr>
        <p:spPr>
          <a:xfrm>
            <a:off x="594360" y="1417320"/>
            <a:ext cx="4617720" cy="4343400"/>
          </a:xfrm>
          <a:prstGeom prst="rect">
            <a:avLst/>
          </a:prstGeom>
          <a:noFill/>
          <a:ln/>
        </p:spPr>
        <p:txBody>
          <a:bodyPr wrap="square" lIns="635" tIns="635" rIns="635" bIns="635" rtlCol="0" anchor="ctr">
            <a:normAutofit/>
          </a:bodyPr>
          <a:lstStyle/>
          <a:p>
            <a:r>
              <a:rPr lang="en-US" sz="1450" dirty="0">
                <a:solidFill>
                  <a:srgbClr val="24303F"/>
                </a:solidFill>
              </a:rPr>
              <a:t>• 12-question application quiz</a:t>
            </a:r>
            <a:endParaRPr lang="en-US" sz="1450" dirty="0"/>
          </a:p>
          <a:p>
            <a:r>
              <a:rPr lang="en-US" sz="1450" dirty="0">
                <a:solidFill>
                  <a:srgbClr val="24303F"/>
                </a:solidFill>
              </a:rPr>
              <a:t>• Learner must interpret data, risk, and sequence</a:t>
            </a:r>
            <a:endParaRPr lang="en-US" sz="1450" dirty="0"/>
          </a:p>
          <a:p>
            <a:r>
              <a:rPr lang="en-US" sz="1450" dirty="0">
                <a:solidFill>
                  <a:srgbClr val="24303F"/>
                </a:solidFill>
              </a:rPr>
              <a:t>• Final recap: map, measure, prioritize, control, implement</a:t>
            </a:r>
            <a:endParaRPr lang="en-US" sz="1450" dirty="0"/>
          </a:p>
          <a:p>
            <a:r>
              <a:rPr lang="en-US" sz="1450" dirty="0">
                <a:solidFill>
                  <a:srgbClr val="24303F"/>
                </a:solidFill>
              </a:rPr>
              <a:t>• Course completion output: automation recommendation + roadmap</a:t>
            </a:r>
            <a:endParaRPr lang="en-US" sz="1450" dirty="0"/>
          </a:p>
        </p:txBody>
      </p:sp>
      <p:sp>
        <p:nvSpPr>
          <p:cNvPr id="9" name="Shape 7"/>
          <p:cNvSpPr/>
          <p:nvPr/>
        </p:nvSpPr>
        <p:spPr>
          <a:xfrm>
            <a:off x="5532120" y="1234440"/>
            <a:ext cx="2011680" cy="566928"/>
          </a:xfrm>
          <a:prstGeom prst="rect">
            <a:avLst/>
          </a:prstGeom>
          <a:solidFill>
            <a:srgbClr val="14213D"/>
          </a:solidFill>
          <a:ln w="12700">
            <a:solidFill>
              <a:srgbClr val="FFFFFF"/>
            </a:solidFill>
            <a:prstDash val="solid"/>
          </a:ln>
        </p:spPr>
      </p:sp>
      <p:sp>
        <p:nvSpPr>
          <p:cNvPr id="10" name="Text 8"/>
          <p:cNvSpPr/>
          <p:nvPr/>
        </p:nvSpPr>
        <p:spPr>
          <a:xfrm>
            <a:off x="5568696" y="1280160"/>
            <a:ext cx="1938528" cy="493776"/>
          </a:xfrm>
          <a:prstGeom prst="rect">
            <a:avLst/>
          </a:prstGeom>
          <a:noFill/>
          <a:ln/>
        </p:spPr>
        <p:txBody>
          <a:bodyPr wrap="square" lIns="0" tIns="0" rIns="0" bIns="0" rtlCol="0" anchor="ctr">
            <a:normAutofit/>
          </a:bodyPr>
          <a:lstStyle/>
          <a:p>
            <a:pPr indent="0" marL="0">
              <a:buNone/>
            </a:pPr>
            <a:r>
              <a:rPr lang="en-US" sz="1000" b="1" dirty="0">
                <a:solidFill>
                  <a:srgbClr val="FFFFFF"/>
                </a:solidFill>
              </a:rPr>
              <a:t>Quiz theme</a:t>
            </a:r>
            <a:endParaRPr lang="en-US" sz="1000" dirty="0"/>
          </a:p>
        </p:txBody>
      </p:sp>
      <p:sp>
        <p:nvSpPr>
          <p:cNvPr id="11" name="Shape 9"/>
          <p:cNvSpPr/>
          <p:nvPr/>
        </p:nvSpPr>
        <p:spPr>
          <a:xfrm>
            <a:off x="7543800" y="1234440"/>
            <a:ext cx="3566160" cy="566928"/>
          </a:xfrm>
          <a:prstGeom prst="rect">
            <a:avLst/>
          </a:prstGeom>
          <a:solidFill>
            <a:srgbClr val="14213D"/>
          </a:solidFill>
          <a:ln w="12700">
            <a:solidFill>
              <a:srgbClr val="FFFFFF"/>
            </a:solidFill>
            <a:prstDash val="solid"/>
          </a:ln>
        </p:spPr>
      </p:sp>
      <p:sp>
        <p:nvSpPr>
          <p:cNvPr id="12" name="Text 10"/>
          <p:cNvSpPr/>
          <p:nvPr/>
        </p:nvSpPr>
        <p:spPr>
          <a:xfrm>
            <a:off x="7580376" y="1280160"/>
            <a:ext cx="3493008" cy="493776"/>
          </a:xfrm>
          <a:prstGeom prst="rect">
            <a:avLst/>
          </a:prstGeom>
          <a:noFill/>
          <a:ln/>
        </p:spPr>
        <p:txBody>
          <a:bodyPr wrap="square" lIns="0" tIns="0" rIns="0" bIns="0" rtlCol="0" anchor="ctr">
            <a:normAutofit/>
          </a:bodyPr>
          <a:lstStyle/>
          <a:p>
            <a:pPr indent="0" marL="0">
              <a:buNone/>
            </a:pPr>
            <a:r>
              <a:rPr lang="en-US" sz="1000" b="1" dirty="0">
                <a:solidFill>
                  <a:srgbClr val="FFFFFF"/>
                </a:solidFill>
              </a:rPr>
              <a:t>Example decision tested</a:t>
            </a:r>
            <a:endParaRPr lang="en-US" sz="1000" dirty="0"/>
          </a:p>
        </p:txBody>
      </p:sp>
      <p:sp>
        <p:nvSpPr>
          <p:cNvPr id="13" name="Shape 11"/>
          <p:cNvSpPr/>
          <p:nvPr/>
        </p:nvSpPr>
        <p:spPr>
          <a:xfrm>
            <a:off x="5532120" y="1801368"/>
            <a:ext cx="2011680" cy="566928"/>
          </a:xfrm>
          <a:prstGeom prst="rect">
            <a:avLst/>
          </a:prstGeom>
          <a:solidFill>
            <a:srgbClr val="FDFBF5"/>
          </a:solidFill>
          <a:ln w="12700">
            <a:solidFill>
              <a:srgbClr val="E7DFD0"/>
            </a:solidFill>
            <a:prstDash val="solid"/>
          </a:ln>
        </p:spPr>
      </p:sp>
      <p:sp>
        <p:nvSpPr>
          <p:cNvPr id="14" name="Text 12"/>
          <p:cNvSpPr/>
          <p:nvPr/>
        </p:nvSpPr>
        <p:spPr>
          <a:xfrm>
            <a:off x="5568696" y="1837944"/>
            <a:ext cx="1938528" cy="493776"/>
          </a:xfrm>
          <a:prstGeom prst="rect">
            <a:avLst/>
          </a:prstGeom>
          <a:noFill/>
          <a:ln/>
        </p:spPr>
        <p:txBody>
          <a:bodyPr wrap="square" lIns="0" tIns="0" rIns="0" bIns="0" rtlCol="0" anchor="ctr">
            <a:normAutofit/>
          </a:bodyPr>
          <a:lstStyle/>
          <a:p>
            <a:pPr indent="0" marL="0">
              <a:buNone/>
            </a:pPr>
            <a:r>
              <a:rPr lang="en-US" sz="980" dirty="0">
                <a:solidFill>
                  <a:srgbClr val="24303F"/>
                </a:solidFill>
              </a:rPr>
              <a:t>Workload math</a:t>
            </a:r>
            <a:endParaRPr lang="en-US" sz="980" dirty="0"/>
          </a:p>
        </p:txBody>
      </p:sp>
      <p:sp>
        <p:nvSpPr>
          <p:cNvPr id="15" name="Shape 13"/>
          <p:cNvSpPr/>
          <p:nvPr/>
        </p:nvSpPr>
        <p:spPr>
          <a:xfrm>
            <a:off x="7543800" y="1801368"/>
            <a:ext cx="3566160" cy="566928"/>
          </a:xfrm>
          <a:prstGeom prst="rect">
            <a:avLst/>
          </a:prstGeom>
          <a:solidFill>
            <a:srgbClr val="FDFBF5"/>
          </a:solidFill>
          <a:ln w="12700">
            <a:solidFill>
              <a:srgbClr val="E7DFD0"/>
            </a:solidFill>
            <a:prstDash val="solid"/>
          </a:ln>
        </p:spPr>
      </p:sp>
      <p:sp>
        <p:nvSpPr>
          <p:cNvPr id="16" name="Text 14"/>
          <p:cNvSpPr/>
          <p:nvPr/>
        </p:nvSpPr>
        <p:spPr>
          <a:xfrm>
            <a:off x="7580376" y="1837944"/>
            <a:ext cx="3493008" cy="493776"/>
          </a:xfrm>
          <a:prstGeom prst="rect">
            <a:avLst/>
          </a:prstGeom>
          <a:noFill/>
          <a:ln/>
        </p:spPr>
        <p:txBody>
          <a:bodyPr wrap="square" lIns="0" tIns="0" rIns="0" bIns="0" rtlCol="0" anchor="ctr">
            <a:normAutofit/>
          </a:bodyPr>
          <a:lstStyle/>
          <a:p>
            <a:pPr indent="0" marL="0">
              <a:buNone/>
            </a:pPr>
            <a:r>
              <a:rPr lang="en-US" sz="980" dirty="0">
                <a:solidFill>
                  <a:srgbClr val="24303F"/>
                </a:solidFill>
              </a:rPr>
              <a:t>Why volume × minutes ÷ 60 matters</a:t>
            </a:r>
            <a:endParaRPr lang="en-US" sz="980" dirty="0"/>
          </a:p>
        </p:txBody>
      </p:sp>
      <p:sp>
        <p:nvSpPr>
          <p:cNvPr id="17" name="Shape 15"/>
          <p:cNvSpPr/>
          <p:nvPr/>
        </p:nvSpPr>
        <p:spPr>
          <a:xfrm>
            <a:off x="5532120" y="2368296"/>
            <a:ext cx="2011680" cy="566928"/>
          </a:xfrm>
          <a:prstGeom prst="rect">
            <a:avLst/>
          </a:prstGeom>
          <a:solidFill>
            <a:srgbClr val="FFFFFF"/>
          </a:solidFill>
          <a:ln w="12700">
            <a:solidFill>
              <a:srgbClr val="E7DFD0"/>
            </a:solidFill>
            <a:prstDash val="solid"/>
          </a:ln>
        </p:spPr>
      </p:sp>
      <p:sp>
        <p:nvSpPr>
          <p:cNvPr id="18" name="Text 16"/>
          <p:cNvSpPr/>
          <p:nvPr/>
        </p:nvSpPr>
        <p:spPr>
          <a:xfrm>
            <a:off x="5568696" y="2404872"/>
            <a:ext cx="1938528" cy="493776"/>
          </a:xfrm>
          <a:prstGeom prst="rect">
            <a:avLst/>
          </a:prstGeom>
          <a:noFill/>
          <a:ln/>
        </p:spPr>
        <p:txBody>
          <a:bodyPr wrap="square" lIns="0" tIns="0" rIns="0" bIns="0" rtlCol="0" anchor="ctr">
            <a:normAutofit/>
          </a:bodyPr>
          <a:lstStyle/>
          <a:p>
            <a:pPr indent="0" marL="0">
              <a:buNone/>
            </a:pPr>
            <a:r>
              <a:rPr lang="en-US" sz="980" dirty="0">
                <a:solidFill>
                  <a:srgbClr val="24303F"/>
                </a:solidFill>
              </a:rPr>
              <a:t>Risk controls</a:t>
            </a:r>
            <a:endParaRPr lang="en-US" sz="980" dirty="0"/>
          </a:p>
        </p:txBody>
      </p:sp>
      <p:sp>
        <p:nvSpPr>
          <p:cNvPr id="19" name="Shape 17"/>
          <p:cNvSpPr/>
          <p:nvPr/>
        </p:nvSpPr>
        <p:spPr>
          <a:xfrm>
            <a:off x="7543800" y="2368296"/>
            <a:ext cx="3566160" cy="566928"/>
          </a:xfrm>
          <a:prstGeom prst="rect">
            <a:avLst/>
          </a:prstGeom>
          <a:solidFill>
            <a:srgbClr val="FFFFFF"/>
          </a:solidFill>
          <a:ln w="12700">
            <a:solidFill>
              <a:srgbClr val="E7DFD0"/>
            </a:solidFill>
            <a:prstDash val="solid"/>
          </a:ln>
        </p:spPr>
      </p:sp>
      <p:sp>
        <p:nvSpPr>
          <p:cNvPr id="20" name="Text 18"/>
          <p:cNvSpPr/>
          <p:nvPr/>
        </p:nvSpPr>
        <p:spPr>
          <a:xfrm>
            <a:off x="7580376" y="2404872"/>
            <a:ext cx="3493008" cy="493776"/>
          </a:xfrm>
          <a:prstGeom prst="rect">
            <a:avLst/>
          </a:prstGeom>
          <a:noFill/>
          <a:ln/>
        </p:spPr>
        <p:txBody>
          <a:bodyPr wrap="square" lIns="0" tIns="0" rIns="0" bIns="0" rtlCol="0" anchor="ctr">
            <a:normAutofit/>
          </a:bodyPr>
          <a:lstStyle/>
          <a:p>
            <a:pPr indent="0" marL="0">
              <a:buNone/>
            </a:pPr>
            <a:r>
              <a:rPr lang="en-US" sz="980" dirty="0">
                <a:solidFill>
                  <a:srgbClr val="24303F"/>
                </a:solidFill>
              </a:rPr>
              <a:t>Why payment should not be fully automated</a:t>
            </a:r>
            <a:endParaRPr lang="en-US" sz="980" dirty="0"/>
          </a:p>
        </p:txBody>
      </p:sp>
      <p:sp>
        <p:nvSpPr>
          <p:cNvPr id="21" name="Shape 19"/>
          <p:cNvSpPr/>
          <p:nvPr/>
        </p:nvSpPr>
        <p:spPr>
          <a:xfrm>
            <a:off x="5532120" y="2935224"/>
            <a:ext cx="2011680" cy="566928"/>
          </a:xfrm>
          <a:prstGeom prst="rect">
            <a:avLst/>
          </a:prstGeom>
          <a:solidFill>
            <a:srgbClr val="FDFBF5"/>
          </a:solidFill>
          <a:ln w="12700">
            <a:solidFill>
              <a:srgbClr val="E7DFD0"/>
            </a:solidFill>
            <a:prstDash val="solid"/>
          </a:ln>
        </p:spPr>
      </p:sp>
      <p:sp>
        <p:nvSpPr>
          <p:cNvPr id="22" name="Text 20"/>
          <p:cNvSpPr/>
          <p:nvPr/>
        </p:nvSpPr>
        <p:spPr>
          <a:xfrm>
            <a:off x="5568696" y="2971800"/>
            <a:ext cx="1938528" cy="493776"/>
          </a:xfrm>
          <a:prstGeom prst="rect">
            <a:avLst/>
          </a:prstGeom>
          <a:noFill/>
          <a:ln/>
        </p:spPr>
        <p:txBody>
          <a:bodyPr wrap="square" lIns="0" tIns="0" rIns="0" bIns="0" rtlCol="0" anchor="ctr">
            <a:normAutofit/>
          </a:bodyPr>
          <a:lstStyle/>
          <a:p>
            <a:pPr indent="0" marL="0">
              <a:buNone/>
            </a:pPr>
            <a:r>
              <a:rPr lang="en-US" sz="980" dirty="0">
                <a:solidFill>
                  <a:srgbClr val="24303F"/>
                </a:solidFill>
              </a:rPr>
              <a:t>Prioritization</a:t>
            </a:r>
            <a:endParaRPr lang="en-US" sz="980" dirty="0"/>
          </a:p>
        </p:txBody>
      </p:sp>
      <p:sp>
        <p:nvSpPr>
          <p:cNvPr id="23" name="Shape 21"/>
          <p:cNvSpPr/>
          <p:nvPr/>
        </p:nvSpPr>
        <p:spPr>
          <a:xfrm>
            <a:off x="7543800" y="2935224"/>
            <a:ext cx="3566160" cy="566928"/>
          </a:xfrm>
          <a:prstGeom prst="rect">
            <a:avLst/>
          </a:prstGeom>
          <a:solidFill>
            <a:srgbClr val="FDFBF5"/>
          </a:solidFill>
          <a:ln w="12700">
            <a:solidFill>
              <a:srgbClr val="E7DFD0"/>
            </a:solidFill>
            <a:prstDash val="solid"/>
          </a:ln>
        </p:spPr>
      </p:sp>
      <p:sp>
        <p:nvSpPr>
          <p:cNvPr id="24" name="Text 22"/>
          <p:cNvSpPr/>
          <p:nvPr/>
        </p:nvSpPr>
        <p:spPr>
          <a:xfrm>
            <a:off x="7580376" y="2971800"/>
            <a:ext cx="3493008" cy="493776"/>
          </a:xfrm>
          <a:prstGeom prst="rect">
            <a:avLst/>
          </a:prstGeom>
          <a:noFill/>
          <a:ln/>
        </p:spPr>
        <p:txBody>
          <a:bodyPr wrap="square" lIns="0" tIns="0" rIns="0" bIns="0" rtlCol="0" anchor="ctr">
            <a:normAutofit/>
          </a:bodyPr>
          <a:lstStyle/>
          <a:p>
            <a:pPr indent="0" marL="0">
              <a:buNone/>
            </a:pPr>
            <a:r>
              <a:rPr lang="en-US" sz="980" dirty="0">
                <a:solidFill>
                  <a:srgbClr val="24303F"/>
                </a:solidFill>
              </a:rPr>
              <a:t>Why quick wins come first</a:t>
            </a:r>
            <a:endParaRPr lang="en-US" sz="980" dirty="0"/>
          </a:p>
        </p:txBody>
      </p:sp>
      <p:sp>
        <p:nvSpPr>
          <p:cNvPr id="25" name="Shape 23"/>
          <p:cNvSpPr/>
          <p:nvPr/>
        </p:nvSpPr>
        <p:spPr>
          <a:xfrm>
            <a:off x="5532120" y="3502152"/>
            <a:ext cx="2011680" cy="566928"/>
          </a:xfrm>
          <a:prstGeom prst="rect">
            <a:avLst/>
          </a:prstGeom>
          <a:solidFill>
            <a:srgbClr val="FFFFFF"/>
          </a:solidFill>
          <a:ln w="12700">
            <a:solidFill>
              <a:srgbClr val="E7DFD0"/>
            </a:solidFill>
            <a:prstDash val="solid"/>
          </a:ln>
        </p:spPr>
      </p:sp>
      <p:sp>
        <p:nvSpPr>
          <p:cNvPr id="26" name="Text 24"/>
          <p:cNvSpPr/>
          <p:nvPr/>
        </p:nvSpPr>
        <p:spPr>
          <a:xfrm>
            <a:off x="5568696" y="3538728"/>
            <a:ext cx="1938528" cy="493776"/>
          </a:xfrm>
          <a:prstGeom prst="rect">
            <a:avLst/>
          </a:prstGeom>
          <a:noFill/>
          <a:ln/>
        </p:spPr>
        <p:txBody>
          <a:bodyPr wrap="square" lIns="0" tIns="0" rIns="0" bIns="0" rtlCol="0" anchor="ctr">
            <a:normAutofit/>
          </a:bodyPr>
          <a:lstStyle/>
          <a:p>
            <a:pPr indent="0" marL="0">
              <a:buNone/>
            </a:pPr>
            <a:r>
              <a:rPr lang="en-US" sz="980" dirty="0">
                <a:solidFill>
                  <a:srgbClr val="24303F"/>
                </a:solidFill>
              </a:rPr>
              <a:t>Value interpretation</a:t>
            </a:r>
            <a:endParaRPr lang="en-US" sz="980" dirty="0"/>
          </a:p>
        </p:txBody>
      </p:sp>
      <p:sp>
        <p:nvSpPr>
          <p:cNvPr id="27" name="Shape 25"/>
          <p:cNvSpPr/>
          <p:nvPr/>
        </p:nvSpPr>
        <p:spPr>
          <a:xfrm>
            <a:off x="7543800" y="3502152"/>
            <a:ext cx="3566160" cy="566928"/>
          </a:xfrm>
          <a:prstGeom prst="rect">
            <a:avLst/>
          </a:prstGeom>
          <a:solidFill>
            <a:srgbClr val="FFFFFF"/>
          </a:solidFill>
          <a:ln w="12700">
            <a:solidFill>
              <a:srgbClr val="E7DFD0"/>
            </a:solidFill>
            <a:prstDash val="solid"/>
          </a:ln>
        </p:spPr>
      </p:sp>
      <p:sp>
        <p:nvSpPr>
          <p:cNvPr id="28" name="Text 26"/>
          <p:cNvSpPr/>
          <p:nvPr/>
        </p:nvSpPr>
        <p:spPr>
          <a:xfrm>
            <a:off x="7580376" y="3538728"/>
            <a:ext cx="3493008" cy="493776"/>
          </a:xfrm>
          <a:prstGeom prst="rect">
            <a:avLst/>
          </a:prstGeom>
          <a:noFill/>
          <a:ln/>
        </p:spPr>
        <p:txBody>
          <a:bodyPr wrap="square" lIns="0" tIns="0" rIns="0" bIns="0" rtlCol="0" anchor="ctr">
            <a:normAutofit/>
          </a:bodyPr>
          <a:lstStyle/>
          <a:p>
            <a:pPr indent="0" marL="0">
              <a:buNone/>
            </a:pPr>
            <a:r>
              <a:rPr lang="en-US" sz="980" dirty="0">
                <a:solidFill>
                  <a:srgbClr val="24303F"/>
                </a:solidFill>
              </a:rPr>
              <a:t>Why time saved is not always cash saved</a:t>
            </a:r>
            <a:endParaRPr lang="en-US" sz="980" dirty="0"/>
          </a:p>
        </p:txBody>
      </p:sp>
      <p:sp>
        <p:nvSpPr>
          <p:cNvPr id="29" name="Shape 27"/>
          <p:cNvSpPr/>
          <p:nvPr/>
        </p:nvSpPr>
        <p:spPr>
          <a:xfrm>
            <a:off x="5806440" y="4572000"/>
            <a:ext cx="4754880" cy="640080"/>
          </a:xfrm>
          <a:prstGeom prst="roundRect">
            <a:avLst>
              <a:gd name="adj" fmla="val 11429"/>
            </a:avLst>
          </a:prstGeom>
          <a:solidFill>
            <a:srgbClr val="14213D"/>
          </a:solidFill>
          <a:ln w="12700">
            <a:solidFill>
              <a:srgbClr val="14213D"/>
            </a:solidFill>
            <a:prstDash val="solid"/>
          </a:ln>
        </p:spPr>
      </p:sp>
      <p:sp>
        <p:nvSpPr>
          <p:cNvPr id="30" name="Text 28"/>
          <p:cNvSpPr/>
          <p:nvPr/>
        </p:nvSpPr>
        <p:spPr>
          <a:xfrm>
            <a:off x="5916168" y="4663440"/>
            <a:ext cx="4535424" cy="475488"/>
          </a:xfrm>
          <a:prstGeom prst="rect">
            <a:avLst/>
          </a:prstGeom>
          <a:noFill/>
          <a:ln/>
        </p:spPr>
        <p:txBody>
          <a:bodyPr wrap="square" lIns="127" tIns="127" rIns="127" bIns="127" rtlCol="0" anchor="ctr">
            <a:normAutofit/>
          </a:bodyPr>
          <a:lstStyle/>
          <a:p>
            <a:pPr indent="0" marL="0">
              <a:buNone/>
            </a:pPr>
            <a:r>
              <a:rPr lang="en-US" sz="1500" b="1" dirty="0">
                <a:solidFill>
                  <a:srgbClr val="24303F"/>
                </a:solidFill>
              </a:rPr>
              <a:t>Final message: automate the right work, with the right controls, in the right sequence.</a:t>
            </a:r>
            <a:endParaRPr lang="en-US" sz="1500" dirty="0"/>
          </a:p>
        </p:txBody>
      </p:sp>
      <p:sp>
        <p:nvSpPr>
          <p:cNvPr id="31" name="Text 29"/>
          <p:cNvSpPr/>
          <p:nvPr/>
        </p:nvSpPr>
        <p:spPr>
          <a:xfrm>
            <a:off x="11384280" y="6428232"/>
            <a:ext cx="320040" cy="109728"/>
          </a:xfrm>
          <a:prstGeom prst="rect">
            <a:avLst/>
          </a:prstGeom>
          <a:noFill/>
          <a:ln/>
        </p:spPr>
        <p:txBody>
          <a:bodyPr wrap="square" lIns="0" tIns="0" rIns="0" bIns="0" rtlCol="0" anchor="ctr"/>
          <a:lstStyle/>
          <a:p>
            <a:pPr algn="r" indent="0" marL="0">
              <a:buNone/>
            </a:pPr>
            <a:r>
              <a:rPr lang="en-US" sz="700" dirty="0">
                <a:solidFill>
                  <a:srgbClr val="FFFFFF"/>
                </a:solidFill>
              </a:rPr>
              <a:t>40</a:t>
            </a:r>
            <a:endParaRPr lang="en-US" sz="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40</Slides>
  <Notes>40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40</vt:i4>
      </vt:variant>
    </vt:vector>
  </HeadingPairs>
  <TitlesOfParts>
    <vt:vector size="4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vector>
  </TitlesOfParts>
  <Company>Jifunze.ai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Business Process Automation for Work</dc:title>
  <dc:subject>Business process automation training</dc:subject>
  <dc:creator>OpenAI</dc:creator>
  <cp:lastModifiedBy>OpenAI</cp:lastModifiedBy>
  <cp:revision>1</cp:revision>
  <dcterms:created xsi:type="dcterms:W3CDTF">2026-05-09T20:46:07Z</dcterms:created>
  <dcterms:modified xsi:type="dcterms:W3CDTF">2026-05-09T20:46:07Z</dcterms:modified>
</cp:coreProperties>
</file>